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379" r:id="rId3"/>
    <p:sldId id="380" r:id="rId4"/>
    <p:sldId id="381" r:id="rId5"/>
    <p:sldId id="382" r:id="rId6"/>
    <p:sldId id="383" r:id="rId7"/>
    <p:sldId id="384" r:id="rId8"/>
    <p:sldId id="385" r:id="rId9"/>
    <p:sldId id="37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25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Service Level Management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9646E-4166-FD99-9C49-5C26A0B0B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Service Level Management?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21838-7CB3-2CBA-BA82-0B627DCF1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4902" y="2126707"/>
            <a:ext cx="7702196" cy="3678303"/>
          </a:xfrm>
        </p:spPr>
        <p:txBody>
          <a:bodyPr/>
          <a:lstStyle/>
          <a:p>
            <a:r>
              <a:rPr lang="en-US" dirty="0"/>
              <a:t>Definition: The purpose of </a:t>
            </a:r>
            <a:r>
              <a:rPr lang="en-US" dirty="0">
                <a:solidFill>
                  <a:schemeClr val="accent2"/>
                </a:solidFill>
              </a:rPr>
              <a:t>Service Level Management </a:t>
            </a:r>
            <a:r>
              <a:rPr lang="en-US" dirty="0"/>
              <a:t>is to set clear business-based targets for service performance, so that the delivery of a service can be properly assessed, monitored, and managed against these targets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167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E1975-5E43-92E3-74C7-9D8E54597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Agreements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7AD53-015D-C3E1-D5CA-C3F5549FF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Definition: An </a:t>
            </a:r>
            <a:r>
              <a:rPr lang="en-US" dirty="0">
                <a:solidFill>
                  <a:schemeClr val="accent2"/>
                </a:solidFill>
              </a:rPr>
              <a:t>SLA (Service Level Agreement) </a:t>
            </a:r>
            <a:r>
              <a:rPr lang="en-US" dirty="0"/>
              <a:t>is a contract between a service provider and customer</a:t>
            </a:r>
          </a:p>
          <a:p>
            <a:r>
              <a:rPr lang="en-US" dirty="0"/>
              <a:t>Definition: An </a:t>
            </a:r>
            <a:r>
              <a:rPr lang="en-US" dirty="0">
                <a:solidFill>
                  <a:schemeClr val="accent2"/>
                </a:solidFill>
              </a:rPr>
              <a:t>OLA (Operational Level Agreement) </a:t>
            </a:r>
            <a:r>
              <a:rPr lang="en-US" dirty="0"/>
              <a:t>is an internal agreement between teams within the service provider organization </a:t>
            </a:r>
          </a:p>
          <a:p>
            <a:r>
              <a:rPr lang="en-US" dirty="0"/>
              <a:t>Definition: A </a:t>
            </a:r>
            <a:r>
              <a:rPr lang="en-US" dirty="0">
                <a:solidFill>
                  <a:schemeClr val="accent2"/>
                </a:solidFill>
              </a:rPr>
              <a:t>UC (Underpinning Contract) </a:t>
            </a:r>
            <a:r>
              <a:rPr lang="en-US" dirty="0"/>
              <a:t>is an agreement with external suppliers that supports delivery of a service </a:t>
            </a:r>
          </a:p>
        </p:txBody>
      </p:sp>
    </p:spTree>
    <p:extLst>
      <p:ext uri="{BB962C8B-B14F-4D97-AF65-F5344CB8AC3E}">
        <p14:creationId xmlns:p14="http://schemas.microsoft.com/office/powerpoint/2010/main" val="4260171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AEAD5-FDE4-7BCA-1A52-3862BDF7F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Contract_sla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9EBA6-A753-0EAA-B667-C03BC1895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3273631" cy="4202375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2"/>
                </a:solidFill>
              </a:rPr>
              <a:t>SLA Definitions </a:t>
            </a:r>
            <a:r>
              <a:rPr lang="en-US" dirty="0"/>
              <a:t>– define the timings, conditions, workflows, and other information required to create and progress </a:t>
            </a:r>
            <a:r>
              <a:rPr lang="en-US" dirty="0" err="1"/>
              <a:t>task_sla</a:t>
            </a:r>
            <a:r>
              <a:rPr lang="en-US" dirty="0"/>
              <a:t> records</a:t>
            </a:r>
          </a:p>
          <a:p>
            <a:r>
              <a:rPr lang="en-US" dirty="0">
                <a:solidFill>
                  <a:schemeClr val="accent2"/>
                </a:solidFill>
              </a:rPr>
              <a:t>Start Condition </a:t>
            </a:r>
            <a:r>
              <a:rPr lang="en-US" dirty="0"/>
              <a:t>– begins timing towards the defined duration</a:t>
            </a:r>
          </a:p>
          <a:p>
            <a:r>
              <a:rPr lang="en-US" dirty="0">
                <a:solidFill>
                  <a:schemeClr val="accent2"/>
                </a:solidFill>
              </a:rPr>
              <a:t>Pause Condition </a:t>
            </a:r>
            <a:r>
              <a:rPr lang="en-US" dirty="0"/>
              <a:t>– pauses timing</a:t>
            </a:r>
          </a:p>
          <a:p>
            <a:r>
              <a:rPr lang="en-US" dirty="0">
                <a:solidFill>
                  <a:schemeClr val="accent2"/>
                </a:solidFill>
              </a:rPr>
              <a:t>Stop Condition </a:t>
            </a:r>
            <a:r>
              <a:rPr lang="en-US" dirty="0"/>
              <a:t>– stops timing and determines whether the SLA was ‘Achieved’ or ‘Breached’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7F316-B280-87C3-A405-64582D555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0455" y="2180496"/>
            <a:ext cx="7530352" cy="381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279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3ACBA-C5D3-66DD-14E6-DD7EE1063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Response Vs Resolution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E45AE-0CF1-783F-1CB1-CF37C5349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712032" cy="2026907"/>
          </a:xfrm>
        </p:spPr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Response SLA </a:t>
            </a:r>
            <a:r>
              <a:rPr lang="en-US" dirty="0"/>
              <a:t>means that the caller has been informed that their issue is being addressed</a:t>
            </a:r>
          </a:p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Resolution SLA </a:t>
            </a:r>
            <a:r>
              <a:rPr lang="en-US" dirty="0"/>
              <a:t>is the time after the response until the issue is completely resolved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3BC606-BC80-8F02-45D4-E8A2D793D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5186" y="2067887"/>
            <a:ext cx="4513858" cy="21395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80510C-6F26-29D2-A7E3-B515CF1DE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0119" y="4320012"/>
            <a:ext cx="8628925" cy="212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41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3A2D1-90E4-FDDB-2489-86FFFB0C0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Task_sla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813E6-D600-3662-04F6-3B567D56C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38640"/>
            <a:ext cx="11029616" cy="1390017"/>
          </a:xfrm>
        </p:spPr>
        <p:txBody>
          <a:bodyPr>
            <a:normAutofit/>
          </a:bodyPr>
          <a:lstStyle/>
          <a:p>
            <a:r>
              <a:rPr lang="en-US" dirty="0" err="1"/>
              <a:t>task_sla</a:t>
            </a:r>
            <a:r>
              <a:rPr lang="en-US" dirty="0"/>
              <a:t> records represent each individual instance of a running SLA</a:t>
            </a:r>
          </a:p>
          <a:p>
            <a:r>
              <a:rPr lang="en-US" dirty="0"/>
              <a:t>These records record the timing information</a:t>
            </a:r>
          </a:p>
          <a:p>
            <a:r>
              <a:rPr lang="en-US" dirty="0"/>
              <a:t>These records are generated when one of our SLA Definitions is met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777386-FAA1-1927-4888-DE639A703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380" y="3951342"/>
            <a:ext cx="11661240" cy="1844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202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2A6A5-74D8-9B91-D57E-B1CEADEC5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Retroactive Start/Pause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3752D-B317-0A13-B87D-EB9CF8F30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514807" cy="3975348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Retroactive Start </a:t>
            </a:r>
            <a:r>
              <a:rPr lang="en-US" dirty="0"/>
              <a:t>– allows us to start timing our SLA based not on the creation of the </a:t>
            </a:r>
            <a:r>
              <a:rPr lang="en-US" dirty="0" err="1"/>
              <a:t>task_sla</a:t>
            </a:r>
            <a:r>
              <a:rPr lang="en-US" dirty="0"/>
              <a:t>, but on an even earlier time, such as when the incident record was created </a:t>
            </a:r>
          </a:p>
          <a:p>
            <a:r>
              <a:rPr lang="en-US" dirty="0">
                <a:solidFill>
                  <a:schemeClr val="accent2"/>
                </a:solidFill>
              </a:rPr>
              <a:t>Retroactive Pause </a:t>
            </a:r>
            <a:r>
              <a:rPr lang="en-US" dirty="0"/>
              <a:t>– includes pauses from previous SLAs in the timing calculation. </a:t>
            </a:r>
          </a:p>
          <a:p>
            <a:pPr lvl="1"/>
            <a:r>
              <a:rPr lang="en-US" dirty="0"/>
              <a:t>Ex: the incident was assigned to group one and put on hold for an hour before being assigned to group two</a:t>
            </a:r>
          </a:p>
          <a:p>
            <a:pPr lvl="1"/>
            <a:r>
              <a:rPr lang="en-US" dirty="0"/>
              <a:t>Group two is now not penalized for the hour of hold time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57DA28-3353-2D5C-D947-CC599D641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165" y="4222754"/>
            <a:ext cx="4010585" cy="18385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8810ED-B931-769C-0E87-0C2C6D935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300" y="2480472"/>
            <a:ext cx="3063133" cy="132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873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97962-7D90-A081-6B6A-F7E85B9B2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E0F48-46CA-1B9E-5E04-AA026864F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707984" cy="3395551"/>
          </a:xfrm>
        </p:spPr>
        <p:txBody>
          <a:bodyPr/>
          <a:lstStyle/>
          <a:p>
            <a:r>
              <a:rPr lang="en-US" dirty="0"/>
              <a:t>When a schedule is set on an SLA, the timings will only count down within the scheduled window</a:t>
            </a:r>
          </a:p>
          <a:p>
            <a:r>
              <a:rPr lang="en-US" dirty="0"/>
              <a:t>The </a:t>
            </a:r>
            <a:r>
              <a:rPr lang="en-US" dirty="0" err="1"/>
              <a:t>cmn_schedule</a:t>
            </a:r>
            <a:r>
              <a:rPr lang="en-US" dirty="0"/>
              <a:t> table houses our schedule records; there is also a module for 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3EA358-CF2B-47FC-DD63-FEF28F472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021" y="2151153"/>
            <a:ext cx="4134427" cy="10574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DD9BD6-121D-0212-781C-A0CAAB339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5858798"/>
            <a:ext cx="1103014" cy="5856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979302-84E6-11B2-6965-549A786A51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8949" y="3598540"/>
            <a:ext cx="6275294" cy="272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499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7D0CA-F9AE-B516-2C0A-2E32C66DC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FA3AC-F63D-52E2-BB9C-6ACFF627B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76976-544E-D66E-5CE1-3C91D93ED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30" y="2388699"/>
            <a:ext cx="5192079" cy="302189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Response and Resolution for priority 1 incidents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Response = 30 minutes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Resolution = 1 hour 30 minutes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Be sure to properly put the SLA on hold, and close it, when needed</a:t>
            </a:r>
            <a:endParaRPr lang="en-US" b="1" dirty="0">
              <a:ea typeface="+mn-lt"/>
              <a:cs typeface="+mn-lt"/>
            </a:endParaRP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new 9-4 weekday schedule that excludes the nearest holiday (Diwali)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278BB07-8A9D-0F81-F7D8-908F197B3356}"/>
              </a:ext>
            </a:extLst>
          </p:cNvPr>
          <p:cNvSpPr txBox="1">
            <a:spLocks/>
          </p:cNvSpPr>
          <p:nvPr/>
        </p:nvSpPr>
        <p:spPr>
          <a:xfrm>
            <a:off x="903922" y="2415199"/>
            <a:ext cx="4869350" cy="1484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new Priority 1 Response &amp; Resolution SLA Definitions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new schedule</a:t>
            </a:r>
          </a:p>
        </p:txBody>
      </p:sp>
    </p:spTree>
    <p:extLst>
      <p:ext uri="{BB962C8B-B14F-4D97-AF65-F5344CB8AC3E}">
        <p14:creationId xmlns:p14="http://schemas.microsoft.com/office/powerpoint/2010/main" val="314494705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11437</TotalTime>
  <Words>425</Words>
  <Application>Microsoft Office PowerPoint</Application>
  <PresentationFormat>Widescreen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Gill Sans MT</vt:lpstr>
      <vt:lpstr>Wingdings 2</vt:lpstr>
      <vt:lpstr>Dividend</vt:lpstr>
      <vt:lpstr>Service Level Management</vt:lpstr>
      <vt:lpstr>What is Service Level Management?</vt:lpstr>
      <vt:lpstr>Types of Agreements</vt:lpstr>
      <vt:lpstr>Contract_sla</vt:lpstr>
      <vt:lpstr>Response Vs Resolution</vt:lpstr>
      <vt:lpstr>Task_sla</vt:lpstr>
      <vt:lpstr>Retroactive Start/Pause</vt:lpstr>
      <vt:lpstr>Schedules</vt:lpstr>
      <vt:lpstr>Challenge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611</cp:revision>
  <dcterms:created xsi:type="dcterms:W3CDTF">2025-02-12T19:53:45Z</dcterms:created>
  <dcterms:modified xsi:type="dcterms:W3CDTF">2025-10-17T14:15:54Z</dcterms:modified>
</cp:coreProperties>
</file>