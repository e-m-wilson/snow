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14" r:id="rId3"/>
    <p:sldId id="315" r:id="rId4"/>
    <p:sldId id="320" r:id="rId5"/>
    <p:sldId id="325" r:id="rId6"/>
    <p:sldId id="326" r:id="rId7"/>
    <p:sldId id="324" r:id="rId8"/>
    <p:sldId id="339" r:id="rId9"/>
    <p:sldId id="316" r:id="rId10"/>
    <p:sldId id="317" r:id="rId11"/>
    <p:sldId id="327" r:id="rId12"/>
    <p:sldId id="334" r:id="rId13"/>
    <p:sldId id="335" r:id="rId14"/>
    <p:sldId id="336" r:id="rId15"/>
    <p:sldId id="328" r:id="rId16"/>
    <p:sldId id="331" r:id="rId17"/>
    <p:sldId id="329" r:id="rId18"/>
    <p:sldId id="330" r:id="rId19"/>
    <p:sldId id="318" r:id="rId20"/>
    <p:sldId id="319" r:id="rId21"/>
    <p:sldId id="337" r:id="rId22"/>
    <p:sldId id="333" r:id="rId23"/>
    <p:sldId id="338" r:id="rId24"/>
    <p:sldId id="321" r:id="rId25"/>
    <p:sldId id="332" r:id="rId26"/>
    <p:sldId id="322" r:id="rId27"/>
    <p:sldId id="340" r:id="rId28"/>
    <p:sldId id="323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3" r:id="rId41"/>
    <p:sldId id="354" r:id="rId42"/>
    <p:sldId id="355" r:id="rId43"/>
    <p:sldId id="356" r:id="rId44"/>
    <p:sldId id="357" r:id="rId45"/>
    <p:sldId id="358" r:id="rId46"/>
    <p:sldId id="359" r:id="rId47"/>
    <p:sldId id="361" r:id="rId48"/>
    <p:sldId id="360" r:id="rId49"/>
    <p:sldId id="352" r:id="rId50"/>
    <p:sldId id="363" r:id="rId51"/>
    <p:sldId id="364" r:id="rId52"/>
    <p:sldId id="376" r:id="rId53"/>
    <p:sldId id="368" r:id="rId54"/>
    <p:sldId id="375" r:id="rId55"/>
    <p:sldId id="365" r:id="rId56"/>
    <p:sldId id="366" r:id="rId57"/>
    <p:sldId id="369" r:id="rId58"/>
    <p:sldId id="367" r:id="rId59"/>
    <p:sldId id="370" r:id="rId60"/>
    <p:sldId id="371" r:id="rId61"/>
    <p:sldId id="372" r:id="rId62"/>
    <p:sldId id="373" r:id="rId63"/>
    <p:sldId id="374" r:id="rId64"/>
    <p:sldId id="377" r:id="rId65"/>
    <p:sldId id="378" r:id="rId66"/>
    <p:sldId id="362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DF4C-F539-CE00-07BD-86AA4F22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C68C7-112B-F2DC-FF24-C611D3C51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51420" cy="3678303"/>
          </a:xfrm>
        </p:spPr>
        <p:txBody>
          <a:bodyPr/>
          <a:lstStyle/>
          <a:p>
            <a:r>
              <a:rPr lang="en-US" dirty="0"/>
              <a:t>Each record has a unique 32-character </a:t>
            </a:r>
            <a:r>
              <a:rPr lang="en-US" dirty="0" err="1"/>
              <a:t>sys_id</a:t>
            </a:r>
            <a:endParaRPr lang="en-US" dirty="0"/>
          </a:p>
          <a:p>
            <a:pPr lvl="1"/>
            <a:r>
              <a:rPr lang="en-US" dirty="0"/>
              <a:t>You can read it in the URL or by right-clicking the form header and selecting ‘Copy </a:t>
            </a:r>
            <a:r>
              <a:rPr lang="en-US" dirty="0" err="1"/>
              <a:t>sys_id</a:t>
            </a:r>
            <a:r>
              <a:rPr lang="en-US" dirty="0"/>
              <a:t>’</a:t>
            </a:r>
          </a:p>
          <a:p>
            <a:r>
              <a:rPr lang="en-US" dirty="0"/>
              <a:t>The ‘Tables’ module is a list of all tables, we can create new ones here as well</a:t>
            </a:r>
          </a:p>
          <a:p>
            <a:r>
              <a:rPr lang="en-US" dirty="0"/>
              <a:t>Tables &amp; Columns allows us to quickly view or manage tables, columns, and column attributes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D278B-4669-55AD-11A3-EB0B7DF0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895" y="2435595"/>
            <a:ext cx="6024792" cy="2706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EC4CA-1A7B-2B4F-51E9-909E1A86F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242" y="5458693"/>
            <a:ext cx="1733792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7FB4FA-01E1-4BA5-4B2E-AA79D2398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890" y="1965941"/>
            <a:ext cx="6154009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9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6B9E-1BE9-B5C1-AB33-978C8868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Attributes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B2506-7DAB-7BBE-69FA-874AA8CA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62" y="2179376"/>
            <a:ext cx="7874875" cy="406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7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C15F-DF64-AEF7-B514-3BF2B9E3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Tables vs Custom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76FE4-4E0C-3362-7448-91F064B8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17" y="2050661"/>
            <a:ext cx="10372165" cy="451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D707-6311-D5B2-D63D-A4FE7B20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F6629-DC9A-E8D3-F4B8-6D9918FB9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26" y="4480307"/>
            <a:ext cx="5461021" cy="2176351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Applications </a:t>
            </a:r>
            <a:r>
              <a:rPr lang="en-US" dirty="0"/>
              <a:t>are containers for configuration metadata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B01C69-1B8D-E164-E16F-67543B867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71" y="1960302"/>
            <a:ext cx="3299955" cy="2176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5A5404-3A89-1424-EE08-A46FD8D54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0302"/>
            <a:ext cx="5388262" cy="311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3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E927-F570-446D-60E2-EC4FC47F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Scope Api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139C9-B57C-C73F-2C4C-623E400F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76926" cy="3678303"/>
          </a:xfrm>
        </p:spPr>
        <p:txBody>
          <a:bodyPr/>
          <a:lstStyle/>
          <a:p>
            <a:r>
              <a:rPr lang="en-US" dirty="0"/>
              <a:t>You can rename the scope but the autogenerated format follows ServiceNow convention:</a:t>
            </a:r>
          </a:p>
          <a:p>
            <a:pPr lvl="1"/>
            <a:r>
              <a:rPr lang="en-US" dirty="0"/>
              <a:t>x_ - tells us this is a scoped app</a:t>
            </a:r>
          </a:p>
          <a:p>
            <a:pPr lvl="1"/>
            <a:r>
              <a:rPr lang="en-US" dirty="0"/>
              <a:t>973962 – the developer code </a:t>
            </a:r>
          </a:p>
          <a:p>
            <a:pPr lvl="1"/>
            <a:r>
              <a:rPr lang="en-US" dirty="0"/>
              <a:t>app – our app name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9F738-5031-C24F-6F53-8BEA55008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884" y="3115234"/>
            <a:ext cx="3825195" cy="148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4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B2C9-2CB6-6D71-E68F-40D72FCC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EA75-35B7-7C17-1EAD-DE69FA0E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9688-7E27-A5E5-73F0-18178519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382415"/>
            <a:ext cx="5192079" cy="41528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application scope called ‘Training’ with two roles: Trainer &amp; Training Manager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table called ‘Capability’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Only Training Managers should have access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2 fields and add them via Form Builder: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A string display field called ‘Name’, mark it as the display field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A choice list called ‘Type’ which options are COTS &amp; Full Stack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Application Menu called ‘Training’ and new module named ‘Capability’ which shows our list of Capabilities 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Customize the List Layout so our Capability names are shown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0A8E56-9F6B-D70E-60E1-A0AE6914BE72}"/>
              </a:ext>
            </a:extLst>
          </p:cNvPr>
          <p:cNvSpPr txBox="1">
            <a:spLocks/>
          </p:cNvSpPr>
          <p:nvPr/>
        </p:nvSpPr>
        <p:spPr>
          <a:xfrm>
            <a:off x="903921" y="2415199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application scope</a:t>
            </a:r>
          </a:p>
          <a:p>
            <a:pPr marL="305435" indent="-305435"/>
            <a:r>
              <a:rPr lang="en-US" dirty="0"/>
              <a:t>Create a new table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537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FC2B-56F7-9A75-F2AB-349A4A7F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a scoped app vs global?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26FD8-6BB1-4418-7E90-109E021F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Scoped Apps are the most used</a:t>
            </a:r>
          </a:p>
          <a:p>
            <a:pPr lvl="1"/>
            <a:r>
              <a:rPr lang="en-US" dirty="0"/>
              <a:t>Enhanced security, isolated from other apps </a:t>
            </a:r>
          </a:p>
          <a:p>
            <a:pPr lvl="1"/>
            <a:r>
              <a:rPr lang="en-US" dirty="0"/>
              <a:t>Our unique namespace means no conflicts with other apps over EVERY ServiceNow instance</a:t>
            </a:r>
          </a:p>
          <a:p>
            <a:pPr lvl="2"/>
            <a:r>
              <a:rPr lang="en-US" dirty="0"/>
              <a:t>This lets us package our apps on the ServiceNow Store </a:t>
            </a:r>
          </a:p>
          <a:p>
            <a:r>
              <a:rPr lang="en-US" dirty="0"/>
              <a:t>Use Global when:</a:t>
            </a:r>
          </a:p>
          <a:p>
            <a:pPr lvl="1"/>
            <a:r>
              <a:rPr lang="en-US" dirty="0"/>
              <a:t>Modifying core platform features or existing global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3614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B8A2-5009-CD43-E785-737EC7F8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ABE9-DAB8-766D-D9EB-ED9DD9629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54832" cy="3678303"/>
          </a:xfrm>
        </p:spPr>
        <p:txBody>
          <a:bodyPr/>
          <a:lstStyle/>
          <a:p>
            <a:r>
              <a:rPr lang="en-US" dirty="0"/>
              <a:t>Reference fields help us build table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DE361-E5F3-A657-7E74-8CF95C2B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942" y="2180496"/>
            <a:ext cx="4138221" cy="441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6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7430-3AF4-333D-EFF0-0F77C004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A04E8-D0CA-CCA2-DDF6-55C90C75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43" y="1988586"/>
            <a:ext cx="9895114" cy="421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1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53E2-1979-70A7-AC32-59FCFE02C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9786-AACB-69CB-2EA8-CB8E0D99C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47EB5-8FAE-895F-2687-2443BD137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382416"/>
            <a:ext cx="5192079" cy="4125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table called ‘Delivery’ which uses an auto-number field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You should have 2 reference fields: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Assigned Trainer, that references </a:t>
            </a:r>
            <a:r>
              <a:rPr lang="en-US" dirty="0" err="1">
                <a:ea typeface="+mn-lt"/>
                <a:cs typeface="+mn-lt"/>
              </a:rPr>
              <a:t>sys_user</a:t>
            </a:r>
            <a:endParaRPr lang="en-US" dirty="0">
              <a:ea typeface="+mn-lt"/>
              <a:cs typeface="+mn-lt"/>
            </a:endParaRP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Capability, which references our other custom table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list of deliveries as a module to our ‘Training’ application menu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Customize the list layout for Deliveries so we see the delivery number, assigned trainer, and capability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Customize the related lists of Capability so we can see our related Deliveries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555C39-3A39-5196-E6BA-DEFF5CBF19A2}"/>
              </a:ext>
            </a:extLst>
          </p:cNvPr>
          <p:cNvSpPr txBox="1">
            <a:spLocks/>
          </p:cNvSpPr>
          <p:nvPr/>
        </p:nvSpPr>
        <p:spPr>
          <a:xfrm>
            <a:off x="903921" y="2382416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table and relate it to ‘Capability’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156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7CA5-12BE-E8E1-6426-2819B1F8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Qualifiers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D5B9-8433-19CE-543B-CE5FDC29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7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Reference qualifiers </a:t>
            </a:r>
            <a:r>
              <a:rPr lang="en-US" dirty="0"/>
              <a:t>allow us to filter the records available to choose in a reference field</a:t>
            </a:r>
          </a:p>
          <a:p>
            <a:pPr lvl="1"/>
            <a:r>
              <a:rPr lang="en-US" dirty="0"/>
              <a:t>For example, in our ‘Assigned Trainer’ field, we are currently showing ALL users</a:t>
            </a:r>
          </a:p>
          <a:p>
            <a:pPr lvl="1"/>
            <a:r>
              <a:rPr lang="en-US" dirty="0"/>
              <a:t>This isn’t what we want, we should only show trainers here!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84E2A-A378-BE19-15E4-836DC3AEB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848" y="2271264"/>
            <a:ext cx="3382964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03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508C-71A7-2210-5B9F-86A6BA6A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Qualifiers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FFCF-53B7-5C3D-05E6-1A87E8310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07391"/>
            <a:ext cx="11029616" cy="1221610"/>
          </a:xfrm>
        </p:spPr>
        <p:txBody>
          <a:bodyPr/>
          <a:lstStyle/>
          <a:p>
            <a:r>
              <a:rPr lang="en-US" dirty="0"/>
              <a:t>You can manage Reference Qualifiers from the dictionary entry or via Form Builder</a:t>
            </a:r>
          </a:p>
          <a:p>
            <a:r>
              <a:rPr lang="en-US" dirty="0"/>
              <a:t>We can inject JavaScript to evaluate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214FC-DE55-81C6-08D1-05C0A30D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328" y="3920436"/>
            <a:ext cx="6627443" cy="2235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1D096-4E13-0FFF-C3C1-409BFB63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5" y="3920436"/>
            <a:ext cx="2376668" cy="21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11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280E-DF53-159E-2BCF-29BF887F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B4DD-BA36-650A-276B-90A4312C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9C5D-4644-3E34-BCF1-8D1328097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382416"/>
            <a:ext cx="5192079" cy="2933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reference qualifier on ‘Assigned Trainer’ so that only users with our trainer role may get access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user group called ‘Trainers’ and assign someone to it, also add our custom trainer role to the group</a:t>
            </a:r>
          </a:p>
          <a:p>
            <a:pPr marL="305435" indent="-305435"/>
            <a:endParaRPr lang="en-US" dirty="0">
              <a:ea typeface="+mn-lt"/>
              <a:cs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9EE6A4-EA6A-AADD-EA4E-19E6512E78DF}"/>
              </a:ext>
            </a:extLst>
          </p:cNvPr>
          <p:cNvSpPr txBox="1">
            <a:spLocks/>
          </p:cNvSpPr>
          <p:nvPr/>
        </p:nvSpPr>
        <p:spPr>
          <a:xfrm>
            <a:off x="903921" y="2319663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Reference Qualifier 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6052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069F-D7A5-111F-ABCA-188886B0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C541-F5A0-D5A9-1910-D4C1BD56B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21114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junction table </a:t>
            </a:r>
            <a:r>
              <a:rPr lang="en-US" dirty="0"/>
              <a:t>allows us to create many-to-many relationships</a:t>
            </a:r>
          </a:p>
          <a:p>
            <a:pPr lvl="1"/>
            <a:r>
              <a:rPr lang="en-US" dirty="0"/>
              <a:t>Navigate to the ‘Many to Many Definitions’ table to setup this type of relationship (there isn’t a module for it, use the shortcut)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F8964-ABF1-0A20-9D9D-D77D30B0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95" y="2014342"/>
            <a:ext cx="3198842" cy="1221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CE750F-634E-E4E6-CE12-AF02B5090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886" y="3468318"/>
            <a:ext cx="2267266" cy="3038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CD9481-3D08-B722-46CA-F1856A0A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990" y="3429000"/>
            <a:ext cx="3270417" cy="297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02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3ABA8-FB9F-0866-FAC8-392AF12A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60F1-9325-8A8A-D3BE-FC81CF39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6FD3-518E-512B-ED53-76AB8EE26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477643"/>
            <a:ext cx="5192079" cy="3528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table called ‘Student’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You should create a string field called ‘Name’ that is set as the display field, also create an email field called ‘Email’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Students and Deliveries should have a many to many relationship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Display the Deliveries related list on Student records, and vice versa</a:t>
            </a:r>
          </a:p>
          <a:p>
            <a:pPr marL="305435" indent="-305435"/>
            <a:endParaRPr lang="en-US" dirty="0">
              <a:ea typeface="+mn-lt"/>
              <a:cs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CF8597-4603-A60E-D028-97854F62ADB8}"/>
              </a:ext>
            </a:extLst>
          </p:cNvPr>
          <p:cNvSpPr txBox="1">
            <a:spLocks/>
          </p:cNvSpPr>
          <p:nvPr/>
        </p:nvSpPr>
        <p:spPr>
          <a:xfrm>
            <a:off x="903921" y="2262673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many-to-many relationship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322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737D-CAA5-4F49-A783-9A28F5FE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57605-0015-0B3C-03C8-AAF16586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439" y="2034193"/>
            <a:ext cx="8773120" cy="919320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display field </a:t>
            </a:r>
            <a:r>
              <a:rPr lang="en-US" dirty="0"/>
              <a:t>is the primary field chosen to display when this record is being shown in a reference field or on related lists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3CCE1-BE43-670B-7768-12EF5AA4E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499514"/>
            <a:ext cx="9601199" cy="2802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BE3244-9120-DB41-C061-C4A050C09427}"/>
              </a:ext>
            </a:extLst>
          </p:cNvPr>
          <p:cNvSpPr txBox="1"/>
          <p:nvPr/>
        </p:nvSpPr>
        <p:spPr>
          <a:xfrm>
            <a:off x="1295400" y="3271750"/>
            <a:ext cx="19559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View from ServiceNow Studio:</a:t>
            </a:r>
          </a:p>
        </p:txBody>
      </p:sp>
    </p:spTree>
    <p:extLst>
      <p:ext uri="{BB962C8B-B14F-4D97-AF65-F5344CB8AC3E}">
        <p14:creationId xmlns:p14="http://schemas.microsoft.com/office/powerpoint/2010/main" val="660503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F86C-0AD1-1E5A-0DB9-717DBCA4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DAEE-4530-B821-9C0B-244CCAB4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5A02C-5905-A8C2-837C-A65A5CE88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382416"/>
            <a:ext cx="5192079" cy="1113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Set the display value of Deliveries to be our capability reference field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6BA485-B724-F73A-3664-71D1B3CB840F}"/>
              </a:ext>
            </a:extLst>
          </p:cNvPr>
          <p:cNvSpPr txBox="1">
            <a:spLocks/>
          </p:cNvSpPr>
          <p:nvPr/>
        </p:nvSpPr>
        <p:spPr>
          <a:xfrm>
            <a:off x="903921" y="2382416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Set a display field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18732C-57A6-0186-72B4-585C0C745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66" y="3946064"/>
            <a:ext cx="2212070" cy="2560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BDD772-BCB3-C37D-6772-832CFDC5E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143" y="3946064"/>
            <a:ext cx="2148563" cy="26747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A130B2-8A17-DE02-4746-C2728298BBF3}"/>
              </a:ext>
            </a:extLst>
          </p:cNvPr>
          <p:cNvSpPr txBox="1"/>
          <p:nvPr/>
        </p:nvSpPr>
        <p:spPr>
          <a:xfrm>
            <a:off x="1990166" y="3576732"/>
            <a:ext cx="458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this:	       To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058E0-F5D3-CD70-3F70-D5C5EAB5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78" y="3946063"/>
            <a:ext cx="2212070" cy="256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1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514B-8819-D2A6-9502-398F417C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09678-1930-E875-7C5F-623E1A22E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909077"/>
            <a:ext cx="11029616" cy="471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82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DF98A-F302-A648-1E98-CC02AD2B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A7417-8291-EC7C-5E6F-3F152949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80" y="1985626"/>
            <a:ext cx="9240440" cy="435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0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1D9F-72F5-6C23-0CA1-100DC6B7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E568-D1B3-16D1-5FCE-B0938846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4468D-507F-CC22-BA34-FD42DA339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477643"/>
            <a:ext cx="5192079" cy="31432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table called ‘Training Request’ that extends from ‘Task’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Configure its forms to display: a two-column format with: number, priority, assigned to, state, actual start, actual end, and active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reference field that points to a Delivery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module to view these records to our ‘Training’ application menu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39E383-9E45-9AB3-C86B-56CA28B59361}"/>
              </a:ext>
            </a:extLst>
          </p:cNvPr>
          <p:cNvSpPr txBox="1">
            <a:spLocks/>
          </p:cNvSpPr>
          <p:nvPr/>
        </p:nvSpPr>
        <p:spPr>
          <a:xfrm>
            <a:off x="903921" y="2328628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an extended table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7400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9823-A4BA-C324-811E-DE3950DE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Overrides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46A1-6A15-EA88-0EF9-BA53F3B7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024012"/>
            <a:ext cx="11029616" cy="1013801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Dictionary overrides </a:t>
            </a:r>
            <a:r>
              <a:rPr lang="en-US" dirty="0"/>
              <a:t>allow us to override the attributes from an extended table, without affecting the base or parent table</a:t>
            </a:r>
          </a:p>
          <a:p>
            <a:pPr lvl="1"/>
            <a:r>
              <a:rPr lang="en-US" dirty="0"/>
              <a:t>This can be done from Form Builder or from the related list on Dictionary Entry records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14361-EF15-E9FC-74E4-4136C6C2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4824210"/>
            <a:ext cx="8991600" cy="1813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83134B-2964-794E-D46C-6BC94C79A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99" y="3345869"/>
            <a:ext cx="6801799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86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D1C-28FA-8E34-9DA7-77FB62A9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34C3-8E58-EEE8-E19C-53ED9E40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EEFA0-13E0-DCB6-8B9B-B721A0852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477643"/>
            <a:ext cx="5192079" cy="1359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Dictionary Overrides to the ‘Actual Start’ and ‘Actual End’ fields so that they are both mandatory on ‘Training Request’ records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A1514C-577B-B4E1-18AD-89580A49F537}"/>
              </a:ext>
            </a:extLst>
          </p:cNvPr>
          <p:cNvSpPr txBox="1">
            <a:spLocks/>
          </p:cNvSpPr>
          <p:nvPr/>
        </p:nvSpPr>
        <p:spPr>
          <a:xfrm>
            <a:off x="903921" y="2328628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Add Dictionary Overrides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2666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F2434-0EA6-5209-ED18-2789A668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537A2-3826-FAE6-1B11-8A7A7746E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6" y="2274350"/>
            <a:ext cx="10153287" cy="4482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353296-F3A3-15FC-59AE-67AADFB01EF6}"/>
              </a:ext>
            </a:extLst>
          </p:cNvPr>
          <p:cNvSpPr txBox="1"/>
          <p:nvPr/>
        </p:nvSpPr>
        <p:spPr>
          <a:xfrm>
            <a:off x="2390529" y="1905018"/>
            <a:ext cx="741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Accessible on the record for the table or from the Tables &amp; Columns module</a:t>
            </a:r>
          </a:p>
        </p:txBody>
      </p:sp>
    </p:spTree>
    <p:extLst>
      <p:ext uri="{BB962C8B-B14F-4D97-AF65-F5344CB8AC3E}">
        <p14:creationId xmlns:p14="http://schemas.microsoft.com/office/powerpoint/2010/main" val="1513188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9D01C-FB7C-C841-C98D-24162999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75EB-1074-FF4F-629D-6DEF9D1EFC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Platform Security</a:t>
            </a:r>
          </a:p>
        </p:txBody>
      </p:sp>
    </p:spTree>
    <p:extLst>
      <p:ext uri="{BB962C8B-B14F-4D97-AF65-F5344CB8AC3E}">
        <p14:creationId xmlns:p14="http://schemas.microsoft.com/office/powerpoint/2010/main" val="2001882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86BD-118E-95DC-54A6-6127A9AA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ServiceNow Manages User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2FC2B-4F90-3A2A-D421-13B188F85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130" y="1827401"/>
            <a:ext cx="8955740" cy="470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84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9C82-6F7E-67A3-4054-5CF0FC4D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Modules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E057-9EFE-9E36-D270-6CCEEE6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50" y="2354666"/>
            <a:ext cx="5188237" cy="3678303"/>
          </a:xfrm>
        </p:spPr>
        <p:txBody>
          <a:bodyPr/>
          <a:lstStyle/>
          <a:p>
            <a:r>
              <a:rPr lang="en-US" dirty="0"/>
              <a:t>Security – system properties related to instance security </a:t>
            </a:r>
          </a:p>
          <a:p>
            <a:r>
              <a:rPr lang="en-US" dirty="0"/>
              <a:t>Security Center – enhances your instance security posture using built-in recommendations and security best practices</a:t>
            </a:r>
          </a:p>
          <a:p>
            <a:r>
              <a:rPr lang="en-US" dirty="0"/>
              <a:t>Access Control (ACL) – define CRUD on tables and fields </a:t>
            </a:r>
          </a:p>
          <a:p>
            <a:r>
              <a:rPr lang="en-US" dirty="0"/>
              <a:t>High Security Settings – contains critical security system properties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DEBB97-3B2D-9650-ADF5-2781EE891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32" y="2966294"/>
            <a:ext cx="1486107" cy="466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EA43A9-B625-5031-0113-080107330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032" y="3917325"/>
            <a:ext cx="1533739" cy="838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19B2BC-D605-F00B-E05F-64C99D4CB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032" y="4736556"/>
            <a:ext cx="1533739" cy="3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11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CEEF-35B3-30E1-085F-D2E7187D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Elevate Role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F356A-A9A1-0270-3821-80A5B5FD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1" y="2524846"/>
            <a:ext cx="8498277" cy="4246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885AE4-C011-02C6-E752-8453E10B34AB}"/>
              </a:ext>
            </a:extLst>
          </p:cNvPr>
          <p:cNvSpPr txBox="1"/>
          <p:nvPr/>
        </p:nvSpPr>
        <p:spPr>
          <a:xfrm>
            <a:off x="2159607" y="1878515"/>
            <a:ext cx="7872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Modifying ACLs require elevating our role to ‘</a:t>
            </a:r>
            <a:r>
              <a:rPr lang="en-US" dirty="0" err="1"/>
              <a:t>security_admin</a:t>
            </a:r>
            <a:r>
              <a:rPr lang="en-US" dirty="0"/>
              <a:t>’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Only the default System Admin gets this, but can be granted to other admins</a:t>
            </a:r>
          </a:p>
        </p:txBody>
      </p:sp>
    </p:spTree>
    <p:extLst>
      <p:ext uri="{BB962C8B-B14F-4D97-AF65-F5344CB8AC3E}">
        <p14:creationId xmlns:p14="http://schemas.microsoft.com/office/powerpoint/2010/main" val="4281664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A058-8DDB-0F01-2621-7930C8B2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2F0AD-26AA-B019-6281-EA091817F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9" y="1853454"/>
            <a:ext cx="11182861" cy="4732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52720-4E4A-E658-583A-6A208D2EBB6E}"/>
              </a:ext>
            </a:extLst>
          </p:cNvPr>
          <p:cNvSpPr txBox="1"/>
          <p:nvPr/>
        </p:nvSpPr>
        <p:spPr>
          <a:xfrm>
            <a:off x="4641434" y="1929654"/>
            <a:ext cx="290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Name: </a:t>
            </a:r>
            <a:r>
              <a:rPr lang="en-US" dirty="0" err="1"/>
              <a:t>sys_security_acl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58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A00D-D03D-3CE6-A8AD-03C68666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List (ACL)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7A9AC-C383-CE78-6DD2-B8FCE7D7D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83" y="1850570"/>
            <a:ext cx="11392234" cy="473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13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4ADA-8B49-8B32-ED6C-C09AD676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Created Access Controls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91302-011A-9AD0-2C9F-76E15D12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21" y="1914965"/>
            <a:ext cx="10273157" cy="472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82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FBE8B-9EA2-CB6D-FFF0-CA47CE6A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BCC40-F3D8-A6F3-E1C6-9DD2F0F6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57" y="1925079"/>
            <a:ext cx="10831285" cy="458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92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EA0E-EC81-CE7C-ADD7-D7BE7D12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F464B-176C-83FD-F929-A38D1856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1" y="1932818"/>
            <a:ext cx="11056977" cy="450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6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6C5-2210-C673-1D37-4F579A52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B471-9078-4DF4-9604-6B24FDBD3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4794" y="1955883"/>
            <a:ext cx="6331237" cy="772886"/>
          </a:xfrm>
        </p:spPr>
        <p:txBody>
          <a:bodyPr>
            <a:normAutofit/>
          </a:bodyPr>
          <a:lstStyle/>
          <a:p>
            <a:r>
              <a:rPr lang="en-US" dirty="0"/>
              <a:t>Setting field to ‘none’ is misleading, it means ‘No Restrictions’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29685-9E93-28C4-1FEB-B8A23348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27" y="2815855"/>
            <a:ext cx="8379773" cy="374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46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8BA1-EBFF-DC3E-281A-64D72317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Decision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EED74-810F-EF95-A450-5DE47CDC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4" y="1940890"/>
            <a:ext cx="10689771" cy="469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49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7855-D3EF-4655-A0B8-3FBD846C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Or without Wildcards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B4C89-7103-C10D-EAD2-08A3B5CC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71" y="2211828"/>
            <a:ext cx="10472057" cy="348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93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00F0-B15E-5B67-F3D5-307CF2D20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87028-9796-6CDD-ACD2-A94074080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49" y="1804845"/>
            <a:ext cx="10920759" cy="50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55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8A5B5-D6CE-7931-D1ED-8E9D6A73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09F1-3510-08F0-BCBE-EB01D729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FBE9-A693-3A38-618B-B627E709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477643"/>
            <a:ext cx="5192079" cy="1359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an ACL so that Trainers can read Capability records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520628-922D-994D-ABB8-99C386FCE984}"/>
              </a:ext>
            </a:extLst>
          </p:cNvPr>
          <p:cNvSpPr txBox="1">
            <a:spLocks/>
          </p:cNvSpPr>
          <p:nvPr/>
        </p:nvSpPr>
        <p:spPr>
          <a:xfrm>
            <a:off x="903921" y="2328628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an ACL rule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0203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33BE-7766-09CD-3153-7E80DEA8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D89D-E99D-6BD9-EF78-81127F33E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 Data</a:t>
            </a:r>
          </a:p>
        </p:txBody>
      </p:sp>
    </p:spTree>
    <p:extLst>
      <p:ext uri="{BB962C8B-B14F-4D97-AF65-F5344CB8AC3E}">
        <p14:creationId xmlns:p14="http://schemas.microsoft.com/office/powerpoint/2010/main" val="620155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F9F2-55D9-868D-461E-2B4D1E5E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D441F-95E6-7157-5306-E177AFC7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47" y="1868356"/>
            <a:ext cx="10945906" cy="461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28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AE09-EEB6-37DC-0D2F-8712A0B71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Se t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D07C1-67F6-5D28-5999-501A15EF7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57" y="1983317"/>
            <a:ext cx="9383486" cy="478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00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1F7EE-E37C-31B8-0FF5-DE952D11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 Maps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DA707-14AA-A233-25B4-3DDC00FF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" y="1896230"/>
            <a:ext cx="10776857" cy="4506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252A1-130F-F000-B0CC-45A9FFA0E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371" y="5525898"/>
            <a:ext cx="2375373" cy="7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24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FEC2-F010-3099-FBCC-FFA1CFBA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Coalesce Fields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D75F0-BCEC-A8BE-F409-6C6AA25AE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55" y="1850571"/>
            <a:ext cx="10140889" cy="488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18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0C01-C625-001D-5981-EDB34F49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2DB9-2A85-87F0-D7AE-E79279E64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05208" cy="3678303"/>
          </a:xfrm>
        </p:spPr>
        <p:txBody>
          <a:bodyPr/>
          <a:lstStyle/>
          <a:p>
            <a:r>
              <a:rPr lang="en-US" dirty="0"/>
              <a:t>1. Create an import set table from:</a:t>
            </a:r>
            <a:br>
              <a:rPr lang="en-US" dirty="0"/>
            </a:br>
            <a:r>
              <a:rPr lang="en-US" dirty="0"/>
              <a:t>System Import Sets &gt; Load Data</a:t>
            </a:r>
          </a:p>
          <a:p>
            <a:r>
              <a:rPr lang="en-US" dirty="0"/>
              <a:t>2. When we click ‘Submit’ the form will create a [</a:t>
            </a:r>
            <a:r>
              <a:rPr lang="en-US" dirty="0" err="1"/>
              <a:t>sys_import_set</a:t>
            </a:r>
            <a:r>
              <a:rPr lang="en-US" dirty="0"/>
              <a:t>] record</a:t>
            </a:r>
          </a:p>
          <a:p>
            <a:pPr lvl="1"/>
            <a:r>
              <a:rPr lang="en-US" dirty="0"/>
              <a:t>Found at: System Import Sets &gt; Advanced &gt; Import Sets</a:t>
            </a:r>
          </a:p>
          <a:p>
            <a:r>
              <a:rPr lang="en-US" dirty="0"/>
              <a:t>3. We need to create a transform map if we haven’t yet, or use an existing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C687B-0AD4-2AB3-C6A9-5A47B300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517" y="2180496"/>
            <a:ext cx="4213991" cy="2949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B7809-B7A6-17E6-2FE7-32D761565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887" y="5211008"/>
            <a:ext cx="2572109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536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64A-3FD3-F1BD-403A-BB28D2AF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6F39-67AE-A602-82DD-0B2BD1C4C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588037" cy="42094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3a.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Source Table – The data from our import set</a:t>
            </a:r>
          </a:p>
          <a:p>
            <a:pPr marL="0" indent="0">
              <a:buNone/>
            </a:pPr>
            <a:r>
              <a:rPr lang="en-US" dirty="0"/>
              <a:t>Target Table – The production table to insert/edit records </a:t>
            </a:r>
          </a:p>
          <a:p>
            <a:pPr marL="0" indent="0">
              <a:buNone/>
            </a:pPr>
            <a:r>
              <a:rPr lang="en-US" dirty="0"/>
              <a:t>Field Maps – Map induvial fields from our source to the target table</a:t>
            </a:r>
          </a:p>
          <a:p>
            <a:pPr marL="0" indent="0">
              <a:buNone/>
            </a:pPr>
            <a:r>
              <a:rPr lang="en-US" dirty="0"/>
              <a:t>Auto Map Matching Fields – attempts to automatically create mappings </a:t>
            </a:r>
          </a:p>
          <a:p>
            <a:pPr marL="0" indent="0">
              <a:buNone/>
            </a:pPr>
            <a:r>
              <a:rPr lang="en-US" dirty="0"/>
              <a:t>Mapping Assist – allows us to manually select mappings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A8D35-30E2-48B1-9B1B-73166C64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180496"/>
            <a:ext cx="8564482" cy="1183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3BD6F-1771-2303-5CDF-DF336E63C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658" y="3613430"/>
            <a:ext cx="7292150" cy="28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94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453D9C-FD3A-55E7-60DA-B74F17393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540" y="2576267"/>
            <a:ext cx="5434505" cy="42243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5E514B-834F-853A-24AD-12D428FA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C077F-95BE-1B86-1C2B-D1A7B5949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" y="2387324"/>
            <a:ext cx="3942712" cy="3678303"/>
          </a:xfrm>
        </p:spPr>
        <p:txBody>
          <a:bodyPr/>
          <a:lstStyle/>
          <a:p>
            <a:r>
              <a:rPr lang="en-US" dirty="0"/>
              <a:t>4. Run the transform</a:t>
            </a:r>
          </a:p>
          <a:p>
            <a:pPr lvl="1"/>
            <a:r>
              <a:rPr lang="en-US" dirty="0"/>
              <a:t>From the module</a:t>
            </a:r>
          </a:p>
          <a:p>
            <a:pPr lvl="1"/>
            <a:r>
              <a:rPr lang="en-US" dirty="0"/>
              <a:t>Right after using ‘Load Data’</a:t>
            </a:r>
          </a:p>
          <a:p>
            <a:pPr lvl="1"/>
            <a:r>
              <a:rPr lang="en-US" dirty="0"/>
              <a:t>Opening the import set record and using the ‘Transform’ related link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86885-D803-838A-C7D5-CB69812CF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461" y="2714525"/>
            <a:ext cx="1467055" cy="7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6534EC-D3F1-C7DF-EE4C-71F481F12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688463"/>
            <a:ext cx="292458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781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C2AC-6D40-8E4D-2EAD-CD2E7096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7872-12F6-AC4B-D65E-17CF6F6FB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751322" cy="3678303"/>
          </a:xfrm>
        </p:spPr>
        <p:txBody>
          <a:bodyPr/>
          <a:lstStyle/>
          <a:p>
            <a:r>
              <a:rPr lang="en-US" dirty="0"/>
              <a:t>You can manually cleanup tables</a:t>
            </a:r>
          </a:p>
          <a:p>
            <a:r>
              <a:rPr lang="en-US" dirty="0"/>
              <a:t>Or just let the baseline implementation script clean it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7793A-5F4A-5D69-6C6B-412B19B6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64" y="2287949"/>
            <a:ext cx="2857899" cy="1324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B6AFBD-C965-676E-15F2-5431AC857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02" y="4184102"/>
            <a:ext cx="5963482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8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6DF8-2B00-32D2-9545-D99FE7E2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602E-0C98-0DA4-8493-7A6AB444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4B5EC-A5EC-7894-A76F-9C7F0A530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477643"/>
            <a:ext cx="5192079" cy="1843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Use the provided CSV or Excel document as a data source to upload as records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These records will populate your ‘Capability’ table</a:t>
            </a:r>
          </a:p>
          <a:p>
            <a:pPr marL="305435" indent="-305435"/>
            <a:endParaRPr lang="en-US" dirty="0">
              <a:ea typeface="+mn-lt"/>
              <a:cs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7792AD-8EAA-D6C9-2523-504EF50CCE9D}"/>
              </a:ext>
            </a:extLst>
          </p:cNvPr>
          <p:cNvSpPr txBox="1">
            <a:spLocks/>
          </p:cNvSpPr>
          <p:nvPr/>
        </p:nvSpPr>
        <p:spPr>
          <a:xfrm>
            <a:off x="903921" y="2328628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Use Import Sets</a:t>
            </a:r>
          </a:p>
        </p:txBody>
      </p:sp>
    </p:spTree>
    <p:extLst>
      <p:ext uri="{BB962C8B-B14F-4D97-AF65-F5344CB8AC3E}">
        <p14:creationId xmlns:p14="http://schemas.microsoft.com/office/powerpoint/2010/main" val="1767499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AE7D-DCC5-1E63-6B0E-381828C1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4FE2-C7A8-D367-5CF8-60646BF987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CMDB</a:t>
            </a:r>
          </a:p>
        </p:txBody>
      </p:sp>
    </p:spTree>
    <p:extLst>
      <p:ext uri="{BB962C8B-B14F-4D97-AF65-F5344CB8AC3E}">
        <p14:creationId xmlns:p14="http://schemas.microsoft.com/office/powerpoint/2010/main" val="39189816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186A-9D1F-C0D8-AA26-3362A4D3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CMDB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8CE3D-ABBF-C064-C806-8945D5D95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64" y="1897393"/>
            <a:ext cx="10042071" cy="49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86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4E72-CAEC-63AF-BD6D-69D5D282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CMDB USE in ITSM Processes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DC641-E25A-1890-889F-6033055E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055" y="2230956"/>
            <a:ext cx="9003889" cy="4543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F46AAE-AEA0-8AFF-1F6E-21A0D86AAC5C}"/>
              </a:ext>
            </a:extLst>
          </p:cNvPr>
          <p:cNvSpPr txBox="1"/>
          <p:nvPr/>
        </p:nvSpPr>
        <p:spPr>
          <a:xfrm>
            <a:off x="2125196" y="1861624"/>
            <a:ext cx="794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CMDB in ITIL 4 falls under the practice of Service Configuration Management </a:t>
            </a:r>
          </a:p>
        </p:txBody>
      </p:sp>
    </p:spTree>
    <p:extLst>
      <p:ext uri="{BB962C8B-B14F-4D97-AF65-F5344CB8AC3E}">
        <p14:creationId xmlns:p14="http://schemas.microsoft.com/office/powerpoint/2010/main" val="35405793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635D-A87F-DDED-3920-3A7C2334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6BF61-3261-A1F1-C5FC-4B94C7754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40431" cy="3678303"/>
          </a:xfrm>
        </p:spPr>
        <p:txBody>
          <a:bodyPr>
            <a:normAutofit/>
          </a:bodyPr>
          <a:lstStyle/>
          <a:p>
            <a:r>
              <a:rPr lang="en-US" dirty="0"/>
              <a:t>From Configuration &gt; Base Items &gt; All we can see every CI</a:t>
            </a:r>
          </a:p>
          <a:p>
            <a:r>
              <a:rPr lang="en-US" dirty="0"/>
              <a:t>Many tables(classes) extend from each other</a:t>
            </a:r>
          </a:p>
          <a:p>
            <a:r>
              <a:rPr lang="en-US" dirty="0" err="1"/>
              <a:t>cmdb</a:t>
            </a:r>
            <a:r>
              <a:rPr lang="en-US" dirty="0"/>
              <a:t> – base class</a:t>
            </a:r>
          </a:p>
          <a:p>
            <a:r>
              <a:rPr lang="en-US" dirty="0" err="1"/>
              <a:t>cmdb_rel_ci</a:t>
            </a:r>
            <a:r>
              <a:rPr lang="en-US" dirty="0"/>
              <a:t> – relationship records between CIs</a:t>
            </a:r>
          </a:p>
          <a:p>
            <a:r>
              <a:rPr lang="en-US" dirty="0" err="1"/>
              <a:t>cmdb_ci</a:t>
            </a:r>
            <a:r>
              <a:rPr lang="en-US" dirty="0"/>
              <a:t> – base CI class</a:t>
            </a:r>
          </a:p>
          <a:p>
            <a:r>
              <a:rPr lang="en-US" dirty="0" err="1"/>
              <a:t>cmdb_ci_server</a:t>
            </a:r>
            <a:r>
              <a:rPr lang="en-US" dirty="0"/>
              <a:t> – CI class for servers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4C410-BFB4-7AB7-1418-867175AAA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256" y="2385881"/>
            <a:ext cx="2676899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87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3861-1C97-6C87-2EF3-D9478E74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Item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5B8FA-D0F5-E8AF-8783-9E004EED4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" y="1826190"/>
            <a:ext cx="10614212" cy="49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508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A5EF-B059-FDEB-CAC6-507A8681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Discovery &amp; Service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8D393-04C1-DA23-0AA8-B63483CF2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91302"/>
            <a:ext cx="10516357" cy="4258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BBC23-457F-A388-4CE3-98B17C2CF878}"/>
              </a:ext>
            </a:extLst>
          </p:cNvPr>
          <p:cNvSpPr txBox="1"/>
          <p:nvPr/>
        </p:nvSpPr>
        <p:spPr>
          <a:xfrm>
            <a:off x="2153414" y="1918963"/>
            <a:ext cx="801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Discovery MID Server – runs a java process on a customer’s windows/Linux server </a:t>
            </a:r>
          </a:p>
        </p:txBody>
      </p:sp>
    </p:spTree>
    <p:extLst>
      <p:ext uri="{BB962C8B-B14F-4D97-AF65-F5344CB8AC3E}">
        <p14:creationId xmlns:p14="http://schemas.microsoft.com/office/powerpoint/2010/main" val="9187423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3F3A-CCD2-DEE0-0AA6-E5B88B47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CMDB Workspace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561C7-FB16-44F6-AE26-F3B29EFEC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506713" cy="3678303"/>
          </a:xfrm>
        </p:spPr>
        <p:txBody>
          <a:bodyPr/>
          <a:lstStyle/>
          <a:p>
            <a:r>
              <a:rPr lang="en-US" dirty="0"/>
              <a:t>Check system health and recent activity</a:t>
            </a:r>
          </a:p>
          <a:p>
            <a:r>
              <a:rPr lang="en-US" dirty="0"/>
              <a:t>View tasks related to CIs</a:t>
            </a:r>
          </a:p>
          <a:p>
            <a:r>
              <a:rPr lang="en-US" dirty="0"/>
              <a:t>Access Dependency Views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1F0A4-2D4B-1D42-37F3-FC06A540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396" y="2389093"/>
            <a:ext cx="7397395" cy="355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833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9A6B-DC34-2A2B-8AE9-EBA28065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Views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33D40-B5DA-2085-994F-0048BC0D2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49" y="2862199"/>
            <a:ext cx="10229501" cy="3995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A2852-8AA5-6248-06BD-0D79A1D69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20" y="1965911"/>
            <a:ext cx="1600423" cy="752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FBB6D1-D5D0-F8C7-EE74-0D8216778301}"/>
              </a:ext>
            </a:extLst>
          </p:cNvPr>
          <p:cNvSpPr txBox="1"/>
          <p:nvPr/>
        </p:nvSpPr>
        <p:spPr>
          <a:xfrm>
            <a:off x="981249" y="2019035"/>
            <a:ext cx="8741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Dependency Views may be accessed from the CMDB Workspace – from the quick links, or by clicking the button on the CI record either in the workspace or regular form</a:t>
            </a:r>
          </a:p>
        </p:txBody>
      </p:sp>
    </p:spTree>
    <p:extLst>
      <p:ext uri="{BB962C8B-B14F-4D97-AF65-F5344CB8AC3E}">
        <p14:creationId xmlns:p14="http://schemas.microsoft.com/office/powerpoint/2010/main" val="16307726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155B-C9CB-794F-00C0-A3F66553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View: Map Icons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A98E9-8AD4-F0CA-17B4-EA8C15E1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17" y="1885598"/>
            <a:ext cx="10372165" cy="497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830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5D775-A96F-DFBB-D078-1734DFDA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Class Manager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D67F5-649F-3299-2A07-A7DE14BF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84" y="1824887"/>
            <a:ext cx="9433631" cy="485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212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5EE7-5D76-36A5-BE26-D488D18F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Class Manager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ABDC4-F26F-F4DB-D418-A0AEBEB22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" y="1921516"/>
            <a:ext cx="11492753" cy="493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491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7E1A-EFAC-691E-FE19-D690BAED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Class Manager attributes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F8596-023D-0AC2-759F-CB595B79E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35" y="1902686"/>
            <a:ext cx="9771530" cy="495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34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5AB2-8F9F-1CD3-5545-1A055CFF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Class Manager suggested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64B0C-EE69-5919-8675-00B248D5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88" y="1797286"/>
            <a:ext cx="10103224" cy="506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346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F327-730E-542E-3C7E-C5FC6D1C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CSDM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2E849-4992-563A-B20D-156BB5AD3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88" y="1810871"/>
            <a:ext cx="9472823" cy="5047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4BED3-800D-258B-3BCA-CA6E6FD2C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732" y="5718597"/>
            <a:ext cx="1400370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325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CE2D-F424-7CE9-C89D-07BBB58F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CSDM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5BD7C-639F-E3C0-28E9-3C9ECF15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28" y="1819188"/>
            <a:ext cx="11691477" cy="470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962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DF44-8387-4D3B-A769-AAAFF2D3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new CI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A14A1-86B5-8684-1FE6-6E5D0792C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54774"/>
            <a:ext cx="11029615" cy="1248504"/>
          </a:xfrm>
        </p:spPr>
        <p:txBody>
          <a:bodyPr>
            <a:normAutofit/>
          </a:bodyPr>
          <a:lstStyle/>
          <a:p>
            <a:r>
              <a:rPr lang="en-US" dirty="0"/>
              <a:t>Create a new table to represent our new CI</a:t>
            </a:r>
          </a:p>
          <a:p>
            <a:r>
              <a:rPr lang="en-US" dirty="0"/>
              <a:t>Make sure you extend from the correct table, follow the CSDM</a:t>
            </a:r>
          </a:p>
          <a:p>
            <a:r>
              <a:rPr lang="en-US" dirty="0"/>
              <a:t>Note the naming convention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3FCD5-A10D-D3C0-4692-AAC9B749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3" y="3554722"/>
            <a:ext cx="11159011" cy="275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676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D0CA-F9AE-B516-2C0A-2E32C66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3AC-F63D-52E2-BB9C-6ACFF6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6976-544E-D66E-5CE1-3C91D93E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418892"/>
            <a:ext cx="5192079" cy="1359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new CI class called ‘Training Tablet’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Explore your new class with the CI Class Manager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8BB07-8A9D-0F81-F7D8-908F197B3356}"/>
              </a:ext>
            </a:extLst>
          </p:cNvPr>
          <p:cNvSpPr txBox="1">
            <a:spLocks/>
          </p:cNvSpPr>
          <p:nvPr/>
        </p:nvSpPr>
        <p:spPr>
          <a:xfrm>
            <a:off x="903921" y="2415199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a new CI Class</a:t>
            </a:r>
          </a:p>
        </p:txBody>
      </p:sp>
    </p:spTree>
    <p:extLst>
      <p:ext uri="{BB962C8B-B14F-4D97-AF65-F5344CB8AC3E}">
        <p14:creationId xmlns:p14="http://schemas.microsoft.com/office/powerpoint/2010/main" val="31449470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8B6C-F247-96A7-6272-7BACE19D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ServiceNow Studio &amp;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E9A5-DAF2-B8B5-F15B-F80F00D65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83867" cy="45788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 GitHub:</a:t>
            </a:r>
          </a:p>
          <a:p>
            <a:pPr lvl="1"/>
            <a:r>
              <a:rPr lang="en-US" dirty="0"/>
              <a:t>Create a new fine-grained personal access token</a:t>
            </a:r>
          </a:p>
          <a:p>
            <a:pPr lvl="1"/>
            <a:r>
              <a:rPr lang="en-US" dirty="0"/>
              <a:t>Settings &gt; Developer Settings &gt; Personal Access Tokens</a:t>
            </a:r>
          </a:p>
          <a:p>
            <a:pPr lvl="1"/>
            <a:r>
              <a:rPr lang="en-US" dirty="0"/>
              <a:t>Limit exposed repos &amp; limit permissions (select only ‘contents’ for basic pull/push repo management)</a:t>
            </a:r>
          </a:p>
          <a:p>
            <a:r>
              <a:rPr lang="en-US" dirty="0"/>
              <a:t>On ServiceNow:</a:t>
            </a:r>
          </a:p>
          <a:p>
            <a:pPr lvl="1"/>
            <a:r>
              <a:rPr lang="en-US" dirty="0"/>
              <a:t>Create a new ‘Basic Auth’ credential at Connections &amp; Credentials &gt; Credentials </a:t>
            </a:r>
          </a:p>
          <a:p>
            <a:pPr lvl="1"/>
            <a:r>
              <a:rPr lang="en-US" dirty="0"/>
              <a:t>Username is your </a:t>
            </a:r>
            <a:r>
              <a:rPr lang="en-US" dirty="0" err="1"/>
              <a:t>github</a:t>
            </a:r>
            <a:r>
              <a:rPr lang="en-US" dirty="0"/>
              <a:t> username &amp; password is your personal access token</a:t>
            </a:r>
          </a:p>
          <a:p>
            <a:pPr lvl="1"/>
            <a:r>
              <a:rPr lang="en-US" dirty="0"/>
              <a:t>Select ‘Link to source control’, fill out the form, and submit – a new branch is created in your repo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9C4AF-B911-767D-8555-06160CDF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88" y="2035628"/>
            <a:ext cx="5720681" cy="448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6086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10566</TotalTime>
  <Words>1568</Words>
  <Application>Microsoft Office PowerPoint</Application>
  <PresentationFormat>Widescreen</PresentationFormat>
  <Paragraphs>206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Gill Sans MT</vt:lpstr>
      <vt:lpstr>Wingdings</vt:lpstr>
      <vt:lpstr>Wingdings 2</vt:lpstr>
      <vt:lpstr>Dividend</vt:lpstr>
      <vt:lpstr>Database Management</vt:lpstr>
      <vt:lpstr>Tables</vt:lpstr>
      <vt:lpstr>Field Attributes</vt:lpstr>
      <vt:lpstr>Core Tables vs Custom tables</vt:lpstr>
      <vt:lpstr>Application Scopes</vt:lpstr>
      <vt:lpstr>Application Scope Api Names</vt:lpstr>
      <vt:lpstr>Challenge</vt:lpstr>
      <vt:lpstr>When to use a scoped app vs global?</vt:lpstr>
      <vt:lpstr>Reference Fields</vt:lpstr>
      <vt:lpstr>Table Relationships</vt:lpstr>
      <vt:lpstr>Challenge</vt:lpstr>
      <vt:lpstr>Reference Qualifiers</vt:lpstr>
      <vt:lpstr>Reference Qualifiers</vt:lpstr>
      <vt:lpstr>Challenge</vt:lpstr>
      <vt:lpstr>Many-to-Many Relationships</vt:lpstr>
      <vt:lpstr>Challenge</vt:lpstr>
      <vt:lpstr>Display Fields</vt:lpstr>
      <vt:lpstr>Challenge</vt:lpstr>
      <vt:lpstr>Extended Tables</vt:lpstr>
      <vt:lpstr>Base Tables</vt:lpstr>
      <vt:lpstr>Challenge</vt:lpstr>
      <vt:lpstr>Dictionary Overrides</vt:lpstr>
      <vt:lpstr>Challenge</vt:lpstr>
      <vt:lpstr>Schema Map</vt:lpstr>
      <vt:lpstr>Platform Security</vt:lpstr>
      <vt:lpstr>How ServiceNow Manages User Access</vt:lpstr>
      <vt:lpstr>Key Security Modules to Know</vt:lpstr>
      <vt:lpstr>Elevate Role</vt:lpstr>
      <vt:lpstr>Access Control</vt:lpstr>
      <vt:lpstr>Access Control List (ACL)</vt:lpstr>
      <vt:lpstr>System Created Access Controls</vt:lpstr>
      <vt:lpstr>ACL Definition</vt:lpstr>
      <vt:lpstr>Rule Types</vt:lpstr>
      <vt:lpstr>Rule Types</vt:lpstr>
      <vt:lpstr>Access Control Decision Types</vt:lpstr>
      <vt:lpstr>With Or without Wildcards</vt:lpstr>
      <vt:lpstr>Access Control Evaluation</vt:lpstr>
      <vt:lpstr>Challenge</vt:lpstr>
      <vt:lpstr>Import Data</vt:lpstr>
      <vt:lpstr>Import Sets</vt:lpstr>
      <vt:lpstr>Import Se t Table</vt:lpstr>
      <vt:lpstr>Transform Maps</vt:lpstr>
      <vt:lpstr>Coalesce Fields</vt:lpstr>
      <vt:lpstr>All The steps:</vt:lpstr>
      <vt:lpstr>All The steps:</vt:lpstr>
      <vt:lpstr>All The steps:</vt:lpstr>
      <vt:lpstr>Sidenote</vt:lpstr>
      <vt:lpstr>Challenge</vt:lpstr>
      <vt:lpstr>CMDB</vt:lpstr>
      <vt:lpstr>CMDB</vt:lpstr>
      <vt:lpstr>CMDB USE in ITSM Processes</vt:lpstr>
      <vt:lpstr>Examples</vt:lpstr>
      <vt:lpstr>Configuration Item Form</vt:lpstr>
      <vt:lpstr>Discovery &amp; Service Mapping</vt:lpstr>
      <vt:lpstr>CMDB Workspace</vt:lpstr>
      <vt:lpstr>Dependency Views Map</vt:lpstr>
      <vt:lpstr>Dependency View: Map Icons</vt:lpstr>
      <vt:lpstr>CI Class Manager</vt:lpstr>
      <vt:lpstr>Ci Class Manager</vt:lpstr>
      <vt:lpstr>CI Class Manager attributes Tab</vt:lpstr>
      <vt:lpstr>CI Class Manager suggested Relationships</vt:lpstr>
      <vt:lpstr>CSDM</vt:lpstr>
      <vt:lpstr>CSDM</vt:lpstr>
      <vt:lpstr>Adding a new CI Class</vt:lpstr>
      <vt:lpstr>Challenge</vt:lpstr>
      <vt:lpstr>Connect ServiceNow Studio &amp;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608</cp:revision>
  <dcterms:created xsi:type="dcterms:W3CDTF">2025-02-12T19:53:45Z</dcterms:created>
  <dcterms:modified xsi:type="dcterms:W3CDTF">2025-10-16T15:34:14Z</dcterms:modified>
</cp:coreProperties>
</file>