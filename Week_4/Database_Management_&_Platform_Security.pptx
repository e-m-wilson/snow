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14" r:id="rId3"/>
    <p:sldId id="315" r:id="rId4"/>
    <p:sldId id="320" r:id="rId5"/>
    <p:sldId id="325" r:id="rId6"/>
    <p:sldId id="326" r:id="rId7"/>
    <p:sldId id="324" r:id="rId8"/>
    <p:sldId id="316" r:id="rId9"/>
    <p:sldId id="317" r:id="rId10"/>
    <p:sldId id="327" r:id="rId11"/>
    <p:sldId id="334" r:id="rId12"/>
    <p:sldId id="335" r:id="rId13"/>
    <p:sldId id="336" r:id="rId14"/>
    <p:sldId id="328" r:id="rId15"/>
    <p:sldId id="331" r:id="rId16"/>
    <p:sldId id="329" r:id="rId17"/>
    <p:sldId id="330" r:id="rId18"/>
    <p:sldId id="318" r:id="rId19"/>
    <p:sldId id="319" r:id="rId20"/>
    <p:sldId id="337" r:id="rId21"/>
    <p:sldId id="333" r:id="rId22"/>
    <p:sldId id="338" r:id="rId23"/>
    <p:sldId id="321" r:id="rId24"/>
    <p:sldId id="332" r:id="rId25"/>
    <p:sldId id="322" r:id="rId26"/>
    <p:sldId id="32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Database Management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7DF4C-F539-CE00-07BD-86AA4F22A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C68C7-112B-F2DC-FF24-C611D3C51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851420" cy="3678303"/>
          </a:xfrm>
        </p:spPr>
        <p:txBody>
          <a:bodyPr/>
          <a:lstStyle/>
          <a:p>
            <a:r>
              <a:rPr lang="en-US" dirty="0"/>
              <a:t>Each record has a unique 32-character </a:t>
            </a:r>
            <a:r>
              <a:rPr lang="en-US" dirty="0" err="1"/>
              <a:t>sys_id</a:t>
            </a:r>
            <a:endParaRPr lang="en-US" dirty="0"/>
          </a:p>
          <a:p>
            <a:pPr lvl="1"/>
            <a:r>
              <a:rPr lang="en-US" dirty="0"/>
              <a:t>You can read it in the URL or by right-clicking the form header and selecting ‘Copy </a:t>
            </a:r>
            <a:r>
              <a:rPr lang="en-US" dirty="0" err="1"/>
              <a:t>sys_id</a:t>
            </a:r>
            <a:r>
              <a:rPr lang="en-US" dirty="0"/>
              <a:t>’</a:t>
            </a:r>
          </a:p>
          <a:p>
            <a:r>
              <a:rPr lang="en-US" dirty="0"/>
              <a:t>The ‘Tables’ module is a list of all tables, we can create new ones here as well</a:t>
            </a:r>
          </a:p>
          <a:p>
            <a:r>
              <a:rPr lang="en-US" dirty="0"/>
              <a:t>Tables &amp; Columns allows us to quickly view or manage tables, columns, and column attributes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2D278B-4669-55AD-11A3-EB0B7DF0D1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895" y="2435595"/>
            <a:ext cx="6024792" cy="2706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FEC4CA-1A7B-2B4F-51E9-909E1A86F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0242" y="5458693"/>
            <a:ext cx="1733792" cy="8002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7FB4FA-01E1-4BA5-4B2E-AA79D2398A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4890" y="1965941"/>
            <a:ext cx="6154009" cy="22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9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C6B9E-1BE9-B5C1-AB33-978C8868D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4B2506-7DAB-7BBE-69FA-874AA8CAC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562" y="2179376"/>
            <a:ext cx="7874875" cy="406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571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9C15F-DF64-AEF7-B514-3BF2B9E32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Tables vs Custom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A76FE4-4E0C-3362-7448-91F064B8B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917" y="2050661"/>
            <a:ext cx="10372165" cy="451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6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4D707-6311-D5B2-D63D-A4FE7B20A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Scopes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F6629-DC9A-E8D3-F4B8-6D9918FB9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826" y="4480307"/>
            <a:ext cx="5461021" cy="2176351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Applications </a:t>
            </a:r>
            <a:r>
              <a:rPr lang="en-US" dirty="0"/>
              <a:t>are containers for configuration metadata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01C69-1B8D-E164-E16F-67543B867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471" y="1960302"/>
            <a:ext cx="3299955" cy="217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5A5404-3A89-1424-EE08-A46FD8D54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60302"/>
            <a:ext cx="5388262" cy="311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430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4E927-F570-446D-60E2-EC4FC47FD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Scope Api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139C9-B57C-C73F-2C4C-623E400FF7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76926" cy="3678303"/>
          </a:xfrm>
        </p:spPr>
        <p:txBody>
          <a:bodyPr/>
          <a:lstStyle/>
          <a:p>
            <a:r>
              <a:rPr lang="en-US" dirty="0"/>
              <a:t>You can rename the scope but the autogenerated format follows ServiceNow convention:</a:t>
            </a:r>
          </a:p>
          <a:p>
            <a:pPr lvl="1"/>
            <a:r>
              <a:rPr lang="en-US" dirty="0"/>
              <a:t>x_ - tells us this is a scoped app</a:t>
            </a:r>
          </a:p>
          <a:p>
            <a:pPr lvl="1"/>
            <a:r>
              <a:rPr lang="en-US" dirty="0"/>
              <a:t>973962 – the developer code </a:t>
            </a:r>
          </a:p>
          <a:p>
            <a:pPr lvl="1"/>
            <a:r>
              <a:rPr lang="en-US" dirty="0"/>
              <a:t>app – our app name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99F738-5031-C24F-6F53-8BEA55008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884" y="3115234"/>
            <a:ext cx="3825195" cy="1485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349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DB2C9-2CB6-6D71-E68F-40D72FCC9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5EA75-35B7-7C17-1EAD-DE69FA0E0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89688-7E27-A5E5-73F0-181785193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5"/>
            <a:ext cx="5192079" cy="41528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application scope called ‘Training’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‘Capability’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2 fields: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A string display field called ‘Name’, mark it as the display field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A choice list called ‘Type’ which options are COTS &amp; Full Stack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Application Menu called ‘Training’ and new module named ‘Capability’ which shows our list of Capabilities 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Customize the List Layout so our Capability names are shown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60A8E56-9F6B-D70E-60E1-A0AE6914BE72}"/>
              </a:ext>
            </a:extLst>
          </p:cNvPr>
          <p:cNvSpPr txBox="1">
            <a:spLocks/>
          </p:cNvSpPr>
          <p:nvPr/>
        </p:nvSpPr>
        <p:spPr>
          <a:xfrm>
            <a:off x="903921" y="2415199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application scope</a:t>
            </a:r>
          </a:p>
          <a:p>
            <a:pPr marL="305435" indent="-305435"/>
            <a:r>
              <a:rPr lang="en-US" dirty="0"/>
              <a:t>Create a new table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05376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9B8A2-5009-CD43-E785-737EC7F89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9ABE9-DAB8-766D-D9EB-ED9DD9629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54832" cy="3678303"/>
          </a:xfrm>
        </p:spPr>
        <p:txBody>
          <a:bodyPr/>
          <a:lstStyle/>
          <a:p>
            <a:r>
              <a:rPr lang="en-US" dirty="0"/>
              <a:t>Reference fields help us build table relationships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DE361-E5F3-A657-7E74-8CF95C2B3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942" y="2180496"/>
            <a:ext cx="4138221" cy="4416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163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87430-3AF4-333D-EFF0-0F77C0042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Relationships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7A04E8-D0CA-CCA2-DDF6-55C90C756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443" y="1988586"/>
            <a:ext cx="9895114" cy="421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013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53E2-1979-70A7-AC32-59FCFE02C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99786-AACB-69CB-2EA8-CB8E0D99C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47EB5-8FAE-895F-2687-2443BD137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412596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‘Delivery’ which uses an auto-number field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should have 2 reference fields: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Assigned Trainer, that references </a:t>
            </a:r>
            <a:r>
              <a:rPr lang="en-US" dirty="0" err="1">
                <a:ea typeface="+mn-lt"/>
                <a:cs typeface="+mn-lt"/>
              </a:rPr>
              <a:t>sys_user</a:t>
            </a:r>
            <a:endParaRPr lang="en-US" dirty="0">
              <a:ea typeface="+mn-lt"/>
              <a:cs typeface="+mn-lt"/>
            </a:endParaRP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Capability, which references our other custom table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list of deliveries as a module to our ‘Training’ application menu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the list layout for Deliveries so we see the delivery number, assigned trainer, and capability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the related lists of Capability so we can see our related Deliveries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3555C39-3A39-5196-E6BA-DEFF5CBF19A2}"/>
              </a:ext>
            </a:extLst>
          </p:cNvPr>
          <p:cNvSpPr txBox="1">
            <a:spLocks/>
          </p:cNvSpPr>
          <p:nvPr/>
        </p:nvSpPr>
        <p:spPr>
          <a:xfrm>
            <a:off x="903921" y="2382416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table and relate it to ‘Capability’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71563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57CA5-12BE-E8E1-6426-2819B1F8D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Qualifiers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AD5B9-8433-19CE-543B-CE5FDC2929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7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Reference qualifiers </a:t>
            </a:r>
            <a:r>
              <a:rPr lang="en-US" dirty="0"/>
              <a:t>allow us to filter the records available to choose in a reference field</a:t>
            </a:r>
          </a:p>
          <a:p>
            <a:pPr lvl="1"/>
            <a:r>
              <a:rPr lang="en-US" dirty="0"/>
              <a:t>For example, in our ‘Assigned Trainer’ field, we are currently showing ALL users</a:t>
            </a:r>
          </a:p>
          <a:p>
            <a:pPr lvl="1"/>
            <a:r>
              <a:rPr lang="en-US" dirty="0"/>
              <a:t>This isn’t what we want, we should only show trainers here!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884E2A-A378-BE19-15E4-836DC3AEBB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848" y="2271264"/>
            <a:ext cx="3382964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003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F508C-71A7-2210-5B9F-86A6BA6A9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Qualifiers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FFFCF-53B7-5C3D-05E6-1A87E8310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07391"/>
            <a:ext cx="11029616" cy="1221610"/>
          </a:xfrm>
        </p:spPr>
        <p:txBody>
          <a:bodyPr/>
          <a:lstStyle/>
          <a:p>
            <a:r>
              <a:rPr lang="en-US" dirty="0"/>
              <a:t>You can manage Reference Qualifiers from the dictionary entry or via Form Builder</a:t>
            </a:r>
          </a:p>
          <a:p>
            <a:r>
              <a:rPr lang="en-US" dirty="0"/>
              <a:t>We can inject JavaScript to evaluate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F214FC-DE55-81C6-08D1-05C0A30D9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328" y="3920436"/>
            <a:ext cx="6627443" cy="22354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1D096-4E13-0FFF-C3C1-409BFB63B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145" y="3920436"/>
            <a:ext cx="2376668" cy="2100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611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1280E-DF53-159E-2BCF-29BF887F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AB4DD-BA36-650A-276B-90A4312C9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C9C5D-4644-3E34-BCF1-8D1328097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22440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reference qualifier on ‘Assigned Trainer’ so that only users with our trainer role may get access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A9EE6A4-EA6A-AADD-EA4E-19E6512E78DF}"/>
              </a:ext>
            </a:extLst>
          </p:cNvPr>
          <p:cNvSpPr txBox="1">
            <a:spLocks/>
          </p:cNvSpPr>
          <p:nvPr/>
        </p:nvSpPr>
        <p:spPr>
          <a:xfrm>
            <a:off x="903921" y="2382416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Reference Qualifier 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6052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B069F-D7A5-111F-ABCA-188886B07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Many-to-Many 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C541-F5A0-D5A9-1910-D4C1BD56B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21114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junction table </a:t>
            </a:r>
            <a:r>
              <a:rPr lang="en-US" dirty="0"/>
              <a:t>allows us to create many-to-many relationships</a:t>
            </a:r>
          </a:p>
          <a:p>
            <a:pPr lvl="1"/>
            <a:r>
              <a:rPr lang="en-US" dirty="0"/>
              <a:t>Navigate to the ‘Many to Many Definitions’ table to setup this type of relationship (there isn’t a module for it, use the shortcut)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6F8964-ABF1-0A20-9D9D-D77D30B04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895" y="2014342"/>
            <a:ext cx="3198842" cy="12210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CE750F-634E-E4E6-CE12-AF02B50903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886" y="3468318"/>
            <a:ext cx="2267266" cy="30388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CD9481-3D08-B722-46CA-F1856A0A9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990" y="3429000"/>
            <a:ext cx="3270417" cy="297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02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3ABA8-FB9F-0866-FAC8-392AF12AA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E60F1-9325-8A8A-D3BE-FC81CF395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C6FD3-518E-512B-ED53-76AB8EE26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3528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‘Student’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should create a string field called ‘Name’ that is set as the display field, also create an email field called ‘Email’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Students and Deliveries should have a many to many relationship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Display the Deliveries related list on Student records, and vice versa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CF8597-4603-A60E-D028-97854F62ADB8}"/>
              </a:ext>
            </a:extLst>
          </p:cNvPr>
          <p:cNvSpPr txBox="1">
            <a:spLocks/>
          </p:cNvSpPr>
          <p:nvPr/>
        </p:nvSpPr>
        <p:spPr>
          <a:xfrm>
            <a:off x="903921" y="2262673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many-to-many relationship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93229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5737D-CAA5-4F49-A783-9A28F5FE8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Display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57605-0015-0B3C-03C8-AAF165860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9439" y="2034193"/>
            <a:ext cx="8773120" cy="919320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display field </a:t>
            </a:r>
            <a:r>
              <a:rPr lang="en-US" dirty="0"/>
              <a:t>is the primary field chosen to display when this record is being shown in a reference field or on related lists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43CCE1-BE43-670B-7768-12EF5AA4E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3499514"/>
            <a:ext cx="9601199" cy="28026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BE3244-9120-DB41-C061-C4A050C09427}"/>
              </a:ext>
            </a:extLst>
          </p:cNvPr>
          <p:cNvSpPr txBox="1"/>
          <p:nvPr/>
        </p:nvSpPr>
        <p:spPr>
          <a:xfrm>
            <a:off x="1295400" y="3271750"/>
            <a:ext cx="19559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View from ServiceNow Studio:</a:t>
            </a:r>
          </a:p>
        </p:txBody>
      </p:sp>
    </p:spTree>
    <p:extLst>
      <p:ext uri="{BB962C8B-B14F-4D97-AF65-F5344CB8AC3E}">
        <p14:creationId xmlns:p14="http://schemas.microsoft.com/office/powerpoint/2010/main" val="6605030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3F86C-0AD1-1E5A-0DB9-717DBCA41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6DAEE-4530-B821-9C0B-244CCAB4A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5A02C-5905-A8C2-837C-A65A5CE88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11138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the display value of Deliveries to be our capability reference field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96BA485-B724-F73A-3664-71D1B3CB840F}"/>
              </a:ext>
            </a:extLst>
          </p:cNvPr>
          <p:cNvSpPr txBox="1">
            <a:spLocks/>
          </p:cNvSpPr>
          <p:nvPr/>
        </p:nvSpPr>
        <p:spPr>
          <a:xfrm>
            <a:off x="903921" y="2382416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Set a display field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E18732C-57A6-0186-72B4-585C0C745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66" y="3946064"/>
            <a:ext cx="2212070" cy="2560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BDD772-BCB3-C37D-6772-832CFDC5E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143" y="3946064"/>
            <a:ext cx="2148563" cy="26747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A130B2-8A17-DE02-4746-C2728298BBF3}"/>
              </a:ext>
            </a:extLst>
          </p:cNvPr>
          <p:cNvSpPr txBox="1"/>
          <p:nvPr/>
        </p:nvSpPr>
        <p:spPr>
          <a:xfrm>
            <a:off x="1990166" y="3576732"/>
            <a:ext cx="4589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this:	       To this:</a:t>
            </a:r>
          </a:p>
        </p:txBody>
      </p:sp>
    </p:spTree>
    <p:extLst>
      <p:ext uri="{BB962C8B-B14F-4D97-AF65-F5344CB8AC3E}">
        <p14:creationId xmlns:p14="http://schemas.microsoft.com/office/powerpoint/2010/main" val="2010613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514B-8819-D2A6-9502-398F417CE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Extended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E09678-1930-E875-7C5F-623E1A22E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1909077"/>
            <a:ext cx="11029616" cy="4712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6829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DF98A-F302-A648-1E98-CC02AD2B5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8A7417-8291-EC7C-5E6F-3F1529490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780" y="1985626"/>
            <a:ext cx="9240440" cy="435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06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E1D9F-72F5-6C23-0CA1-100DC6B7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8E568-D1B3-16D1-5FCE-B0938846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4468D-507F-CC22-BA34-FD42DA339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31432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‘Training Request’ that extends from ‘Task’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Configure its forms to display: a two-column format with: number, priority, assigned to, state, actual start, actual end, and active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reference field that points to a Delivery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module to view these records to our ‘Training’ application menu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39E383-9E45-9AB3-C86B-56CA28B59361}"/>
              </a:ext>
            </a:extLst>
          </p:cNvPr>
          <p:cNvSpPr txBox="1">
            <a:spLocks/>
          </p:cNvSpPr>
          <p:nvPr/>
        </p:nvSpPr>
        <p:spPr>
          <a:xfrm>
            <a:off x="903921" y="2328628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an extended table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7400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09823-A4BA-C324-811E-DE3950DED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Overrides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6446A1-6A15-EA88-0EF9-BA53F3B7A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024012"/>
            <a:ext cx="11029616" cy="1013801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Dictionary overrides </a:t>
            </a:r>
            <a:r>
              <a:rPr lang="en-US" dirty="0"/>
              <a:t>allow us to override the attributes from an extended table, without affecting the base or parent table</a:t>
            </a:r>
          </a:p>
          <a:p>
            <a:pPr lvl="1"/>
            <a:r>
              <a:rPr lang="en-US" dirty="0"/>
              <a:t>This can be done from Form Builder or from the related list on Dictionary Entry records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A14361-EF15-E9FC-74E4-4136C6C2F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99" y="4824210"/>
            <a:ext cx="8991600" cy="1813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83134B-2964-794E-D46C-6BC94C79A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99" y="3345869"/>
            <a:ext cx="6801799" cy="12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786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33D1C-28FA-8E34-9DA7-77FB62A92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534C3-8E58-EEE8-E19C-53ED9E402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EEFA0-13E0-DCB6-8B9B-B721A0852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1359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Dictionary Overrides to the ‘Actual Start’ and ‘Actual End’ fields so that they are both mandatory on ‘Training Request’ records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EA1514C-577B-B4E1-18AD-89580A49F537}"/>
              </a:ext>
            </a:extLst>
          </p:cNvPr>
          <p:cNvSpPr txBox="1">
            <a:spLocks/>
          </p:cNvSpPr>
          <p:nvPr/>
        </p:nvSpPr>
        <p:spPr>
          <a:xfrm>
            <a:off x="903921" y="2328628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Add Dictionary Overrides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726666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F2434-0EA6-5209-ED18-2789A668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Map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D537A2-3826-FAE6-1B11-8A7A7746E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356" y="2274350"/>
            <a:ext cx="10153287" cy="44821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353296-F3A3-15FC-59AE-67AADFB01EF6}"/>
              </a:ext>
            </a:extLst>
          </p:cNvPr>
          <p:cNvSpPr txBox="1"/>
          <p:nvPr/>
        </p:nvSpPr>
        <p:spPr>
          <a:xfrm>
            <a:off x="2390529" y="1905018"/>
            <a:ext cx="7410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Accessible on the record for the table or from the Tables &amp; Columns module</a:t>
            </a:r>
          </a:p>
        </p:txBody>
      </p:sp>
    </p:spTree>
    <p:extLst>
      <p:ext uri="{BB962C8B-B14F-4D97-AF65-F5344CB8AC3E}">
        <p14:creationId xmlns:p14="http://schemas.microsoft.com/office/powerpoint/2010/main" val="15131882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9D01C-FB7C-C841-C98D-24162999F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75EB-1074-FF4F-629D-6DEF9D1EFC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Platform Security</a:t>
            </a:r>
          </a:p>
        </p:txBody>
      </p:sp>
    </p:spTree>
    <p:extLst>
      <p:ext uri="{BB962C8B-B14F-4D97-AF65-F5344CB8AC3E}">
        <p14:creationId xmlns:p14="http://schemas.microsoft.com/office/powerpoint/2010/main" val="2001882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586BD-118E-95DC-54A6-6127A9AA2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ServiceNow Manages User Access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B2FC2B-4F90-3A2A-D421-13B188F85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357" y="1966724"/>
            <a:ext cx="9307286" cy="4891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4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8CEEF-35B3-30E1-085F-D2E7187DF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Elevate Role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F356A-A9A1-0270-3821-80A5B5FD4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691" y="2209800"/>
            <a:ext cx="9180615" cy="45876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A885AE4-C011-02C6-E752-8453E10B34AB}"/>
              </a:ext>
            </a:extLst>
          </p:cNvPr>
          <p:cNvSpPr txBox="1"/>
          <p:nvPr/>
        </p:nvSpPr>
        <p:spPr>
          <a:xfrm>
            <a:off x="2966112" y="1840468"/>
            <a:ext cx="6259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Modifying ACLs require elevating our role to ‘</a:t>
            </a:r>
            <a:r>
              <a:rPr lang="en-US" dirty="0" err="1"/>
              <a:t>security_admin</a:t>
            </a:r>
            <a:r>
              <a:rPr lang="en-US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428166421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6294</TotalTime>
  <Words>789</Words>
  <Application>Microsoft Office PowerPoint</Application>
  <PresentationFormat>Widescreen</PresentationFormat>
  <Paragraphs>97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Gill Sans MT</vt:lpstr>
      <vt:lpstr>Wingdings 2</vt:lpstr>
      <vt:lpstr>Dividend</vt:lpstr>
      <vt:lpstr>Database Management</vt:lpstr>
      <vt:lpstr>Tables</vt:lpstr>
      <vt:lpstr>Field Attributes</vt:lpstr>
      <vt:lpstr>Core Tables vs Custom tables</vt:lpstr>
      <vt:lpstr>Application Scopes</vt:lpstr>
      <vt:lpstr>Application Scope Api Names</vt:lpstr>
      <vt:lpstr>Challenge</vt:lpstr>
      <vt:lpstr>Reference Fields</vt:lpstr>
      <vt:lpstr>Table Relationships</vt:lpstr>
      <vt:lpstr>Challenge</vt:lpstr>
      <vt:lpstr>Reference Qualifiers</vt:lpstr>
      <vt:lpstr>Reference Qualifiers</vt:lpstr>
      <vt:lpstr>Challenge</vt:lpstr>
      <vt:lpstr>Many-to-Many Relationships</vt:lpstr>
      <vt:lpstr>Challenge</vt:lpstr>
      <vt:lpstr>Display Fields</vt:lpstr>
      <vt:lpstr>Challenge</vt:lpstr>
      <vt:lpstr>Extended Tables</vt:lpstr>
      <vt:lpstr>Base Tables</vt:lpstr>
      <vt:lpstr>Challenge</vt:lpstr>
      <vt:lpstr>Dictionary Overrides</vt:lpstr>
      <vt:lpstr>Challenge</vt:lpstr>
      <vt:lpstr>Schema Map</vt:lpstr>
      <vt:lpstr>Platform Security</vt:lpstr>
      <vt:lpstr>How ServiceNow Manages User Access</vt:lpstr>
      <vt:lpstr>Elevate Role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600</cp:revision>
  <dcterms:created xsi:type="dcterms:W3CDTF">2025-02-12T19:53:45Z</dcterms:created>
  <dcterms:modified xsi:type="dcterms:W3CDTF">2025-10-13T02:35:45Z</dcterms:modified>
</cp:coreProperties>
</file>