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77" r:id="rId7"/>
    <p:sldId id="278" r:id="rId8"/>
    <p:sldId id="281" r:id="rId9"/>
    <p:sldId id="262" r:id="rId10"/>
    <p:sldId id="261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rvicenow.com/docs/bundle/yokohama-proactive-service-exp-workflows/page/product/tmt-assurance-workflows/concept/explore-assurance-workflows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ervicenow.com/docs/bundle/yokohama-service-bridge/page/product/tmt-service-bridge/concept/tmt-service-bridge-both-landing-page.html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TSM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6C03-7BF4-387E-1067-943EBCE6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What is TSM?</a:t>
            </a:r>
          </a:p>
          <a:p>
            <a:pPr marL="305435" indent="-305435"/>
            <a:r>
              <a:rPr lang="en-US" dirty="0"/>
              <a:t>Main Components of TSM</a:t>
            </a:r>
          </a:p>
          <a:p>
            <a:pPr marL="629435" lvl="1" indent="-305435"/>
            <a:r>
              <a:rPr lang="en-US" dirty="0"/>
              <a:t>Account Lifecycle Events</a:t>
            </a:r>
          </a:p>
          <a:p>
            <a:pPr marL="629435" lvl="1" indent="-305435"/>
            <a:r>
              <a:rPr lang="en-US" dirty="0"/>
              <a:t>Proactive Service Experience Workflows</a:t>
            </a:r>
          </a:p>
          <a:p>
            <a:pPr marL="629435" lvl="1" indent="-305435"/>
            <a:r>
              <a:rPr lang="en-US" dirty="0"/>
              <a:t>Service Bridge</a:t>
            </a:r>
          </a:p>
          <a:p>
            <a:pPr marL="305435" indent="-30543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TSM or Telecommunications Service Management is a suite of plugins on the ServiceNow platform that enhance operations for telecommunications companies. </a:t>
            </a:r>
            <a:endParaRPr lang="en-US" dirty="0">
              <a:latin typeface="Gill Sans MT"/>
              <a:cs typeface="Segoe UI"/>
            </a:endParaRP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We can: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Onboard and track customer accounts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Deploy process automations to resolve network outages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Connect customer issues, work requests, and more to drive process automations and promote efficiency 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Components of TSM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There are 3 applications that come with the TSM plugins:</a:t>
            </a:r>
          </a:p>
          <a:p>
            <a:pPr marL="629435" lvl="1" indent="-305435"/>
            <a:r>
              <a:rPr lang="en-US" dirty="0"/>
              <a:t>Account Lifecycle Events – provides an onboarding experience for customers</a:t>
            </a:r>
          </a:p>
          <a:p>
            <a:pPr marL="629435" lvl="1" indent="-305435"/>
            <a:r>
              <a:rPr lang="en-US" dirty="0"/>
              <a:t>Proactive Service Experience Workflows – provides process automations to automatically resolve issues and notify customers of outages</a:t>
            </a:r>
          </a:p>
          <a:p>
            <a:pPr marL="629435" lvl="1" indent="-305435"/>
            <a:r>
              <a:rPr lang="en-US" dirty="0"/>
              <a:t>Service Bridge – Collaborate with partners and vendors on incidents, tasks, and more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B515-2831-8BA2-7CFD-C34226D9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Lifecycle Events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594C0B-B161-5139-2FB3-7B66A0D23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901" y="2350613"/>
            <a:ext cx="10762197" cy="256771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8C57D1-3DC1-9D07-06B9-E4AF00752890}"/>
              </a:ext>
            </a:extLst>
          </p:cNvPr>
          <p:cNvSpPr txBox="1"/>
          <p:nvPr/>
        </p:nvSpPr>
        <p:spPr>
          <a:xfrm>
            <a:off x="3911843" y="5552980"/>
            <a:ext cx="436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playbook helps drive this entire process.</a:t>
            </a:r>
          </a:p>
        </p:txBody>
      </p:sp>
    </p:spTree>
    <p:extLst>
      <p:ext uri="{BB962C8B-B14F-4D97-AF65-F5344CB8AC3E}">
        <p14:creationId xmlns:p14="http://schemas.microsoft.com/office/powerpoint/2010/main" val="58476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9D9A-DE22-349C-1325-CF302BB9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6238-82F8-4721-B56B-D2CCF326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Lifecycle Event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CE551-0FAD-EB7B-DD6D-EDEC4603BAED}"/>
              </a:ext>
            </a:extLst>
          </p:cNvPr>
          <p:cNvSpPr txBox="1"/>
          <p:nvPr/>
        </p:nvSpPr>
        <p:spPr>
          <a:xfrm>
            <a:off x="3911843" y="5552980"/>
            <a:ext cx="436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playbook helps drive this entire process.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C23608-5A71-F436-6AD3-5C1E30173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833" y="2185578"/>
            <a:ext cx="10612331" cy="3048425"/>
          </a:xfrm>
        </p:spPr>
      </p:pic>
    </p:spTree>
    <p:extLst>
      <p:ext uri="{BB962C8B-B14F-4D97-AF65-F5344CB8AC3E}">
        <p14:creationId xmlns:p14="http://schemas.microsoft.com/office/powerpoint/2010/main" val="273776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4B79D-BE6E-AF9D-839D-C004294E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18D4-9590-0919-C945-E0D39882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Playbook – Account Lifecycle Events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B77288-F981-7B0C-147D-4D05952CF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755" y="1997921"/>
            <a:ext cx="10068489" cy="4157923"/>
          </a:xfrm>
        </p:spPr>
      </p:pic>
    </p:spTree>
    <p:extLst>
      <p:ext uri="{BB962C8B-B14F-4D97-AF65-F5344CB8AC3E}">
        <p14:creationId xmlns:p14="http://schemas.microsoft.com/office/powerpoint/2010/main" val="35944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A4E8-F3DA-33CC-0787-4F6DDE37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7B1-C010-0818-81B8-2BB7B229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Lifecycle Events User Roles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170D9E-39DC-8859-AF53-7E878C7B7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2" y="1920920"/>
            <a:ext cx="10165976" cy="44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4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7FD9-7381-38F7-1798-18EAEC52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Proactive Service Experience Workflows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94EAB-1D65-B541-4170-079D4A28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63" y="2055805"/>
            <a:ext cx="2995808" cy="4677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4EE285-0F83-755E-6354-84A176D0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286" y="3191425"/>
            <a:ext cx="3124636" cy="2943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94008A-162C-57B6-F457-0D16AA78460B}"/>
              </a:ext>
            </a:extLst>
          </p:cNvPr>
          <p:cNvSpPr txBox="1"/>
          <p:nvPr/>
        </p:nvSpPr>
        <p:spPr>
          <a:xfrm>
            <a:off x="5122571" y="1974661"/>
            <a:ext cx="573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application focuses on providing end-to-end customer support and analyzing customer impact.</a:t>
            </a:r>
          </a:p>
        </p:txBody>
      </p:sp>
      <p:sp>
        <p:nvSpPr>
          <p:cNvPr id="11" name="TextBox 10">
            <a:hlinkClick r:id="rId4"/>
            <a:extLst>
              <a:ext uri="{FF2B5EF4-FFF2-40B4-BE49-F238E27FC236}">
                <a16:creationId xmlns:a16="http://schemas.microsoft.com/office/drawing/2014/main" id="{5B2366F1-CD6A-3590-2908-E6562683A24A}"/>
              </a:ext>
            </a:extLst>
          </p:cNvPr>
          <p:cNvSpPr txBox="1"/>
          <p:nvPr/>
        </p:nvSpPr>
        <p:spPr>
          <a:xfrm>
            <a:off x="10766612" y="6363977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Docs Link</a:t>
            </a:r>
          </a:p>
        </p:txBody>
      </p:sp>
    </p:spTree>
    <p:extLst>
      <p:ext uri="{BB962C8B-B14F-4D97-AF65-F5344CB8AC3E}">
        <p14:creationId xmlns:p14="http://schemas.microsoft.com/office/powerpoint/2010/main" val="104844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5530-E206-36B8-5B6E-2239FA46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73AE-5BF0-99A7-4EA6-49D4DFD3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27530" cy="3985378"/>
          </a:xfrm>
        </p:spPr>
        <p:txBody>
          <a:bodyPr/>
          <a:lstStyle/>
          <a:p>
            <a:pPr marL="305435" indent="-305435"/>
            <a:r>
              <a:rPr lang="en-US" dirty="0"/>
              <a:t>Service Bridge provides a nearly turn-key experience for connecting multiple ServiceNow instances</a:t>
            </a:r>
          </a:p>
        </p:txBody>
      </p:sp>
      <p:pic>
        <p:nvPicPr>
          <p:cNvPr id="4" name="Picture 3" descr="See related image detail. Platform-as-a-Service | Enterprise Cloud Service Management | ServiceNow">
            <a:extLst>
              <a:ext uri="{FF2B5EF4-FFF2-40B4-BE49-F238E27FC236}">
                <a16:creationId xmlns:a16="http://schemas.microsoft.com/office/drawing/2014/main" id="{57CD6E38-079D-4E8C-04DA-13AFA5363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60" y="2434330"/>
            <a:ext cx="4829714" cy="341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22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0D6CF-23C5-4BCB-0DC0-9920AEC3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03F3-71B3-9178-E9B2-C12C6F79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Bridge Scenarios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09CD85-AD4B-9759-1094-5BA2AB01E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45" y="2860839"/>
            <a:ext cx="6116437" cy="2818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F2DE07-0BE6-4CE7-2F3B-3DD1ACA3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482" y="1981965"/>
            <a:ext cx="4520400" cy="22881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8B94A2-F03E-6E6C-61DA-E46F5A321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640" y="4432547"/>
            <a:ext cx="4134084" cy="2319550"/>
          </a:xfrm>
          <a:prstGeom prst="rect">
            <a:avLst/>
          </a:prstGeom>
        </p:spPr>
      </p:pic>
      <p:sp>
        <p:nvSpPr>
          <p:cNvPr id="16" name="TextBox 15">
            <a:hlinkClick r:id="rId5"/>
            <a:extLst>
              <a:ext uri="{FF2B5EF4-FFF2-40B4-BE49-F238E27FC236}">
                <a16:creationId xmlns:a16="http://schemas.microsoft.com/office/drawing/2014/main" id="{F0DA14F1-C981-BDD1-C5B8-56759A281B6F}"/>
              </a:ext>
            </a:extLst>
          </p:cNvPr>
          <p:cNvSpPr txBox="1"/>
          <p:nvPr/>
        </p:nvSpPr>
        <p:spPr>
          <a:xfrm>
            <a:off x="1330036" y="6151418"/>
            <a:ext cx="184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Docs Link - Video</a:t>
            </a:r>
          </a:p>
        </p:txBody>
      </p:sp>
    </p:spTree>
    <p:extLst>
      <p:ext uri="{BB962C8B-B14F-4D97-AF65-F5344CB8AC3E}">
        <p14:creationId xmlns:p14="http://schemas.microsoft.com/office/powerpoint/2010/main" val="218930188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3555</TotalTime>
  <Words>206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Gill Sans MT</vt:lpstr>
      <vt:lpstr>Wingdings 2</vt:lpstr>
      <vt:lpstr>Dividend</vt:lpstr>
      <vt:lpstr>TSM</vt:lpstr>
      <vt:lpstr>Overview</vt:lpstr>
      <vt:lpstr>What is TSM?</vt:lpstr>
      <vt:lpstr>Main Components of TSM</vt:lpstr>
      <vt:lpstr>Account Lifecycle Events</vt:lpstr>
      <vt:lpstr>Account Lifecycle Event Workflow</vt:lpstr>
      <vt:lpstr>Playbook – Account Lifecycle Events application</vt:lpstr>
      <vt:lpstr>Account Lifecycle Events User Roles</vt:lpstr>
      <vt:lpstr>Proactive Service Experience Workflows</vt:lpstr>
      <vt:lpstr>Service Bridge</vt:lpstr>
      <vt:lpstr>Service Bridge Scenarios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589</cp:revision>
  <dcterms:created xsi:type="dcterms:W3CDTF">2025-02-12T19:53:45Z</dcterms:created>
  <dcterms:modified xsi:type="dcterms:W3CDTF">2025-11-13T15:35:51Z</dcterms:modified>
</cp:coreProperties>
</file>