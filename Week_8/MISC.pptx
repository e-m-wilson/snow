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9"/>
  </p:notesMasterIdLst>
  <p:sldIdLst>
    <p:sldId id="380" r:id="rId2"/>
    <p:sldId id="447" r:id="rId3"/>
    <p:sldId id="448" r:id="rId4"/>
    <p:sldId id="449" r:id="rId5"/>
    <p:sldId id="450" r:id="rId6"/>
    <p:sldId id="451" r:id="rId7"/>
    <p:sldId id="45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215" autoAdjust="0"/>
    <p:restoredTop sz="96247" autoAdjust="0"/>
  </p:normalViewPr>
  <p:slideViewPr>
    <p:cSldViewPr snapToGrid="0">
      <p:cViewPr varScale="1">
        <p:scale>
          <a:sx n="10" d="100"/>
          <a:sy n="10" d="100"/>
        </p:scale>
        <p:origin x="-228" y="-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98E6B-5512-4D00-9EFB-A374F8285899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40E7-12E1-4E9C-B024-3505840C3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0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11/12/2025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rvicenow.com/docs/bundle/zurich-servicenow-platform/page/product/knowledge-management/concept/using-now-assist-in-km.html?utm_source=chatgpt.com" TargetMode="External"/><Relationship Id="rId2" Type="http://schemas.openxmlformats.org/officeDocument/2006/relationships/hyperlink" Target="https://www.servicenow.com/docs/bundle/zurich-intelligent-experiences/page/administer/now-assist-platform/concept/exploring-now-assist-platform.html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servicenow.com/docs/bundle/zurich-intelligent-experiences/page/administer/now-assist-admin/concept/configuring-na-landing.html?utm_source=chatgpt.com" TargetMode="External"/><Relationship Id="rId5" Type="http://schemas.openxmlformats.org/officeDocument/2006/relationships/hyperlink" Target="https://www.servicenow.com/docs/bundle/zurich-api-reference/page/script/now-assist-for-code/concept/now-assist-code-landing.html" TargetMode="External"/><Relationship Id="rId4" Type="http://schemas.openxmlformats.org/officeDocument/2006/relationships/hyperlink" Target="https://www.servicenow.com/docs/bundle/xanadu-intelligent-experiences/page/administer/document-intelligence/concept/docintel-nowassist-landing.html?utm_source=chatgpt.com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rvicenow.com/docs/bundle/zurich-conversational-interfaces/page/administer/conversational-interfaces/task/add-sidebar-button.html" TargetMode="External"/><Relationship Id="rId2" Type="http://schemas.openxmlformats.org/officeDocument/2006/relationships/hyperlink" Target="https://www.servicenow.com/docs/bundle/zurich-conversational-interfaces/page/administer/conversational-interfaces/concept/configure-sidebar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rvicenow.com/docs/bundle/xanadu-application-development/page/administer/auto-test-framework/concept/automated-test-framework.htm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ing.servicenow.com/lxp/en/telecommunications-service-management/order-management-fundamentals?id=learning_course_prev&amp;course_id=2a80ebde47d68658ca332a81736d43a1&amp;s=1&amp;ssa=3" TargetMode="External"/><Relationship Id="rId2" Type="http://schemas.openxmlformats.org/officeDocument/2006/relationships/hyperlink" Target="https://learning.servicenow.com/lxp/en/telecommunications-service-management/telecommunications-media-and?id=learning_course_prev&amp;course_id=d02e405a97fb161c8934b67e6253af91&amp;s=1&amp;ssa=3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rvicenow.com/community/in-other-news/from-portal-widgets-to-next-experience-components/ba-p/2290660" TargetMode="External"/><Relationship Id="rId2" Type="http://schemas.openxmlformats.org/officeDocument/2006/relationships/hyperlink" Target="https://www.servicenow.com/docs/bundle/zurich-application-development/page/build/servicenow-sdk/concept/ui-development-react.htm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servicenow.com/docs/bundle/zurich-platform-user-interface/page/build/service-portal/concept/service-portal-widget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MISC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08649-A19C-3C81-58B2-6830F77F5F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 Assist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1C1BA9-E1DF-B708-FC4C-75C3458AA1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5348"/>
          </a:xfrm>
        </p:spPr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Now Assist </a:t>
            </a:r>
            <a:r>
              <a:rPr lang="en-US" dirty="0"/>
              <a:t>is ServiceNow’s built-in suite of </a:t>
            </a:r>
            <a:r>
              <a:rPr lang="en-US" dirty="0" err="1"/>
              <a:t>genAI</a:t>
            </a:r>
            <a:r>
              <a:rPr lang="en-US" dirty="0"/>
              <a:t> capabilities</a:t>
            </a:r>
          </a:p>
          <a:p>
            <a:pPr lvl="1"/>
            <a:r>
              <a:rPr lang="en-US" dirty="0"/>
              <a:t>Grouped into ‘skills’</a:t>
            </a:r>
          </a:p>
          <a:p>
            <a:pPr lvl="1"/>
            <a:r>
              <a:rPr lang="en-US" dirty="0"/>
              <a:t>Embedded into the platform</a:t>
            </a:r>
          </a:p>
          <a:p>
            <a:pPr lvl="1"/>
            <a:r>
              <a:rPr lang="en-US" dirty="0"/>
              <a:t>Summarize, suggest actions, extract data from documents, &amp; draft content with multi-turn </a:t>
            </a:r>
            <a:r>
              <a:rPr lang="en-US" dirty="0" err="1"/>
              <a:t>genAI</a:t>
            </a:r>
            <a:r>
              <a:rPr lang="en-US" dirty="0"/>
              <a:t> conversations</a:t>
            </a:r>
          </a:p>
          <a:p>
            <a:pPr lvl="1"/>
            <a:r>
              <a:rPr lang="en-US" dirty="0"/>
              <a:t>Produce scripts or Flows</a:t>
            </a:r>
          </a:p>
          <a:p>
            <a:pPr lvl="1"/>
            <a:r>
              <a:rPr lang="en-US" dirty="0"/>
              <a:t>Not a single bot – it’s an instance aware set of AI features</a:t>
            </a:r>
          </a:p>
          <a:p>
            <a:pPr lvl="1"/>
            <a:r>
              <a:rPr lang="en-US" dirty="0"/>
              <a:t>Can’t use on PDIs for now </a:t>
            </a:r>
            <a:r>
              <a:rPr lang="en-US" dirty="0">
                <a:sym typeface="Wingdings" panose="05000000000000000000" pitchFamily="2" charset="2"/>
              </a:rPr>
              <a:t>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893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F7918-A014-0B68-63B2-41F4E30BE3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Now Assist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B70F0C-4DFD-9286-6033-C4BBE1BF3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66196"/>
            <a:ext cx="11029615" cy="454415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Overview:</a:t>
            </a:r>
          </a:p>
          <a:p>
            <a:r>
              <a:rPr lang="en-US" dirty="0">
                <a:hlinkClick r:id="rId2"/>
              </a:rPr>
              <a:t>https://www.servicenow.com/docs/bundle/zurich-intelligent-experiences/page/administer/now-assist-platform/concept/exploring-now-assist-platform.html?utm_source=chatgpt.com</a:t>
            </a:r>
            <a:endParaRPr lang="en-US" dirty="0"/>
          </a:p>
          <a:p>
            <a:r>
              <a:rPr lang="en-US" dirty="0"/>
              <a:t>Generate knowledge articles:</a:t>
            </a:r>
          </a:p>
          <a:p>
            <a:r>
              <a:rPr lang="en-US" dirty="0">
                <a:hlinkClick r:id="rId3"/>
              </a:rPr>
              <a:t>https://www.servicenow.com/docs/bundle/zurich-servicenow-platform/page/product/knowledge-management/concept/using-now-assist-in-km.html?utm_source=chatgpt.com</a:t>
            </a:r>
            <a:endParaRPr lang="en-US" dirty="0"/>
          </a:p>
          <a:p>
            <a:r>
              <a:rPr lang="en-US" dirty="0"/>
              <a:t>Extract information from documents:</a:t>
            </a:r>
          </a:p>
          <a:p>
            <a:r>
              <a:rPr lang="en-US" dirty="0">
                <a:hlinkClick r:id="rId4"/>
              </a:rPr>
              <a:t>https://www.servicenow.com/docs/bundle/xanadu-intelligent-experiences/page/administer/document-intelligence/concept/docintel-nowassist-landing.html?utm_source=chatgpt.com</a:t>
            </a:r>
            <a:endParaRPr lang="en-US" dirty="0"/>
          </a:p>
          <a:p>
            <a:r>
              <a:rPr lang="en-US" dirty="0"/>
              <a:t>Generate Scripts:</a:t>
            </a:r>
          </a:p>
          <a:p>
            <a:r>
              <a:rPr lang="en-US" dirty="0">
                <a:hlinkClick r:id="rId5"/>
              </a:rPr>
              <a:t>https://www.servicenow.com/docs/bundle/zurich-api-reference/page/script/now-assist-for-code/concept/now-assist-code-landing.html</a:t>
            </a:r>
            <a:endParaRPr lang="en-US" dirty="0"/>
          </a:p>
          <a:p>
            <a:r>
              <a:rPr lang="en-US" dirty="0"/>
              <a:t>Use the Now Assist admin console to manage Now Assist apps/skills:</a:t>
            </a:r>
          </a:p>
          <a:p>
            <a:r>
              <a:rPr lang="en-US" dirty="0">
                <a:hlinkClick r:id="rId6"/>
              </a:rPr>
              <a:t>https://www.servicenow.com/docs/bundle/zurich-intelligent-experiences/page/administer/now-assist-admin/concept/configuring-na-landing.html?utm_source=chatgpt.com</a:t>
            </a:r>
            <a:endParaRPr lang="en-US" dirty="0"/>
          </a:p>
          <a:p>
            <a:r>
              <a:rPr lang="en-US" dirty="0"/>
              <a:t>Note: individual Now Assist apps/skills are licensed/features-based (e.g. Now Assist in Knowledge, Now Assist for Creator, </a:t>
            </a:r>
            <a:r>
              <a:rPr lang="en-US" dirty="0" err="1"/>
              <a:t>etc</a:t>
            </a:r>
            <a:r>
              <a:rPr lang="en-US" dirty="0"/>
              <a:t>) – check entitlement and install from </a:t>
            </a:r>
            <a:r>
              <a:rPr lang="en-US" dirty="0" err="1"/>
              <a:t>servicenow</a:t>
            </a:r>
            <a:r>
              <a:rPr lang="en-US" dirty="0"/>
              <a:t> store</a:t>
            </a:r>
          </a:p>
        </p:txBody>
      </p:sp>
    </p:spTree>
    <p:extLst>
      <p:ext uri="{BB962C8B-B14F-4D97-AF65-F5344CB8AC3E}">
        <p14:creationId xmlns:p14="http://schemas.microsoft.com/office/powerpoint/2010/main" val="17564062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ED4AC4-C753-0DD6-2F49-755730308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Sidebar Discussions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F4A50-2335-CABD-CA33-D0CA34A9B7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Sidebar Discussions </a:t>
            </a:r>
            <a:r>
              <a:rPr lang="en-US" dirty="0"/>
              <a:t>is a built-in collaboration/chat feature in ServiceNow that enables real-time chat between stakeholders of a particular record in a workspace</a:t>
            </a:r>
          </a:p>
          <a:p>
            <a:pPr lvl="1"/>
            <a:r>
              <a:rPr lang="en-US" dirty="0"/>
              <a:t>Because we can chat about a record on-platform, we don’t need to use an external chat tool i.e. teams, slack, </a:t>
            </a:r>
            <a:r>
              <a:rPr lang="en-US" dirty="0" err="1"/>
              <a:t>etc</a:t>
            </a:r>
            <a:endParaRPr lang="en-US" dirty="0"/>
          </a:p>
          <a:p>
            <a:r>
              <a:rPr lang="en-US" dirty="0"/>
              <a:t>Install and configure: </a:t>
            </a:r>
            <a:r>
              <a:rPr lang="en-US" dirty="0">
                <a:hlinkClick r:id="rId2"/>
              </a:rPr>
              <a:t>https://www.servicenow.com/docs/bundle/zurich-conversational-interfaces/page/administer/conversational-interfaces/concept/configure-sidebar.html</a:t>
            </a:r>
            <a:endParaRPr lang="en-US" dirty="0"/>
          </a:p>
          <a:p>
            <a:r>
              <a:rPr lang="en-US" dirty="0"/>
              <a:t>Only on some workspaces in baseline. We need to customize further to add discussions to other workspaces: </a:t>
            </a:r>
            <a:r>
              <a:rPr lang="en-US" dirty="0">
                <a:hlinkClick r:id="rId3"/>
              </a:rPr>
              <a:t>https://www.servicenow.com/docs/bundle/zurich-conversational-interfaces/page/administer/conversational-interfaces/task/add-sidebar-button.html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5677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D0606-F169-0F75-FCF8-D4CD8142EB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Automated Test Framework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7A894-F3D5-8993-5D4B-E9FEF0210E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52683" y="2199546"/>
            <a:ext cx="8686633" cy="3678303"/>
          </a:xfrm>
        </p:spPr>
        <p:txBody>
          <a:bodyPr/>
          <a:lstStyle/>
          <a:p>
            <a:r>
              <a:rPr lang="en-US" dirty="0"/>
              <a:t>Definition: The </a:t>
            </a:r>
            <a:r>
              <a:rPr lang="en-US" dirty="0">
                <a:solidFill>
                  <a:schemeClr val="accent2"/>
                </a:solidFill>
              </a:rPr>
              <a:t>Automated Test Framework </a:t>
            </a:r>
            <a:r>
              <a:rPr lang="en-US" dirty="0"/>
              <a:t>is a built-in application within ServiceNow that creates and runs tests against our customizations</a:t>
            </a:r>
          </a:p>
          <a:p>
            <a:pPr lvl="1"/>
            <a:r>
              <a:rPr lang="en-US" dirty="0">
                <a:hlinkClick r:id="rId2"/>
              </a:rPr>
              <a:t>https://www.servicenow.com/docs/bundle/xanadu-application-development/page/administer/auto-test-framework/concept/automated-test-framework.html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5142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FD725-7617-24C3-E161-9FC444CCED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Order/Service MGMT for Telcom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AA5A3-639C-FE5D-4918-CB6E2A21A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Telecommunications and Media Service MGMT:</a:t>
            </a:r>
          </a:p>
          <a:p>
            <a:r>
              <a:rPr lang="en-US" dirty="0">
                <a:hlinkClick r:id="rId2"/>
              </a:rPr>
              <a:t>https://learning.servicenow.com/lxp/en/telecommunications-service-management/telecommunications-media-and?id=learning_course_prev&amp;course_id=d02e405a97fb161c8934b67e6253af91&amp;s=1&amp;ssa=3</a:t>
            </a:r>
            <a:endParaRPr lang="en-US" dirty="0"/>
          </a:p>
          <a:p>
            <a:r>
              <a:rPr lang="en-US" dirty="0"/>
              <a:t>Order Management Fundamentals:</a:t>
            </a:r>
          </a:p>
          <a:p>
            <a:r>
              <a:rPr lang="en-US" dirty="0">
                <a:hlinkClick r:id="rId3"/>
              </a:rPr>
              <a:t>https://learning.servicenow.com/lxp/en/telecommunications-service-management/order-management-fundamentals?id=learning_course_prev&amp;course_id=2a80ebde47d68658ca332a81736d43a1&amp;s=1&amp;ssa=3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2843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CA787-3DC6-853D-3AE0-E43881EFF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on React…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F179F-B9E9-375F-0840-D8862434F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UI Pages with react:</a:t>
            </a:r>
          </a:p>
          <a:p>
            <a:r>
              <a:rPr lang="en-US" dirty="0">
                <a:hlinkClick r:id="rId2"/>
              </a:rPr>
              <a:t>https://www.servicenow.com/docs/bundle/zurich-application-development/page/build/servicenow-sdk/concept/ui-development-react.html</a:t>
            </a:r>
            <a:endParaRPr lang="en-US" dirty="0"/>
          </a:p>
          <a:p>
            <a:r>
              <a:rPr lang="en-US" dirty="0"/>
              <a:t>Comparison of older AngularJS-based portal widgets and React: </a:t>
            </a:r>
          </a:p>
          <a:p>
            <a:r>
              <a:rPr lang="en-US" dirty="0">
                <a:hlinkClick r:id="rId3"/>
              </a:rPr>
              <a:t>https://www.servicenow.com/community/in-other-news/from-portal-widgets-to-next-experience-components/ba-p/2290660</a:t>
            </a:r>
            <a:endParaRPr lang="en-US" dirty="0"/>
          </a:p>
          <a:p>
            <a:r>
              <a:rPr lang="en-US" dirty="0"/>
              <a:t>Service Portal Widgets:</a:t>
            </a:r>
          </a:p>
          <a:p>
            <a:r>
              <a:rPr lang="en-US" dirty="0">
                <a:hlinkClick r:id="rId4"/>
              </a:rPr>
              <a:t>https://www.servicenow.com/docs/bundle/zurich-platform-user-interface/page/build/service-portal/concept/service-portal-widgets.html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6810104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35671</TotalTime>
  <Words>646</Words>
  <Application>Microsoft Office PowerPoint</Application>
  <PresentationFormat>Widescreen</PresentationFormat>
  <Paragraphs>41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Aptos</vt:lpstr>
      <vt:lpstr>Gill Sans MT</vt:lpstr>
      <vt:lpstr>Wingdings</vt:lpstr>
      <vt:lpstr>Wingdings 2</vt:lpstr>
      <vt:lpstr>Dividend</vt:lpstr>
      <vt:lpstr>MISC</vt:lpstr>
      <vt:lpstr>Now Assist</vt:lpstr>
      <vt:lpstr>More on Now Assist</vt:lpstr>
      <vt:lpstr>Sidebar Discussions</vt:lpstr>
      <vt:lpstr>Automated Test Framework</vt:lpstr>
      <vt:lpstr>Order/Service MGMT for Telcom</vt:lpstr>
      <vt:lpstr>More on React…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636</cp:revision>
  <dcterms:created xsi:type="dcterms:W3CDTF">2025-02-12T19:53:45Z</dcterms:created>
  <dcterms:modified xsi:type="dcterms:W3CDTF">2025-11-13T16:35:24Z</dcterms:modified>
</cp:coreProperties>
</file>