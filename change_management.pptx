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60" r:id="rId4"/>
    <p:sldId id="258" r:id="rId5"/>
    <p:sldId id="259" r:id="rId6"/>
    <p:sldId id="262" r:id="rId7"/>
    <p:sldId id="261" r:id="rId8"/>
    <p:sldId id="277" r:id="rId9"/>
    <p:sldId id="278" r:id="rId10"/>
    <p:sldId id="263" r:id="rId11"/>
    <p:sldId id="279" r:id="rId12"/>
    <p:sldId id="280" r:id="rId13"/>
    <p:sldId id="264" r:id="rId14"/>
    <p:sldId id="268" r:id="rId15"/>
    <p:sldId id="265" r:id="rId16"/>
    <p:sldId id="266" r:id="rId17"/>
    <p:sldId id="267" r:id="rId18"/>
    <p:sldId id="275" r:id="rId19"/>
    <p:sldId id="276" r:id="rId20"/>
    <p:sldId id="269" r:id="rId21"/>
    <p:sldId id="270" r:id="rId22"/>
    <p:sldId id="271" r:id="rId23"/>
    <p:sldId id="273" r:id="rId24"/>
    <p:sldId id="272" r:id="rId25"/>
    <p:sldId id="27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13:49:11.9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13:49:13.48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102 174 24575,'1'-5'0,"0"0"0,0 1 0,1-1 0,-1 1 0,1-1 0,0 1 0,1 0 0,-1 0 0,1-1 0,-1 2 0,1-1 0,1 0 0,-1 1 0,0-1 0,1 1 0,0 0 0,-1 0 0,1 0 0,0 1 0,1-1 0,4-1 0,2-2 0,0 0 0,1 1 0,0 0 0,0 1 0,0 1 0,0 0 0,13-2 0,-22 5 0,0 0 0,0 0 0,0 0 0,-1 0 0,1 0 0,0 1 0,0 0 0,-1-1 0,1 1 0,0 0 0,-1 0 0,1 0 0,-1 1 0,1-1 0,-1 1 0,0-1 0,1 1 0,-1 0 0,0 0 0,0 0 0,0 0 0,0 0 0,-1 0 0,1 0 0,-1 1 0,1-1 0,-1 1 0,0-1 0,0 1 0,0 0 0,1 4 0,-1-4 0,0 1 0,0-1 0,-1 1 0,0 0 0,1-1 0,-1 1 0,0-1 0,-1 1 0,1-1 0,-1 1 0,0-1 0,1 1 0,-1-1 0,-1 1 0,1-1 0,-1 0 0,1 1 0,-1-1 0,0 0 0,0 0 0,0-1 0,0 1 0,-1 0 0,-3 3 0,-4 0 0,0-1 0,-1 0 0,0 0 0,0-1 0,-1 0 0,1-1 0,-1 0 0,1-1 0,-1 0 0,0-1 0,0-1 0,0 1 0,0-2 0,0 0 0,0 0 0,1-1 0,-1-1 0,1 0 0,-1 0 0,1-1 0,-19-9 0,25 8 0,1 0 0,-1 1 0,1-1 0,0-1 0,0 1 0,1-1 0,0 1 0,0-1 0,0 0 0,1 0 0,0 0 0,0-1 0,0 1 0,1 0 0,0-1 0,0 1 0,0-1 0,1-8 0,0 11 0,0 0 0,1 0 0,-1 0 0,1 0 0,0 0 0,0 0 0,0 0 0,0 0 0,1 0 0,-1 0 0,1 0 0,0 1 0,3-5 0,-3 6 0,0 0 0,0 1 0,0-1 0,0 0 0,0 1 0,0-1 0,1 1 0,-1 0 0,1-1 0,-1 1 0,1 0 0,-1 1 0,1-1 0,-1 0 0,1 1 0,0-1 0,-1 1 0,1 0 0,0 0 0,-1 0 0,6 1 0,6 1 4,0 1-1,0 0 0,0 1 1,-1 0-1,1 2 1,-1-1-1,0 1 0,-1 1 1,16 11-1,7 9-80,54 51-1,-16-12-1166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14:13:30.0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14:13:30.7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1 354 24575,'24'0'0,"1"2"0,-1 1 0,37 9 0,-48-9 0,0 0 0,0 2 0,-1 0 0,1 0 0,-1 1 0,-1 1 0,22 14 0,-32-21 0,0 1 0,0 0 0,-1-1 0,1 1 0,0-1 0,0 1 0,0 0 0,-1 0 0,1 0 0,0-1 0,-1 1 0,1 0 0,0 0 0,-1 0 0,1 0 0,-1 0 0,0 0 0,1 0 0,-1 0 0,0 0 0,0 0 0,1 0 0,-1 0 0,0 0 0,0 0 0,0 2 0,-1-2 0,0 0 0,0 1 0,0-1 0,0 0 0,0-1 0,0 1 0,0 0 0,0 0 0,0 0 0,-1-1 0,1 1 0,0 0 0,0-1 0,-1 1 0,1-1 0,0 0 0,-2 1 0,-61 6 0,57-7 0,1 0 0,0 0 0,-1-1 0,1 1 0,0-1 0,-1-1 0,1 0 0,0 0 0,0 0 0,0 0 0,0-1 0,1 0 0,-1 0 0,1-1 0,0 1 0,-1-1 0,2 0 0,-9-9 0,9 7 0,-1 0 0,1-1 0,0 1 0,1-1 0,0 0 0,0 0 0,0 0 0,1 0 0,0-1 0,1 1 0,-1-1 0,1 1 0,1-1 0,0 1 0,0-15 0,3 2 17,0-1 0,1 0 1,1 1-1,1 0 0,0 0 0,11-21 0,-10 27-166,-1 1 1,2 0-1,0 0 1,0 1-1,1 0 1,1 0-1,0 1 1,0 0-1,15-10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14:13:32.5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481 0 24575,'12'0'0,"-1"0"0,1 1 0,-1 0 0,0 1 0,1 0 0,-1 1 0,12 4 0,-18-5 0,0 1 0,0 0 0,-1-1 0,1 1 0,-1 1 0,0-1 0,0 1 0,0-1 0,0 1 0,-1 0 0,0 0 0,0 1 0,0-1 0,0 1 0,0 0 0,-1-1 0,3 8 0,0 4 0,0 0 0,-1 0 0,0 0 0,-1 0 0,-1 1 0,-1-1 0,0 1 0,-3 27 0,-2-11 0,-2-1 0,-2 0 0,-15 42 0,19-65 0,-1 0 0,0 0 0,0-1 0,-1 0 0,0 0 0,0 0 0,-1 0 0,1-1 0,-2 0 0,1-1 0,-1 0 0,0 0 0,-10 5 0,-13 7 0,-1-1 0,-39 15 0,46-24 0,0-2 0,0-1 0,-1 0 0,0-2 0,1-1 0,-1-1 0,-51-5 0,6 1 0,66 4 0,0-1 0,0 0 0,1-1 0,-1 1 0,0-1 0,1 0 0,-1 0 0,1-1 0,-1 1 0,-7-4 0,11 3 0,-1 1 0,1-1 0,-1 1 0,1-1 0,0 0 0,0 1 0,0-1 0,0 0 0,0 0 0,0 0 0,0 1 0,0-1 0,1 0 0,-1 0 0,1 0 0,0-1 0,-1 1 0,1 0 0,0 0 0,0 0 0,0 0 0,1 0 0,-1 0 0,0 0 0,1 0 0,0-3 0,14-111-1365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14:13:33.6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14:13:33.9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57 24575,'0'-5'0,"0"-6"0,0-7 0,0-4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14:13:34.1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14:13:34.6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37 24575,'5'0'0,"6"0"0,7 0 0,5 0 0,-2-5 0,1-1 0,2-1 0,1 2 0,1 2 0,2 0 0,0 2 0,1 1 0,-5-5 0,-6 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9.xml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12" Type="http://schemas.openxmlformats.org/officeDocument/2006/relationships/customXml" Target="../ink/ink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5" Type="http://schemas.openxmlformats.org/officeDocument/2006/relationships/customXml" Target="../ink/ink4.xml"/><Relationship Id="rId10" Type="http://schemas.openxmlformats.org/officeDocument/2006/relationships/customXml" Target="../ink/ink7.xml"/><Relationship Id="rId4" Type="http://schemas.openxmlformats.org/officeDocument/2006/relationships/image" Target="../media/image3.png"/><Relationship Id="rId9" Type="http://schemas.openxmlformats.org/officeDocument/2006/relationships/customXml" Target="../ink/ink6.xml"/><Relationship Id="rId1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rvicenow.com/community/" TargetMode="External"/><Relationship Id="rId2" Type="http://schemas.openxmlformats.org/officeDocument/2006/relationships/hyperlink" Target="https://www.servicenow.com/docs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servicenow.com/dev.do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rvicenow.com/docs/bundle/xanadu-platform-administration/page/administer/plugins/concept/c_ServiceNowPlugins.html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2579" y="1199725"/>
            <a:ext cx="10993549" cy="1475013"/>
          </a:xfrm>
        </p:spPr>
        <p:txBody>
          <a:bodyPr/>
          <a:lstStyle/>
          <a:p>
            <a:r>
              <a:rPr lang="en-US" dirty="0"/>
              <a:t>Change Management</a:t>
            </a:r>
          </a:p>
        </p:txBody>
      </p:sp>
      <p:pic>
        <p:nvPicPr>
          <p:cNvPr id="4" name="Picture 3" descr="ServiceNow logo transparent PNG - StickPNG">
            <a:extLst>
              <a:ext uri="{FF2B5EF4-FFF2-40B4-BE49-F238E27FC236}">
                <a16:creationId xmlns:a16="http://schemas.microsoft.com/office/drawing/2014/main" id="{D7622E4E-6271-FAF7-80FD-0DAEECDB6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371" y="636370"/>
            <a:ext cx="5427258" cy="92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488F-53EE-158B-83F1-79F64C7EB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F6C03-7BF4-387E-1067-943EBCE6F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dirty="0"/>
              <a:t>What is Change Management?</a:t>
            </a:r>
          </a:p>
          <a:p>
            <a:pPr marL="305435" indent="-305435"/>
            <a:r>
              <a:rPr lang="en-US" dirty="0"/>
              <a:t>How does a change come to be? </a:t>
            </a:r>
          </a:p>
          <a:p>
            <a:pPr marL="305435" indent="-305435"/>
            <a:r>
              <a:rPr lang="en-US" dirty="0"/>
              <a:t>ITIL Workflow of Change Management</a:t>
            </a:r>
          </a:p>
          <a:p>
            <a:pPr marL="305435" indent="-305435"/>
            <a:r>
              <a:rPr lang="en-US" dirty="0"/>
              <a:t>The Change Management Process</a:t>
            </a:r>
          </a:p>
          <a:p>
            <a:pPr marL="305435" indent="-305435"/>
            <a:r>
              <a:rPr lang="en-US" dirty="0"/>
              <a:t>Types of Changes</a:t>
            </a:r>
          </a:p>
          <a:p>
            <a:pPr marL="305435" indent="-305435"/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66345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98399-EA03-424C-8D31-C6B6817F6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change management?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26B51-4938-4211-37F2-2A081C5D1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dirty="0"/>
              <a:t>Helps organizations understand and work to minimize risks of changes to the IT environment. </a:t>
            </a:r>
          </a:p>
          <a:p>
            <a:pPr marL="305435" indent="-305435"/>
            <a:r>
              <a:rPr lang="en-US" dirty="0"/>
              <a:t>Provides processes to create, assess, approve, and implement changes to your environment. </a:t>
            </a:r>
          </a:p>
          <a:p>
            <a:pPr marL="305435" indent="-305435"/>
            <a:r>
              <a:rPr lang="en-US" dirty="0"/>
              <a:t>Tasks are assigned to appropriate change management team members, who will deal with the task. </a:t>
            </a:r>
          </a:p>
        </p:txBody>
      </p:sp>
    </p:spTree>
    <p:extLst>
      <p:ext uri="{BB962C8B-B14F-4D97-AF65-F5344CB8AC3E}">
        <p14:creationId xmlns:p14="http://schemas.microsoft.com/office/powerpoint/2010/main" val="2540692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C9AD-CEB2-5802-6F5E-C97C9360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Incidents/problems may cause a change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259D30-7D4D-3318-AE1C-A4CDDE0BB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773" y="1897733"/>
            <a:ext cx="5022453" cy="453892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93A4EC5-BC41-0D09-8279-71801280E047}"/>
              </a:ext>
            </a:extLst>
          </p:cNvPr>
          <p:cNvGrpSpPr/>
          <p:nvPr/>
        </p:nvGrpSpPr>
        <p:grpSpPr>
          <a:xfrm>
            <a:off x="7314219" y="4975440"/>
            <a:ext cx="152280" cy="83160"/>
            <a:chOff x="7314219" y="4975440"/>
            <a:chExt cx="152280" cy="8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DDFB23F-A021-B700-38ED-E6DDE9D9A6FE}"/>
                    </a:ext>
                  </a:extLst>
                </p14:cNvPr>
                <p14:cNvContentPartPr/>
                <p14:nvPr/>
              </p14:nvContentPartPr>
              <p14:xfrm>
                <a:off x="7350579" y="503772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DDFB23F-A021-B700-38ED-E6DDE9D9A6F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87939" y="49750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41514A6-7FD8-3AB9-222C-6C3D67D79ECA}"/>
                    </a:ext>
                  </a:extLst>
                </p14:cNvPr>
                <p14:cNvContentPartPr/>
                <p14:nvPr/>
              </p14:nvContentPartPr>
              <p14:xfrm>
                <a:off x="7314219" y="4975440"/>
                <a:ext cx="152280" cy="83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41514A6-7FD8-3AB9-222C-6C3D67D79EC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251219" y="4912800"/>
                  <a:ext cx="277920" cy="208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471209C-805B-FA08-2171-698F35F56462}"/>
              </a:ext>
            </a:extLst>
          </p:cNvPr>
          <p:cNvSpPr txBox="1"/>
          <p:nvPr/>
        </p:nvSpPr>
        <p:spPr>
          <a:xfrm>
            <a:off x="5943599" y="6433769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87246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41DB96-2246-A536-1B34-B350D2F7C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70" y="103908"/>
            <a:ext cx="10709259" cy="6493325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7C4C9B3-CCE6-FFEC-A932-51BD93D80C07}"/>
              </a:ext>
            </a:extLst>
          </p:cNvPr>
          <p:cNvGrpSpPr/>
          <p:nvPr/>
        </p:nvGrpSpPr>
        <p:grpSpPr>
          <a:xfrm>
            <a:off x="3616004" y="1049236"/>
            <a:ext cx="279000" cy="231480"/>
            <a:chOff x="3616004" y="1049236"/>
            <a:chExt cx="279000" cy="2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4F7A67B-2786-52DA-4B99-A01367334029}"/>
                    </a:ext>
                  </a:extLst>
                </p14:cNvPr>
                <p14:cNvContentPartPr/>
                <p14:nvPr/>
              </p14:nvContentPartPr>
              <p14:xfrm>
                <a:off x="3730124" y="1184236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4F7A67B-2786-52DA-4B99-A0136733402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67484" y="1121596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AE6E483-41B8-B2F4-8074-65DCF3B7F944}"/>
                    </a:ext>
                  </a:extLst>
                </p14:cNvPr>
                <p14:cNvContentPartPr/>
                <p14:nvPr/>
              </p14:nvContentPartPr>
              <p14:xfrm>
                <a:off x="3730124" y="1057156"/>
                <a:ext cx="96840" cy="170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AE6E483-41B8-B2F4-8074-65DCF3B7F94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67484" y="994516"/>
                  <a:ext cx="2224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5CC76AD-5E75-4092-9C24-3E27B7E4615C}"/>
                    </a:ext>
                  </a:extLst>
                </p14:cNvPr>
                <p14:cNvContentPartPr/>
                <p14:nvPr/>
              </p14:nvContentPartPr>
              <p14:xfrm>
                <a:off x="3650564" y="1049236"/>
                <a:ext cx="244440" cy="231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5CC76AD-5E75-4092-9C24-3E27B7E4615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587564" y="986236"/>
                  <a:ext cx="37008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6B57D80-B11B-74E1-292B-3D0535F5A42C}"/>
                    </a:ext>
                  </a:extLst>
                </p14:cNvPr>
                <p14:cNvContentPartPr/>
                <p14:nvPr/>
              </p14:nvContentPartPr>
              <p14:xfrm>
                <a:off x="3616004" y="1184236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6B57D80-B11B-74E1-292B-3D0535F5A42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553004" y="1121596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EAB5541-3BBE-CA8A-BEDE-CD9157C18884}"/>
                    </a:ext>
                  </a:extLst>
                </p14:cNvPr>
                <p14:cNvContentPartPr/>
                <p14:nvPr/>
              </p14:nvContentPartPr>
              <p14:xfrm>
                <a:off x="3616004" y="1122316"/>
                <a:ext cx="360" cy="20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EAB5541-3BBE-CA8A-BEDE-CD9157C1888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53004" y="1059676"/>
                  <a:ext cx="1260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95991A5-CCCD-8E35-D1CD-1723020A61E7}"/>
                    </a:ext>
                  </a:extLst>
                </p14:cNvPr>
                <p14:cNvContentPartPr/>
                <p14:nvPr/>
              </p14:nvContentPartPr>
              <p14:xfrm>
                <a:off x="3616004" y="1101436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95991A5-CCCD-8E35-D1CD-1723020A61E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553004" y="1038436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28BDC58-E3B3-947C-2226-D733CD726E6F}"/>
                    </a:ext>
                  </a:extLst>
                </p14:cNvPr>
                <p14:cNvContentPartPr/>
                <p14:nvPr/>
              </p14:nvContentPartPr>
              <p14:xfrm>
                <a:off x="3616004" y="1088116"/>
                <a:ext cx="109080" cy="13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28BDC58-E3B3-947C-2226-D733CD726E6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53004" y="1025116"/>
                  <a:ext cx="234720" cy="139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84763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17FD9-7381-38F7-1798-18EAEC528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Management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F91E7-ECB9-BFC8-DCE3-A45CFDFE7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dirty="0">
                <a:latin typeface="Gill Sans MT"/>
                <a:cs typeface="Segoe UI"/>
              </a:rPr>
              <a:t>Raising and Recording Changes – A new change record can be generated in a number of ways:</a:t>
            </a:r>
          </a:p>
          <a:p>
            <a:pPr marL="629435" lvl="1" indent="-305435"/>
            <a:r>
              <a:rPr lang="en-US" dirty="0">
                <a:latin typeface="Gill Sans MT"/>
                <a:cs typeface="Segoe UI"/>
              </a:rPr>
              <a:t>An IT team member (role: </a:t>
            </a:r>
            <a:r>
              <a:rPr lang="en-US" dirty="0" err="1">
                <a:latin typeface="Gill Sans MT"/>
                <a:cs typeface="Segoe UI"/>
              </a:rPr>
              <a:t>itil</a:t>
            </a:r>
            <a:r>
              <a:rPr lang="en-US" dirty="0">
                <a:latin typeface="Gill Sans MT"/>
                <a:cs typeface="Segoe UI"/>
              </a:rPr>
              <a:t>) can generate a change by hand through clicking ‘new’ on the record list. </a:t>
            </a:r>
          </a:p>
          <a:p>
            <a:pPr marL="629435" lvl="1" indent="-305435"/>
            <a:r>
              <a:rPr lang="en-US" dirty="0">
                <a:latin typeface="Gill Sans MT"/>
                <a:cs typeface="Segoe UI"/>
              </a:rPr>
              <a:t>An IT team member (role: </a:t>
            </a:r>
            <a:r>
              <a:rPr lang="en-US" dirty="0" err="1">
                <a:latin typeface="Gill Sans MT"/>
                <a:cs typeface="Segoe UI"/>
              </a:rPr>
              <a:t>itil</a:t>
            </a:r>
            <a:r>
              <a:rPr lang="en-US" dirty="0">
                <a:latin typeface="Gill Sans MT"/>
                <a:cs typeface="Segoe UI"/>
              </a:rPr>
              <a:t>) can request a change through the Service Catalog. </a:t>
            </a:r>
          </a:p>
          <a:p>
            <a:pPr marL="629435" lvl="1" indent="-305435"/>
            <a:r>
              <a:rPr lang="en-US" dirty="0">
                <a:latin typeface="Gill Sans MT"/>
                <a:cs typeface="Segoe UI"/>
              </a:rPr>
              <a:t>A change can be requested from an incident. </a:t>
            </a:r>
          </a:p>
          <a:p>
            <a:pPr marL="629435" lvl="1" indent="-305435"/>
            <a:r>
              <a:rPr lang="en-US" dirty="0">
                <a:latin typeface="Gill Sans MT"/>
                <a:cs typeface="Segoe UI"/>
              </a:rPr>
              <a:t>A change can be requested from a problem. </a:t>
            </a: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048442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85530-E206-36B8-5B6E-2239FA46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Management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C73AE-5BF0-99A7-4EA6-49D4DFD39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180496"/>
            <a:ext cx="10777091" cy="3985378"/>
          </a:xfrm>
        </p:spPr>
        <p:txBody>
          <a:bodyPr/>
          <a:lstStyle/>
          <a:p>
            <a:pPr marL="305435" indent="-305435"/>
            <a:r>
              <a:rPr lang="en-US" dirty="0"/>
              <a:t>Assessing and Evaluating Changes – Once a change request is in place, the change management team must populate the change request with as much information as possible to fully assess the requested change. </a:t>
            </a:r>
          </a:p>
          <a:p>
            <a:pPr marL="305435" indent="-305435"/>
            <a:r>
              <a:rPr lang="en-US" dirty="0"/>
              <a:t>Planning Changes – Changes can be planned directly in the change record, but for complex, multi-step changes, Project Management allows specificity of planning. Projects in the Project Management plugin can organize many layers of tasks, and present tasks as a Gantt chart timeline. </a:t>
            </a:r>
          </a:p>
          <a:p>
            <a:pPr marL="305435" indent="-305435"/>
            <a:r>
              <a:rPr lang="en-US" dirty="0"/>
              <a:t>Authorizing Changes – Specified by hand using the approvers related list. Can be generated using a approval rule or workflow. </a:t>
            </a:r>
          </a:p>
          <a:p>
            <a:pPr marL="305435" indent="-305435"/>
            <a:r>
              <a:rPr lang="en-US" dirty="0"/>
              <a:t>Closing Changes – The state field of the change record will be set to close. If the change was generated from an incident or problem, a business rule can be configured to automatically close them upon closing the change. </a:t>
            </a:r>
          </a:p>
        </p:txBody>
      </p:sp>
    </p:spTree>
    <p:extLst>
      <p:ext uri="{BB962C8B-B14F-4D97-AF65-F5344CB8AC3E}">
        <p14:creationId xmlns:p14="http://schemas.microsoft.com/office/powerpoint/2010/main" val="1135922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AE4B0-A4CD-E0BB-108E-B192FC4DF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7E9FE-0F28-2047-BE47-F74CD6D98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96891-C42E-BE90-E4D9-492A22EC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7061"/>
            <a:ext cx="10777091" cy="3985378"/>
          </a:xfrm>
        </p:spPr>
        <p:txBody>
          <a:bodyPr/>
          <a:lstStyle/>
          <a:p>
            <a:pPr marL="305435" indent="-305435"/>
            <a:r>
              <a:rPr lang="en-US" dirty="0"/>
              <a:t>Normal – An intermediate-risk change that is not urgent or pre-approved. Will include a thorough review process, a rollback plan, etc. </a:t>
            </a:r>
          </a:p>
          <a:p>
            <a:pPr marL="305435" indent="-305435"/>
            <a:r>
              <a:rPr lang="en-US" dirty="0"/>
              <a:t>Emergency – Urgent changes that may present high risks if not addressed promptly. E.g. security threats, power outages </a:t>
            </a:r>
          </a:p>
          <a:p>
            <a:pPr marL="305435" indent="-305435"/>
            <a:r>
              <a:rPr lang="en-US" dirty="0"/>
              <a:t>Standard – Predefined changes that are common to the organization and are pre-approved. E.g. service desk request for IT service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A Change Advisory Board (CAB) will decide on to approve or reject any changes. (</a:t>
            </a:r>
            <a:r>
              <a:rPr lang="en-US" dirty="0" err="1"/>
              <a:t>cab_manager</a:t>
            </a:r>
            <a:r>
              <a:rPr lang="en-US" dirty="0"/>
              <a:t> role) </a:t>
            </a:r>
          </a:p>
          <a:p>
            <a:pPr marL="0" indent="0" algn="ctr">
              <a:buNone/>
            </a:pPr>
            <a:r>
              <a:rPr lang="en-US" dirty="0"/>
              <a:t>An Emergency Change Advisory Board (</a:t>
            </a:r>
            <a:r>
              <a:rPr lang="en-US" dirty="0" err="1"/>
              <a:t>eCAB</a:t>
            </a:r>
            <a:r>
              <a:rPr lang="en-US" dirty="0"/>
              <a:t>) will handle emergency changes. </a:t>
            </a:r>
          </a:p>
        </p:txBody>
      </p:sp>
    </p:spTree>
    <p:extLst>
      <p:ext uri="{BB962C8B-B14F-4D97-AF65-F5344CB8AC3E}">
        <p14:creationId xmlns:p14="http://schemas.microsoft.com/office/powerpoint/2010/main" val="4210320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F22AD-6B31-2946-0493-CD0A2EBFA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2D22D-19CE-D1D0-B8AA-6B23A976C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1A6EA-DA1A-FAAD-664A-0D02913F2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7061"/>
            <a:ext cx="10777091" cy="3985378"/>
          </a:xfrm>
        </p:spPr>
        <p:txBody>
          <a:bodyPr/>
          <a:lstStyle/>
          <a:p>
            <a:pPr marL="324000" lvl="1" indent="0" algn="ctr">
              <a:buNone/>
            </a:pPr>
            <a:r>
              <a:rPr lang="en-US" dirty="0"/>
              <a:t> Aside from the 3 ITIL change types, other organizations may implement their own:</a:t>
            </a:r>
          </a:p>
          <a:p>
            <a:pPr marL="305435" indent="-305435"/>
            <a:endParaRPr lang="en-US" dirty="0"/>
          </a:p>
          <a:p>
            <a:pPr marL="305435" indent="-305435"/>
            <a:r>
              <a:rPr lang="en-US" dirty="0"/>
              <a:t>Major – Big change that will affect the entire system</a:t>
            </a:r>
          </a:p>
          <a:p>
            <a:pPr marL="305435" indent="-305435"/>
            <a:r>
              <a:rPr lang="en-US" dirty="0"/>
              <a:t>Latent – Smaller changes that may not have an immediate or even perceptible impact </a:t>
            </a:r>
          </a:p>
        </p:txBody>
      </p:sp>
    </p:spTree>
    <p:extLst>
      <p:ext uri="{BB962C8B-B14F-4D97-AF65-F5344CB8AC3E}">
        <p14:creationId xmlns:p14="http://schemas.microsoft.com/office/powerpoint/2010/main" val="2503253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05ED1-CA36-8AD9-26F2-394E6FF1D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CAB Workbench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2712C3-B397-7359-34C2-E8B19F39D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723" y="2804485"/>
            <a:ext cx="2734057" cy="962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A8A62B-293F-1C7D-4CD1-5C6161E2E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799" y="2422982"/>
            <a:ext cx="7318664" cy="334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367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727E3-D22E-146B-2C3D-8156A1412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EF60A-FCE6-BFF4-FC8A-72EC16AC7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3D37C-DF92-7C6F-A47E-503298EB8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7061"/>
            <a:ext cx="10777091" cy="3985378"/>
          </a:xfrm>
        </p:spPr>
        <p:txBody>
          <a:bodyPr anchor="t"/>
          <a:lstStyle/>
          <a:p>
            <a:pPr marL="0" indent="0">
              <a:buNone/>
            </a:pPr>
            <a:r>
              <a:rPr lang="en-US" dirty="0"/>
              <a:t>Which type of change is pre-approved?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user role is responsible for changes (can be added to the </a:t>
            </a:r>
            <a:r>
              <a:rPr lang="en-US" dirty="0" err="1"/>
              <a:t>assigned_to</a:t>
            </a:r>
            <a:r>
              <a:rPr lang="en-US" dirty="0"/>
              <a:t> field)?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Who decides to approve or reject any changes?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do changes come to be? </a:t>
            </a:r>
          </a:p>
        </p:txBody>
      </p:sp>
    </p:spTree>
    <p:extLst>
      <p:ext uri="{BB962C8B-B14F-4D97-AF65-F5344CB8AC3E}">
        <p14:creationId xmlns:p14="http://schemas.microsoft.com/office/powerpoint/2010/main" val="1053239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5753A-49F6-C5F8-04F9-935BD6699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DC08A-44BB-40B1-C37B-77A4E2A04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8AFA1-8E9E-3279-443C-F79C7781D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7061"/>
            <a:ext cx="10777091" cy="3985378"/>
          </a:xfrm>
        </p:spPr>
        <p:txBody>
          <a:bodyPr anchor="t"/>
          <a:lstStyle/>
          <a:p>
            <a:pPr marL="0" indent="0">
              <a:buNone/>
            </a:pPr>
            <a:r>
              <a:rPr lang="en-US" dirty="0"/>
              <a:t>Which type of change is pre-approved?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Standard</a:t>
            </a:r>
          </a:p>
          <a:p>
            <a:pPr marL="0" indent="0">
              <a:buNone/>
            </a:pPr>
            <a:r>
              <a:rPr lang="en-US" dirty="0"/>
              <a:t>What user role is responsible for changes (can be added to the </a:t>
            </a:r>
            <a:r>
              <a:rPr lang="en-US" dirty="0" err="1"/>
              <a:t>assigned_to</a:t>
            </a:r>
            <a:r>
              <a:rPr lang="en-US" dirty="0"/>
              <a:t> field)?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itil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/>
              <a:t>Who decides to approve or reject any changes? </a:t>
            </a:r>
          </a:p>
          <a:p>
            <a:pPr marL="0" indent="0">
              <a:buNone/>
            </a:pPr>
            <a:r>
              <a:rPr lang="en-US" dirty="0"/>
              <a:t>CAB or </a:t>
            </a:r>
            <a:r>
              <a:rPr lang="en-US" dirty="0" err="1"/>
              <a:t>eCAB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How do changes come to be?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Through a problem or incident </a:t>
            </a:r>
          </a:p>
        </p:txBody>
      </p:sp>
    </p:spTree>
    <p:extLst>
      <p:ext uri="{BB962C8B-B14F-4D97-AF65-F5344CB8AC3E}">
        <p14:creationId xmlns:p14="http://schemas.microsoft.com/office/powerpoint/2010/main" val="1687368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FFEE68-DEF2-1E57-2A75-E9B826612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Key Benefits of Service Now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C9317-1C8F-0745-5275-AA8790ACC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pPr marL="305435" indent="-305435">
              <a:lnSpc>
                <a:spcPct val="90000"/>
              </a:lnSpc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Simplified experiences</a:t>
            </a:r>
          </a:p>
          <a:p>
            <a:pPr marL="629920" lvl="1" indent="-305435">
              <a:lnSpc>
                <a:spcPct val="90000"/>
              </a:lnSpc>
              <a:buFont typeface="Courier New" panose="05020102010507070707" pitchFamily="18" charset="2"/>
              <a:buChar char="o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Empower everyone inside and outside the organization using a simplified layer of engagement with data unified from any system</a:t>
            </a:r>
          </a:p>
          <a:p>
            <a:pPr marL="305435" indent="-305435">
              <a:lnSpc>
                <a:spcPct val="90000"/>
              </a:lnSpc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Purposeful automation</a:t>
            </a:r>
          </a:p>
          <a:p>
            <a:pPr marL="629920" lvl="1" indent="-305435">
              <a:lnSpc>
                <a:spcPct val="90000"/>
              </a:lnSpc>
              <a:buFont typeface="Courier New" panose="05020102010507070707" pitchFamily="18" charset="2"/>
              <a:buChar char="o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We can take the digital sprawl across the enterprise and deliver an automated, intelligent System of Action</a:t>
            </a:r>
          </a:p>
          <a:p>
            <a:pPr marL="305435" indent="-305435">
              <a:lnSpc>
                <a:spcPct val="90000"/>
              </a:lnSpc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Organizational agility</a:t>
            </a:r>
          </a:p>
          <a:p>
            <a:pPr marL="629920" lvl="1" indent="-305435">
              <a:lnSpc>
                <a:spcPct val="90000"/>
              </a:lnSpc>
              <a:buFont typeface="Courier New" panose="05020102010507070707" pitchFamily="18" charset="2"/>
              <a:buChar char="o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 low-code and intelligent platform helps meet business needs and is able to pivot and adapt quickly in today's changing environment</a:t>
            </a:r>
          </a:p>
        </p:txBody>
      </p:sp>
    </p:spTree>
    <p:extLst>
      <p:ext uri="{BB962C8B-B14F-4D97-AF65-F5344CB8AC3E}">
        <p14:creationId xmlns:p14="http://schemas.microsoft.com/office/powerpoint/2010/main" val="1342308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47873-60F3-21F3-9093-4A2D2DC55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Features of Service 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03E52-0037-A8C1-1058-8829E35CE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>
                <a:latin typeface="Gill Sans MT"/>
                <a:cs typeface="Segoe UI"/>
              </a:rPr>
              <a:t>Key features of ServiceNow are:</a:t>
            </a:r>
            <a:endParaRPr lang="en-US">
              <a:latin typeface="Gill Sans MT"/>
            </a:endParaRPr>
          </a:p>
          <a:p>
            <a:pPr marL="629920" lvl="1" indent="-305435"/>
            <a:r>
              <a:rPr lang="en-US" sz="1800">
                <a:latin typeface="Gill Sans MT"/>
                <a:cs typeface="Segoe UI"/>
              </a:rPr>
              <a:t>Simple and Consistent</a:t>
            </a:r>
            <a:endParaRPr lang="en-US" sz="1800">
              <a:latin typeface="Gill Sans MT"/>
            </a:endParaRPr>
          </a:p>
          <a:p>
            <a:pPr marL="629920" lvl="1" indent="-305435"/>
            <a:r>
              <a:rPr lang="en-US" sz="1800">
                <a:latin typeface="Gill Sans MT"/>
                <a:cs typeface="Segoe UI"/>
              </a:rPr>
              <a:t>Flexible</a:t>
            </a:r>
            <a:endParaRPr lang="en-US" sz="1800">
              <a:latin typeface="Gill Sans MT"/>
            </a:endParaRPr>
          </a:p>
          <a:p>
            <a:pPr marL="629920" lvl="1" indent="-305435"/>
            <a:r>
              <a:rPr lang="en-US" sz="1800">
                <a:latin typeface="Gill Sans MT"/>
                <a:cs typeface="Segoe UI"/>
              </a:rPr>
              <a:t>Secure</a:t>
            </a:r>
            <a:endParaRPr lang="en-US" sz="1800">
              <a:latin typeface="Gill Sans MT"/>
            </a:endParaRPr>
          </a:p>
          <a:p>
            <a:pPr marL="629920" lvl="1" indent="-305435"/>
            <a:r>
              <a:rPr lang="en-US" sz="1800">
                <a:latin typeface="Gill Sans MT"/>
                <a:cs typeface="Segoe UI"/>
              </a:rPr>
              <a:t>Lower Total Cost</a:t>
            </a:r>
            <a:endParaRPr lang="en-US" sz="1800">
              <a:latin typeface="Gill Sans MT"/>
            </a:endParaRPr>
          </a:p>
          <a:p>
            <a:pPr marL="629920" lvl="1" indent="-305435"/>
            <a:r>
              <a:rPr lang="en-US" sz="1800">
                <a:latin typeface="Gill Sans MT"/>
                <a:cs typeface="Segoe UI"/>
              </a:rPr>
              <a:t>Easy to Intergate</a:t>
            </a:r>
            <a:endParaRPr lang="en-US" sz="1800">
              <a:latin typeface="Gill Sans MT"/>
            </a:endParaRPr>
          </a:p>
          <a:p>
            <a:pPr marL="629920" lvl="1" indent="-305435"/>
            <a:r>
              <a:rPr lang="en-US" sz="1800">
                <a:latin typeface="Gill Sans MT"/>
                <a:cs typeface="Segoe UI"/>
              </a:rPr>
              <a:t>Speed Time to Production</a:t>
            </a:r>
            <a:endParaRPr lang="en-US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385519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6615E-3278-D317-694A-5C8415ED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Service Now suitable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7A546-5653-BBBA-FDD7-D6B568C6F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008982"/>
          </a:xfrm>
        </p:spPr>
        <p:txBody>
          <a:bodyPr>
            <a:normAutofit lnSpcReduction="10000"/>
          </a:bodyPr>
          <a:lstStyle/>
          <a:p>
            <a:pPr marL="305435" indent="-305435"/>
            <a:r>
              <a:rPr lang="en-US" dirty="0"/>
              <a:t>Education</a:t>
            </a:r>
          </a:p>
          <a:p>
            <a:pPr marL="305435" indent="-305435"/>
            <a:r>
              <a:rPr lang="en-US" dirty="0"/>
              <a:t>Energy and utilities</a:t>
            </a:r>
          </a:p>
          <a:p>
            <a:pPr marL="305435" indent="-305435"/>
            <a:r>
              <a:rPr lang="en-US" dirty="0"/>
              <a:t>Financial services</a:t>
            </a:r>
          </a:p>
          <a:p>
            <a:pPr marL="305435" indent="-305435"/>
            <a:r>
              <a:rPr lang="en-US" dirty="0"/>
              <a:t>Government</a:t>
            </a:r>
          </a:p>
          <a:p>
            <a:pPr marL="305435" indent="-305435"/>
            <a:r>
              <a:rPr lang="en-US" dirty="0"/>
              <a:t>Healthcare</a:t>
            </a:r>
          </a:p>
          <a:p>
            <a:pPr marL="305435" indent="-305435"/>
            <a:r>
              <a:rPr lang="en-US" dirty="0"/>
              <a:t>Logistics</a:t>
            </a:r>
          </a:p>
          <a:p>
            <a:pPr marL="305435" indent="-305435"/>
            <a:r>
              <a:rPr lang="en-US" dirty="0"/>
              <a:t>Manufacturing</a:t>
            </a:r>
          </a:p>
          <a:p>
            <a:pPr marL="305435" indent="-305435"/>
            <a:r>
              <a:rPr lang="en-US" dirty="0"/>
              <a:t>Retail</a:t>
            </a:r>
          </a:p>
          <a:p>
            <a:pPr marL="305435" indent="-305435"/>
            <a:r>
              <a:rPr lang="en-US" dirty="0"/>
              <a:t>Service providers</a:t>
            </a:r>
          </a:p>
          <a:p>
            <a:pPr marL="305435" indent="-305435"/>
            <a:r>
              <a:rPr lang="en-US" dirty="0"/>
              <a:t>Telecommunications, media,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2043612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5BB0D-2F13-C973-422B-32B333E7A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Service Now Customers</a:t>
            </a:r>
          </a:p>
        </p:txBody>
      </p:sp>
      <p:pic>
        <p:nvPicPr>
          <p:cNvPr id="4" name="Content Placeholder 3" descr="Accenture Logo | Symbol, History, PNG (3840*2160)">
            <a:extLst>
              <a:ext uri="{FF2B5EF4-FFF2-40B4-BE49-F238E27FC236}">
                <a16:creationId xmlns:a16="http://schemas.microsoft.com/office/drawing/2014/main" id="{0C966AA6-F358-2E99-9094-2080EBB04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228" y="2094961"/>
            <a:ext cx="2369656" cy="1334729"/>
          </a:xfrm>
        </p:spPr>
      </p:pic>
      <p:pic>
        <p:nvPicPr>
          <p:cNvPr id="5" name="Picture 4" descr="Deloitte – Logos Download">
            <a:extLst>
              <a:ext uri="{FF2B5EF4-FFF2-40B4-BE49-F238E27FC236}">
                <a16:creationId xmlns:a16="http://schemas.microsoft.com/office/drawing/2014/main" id="{EAF25BDF-59FB-BCE2-DBFA-E7A59CFCC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855" y="2684778"/>
            <a:ext cx="2743195" cy="510783"/>
          </a:xfrm>
          <a:prstGeom prst="rect">
            <a:avLst/>
          </a:prstGeom>
        </p:spPr>
      </p:pic>
      <p:pic>
        <p:nvPicPr>
          <p:cNvPr id="6" name="Picture 5" descr="Nhl Logo PNG Image | Transparent PNG Free Download on SeekPNG">
            <a:extLst>
              <a:ext uri="{FF2B5EF4-FFF2-40B4-BE49-F238E27FC236}">
                <a16:creationId xmlns:a16="http://schemas.microsoft.com/office/drawing/2014/main" id="{062CDE89-28FF-EB3C-79ED-AAEB753FF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287" y="4444952"/>
            <a:ext cx="2024330" cy="1720586"/>
          </a:xfrm>
          <a:prstGeom prst="rect">
            <a:avLst/>
          </a:prstGeom>
        </p:spPr>
      </p:pic>
      <p:pic>
        <p:nvPicPr>
          <p:cNvPr id="8" name="Picture 7" descr="Uber Logo, symbol, meaning, history, PNG, brand">
            <a:extLst>
              <a:ext uri="{FF2B5EF4-FFF2-40B4-BE49-F238E27FC236}">
                <a16:creationId xmlns:a16="http://schemas.microsoft.com/office/drawing/2014/main" id="{01E97602-892D-CB7E-0815-93CCDC75FC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6853" y="4440267"/>
            <a:ext cx="2743200" cy="1543050"/>
          </a:xfrm>
          <a:prstGeom prst="rect">
            <a:avLst/>
          </a:prstGeom>
        </p:spPr>
      </p:pic>
      <p:pic>
        <p:nvPicPr>
          <p:cNvPr id="9" name="Picture 8" descr="Lenovo – Logos Download">
            <a:extLst>
              <a:ext uri="{FF2B5EF4-FFF2-40B4-BE49-F238E27FC236}">
                <a16:creationId xmlns:a16="http://schemas.microsoft.com/office/drawing/2014/main" id="{4C3E1509-1634-F394-A294-68FA5453A6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6288" y="2482879"/>
            <a:ext cx="2743198" cy="914582"/>
          </a:xfrm>
          <a:prstGeom prst="rect">
            <a:avLst/>
          </a:prstGeom>
        </p:spPr>
      </p:pic>
      <p:pic>
        <p:nvPicPr>
          <p:cNvPr id="10" name="Picture 9" descr="Adobe Creative Campus | Western Sydney University">
            <a:extLst>
              <a:ext uri="{FF2B5EF4-FFF2-40B4-BE49-F238E27FC236}">
                <a16:creationId xmlns:a16="http://schemas.microsoft.com/office/drawing/2014/main" id="{704F7C86-F452-95F3-BAAF-415B88C242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362" y="4994781"/>
            <a:ext cx="2743199" cy="40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45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E50C2-6C0E-C398-B598-F9F78E463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Now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B66C6-36DF-13AD-5CC5-94C12D40E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83103"/>
          </a:xfrm>
        </p:spPr>
        <p:txBody>
          <a:bodyPr>
            <a:normAutofit fontScale="92500" lnSpcReduction="10000"/>
          </a:bodyPr>
          <a:lstStyle/>
          <a:p>
            <a:pPr marL="305435" indent="-305435"/>
            <a:r>
              <a:rPr lang="en-US" dirty="0"/>
              <a:t>As previously stated, SNOW can be considered a Paas, </a:t>
            </a:r>
            <a:r>
              <a:rPr lang="en-US" err="1"/>
              <a:t>Iaas</a:t>
            </a:r>
            <a:r>
              <a:rPr lang="en-US" dirty="0"/>
              <a:t>, or Saas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dirty="0"/>
              <a:t>Paas</a:t>
            </a:r>
            <a:r>
              <a:rPr lang="en-US" dirty="0"/>
              <a:t> – platform as a service</a:t>
            </a:r>
          </a:p>
          <a:p>
            <a:pPr marL="899795" lvl="2" indent="-269875">
              <a:buFont typeface="Wingdings" panose="05020102010507070707" pitchFamily="18" charset="2"/>
              <a:buChar char="§"/>
            </a:pPr>
            <a:r>
              <a:rPr lang="en-US" dirty="0"/>
              <a:t>To the developer, it is a platform for developing applications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err="1"/>
              <a:t>Iaas</a:t>
            </a:r>
            <a:r>
              <a:rPr lang="en-US" dirty="0"/>
              <a:t> – infrastructure as a service</a:t>
            </a:r>
          </a:p>
          <a:p>
            <a:pPr marL="899795" lvl="2" indent="-269875">
              <a:buFont typeface="Wingdings" panose="05020102010507070707" pitchFamily="18" charset="2"/>
              <a:buChar char="§"/>
            </a:pPr>
            <a:r>
              <a:rPr lang="en-US" dirty="0"/>
              <a:t>To the business, it is infrastructure maintained by Service Now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dirty="0"/>
              <a:t>Saas</a:t>
            </a:r>
            <a:r>
              <a:rPr lang="en-US" dirty="0"/>
              <a:t> – software as a service</a:t>
            </a:r>
          </a:p>
          <a:p>
            <a:pPr marL="899795" lvl="2" indent="-269875">
              <a:buFont typeface="Wingdings" panose="05020102010507070707" pitchFamily="18" charset="2"/>
              <a:buChar char="§"/>
            </a:pPr>
            <a:r>
              <a:rPr lang="en-US" dirty="0"/>
              <a:t>To the customer, it is a software to interact with</a:t>
            </a:r>
          </a:p>
          <a:p>
            <a:pPr marL="305435" indent="-305435"/>
            <a:r>
              <a:rPr lang="en-US" dirty="0"/>
              <a:t>There are 4 pillars of Service Now architecture: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/>
              <a:t>ServiceNow Datacenters</a:t>
            </a:r>
            <a:r>
              <a:rPr lang="en-US"/>
              <a:t> – this is where all our data and database tables live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/>
              <a:t>ServiceNow Firewall</a:t>
            </a:r>
            <a:r>
              <a:rPr lang="en-US"/>
              <a:t> – think of this as backend security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/>
              <a:t>Customer Firewall</a:t>
            </a:r>
            <a:r>
              <a:rPr lang="en-US"/>
              <a:t> – think of this as frontend security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/>
              <a:t>User Interface</a:t>
            </a:r>
            <a:r>
              <a:rPr lang="en-US"/>
              <a:t> – this is how users interact with the application/platform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270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024E6-0C40-BB0C-F9DB-241873DD4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Service Now Instances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63AA4-76D1-B8D9-A442-C3486B4DC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9239"/>
            <a:ext cx="11029615" cy="4712445"/>
          </a:xfrm>
        </p:spPr>
        <p:txBody>
          <a:bodyPr>
            <a:normAutofit/>
          </a:bodyPr>
          <a:lstStyle/>
          <a:p>
            <a:pPr marL="305435" indent="-305435"/>
            <a:r>
              <a:rPr lang="en-US"/>
              <a:t>When developing an application, development will happen on a separate instance from testing and production</a:t>
            </a:r>
          </a:p>
          <a:p>
            <a:pPr marL="305435" indent="-305435"/>
            <a:r>
              <a:rPr lang="en-US"/>
              <a:t>Service Now uses this separation of environments as well</a:t>
            </a:r>
          </a:p>
          <a:p>
            <a:pPr marL="305435" indent="-305435"/>
            <a:r>
              <a:rPr lang="en-US"/>
              <a:t>Typically, development exists in a dev instance and a dev instance cannot be used as a production instance (it cannot be published)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ea typeface="+mn-lt"/>
                <a:cs typeface="+mn-lt"/>
              </a:rPr>
              <a:t>https://&lt;xxxdev&gt;.service-now.com/</a:t>
            </a:r>
            <a:endParaRPr lang="en-US" dirty="0"/>
          </a:p>
          <a:p>
            <a:pPr marL="305435" indent="-305435"/>
            <a:r>
              <a:rPr lang="en-US"/>
              <a:t>A test environment will allow for various tests to take place, such as load testing, regression testing, and QA (Quality Assurance)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ea typeface="+mn-lt"/>
                <a:cs typeface="+mn-lt"/>
              </a:rPr>
              <a:t>https://&lt;xxxtest&gt;.service-now.com/</a:t>
            </a:r>
            <a:endParaRPr lang="en-US" dirty="0"/>
          </a:p>
          <a:p>
            <a:pPr marL="305435" indent="-305435"/>
            <a:r>
              <a:rPr lang="en-US"/>
              <a:t>A UAT (user acceptance testing) environment will ensure that the application meets quality standards and best practices for users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hlinkClick r:id="" action="ppaction://noaction"/>
              </a:rPr>
              <a:t>https</a:t>
            </a:r>
            <a:r>
              <a:rPr lang="en-US" dirty="0">
                <a:ea typeface="+mn-lt"/>
                <a:cs typeface="+mn-lt"/>
                <a:hlinkClick r:id="" action="ppaction://noaction"/>
              </a:rPr>
              <a:t>://&lt;xxxuat&gt;.service-now.com/</a:t>
            </a:r>
            <a:endParaRPr lang="en-US"/>
          </a:p>
          <a:p>
            <a:pPr marL="305435" indent="-305435"/>
            <a:r>
              <a:rPr lang="en-US"/>
              <a:t>Finally, a production environment is where the live application lives </a:t>
            </a:r>
            <a:endParaRPr lang="en-US" dirty="0"/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ea typeface="+mn-lt"/>
                <a:cs typeface="+mn-lt"/>
              </a:rPr>
              <a:t>https://&lt;xxxprod&gt;.service-now.com/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912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25A8B-057C-FD47-99E8-A6D64C3EC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A3487-D95B-A0A3-12F1-EE451CC7C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dirty="0"/>
              <a:t>Stop Here</a:t>
            </a:r>
          </a:p>
        </p:txBody>
      </p:sp>
    </p:spTree>
    <p:extLst>
      <p:ext uri="{BB962C8B-B14F-4D97-AF65-F5344CB8AC3E}">
        <p14:creationId xmlns:p14="http://schemas.microsoft.com/office/powerpoint/2010/main" val="2664938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D70B1-8A22-E900-80EE-30688093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SNOW Docs &amp; Community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7B0F9-1144-3614-B283-45FBA68E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150017"/>
          </a:xfrm>
        </p:spPr>
        <p:txBody>
          <a:bodyPr/>
          <a:lstStyle/>
          <a:p>
            <a:pPr marL="305435" indent="-305435"/>
            <a:r>
              <a:rPr lang="en-US" dirty="0"/>
              <a:t>Training will provide the core principles, but YOU are responsible for ensuring a deep understanding</a:t>
            </a:r>
          </a:p>
          <a:p>
            <a:pPr marL="305435" indent="-305435"/>
            <a:r>
              <a:rPr lang="en-US" dirty="0"/>
              <a:t>The SNOW documentation site will be your reference guide for finding information about SNOW products, apps, and releases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ea typeface="+mn-lt"/>
                <a:cs typeface="+mn-lt"/>
                <a:hlinkClick r:id="rId2"/>
              </a:rPr>
              <a:t>Product Documentation | ServiceNow</a:t>
            </a:r>
          </a:p>
          <a:p>
            <a:pPr marL="305435" indent="-305435"/>
            <a:r>
              <a:rPr lang="en-US" dirty="0"/>
              <a:t>The SNOW community site is great for asking questions, getting/giving advice, and connecting with other SNOW professionals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ea typeface="+mn-lt"/>
                <a:cs typeface="+mn-lt"/>
                <a:hlinkClick r:id="rId3"/>
              </a:rPr>
              <a:t>Home - ServiceNow Community</a:t>
            </a:r>
          </a:p>
          <a:p>
            <a:pPr marL="305435" indent="-305435"/>
            <a:r>
              <a:rPr lang="en-US" dirty="0"/>
              <a:t>The SNOW Learning site provides asynchronous learning modules that will be great for supplementing your learning! </a:t>
            </a:r>
          </a:p>
          <a:p>
            <a:pPr marL="305435" indent="-305435"/>
            <a:r>
              <a:rPr lang="en-US" dirty="0"/>
              <a:t>Use this in conjunction with training to solidify your knowledge and better prepare for your certification exam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/>
              <a:t>Bookmark the Certified System Administrator (CSA) learning path for a quick link</a:t>
            </a:r>
          </a:p>
        </p:txBody>
      </p:sp>
    </p:spTree>
    <p:extLst>
      <p:ext uri="{BB962C8B-B14F-4D97-AF65-F5344CB8AC3E}">
        <p14:creationId xmlns:p14="http://schemas.microsoft.com/office/powerpoint/2010/main" val="307792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8F8CC-19A9-33BF-78CD-97417319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Personal Developer Instance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03567-6EFE-1FA6-6242-29776E56B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65850"/>
          </a:xfrm>
        </p:spPr>
        <p:txBody>
          <a:bodyPr>
            <a:normAutofit lnSpcReduction="10000"/>
          </a:bodyPr>
          <a:lstStyle/>
          <a:p>
            <a:pPr marL="305435" indent="-305435"/>
            <a:r>
              <a:rPr lang="en-US"/>
              <a:t>To start building applications and get hands-on with the platform, you will need to spin up a personal developer instance</a:t>
            </a:r>
          </a:p>
          <a:p>
            <a:pPr marL="305435" indent="-305435"/>
            <a:r>
              <a:rPr lang="en-US"/>
              <a:t>Go to the SNOW Developer site to spin up your instance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ea typeface="+mn-lt"/>
                <a:cs typeface="+mn-lt"/>
                <a:hlinkClick r:id="rId2"/>
              </a:rPr>
              <a:t>Home | ServiceNow Developers</a:t>
            </a:r>
          </a:p>
          <a:p>
            <a:pPr marL="305435" indent="-305435"/>
            <a:r>
              <a:rPr lang="en-US">
                <a:ea typeface="+mn-lt"/>
                <a:cs typeface="+mn-lt"/>
              </a:rPr>
              <a:t>This is where you will access your instance each day</a:t>
            </a:r>
            <a:endParaRPr lang="en-US" dirty="0">
              <a:ea typeface="+mn-lt"/>
              <a:cs typeface="+mn-lt"/>
            </a:endParaRPr>
          </a:p>
          <a:p>
            <a:pPr marL="305435" indent="-305435"/>
            <a:r>
              <a:rPr lang="en-US">
                <a:ea typeface="+mn-lt"/>
                <a:cs typeface="+mn-lt"/>
              </a:rPr>
              <a:t>Exists entirely on the cloud</a:t>
            </a:r>
            <a:endParaRPr lang="en-US" dirty="0">
              <a:ea typeface="+mn-lt"/>
              <a:cs typeface="+mn-lt"/>
            </a:endParaRPr>
          </a:p>
          <a:p>
            <a:pPr marL="305435" indent="-305435"/>
            <a:r>
              <a:rPr lang="en-US">
                <a:ea typeface="+mn-lt"/>
                <a:cs typeface="+mn-lt"/>
              </a:rPr>
              <a:t>You will also receive an email with a link to your instance along with a dev instance password</a:t>
            </a:r>
            <a:endParaRPr lang="en-US" dirty="0">
              <a:ea typeface="+mn-lt"/>
              <a:cs typeface="+mn-lt"/>
            </a:endParaRP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>
                <a:ea typeface="+mn-lt"/>
                <a:cs typeface="+mn-lt"/>
              </a:rPr>
              <a:t>It should look something like this: https://&lt;&lt;customdevinstancename&gt;&gt;.service-now.com/login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>
                <a:ea typeface="+mn-lt"/>
                <a:cs typeface="+mn-lt"/>
              </a:rPr>
              <a:t>SAVE YOUR DEV INSTANCE PASSWORD SOMEWHERE SAFE</a:t>
            </a:r>
          </a:p>
          <a:p>
            <a:pPr marL="305435" indent="-305435"/>
            <a:r>
              <a:rPr lang="en-US">
                <a:ea typeface="+mn-lt"/>
                <a:cs typeface="+mn-lt"/>
              </a:rPr>
              <a:t>Each day you will need to wake up your instance and this may take a few minutes, so get it up and running first thing each day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4843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3BF4F-577E-5163-F378-51FABFE8F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SNOW Plugins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F7BC2-283E-265D-978B-0A7BC7223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51472"/>
          </a:xfrm>
        </p:spPr>
        <p:txBody>
          <a:bodyPr/>
          <a:lstStyle/>
          <a:p>
            <a:pPr marL="305435" indent="-305435"/>
            <a:r>
              <a:rPr lang="en-US"/>
              <a:t>Plugins are software components that provide features and functionalities within a ServiceNow instance</a:t>
            </a:r>
          </a:p>
          <a:p>
            <a:pPr marL="305435" indent="-305435"/>
            <a:r>
              <a:rPr lang="en-US"/>
              <a:t>Plugins add features or extend the functionality of the Now Platform</a:t>
            </a:r>
            <a:endParaRPr lang="en-US" dirty="0"/>
          </a:p>
          <a:p>
            <a:pPr marL="305435" indent="-305435"/>
            <a:r>
              <a:rPr lang="en-US"/>
              <a:t>Applications are standalone pieces of code that implements a collection of features on the Now Platform that may include a number of active plugins</a:t>
            </a:r>
          </a:p>
          <a:p>
            <a:pPr marL="305435" indent="-305435"/>
            <a:r>
              <a:rPr lang="en-US"/>
              <a:t>All plugins are provided by ServiceNow</a:t>
            </a:r>
            <a:endParaRPr lang="en-US" dirty="0"/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/>
              <a:t>A set of plugins are active by default, but you can activate additional plugins if needed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/>
              <a:t>Some plugins require activation by ServiceNow personell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198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A6CED-EBA0-966D-06BB-847B1F80F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Hands-on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80D28-D611-35CB-49D0-7B1AF6D76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/>
              <a:t>Tour the Service Now Platform</a:t>
            </a:r>
            <a:endParaRPr lang="en-US" dirty="0"/>
          </a:p>
          <a:p>
            <a:pPr marL="305435" indent="-305435"/>
            <a:r>
              <a:rPr lang="en-US"/>
              <a:t>Let's add a custom logo to our platform that will span across all of our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07949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D5E9B-CBC3-2AD1-26DC-9B76C7531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Your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83F7F-C6C9-0375-B05F-96B34B1FC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/>
              <a:t>Read through this document on Plugins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ea typeface="+mn-lt"/>
                <a:cs typeface="+mn-lt"/>
                <a:hlinkClick r:id="rId2"/>
              </a:rPr>
              <a:t>ServiceNow plugins</a:t>
            </a:r>
          </a:p>
          <a:p>
            <a:pPr marL="305435" indent="-305435"/>
            <a:r>
              <a:rPr lang="en-US">
                <a:ea typeface="+mn-lt"/>
                <a:cs typeface="+mn-lt"/>
              </a:rPr>
              <a:t>Practice navigating the SNOW platform in your developer instance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50483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274C-5473-5C7D-E0DB-427B39308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09433-2AA1-8C88-B4F3-75CAD4918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/>
              <a:t>ISTM – IT Service Management </a:t>
            </a:r>
            <a:r>
              <a:rPr lang="en-US">
                <a:latin typeface="Gill Sans MT"/>
                <a:cs typeface="Segoe UI"/>
              </a:rPr>
              <a:t>is a set of practices, policies, and processes designed to manage and deliver IT services to meet the needs of an organization and its customer</a:t>
            </a:r>
            <a:endParaRPr lang="en-US" dirty="0">
              <a:latin typeface="Gill Sans MT"/>
            </a:endParaRPr>
          </a:p>
          <a:p>
            <a:pPr marL="305435" indent="-305435"/>
            <a:r>
              <a:rPr lang="en-US">
                <a:cs typeface="Segoe UI"/>
              </a:rPr>
              <a:t>ITIL – IT Infrastructure Library that serves as an ITSM framework with a 5-stage lifecycle</a:t>
            </a:r>
            <a:endParaRPr lang="en-US" dirty="0">
              <a:cs typeface="Segoe UI"/>
            </a:endParaRPr>
          </a:p>
          <a:p>
            <a:pPr marL="305435" indent="-305435"/>
            <a:r>
              <a:rPr lang="en-US"/>
              <a:t>Banner – Contains the app logo, contextual app pill, global search bar, and logged in user that spans the top of the page in the SNOW platform</a:t>
            </a:r>
          </a:p>
          <a:p>
            <a:pPr marL="305435" indent="-305435"/>
            <a:r>
              <a:rPr lang="en-US"/>
              <a:t>Contextual App Pill – A user interface element that dynamically changes to show the name of the current page that the user is </a:t>
            </a:r>
            <a:r>
              <a:rPr lang="en-US" dirty="0"/>
              <a:t>on</a:t>
            </a:r>
          </a:p>
          <a:p>
            <a:pPr marL="305435" indent="-305435"/>
            <a:r>
              <a:rPr lang="en-US"/>
              <a:t>Global Search – A search bar user widget that searches the entire platform</a:t>
            </a:r>
          </a:p>
          <a:p>
            <a:pPr marL="305435" indent="-305435"/>
            <a:r>
              <a:rPr lang="en-US"/>
              <a:t>Filter Navigator – allows us search and filter the list of applications and modules under 'all' to quickly find the one we need</a:t>
            </a:r>
          </a:p>
        </p:txBody>
      </p:sp>
    </p:spTree>
    <p:extLst>
      <p:ext uri="{BB962C8B-B14F-4D97-AF65-F5344CB8AC3E}">
        <p14:creationId xmlns:p14="http://schemas.microsoft.com/office/powerpoint/2010/main" val="33743575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1538</TotalTime>
  <Words>1469</Words>
  <Application>Microsoft Office PowerPoint</Application>
  <PresentationFormat>Widescreen</PresentationFormat>
  <Paragraphs>147</Paragraphs>
  <Slides>25</Slides>
  <Notes>0</Notes>
  <HiddenSlides>13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Courier New</vt:lpstr>
      <vt:lpstr>Gill Sans MT</vt:lpstr>
      <vt:lpstr>Segoe UI</vt:lpstr>
      <vt:lpstr>Wingdings</vt:lpstr>
      <vt:lpstr>Wingdings 2</vt:lpstr>
      <vt:lpstr>Dividend</vt:lpstr>
      <vt:lpstr>Change Management</vt:lpstr>
      <vt:lpstr>Overview</vt:lpstr>
      <vt:lpstr>What is change management?</vt:lpstr>
      <vt:lpstr>Incidents/problems may cause a change</vt:lpstr>
      <vt:lpstr>PowerPoint Presentation</vt:lpstr>
      <vt:lpstr>Change Management Process</vt:lpstr>
      <vt:lpstr>Change Management Process</vt:lpstr>
      <vt:lpstr>Types of changes</vt:lpstr>
      <vt:lpstr>Types of changes</vt:lpstr>
      <vt:lpstr>CAB Workbench</vt:lpstr>
      <vt:lpstr>Question Time</vt:lpstr>
      <vt:lpstr>Question Time</vt:lpstr>
      <vt:lpstr>Key Benefits of Service Now</vt:lpstr>
      <vt:lpstr>Features of Service Now</vt:lpstr>
      <vt:lpstr>What is Service Now suitable for?</vt:lpstr>
      <vt:lpstr>Some Service Now Customers</vt:lpstr>
      <vt:lpstr>Service Now Architecture</vt:lpstr>
      <vt:lpstr>Service Now Instances</vt:lpstr>
      <vt:lpstr>Break</vt:lpstr>
      <vt:lpstr>SNOW Docs &amp; Community</vt:lpstr>
      <vt:lpstr>Personal Developer Instance</vt:lpstr>
      <vt:lpstr>SNOW Plugins</vt:lpstr>
      <vt:lpstr>Hands-on Demo</vt:lpstr>
      <vt:lpstr>Your Task</vt:lpstr>
      <vt:lpstr>Terminology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588</cp:revision>
  <dcterms:created xsi:type="dcterms:W3CDTF">2025-02-12T19:53:45Z</dcterms:created>
  <dcterms:modified xsi:type="dcterms:W3CDTF">2025-06-06T17:51:32Z</dcterms:modified>
</cp:coreProperties>
</file>