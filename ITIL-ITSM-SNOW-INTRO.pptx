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4" r:id="rId10"/>
    <p:sldId id="268" r:id="rId11"/>
    <p:sldId id="265" r:id="rId12"/>
    <p:sldId id="266" r:id="rId13"/>
    <p:sldId id="267" r:id="rId14"/>
    <p:sldId id="275" r:id="rId15"/>
    <p:sldId id="276" r:id="rId16"/>
    <p:sldId id="269" r:id="rId17"/>
    <p:sldId id="270" r:id="rId18"/>
    <p:sldId id="271" r:id="rId19"/>
    <p:sldId id="273" r:id="rId20"/>
    <p:sldId id="272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rvicenow.com/community/" TargetMode="External"/><Relationship Id="rId2" Type="http://schemas.openxmlformats.org/officeDocument/2006/relationships/hyperlink" Target="https://www.servicenow.com/docs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servicenow.com/dev.do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rvicenow.com/docs/bundle/xanadu-platform-administration/page/administer/plugins/concept/c_ServiceNowPlugins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to Service Now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  <p:pic>
        <p:nvPicPr>
          <p:cNvPr id="4" name="Picture 3" descr="ServiceNow logo transparent PNG - StickPNG">
            <a:extLst>
              <a:ext uri="{FF2B5EF4-FFF2-40B4-BE49-F238E27FC236}">
                <a16:creationId xmlns:a16="http://schemas.microsoft.com/office/drawing/2014/main" id="{D7622E4E-6271-FAF7-80FD-0DAEECDB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699" y="1576734"/>
            <a:ext cx="5427258" cy="92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F6C03-7BF4-387E-1067-943EBCE6F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Intro to ITSM</a:t>
            </a:r>
          </a:p>
          <a:p>
            <a:pPr marL="305435" indent="-305435"/>
            <a:r>
              <a:rPr lang="en-US" dirty="0"/>
              <a:t>ITIL</a:t>
            </a:r>
          </a:p>
          <a:p>
            <a:pPr marL="305435" indent="-305435"/>
            <a:r>
              <a:rPr lang="en-US" dirty="0"/>
              <a:t>What is Service Now?</a:t>
            </a:r>
          </a:p>
          <a:p>
            <a:pPr marL="305435" indent="-305435"/>
            <a:r>
              <a:rPr lang="en-US"/>
              <a:t>SNOW Architecture</a:t>
            </a:r>
          </a:p>
          <a:p>
            <a:pPr marL="305435" indent="-305435"/>
            <a:r>
              <a:rPr lang="en-US" dirty="0"/>
              <a:t>SNOW Docs &amp; Community</a:t>
            </a:r>
          </a:p>
          <a:p>
            <a:pPr marL="305435" indent="-305435"/>
            <a:r>
              <a:rPr lang="en-US" dirty="0"/>
              <a:t>Personal Developer Instance</a:t>
            </a:r>
          </a:p>
          <a:p>
            <a:pPr marL="305435" indent="-305435"/>
            <a:r>
              <a:rPr lang="en-US" dirty="0"/>
              <a:t>Plugins</a:t>
            </a:r>
          </a:p>
        </p:txBody>
      </p:sp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ITSM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2217"/>
          </a:xfrm>
        </p:spPr>
        <p:txBody>
          <a:bodyPr>
            <a:normAutofit lnSpcReduction="10000"/>
          </a:bodyPr>
          <a:lstStyle/>
          <a:p>
            <a:pPr marL="305435" indent="-305435"/>
            <a:r>
              <a:rPr lang="en-US" dirty="0"/>
              <a:t>ITSM stands for </a:t>
            </a:r>
            <a:r>
              <a:rPr lang="en-US" b="1" dirty="0"/>
              <a:t>Information Technology Service Management</a:t>
            </a:r>
          </a:p>
          <a:p>
            <a:pPr marL="305435" indent="-305435"/>
            <a:r>
              <a:rPr lang="en-US" dirty="0"/>
              <a:t>It is an approach to handling end-to-end IT delivery </a:t>
            </a:r>
          </a:p>
          <a:p>
            <a:pPr marL="305435" indent="-305435"/>
            <a:r>
              <a:rPr lang="en-US" dirty="0">
                <a:solidFill>
                  <a:srgbClr val="3D3D3D"/>
                </a:solidFill>
                <a:ea typeface="+mn-lt"/>
                <a:cs typeface="+mn-lt"/>
              </a:rPr>
              <a:t>ITSM assists IT teams in the provisioning of all relevant IT services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solidFill>
                  <a:srgbClr val="3D3D3D"/>
                </a:solidFill>
                <a:ea typeface="+mn-lt"/>
                <a:cs typeface="+mn-lt"/>
              </a:rPr>
              <a:t>This includes the planning, designing, building, implementing, deployment, improvement, and support for customers, employees, and stakeholders</a:t>
            </a:r>
          </a:p>
          <a:p>
            <a:pPr marL="305435" indent="-305435"/>
            <a:r>
              <a:rPr lang="en-US" dirty="0">
                <a:solidFill>
                  <a:srgbClr val="3D3D3D"/>
                </a:solidFill>
                <a:ea typeface="+mn-lt"/>
                <a:cs typeface="+mn-lt"/>
              </a:rPr>
              <a:t>It helps ensure that services are aligned with business needs</a:t>
            </a:r>
          </a:p>
          <a:p>
            <a:pPr marL="305435" indent="-305435"/>
            <a:r>
              <a:rPr lang="en-US" dirty="0">
                <a:solidFill>
                  <a:srgbClr val="3D3D3D"/>
                </a:solidFill>
                <a:ea typeface="+mn-lt"/>
                <a:cs typeface="+mn-lt"/>
              </a:rPr>
              <a:t>ITSM is about the ongoing lifecycle of IT services, not just the design or deployment</a:t>
            </a:r>
          </a:p>
          <a:p>
            <a:pPr marL="305435" indent="-305435"/>
            <a:r>
              <a:rPr lang="en-US" dirty="0">
                <a:solidFill>
                  <a:srgbClr val="3D3D3D"/>
                </a:solidFill>
                <a:ea typeface="+mn-lt"/>
                <a:cs typeface="+mn-lt"/>
              </a:rPr>
              <a:t>The key objectives of ITSM are: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solidFill>
                  <a:srgbClr val="3D3D3D"/>
                </a:solidFill>
                <a:latin typeface="Gill Sans MT"/>
                <a:ea typeface="+mn-lt"/>
                <a:cs typeface="Segoe UI"/>
              </a:rPr>
              <a:t>Improve service quality of IT services delivered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solidFill>
                  <a:srgbClr val="3D3D3D"/>
                </a:solidFill>
                <a:latin typeface="Gill Sans MT"/>
                <a:ea typeface="+mn-lt"/>
                <a:cs typeface="Segoe UI"/>
              </a:rPr>
              <a:t>Align IT services with current and future needs of the business and its customers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latin typeface="Gill Sans MT"/>
                <a:cs typeface="Segoe UI"/>
              </a:rPr>
              <a:t>To reduce long-term cost of service provision</a:t>
            </a:r>
          </a:p>
        </p:txBody>
      </p:sp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8399-EA03-424C-8D31-C6B6817F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ITSM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26B51-4938-4211-37F2-2A081C5D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ITSM acts as a bridge for connecting IT professionals (like you developers!) to end users that require IT services</a:t>
            </a:r>
          </a:p>
          <a:p>
            <a:pPr marL="305435" indent="-305435"/>
            <a:r>
              <a:rPr lang="en-US" dirty="0"/>
              <a:t>Benefits of ITSM for businesses include: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/>
              <a:t>Increased agility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/>
              <a:t>Improved response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/>
              <a:t>Lower costs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/>
              <a:t>Easy compliance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/>
              <a:t>Better service</a:t>
            </a:r>
          </a:p>
          <a:p>
            <a:pPr marL="305435" indent="-305435"/>
            <a:r>
              <a:rPr lang="en-US" dirty="0"/>
              <a:t>Some popular ITSM tools include </a:t>
            </a:r>
            <a:r>
              <a:rPr lang="en-US" b="1" dirty="0"/>
              <a:t>Service Now</a:t>
            </a:r>
            <a:r>
              <a:rPr lang="en-US" dirty="0"/>
              <a:t>, Jira Service Management, </a:t>
            </a:r>
            <a:r>
              <a:rPr lang="en-US" dirty="0" err="1"/>
              <a:t>Freshservice</a:t>
            </a:r>
            <a:r>
              <a:rPr lang="en-US" dirty="0"/>
              <a:t>, and Zendesk</a:t>
            </a:r>
          </a:p>
          <a:p>
            <a:pPr marL="305435" indent="-305435"/>
            <a:r>
              <a:rPr lang="en-US" dirty="0"/>
              <a:t>Core ITSM disciplines are service support and service delivery</a:t>
            </a:r>
          </a:p>
        </p:txBody>
      </p:sp>
    </p:spTree>
    <p:extLst>
      <p:ext uri="{BB962C8B-B14F-4D97-AF65-F5344CB8AC3E}">
        <p14:creationId xmlns:p14="http://schemas.microsoft.com/office/powerpoint/2010/main" val="254069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B515-2831-8BA2-7CFD-C34226D9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8345C-2661-92B1-58DB-D2265C389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38592"/>
            <a:ext cx="11029615" cy="4633826"/>
          </a:xfrm>
        </p:spPr>
        <p:txBody>
          <a:bodyPr/>
          <a:lstStyle/>
          <a:p>
            <a:pPr marL="305435" indent="-305435"/>
            <a:r>
              <a:rPr lang="en-US" dirty="0"/>
              <a:t>ITIL is one of the many possible frameworks of ITSM</a:t>
            </a:r>
          </a:p>
          <a:p>
            <a:pPr marL="305435" indent="-305435"/>
            <a:r>
              <a:rPr lang="en-US" dirty="0"/>
              <a:t>ITIL stands for </a:t>
            </a:r>
            <a:r>
              <a:rPr lang="en-US" b="1" dirty="0"/>
              <a:t>Information Technology Infrastructure Library</a:t>
            </a:r>
          </a:p>
          <a:p>
            <a:pPr marL="305435" indent="-305435"/>
            <a:r>
              <a:rPr lang="en-US" dirty="0"/>
              <a:t>Considered the most widely-recognized ITSM framework that offers a set of best practices for ITSM</a:t>
            </a:r>
          </a:p>
          <a:p>
            <a:pPr marL="305435" indent="-305435"/>
            <a:r>
              <a:rPr lang="en-US" dirty="0"/>
              <a:t>The ITIL service lifecycle is broken down into 5 stages: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Service strategy</a:t>
            </a:r>
            <a:r>
              <a:rPr lang="en-US" dirty="0"/>
              <a:t> – includes analyzing market requirements, identifying customer needs, and determining the services to be offered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Service design</a:t>
            </a:r>
            <a:r>
              <a:rPr lang="en-US" dirty="0"/>
              <a:t> – IT services are designed, taking into consideration the org's resources, technology, and capabilities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Service transition</a:t>
            </a:r>
            <a:r>
              <a:rPr lang="en-US" dirty="0"/>
              <a:t> – involves planning and managing the introduction of new services or changes to existing services; ensures that changes are implemented smoothly with minimal disruption to business operations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Service operation</a:t>
            </a:r>
            <a:r>
              <a:rPr lang="en-US" dirty="0"/>
              <a:t> – focuses on day-to-day IT service delivery and support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Continual service improvement</a:t>
            </a:r>
            <a:r>
              <a:rPr lang="en-US" dirty="0"/>
              <a:t> – involves regularly assessing service performance, identifying areas for improvement, and implementing measures to enhance service quality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58476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7FD9-7381-38F7-1798-18EAEC52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ITIL(Cont.)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F91E7-ECB9-BFC8-DCE3-A45CFDFE7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ITIL emphasizes a number of standard roles include, most importantly:</a:t>
            </a:r>
            <a:endParaRPr lang="en-US" dirty="0">
              <a:latin typeface="Gill Sans MT"/>
            </a:endParaRPr>
          </a:p>
          <a:p>
            <a:pPr marL="629920" lvl="1" indent="-305435"/>
            <a:r>
              <a:rPr lang="en-US" sz="1800" b="1" dirty="0">
                <a:latin typeface="Gill Sans MT"/>
                <a:cs typeface="Segoe UI"/>
              </a:rPr>
              <a:t>Service Owner:</a:t>
            </a:r>
            <a:r>
              <a:rPr lang="en-US" sz="1800" dirty="0">
                <a:latin typeface="Gill Sans MT"/>
                <a:cs typeface="Segoe UI"/>
              </a:rPr>
              <a:t> Accountable for the overall design, performance, integration, improvement and management of a single service.</a:t>
            </a:r>
            <a:endParaRPr lang="en-US" sz="1800" dirty="0">
              <a:latin typeface="Gill Sans MT"/>
            </a:endParaRPr>
          </a:p>
          <a:p>
            <a:pPr marL="629920" lvl="1" indent="-305435"/>
            <a:r>
              <a:rPr lang="en-US" sz="1800" b="1" dirty="0">
                <a:latin typeface="Gill Sans MT"/>
                <a:cs typeface="Segoe UI"/>
              </a:rPr>
              <a:t>Process Owner:</a:t>
            </a:r>
            <a:r>
              <a:rPr lang="en-US" sz="1800" dirty="0">
                <a:latin typeface="Gill Sans MT"/>
                <a:cs typeface="Segoe UI"/>
              </a:rPr>
              <a:t> Accountable for the overall design, performance, integration, improvement and management of a single process.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 b="1" dirty="0">
                <a:latin typeface="Gill Sans MT"/>
                <a:cs typeface="Segoe UI"/>
              </a:rPr>
              <a:t>Service Manager:</a:t>
            </a:r>
            <a:r>
              <a:rPr lang="en-US" sz="1800" dirty="0">
                <a:latin typeface="Gill Sans MT"/>
                <a:cs typeface="Segoe UI"/>
              </a:rPr>
              <a:t> Accountable for the development, performance and improvement of all services in an environment.</a:t>
            </a:r>
            <a:endParaRPr lang="en-US" sz="1800" dirty="0">
              <a:latin typeface="Gill Sans MT"/>
            </a:endParaRPr>
          </a:p>
          <a:p>
            <a:pPr marL="629920" lvl="1" indent="-305435"/>
            <a:r>
              <a:rPr lang="en-US" sz="1800" b="1" dirty="0">
                <a:latin typeface="Gill Sans MT"/>
                <a:cs typeface="Segoe UI"/>
              </a:rPr>
              <a:t>Product Manager:</a:t>
            </a:r>
            <a:r>
              <a:rPr lang="en-US" sz="1800" dirty="0">
                <a:latin typeface="Gill Sans MT"/>
                <a:cs typeface="Segoe UI"/>
              </a:rPr>
              <a:t> Accountable for the development, performance and improvement of the entire product.</a:t>
            </a:r>
            <a:endParaRPr lang="en-US" sz="1800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04844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5530-E206-36B8-5B6E-2239FA46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Service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C73AE-5BF0-99A7-4EA6-49D4DFD39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27530" cy="3985378"/>
          </a:xfrm>
        </p:spPr>
        <p:txBody>
          <a:bodyPr/>
          <a:lstStyle/>
          <a:p>
            <a:pPr marL="305435" indent="-305435"/>
            <a:r>
              <a:rPr lang="en-US" dirty="0"/>
              <a:t>A provider of cloud-based services that automate IT processes and operations</a:t>
            </a:r>
          </a:p>
          <a:p>
            <a:pPr marL="305435" indent="-305435"/>
            <a:r>
              <a:rPr lang="en-US" dirty="0"/>
              <a:t>An ITSM tool</a:t>
            </a:r>
          </a:p>
          <a:p>
            <a:pPr marL="305435" indent="-305435"/>
            <a:r>
              <a:rPr lang="en-US" dirty="0"/>
              <a:t>Can be considered Saas, Paas, or </a:t>
            </a:r>
            <a:r>
              <a:rPr lang="en-US" dirty="0" err="1"/>
              <a:t>Iaas</a:t>
            </a:r>
            <a:r>
              <a:rPr lang="en-US" dirty="0"/>
              <a:t>, depending on how you look at it</a:t>
            </a:r>
          </a:p>
          <a:p>
            <a:pPr marL="305435" indent="-305435"/>
            <a:r>
              <a:rPr lang="en-US" dirty="0"/>
              <a:t>ServiceNow Inc is the American company that built the Now Platform and was founded in 2004</a:t>
            </a:r>
          </a:p>
          <a:p>
            <a:pPr marL="305435" indent="-305435"/>
            <a:r>
              <a:rPr lang="en-US" dirty="0"/>
              <a:t>The Now Platform is an intelligent, low-code platform that allows companies to build custom workflows using pre-built templates</a:t>
            </a:r>
          </a:p>
        </p:txBody>
      </p:sp>
      <p:pic>
        <p:nvPicPr>
          <p:cNvPr id="4" name="Picture 3" descr="See related image detail. Platform-as-a-Service | Enterprise Cloud Service Management | ServiceNow">
            <a:extLst>
              <a:ext uri="{FF2B5EF4-FFF2-40B4-BE49-F238E27FC236}">
                <a16:creationId xmlns:a16="http://schemas.microsoft.com/office/drawing/2014/main" id="{57CD6E38-079D-4E8C-04DA-13AFA5363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060" y="2434330"/>
            <a:ext cx="4829714" cy="341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22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05ED1-CA36-8AD9-26F2-394E6FF1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Now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8C2DC-DD62-B009-0692-4D6ECE886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92067"/>
          </a:xfrm>
        </p:spPr>
        <p:txBody>
          <a:bodyPr/>
          <a:lstStyle/>
          <a:p>
            <a:pPr marL="305435" indent="-305435"/>
            <a:r>
              <a:rPr lang="en-US" dirty="0"/>
              <a:t>There are 5 main categories of solutions made possible with the Service Now platform: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Technology Excellence</a:t>
            </a:r>
            <a:r>
              <a:rPr lang="en-US" dirty="0"/>
              <a:t> – leveraging the power of AI, automation, and machine learning to achieve speed and agility while driving growth and innovation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Customer Experience</a:t>
            </a:r>
            <a:r>
              <a:rPr lang="en-US" dirty="0"/>
              <a:t> – AI capabilities allow customers to self-serve, driving down case volumes and increasing response times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Operational Excellence</a:t>
            </a:r>
            <a:r>
              <a:rPr lang="en-US" dirty="0"/>
              <a:t> – create transparent, trustworthy, and </a:t>
            </a:r>
            <a:r>
              <a:rPr lang="en-US" dirty="0" err="1"/>
              <a:t>effecive</a:t>
            </a:r>
            <a:r>
              <a:rPr lang="en-US" dirty="0"/>
              <a:t> processes across every part of the workday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 err="1"/>
              <a:t>Hyperautomation</a:t>
            </a:r>
            <a:r>
              <a:rPr lang="en-US" b="1" dirty="0"/>
              <a:t> &amp; Low Code</a:t>
            </a:r>
            <a:r>
              <a:rPr lang="en-US" dirty="0"/>
              <a:t> – modernize legacy processes using low-code and no-code development tools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Finance and Supply Chain Management </a:t>
            </a:r>
            <a:r>
              <a:rPr lang="en-US" dirty="0"/>
              <a:t>– deliver innovation while cutting costs by automating manual processes</a:t>
            </a:r>
          </a:p>
        </p:txBody>
      </p:sp>
    </p:spTree>
    <p:extLst>
      <p:ext uri="{BB962C8B-B14F-4D97-AF65-F5344CB8AC3E}">
        <p14:creationId xmlns:p14="http://schemas.microsoft.com/office/powerpoint/2010/main" val="769367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FEE68-DEF2-1E57-2A75-E9B82661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1033389"/>
            <a:ext cx="4826256" cy="4825409"/>
          </a:xfrm>
        </p:spPr>
        <p:txBody>
          <a:bodyPr anchor="ctr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Key Benefits of Service Now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C9317-1C8F-0745-5275-AA8790ACC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5769" y="1033390"/>
            <a:ext cx="4855037" cy="4825409"/>
          </a:xfrm>
          <a:ln w="57150">
            <a:noFill/>
          </a:ln>
        </p:spPr>
        <p:txBody>
          <a:bodyPr anchor="ctr">
            <a:normAutofit/>
          </a:bodyPr>
          <a:lstStyle/>
          <a:p>
            <a:pPr marL="305435" indent="-305435">
              <a:lnSpc>
                <a:spcPct val="90000"/>
              </a:lnSpc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Simplified experiences</a:t>
            </a:r>
          </a:p>
          <a:p>
            <a:pPr marL="629920" lvl="1" indent="-305435">
              <a:lnSpc>
                <a:spcPct val="90000"/>
              </a:lnSpc>
              <a:buFont typeface="Courier New" panose="05020102010507070707" pitchFamily="18" charset="2"/>
              <a:buChar char="o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Empower everyone inside and outside the organization using a simplified layer of engagement with data unified from any system</a:t>
            </a:r>
          </a:p>
          <a:p>
            <a:pPr marL="305435" indent="-305435">
              <a:lnSpc>
                <a:spcPct val="90000"/>
              </a:lnSpc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Purposeful automation</a:t>
            </a:r>
          </a:p>
          <a:p>
            <a:pPr marL="629920" lvl="1" indent="-305435">
              <a:lnSpc>
                <a:spcPct val="90000"/>
              </a:lnSpc>
              <a:buFont typeface="Courier New" panose="05020102010507070707" pitchFamily="18" charset="2"/>
              <a:buChar char="o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We can take the digital sprawl across the enterprise and deliver an automated, intelligent System of Action</a:t>
            </a:r>
          </a:p>
          <a:p>
            <a:pPr marL="305435" indent="-305435">
              <a:lnSpc>
                <a:spcPct val="90000"/>
              </a:lnSpc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Organizational agility</a:t>
            </a:r>
          </a:p>
          <a:p>
            <a:pPr marL="629920" lvl="1" indent="-305435">
              <a:lnSpc>
                <a:spcPct val="90000"/>
              </a:lnSpc>
              <a:buFont typeface="Courier New" panose="05020102010507070707" pitchFamily="18" charset="2"/>
              <a:buChar char="o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A low-code and intelligent platform helps meet business needs and is able to pivot and adapt quickly in today's changing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134230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47873-60F3-21F3-9093-4A2D2DC5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of Service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03E52-0037-A8C1-1058-8829E35CE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>
                <a:latin typeface="Gill Sans MT"/>
                <a:cs typeface="Segoe UI"/>
              </a:rPr>
              <a:t>Key features of ServiceNow are:</a:t>
            </a:r>
            <a:endParaRPr lang="en-US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Simple and Consistent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Flexible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Secure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Lower Total Cost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Easy to Intergate</a:t>
            </a:r>
            <a:endParaRPr lang="en-US" sz="1800">
              <a:latin typeface="Gill Sans MT"/>
            </a:endParaRPr>
          </a:p>
          <a:p>
            <a:pPr marL="629920" lvl="1" indent="-305435"/>
            <a:r>
              <a:rPr lang="en-US" sz="1800">
                <a:latin typeface="Gill Sans MT"/>
                <a:cs typeface="Segoe UI"/>
              </a:rPr>
              <a:t>Speed Time to Production</a:t>
            </a:r>
            <a:endParaRPr lang="en-US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385519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615E-3278-D317-694A-5C8415ED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Service Now suitable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7A546-5653-BBBA-FDD7-D6B568C6F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08982"/>
          </a:xfrm>
        </p:spPr>
        <p:txBody>
          <a:bodyPr>
            <a:normAutofit lnSpcReduction="10000"/>
          </a:bodyPr>
          <a:lstStyle/>
          <a:p>
            <a:pPr marL="305435" indent="-305435"/>
            <a:r>
              <a:rPr lang="en-US" dirty="0"/>
              <a:t>Education</a:t>
            </a:r>
          </a:p>
          <a:p>
            <a:pPr marL="305435" indent="-305435"/>
            <a:r>
              <a:rPr lang="en-US" dirty="0"/>
              <a:t>Energy and utilities</a:t>
            </a:r>
          </a:p>
          <a:p>
            <a:pPr marL="305435" indent="-305435"/>
            <a:r>
              <a:rPr lang="en-US" dirty="0"/>
              <a:t>Financial services</a:t>
            </a:r>
          </a:p>
          <a:p>
            <a:pPr marL="305435" indent="-305435"/>
            <a:r>
              <a:rPr lang="en-US" dirty="0"/>
              <a:t>Government</a:t>
            </a:r>
          </a:p>
          <a:p>
            <a:pPr marL="305435" indent="-305435"/>
            <a:r>
              <a:rPr lang="en-US" dirty="0"/>
              <a:t>Healthcare</a:t>
            </a:r>
          </a:p>
          <a:p>
            <a:pPr marL="305435" indent="-305435"/>
            <a:r>
              <a:rPr lang="en-US" dirty="0"/>
              <a:t>Logistics</a:t>
            </a:r>
          </a:p>
          <a:p>
            <a:pPr marL="305435" indent="-305435"/>
            <a:r>
              <a:rPr lang="en-US" dirty="0"/>
              <a:t>Manufacturing</a:t>
            </a:r>
          </a:p>
          <a:p>
            <a:pPr marL="305435" indent="-305435"/>
            <a:r>
              <a:rPr lang="en-US" dirty="0"/>
              <a:t>Retail</a:t>
            </a:r>
          </a:p>
          <a:p>
            <a:pPr marL="305435" indent="-305435"/>
            <a:r>
              <a:rPr lang="en-US" dirty="0"/>
              <a:t>Service providers</a:t>
            </a:r>
          </a:p>
          <a:p>
            <a:pPr marL="305435" indent="-305435"/>
            <a:r>
              <a:rPr lang="en-US" dirty="0"/>
              <a:t>Telecommunications, media,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204361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BB0D-2F13-C973-422B-32B333E7A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Service Now Customers</a:t>
            </a:r>
          </a:p>
        </p:txBody>
      </p:sp>
      <p:pic>
        <p:nvPicPr>
          <p:cNvPr id="4" name="Content Placeholder 3" descr="Accenture Logo | Symbol, History, PNG (3840*2160)">
            <a:extLst>
              <a:ext uri="{FF2B5EF4-FFF2-40B4-BE49-F238E27FC236}">
                <a16:creationId xmlns:a16="http://schemas.microsoft.com/office/drawing/2014/main" id="{0C966AA6-F358-2E99-9094-2080EBB04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228" y="2094961"/>
            <a:ext cx="2369656" cy="1334729"/>
          </a:xfrm>
        </p:spPr>
      </p:pic>
      <p:pic>
        <p:nvPicPr>
          <p:cNvPr id="5" name="Picture 4" descr="Deloitte – Logos Download">
            <a:extLst>
              <a:ext uri="{FF2B5EF4-FFF2-40B4-BE49-F238E27FC236}">
                <a16:creationId xmlns:a16="http://schemas.microsoft.com/office/drawing/2014/main" id="{EAF25BDF-59FB-BCE2-DBFA-E7A59CFCC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855" y="2684778"/>
            <a:ext cx="2743195" cy="510783"/>
          </a:xfrm>
          <a:prstGeom prst="rect">
            <a:avLst/>
          </a:prstGeom>
        </p:spPr>
      </p:pic>
      <p:pic>
        <p:nvPicPr>
          <p:cNvPr id="6" name="Picture 5" descr="Nhl Logo PNG Image | Transparent PNG Free Download on SeekPNG">
            <a:extLst>
              <a:ext uri="{FF2B5EF4-FFF2-40B4-BE49-F238E27FC236}">
                <a16:creationId xmlns:a16="http://schemas.microsoft.com/office/drawing/2014/main" id="{062CDE89-28FF-EB3C-79ED-AAEB753FF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287" y="4444952"/>
            <a:ext cx="2024330" cy="1720586"/>
          </a:xfrm>
          <a:prstGeom prst="rect">
            <a:avLst/>
          </a:prstGeom>
        </p:spPr>
      </p:pic>
      <p:pic>
        <p:nvPicPr>
          <p:cNvPr id="8" name="Picture 7" descr="Uber Logo, symbol, meaning, history, PNG, brand">
            <a:extLst>
              <a:ext uri="{FF2B5EF4-FFF2-40B4-BE49-F238E27FC236}">
                <a16:creationId xmlns:a16="http://schemas.microsoft.com/office/drawing/2014/main" id="{01E97602-892D-CB7E-0815-93CCDC75F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853" y="4440267"/>
            <a:ext cx="2743200" cy="1543050"/>
          </a:xfrm>
          <a:prstGeom prst="rect">
            <a:avLst/>
          </a:prstGeom>
        </p:spPr>
      </p:pic>
      <p:pic>
        <p:nvPicPr>
          <p:cNvPr id="9" name="Picture 8" descr="Lenovo – Logos Download">
            <a:extLst>
              <a:ext uri="{FF2B5EF4-FFF2-40B4-BE49-F238E27FC236}">
                <a16:creationId xmlns:a16="http://schemas.microsoft.com/office/drawing/2014/main" id="{4C3E1509-1634-F394-A294-68FA5453A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6288" y="2482879"/>
            <a:ext cx="2743198" cy="914582"/>
          </a:xfrm>
          <a:prstGeom prst="rect">
            <a:avLst/>
          </a:prstGeom>
        </p:spPr>
      </p:pic>
      <p:pic>
        <p:nvPicPr>
          <p:cNvPr id="10" name="Picture 9" descr="Adobe Creative Campus | Western Sydney University">
            <a:extLst>
              <a:ext uri="{FF2B5EF4-FFF2-40B4-BE49-F238E27FC236}">
                <a16:creationId xmlns:a16="http://schemas.microsoft.com/office/drawing/2014/main" id="{704F7C86-F452-95F3-BAAF-415B88C242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362" y="4994781"/>
            <a:ext cx="2743199" cy="40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45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50C2-6C0E-C398-B598-F9F78E463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Now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B66C6-36DF-13AD-5CC5-94C12D40E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83103"/>
          </a:xfrm>
        </p:spPr>
        <p:txBody>
          <a:bodyPr>
            <a:normAutofit fontScale="92500" lnSpcReduction="10000"/>
          </a:bodyPr>
          <a:lstStyle/>
          <a:p>
            <a:pPr marL="305435" indent="-305435"/>
            <a:r>
              <a:rPr lang="en-US" dirty="0"/>
              <a:t>As previously stated, SNOW can be considered a Paas, </a:t>
            </a:r>
            <a:r>
              <a:rPr lang="en-US" err="1"/>
              <a:t>Iaas</a:t>
            </a:r>
            <a:r>
              <a:rPr lang="en-US" dirty="0"/>
              <a:t>, or Saas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Paas</a:t>
            </a:r>
            <a:r>
              <a:rPr lang="en-US" dirty="0"/>
              <a:t> – platform as a service</a:t>
            </a:r>
          </a:p>
          <a:p>
            <a:pPr marL="899795" lvl="2" indent="-269875">
              <a:buFont typeface="Wingdings" panose="05020102010507070707" pitchFamily="18" charset="2"/>
              <a:buChar char="§"/>
            </a:pPr>
            <a:r>
              <a:rPr lang="en-US" dirty="0"/>
              <a:t>To the developer, it is a platform for developing applications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err="1"/>
              <a:t>Iaas</a:t>
            </a:r>
            <a:r>
              <a:rPr lang="en-US" dirty="0"/>
              <a:t> – infrastructure as a service</a:t>
            </a:r>
          </a:p>
          <a:p>
            <a:pPr marL="899795" lvl="2" indent="-269875">
              <a:buFont typeface="Wingdings" panose="05020102010507070707" pitchFamily="18" charset="2"/>
              <a:buChar char="§"/>
            </a:pPr>
            <a:r>
              <a:rPr lang="en-US" dirty="0"/>
              <a:t>To the business, it is infrastructure maintained by Service Now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 dirty="0"/>
              <a:t>Saas</a:t>
            </a:r>
            <a:r>
              <a:rPr lang="en-US" dirty="0"/>
              <a:t> – software as a service</a:t>
            </a:r>
          </a:p>
          <a:p>
            <a:pPr marL="899795" lvl="2" indent="-269875">
              <a:buFont typeface="Wingdings" panose="05020102010507070707" pitchFamily="18" charset="2"/>
              <a:buChar char="§"/>
            </a:pPr>
            <a:r>
              <a:rPr lang="en-US" dirty="0"/>
              <a:t>To the customer, it is a software to interact with</a:t>
            </a:r>
          </a:p>
          <a:p>
            <a:pPr marL="305435" indent="-305435"/>
            <a:r>
              <a:rPr lang="en-US" dirty="0"/>
              <a:t>There are 4 pillars of Service Now architecture: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/>
              <a:t>ServiceNow Datacenters</a:t>
            </a:r>
            <a:r>
              <a:rPr lang="en-US"/>
              <a:t> – this is where all our data and database tables live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/>
              <a:t>ServiceNow Firewall</a:t>
            </a:r>
            <a:r>
              <a:rPr lang="en-US"/>
              <a:t> – think of this as backend security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/>
              <a:t>Customer Firewall</a:t>
            </a:r>
            <a:r>
              <a:rPr lang="en-US"/>
              <a:t> – think of this as frontend security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b="1"/>
              <a:t>User Interface</a:t>
            </a:r>
            <a:r>
              <a:rPr lang="en-US"/>
              <a:t> – this is how users interact with the application/platform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270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24E6-0C40-BB0C-F9DB-241873DD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Service Now Instances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63AA4-76D1-B8D9-A442-C3486B4DC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9239"/>
            <a:ext cx="11029615" cy="4712445"/>
          </a:xfrm>
        </p:spPr>
        <p:txBody>
          <a:bodyPr>
            <a:normAutofit/>
          </a:bodyPr>
          <a:lstStyle/>
          <a:p>
            <a:pPr marL="305435" indent="-305435"/>
            <a:r>
              <a:rPr lang="en-US"/>
              <a:t>When developing an application, development will happen on a separate instance from testing and production</a:t>
            </a:r>
          </a:p>
          <a:p>
            <a:pPr marL="305435" indent="-305435"/>
            <a:r>
              <a:rPr lang="en-US"/>
              <a:t>Service Now uses this separation of environments as well</a:t>
            </a:r>
          </a:p>
          <a:p>
            <a:pPr marL="305435" indent="-305435"/>
            <a:r>
              <a:rPr lang="en-US"/>
              <a:t>Typically, development exists in a dev instance and a dev instance cannot be used as a production instance (it cannot be published)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</a:rPr>
              <a:t>https://&lt;xxxdev&gt;.service-now.com/</a:t>
            </a:r>
            <a:endParaRPr lang="en-US" dirty="0"/>
          </a:p>
          <a:p>
            <a:pPr marL="305435" indent="-305435"/>
            <a:r>
              <a:rPr lang="en-US"/>
              <a:t>A test environment will allow for various tests to take place, such as load testing, regression testing, and QA (Quality Assurance)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</a:rPr>
              <a:t>https://&lt;xxxtest&gt;.service-now.com/</a:t>
            </a:r>
            <a:endParaRPr lang="en-US" dirty="0"/>
          </a:p>
          <a:p>
            <a:pPr marL="305435" indent="-305435"/>
            <a:r>
              <a:rPr lang="en-US"/>
              <a:t>A UAT (user acceptance testing) environment will ensure that the application meets quality standards and best practices for users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hlinkClick r:id="" action="ppaction://noaction"/>
              </a:rPr>
              <a:t>https</a:t>
            </a:r>
            <a:r>
              <a:rPr lang="en-US" dirty="0">
                <a:ea typeface="+mn-lt"/>
                <a:cs typeface="+mn-lt"/>
                <a:hlinkClick r:id="" action="ppaction://noaction"/>
              </a:rPr>
              <a:t>://&lt;xxxuat&gt;.service-now.com/</a:t>
            </a:r>
            <a:endParaRPr lang="en-US"/>
          </a:p>
          <a:p>
            <a:pPr marL="305435" indent="-305435"/>
            <a:r>
              <a:rPr lang="en-US"/>
              <a:t>Finally, a production environment is where the live application lives </a:t>
            </a:r>
            <a:endParaRPr lang="en-US" dirty="0"/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</a:rPr>
              <a:t>https://&lt;xxxprod&gt;.service-now.com/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12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5A8B-057C-FD47-99E8-A6D64C3E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A3487-D95B-A0A3-12F1-EE451CC7C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Stop Here</a:t>
            </a:r>
          </a:p>
        </p:txBody>
      </p:sp>
    </p:spTree>
    <p:extLst>
      <p:ext uri="{BB962C8B-B14F-4D97-AF65-F5344CB8AC3E}">
        <p14:creationId xmlns:p14="http://schemas.microsoft.com/office/powerpoint/2010/main" val="2664938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70B1-8A22-E900-80EE-30688093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SNOW Docs &amp; Community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7B0F9-1144-3614-B283-45FBA68E5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50017"/>
          </a:xfrm>
        </p:spPr>
        <p:txBody>
          <a:bodyPr/>
          <a:lstStyle/>
          <a:p>
            <a:pPr marL="305435" indent="-305435"/>
            <a:r>
              <a:rPr lang="en-US" dirty="0"/>
              <a:t>Training will provide the core principles, but YOU are responsible for ensuring a deep understanding</a:t>
            </a:r>
          </a:p>
          <a:p>
            <a:pPr marL="305435" indent="-305435"/>
            <a:r>
              <a:rPr lang="en-US" dirty="0"/>
              <a:t>The SNOW documentation site will be your reference guide for finding information about SNOW products, apps, and releases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Product Documentation | ServiceNow</a:t>
            </a:r>
          </a:p>
          <a:p>
            <a:pPr marL="305435" indent="-305435"/>
            <a:r>
              <a:rPr lang="en-US" dirty="0"/>
              <a:t>The SNOW community site is great for asking questions, getting/giving advice, and connecting with other SNOW professionals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3"/>
              </a:rPr>
              <a:t>Home - ServiceNow Community</a:t>
            </a:r>
          </a:p>
          <a:p>
            <a:pPr marL="305435" indent="-305435"/>
            <a:r>
              <a:rPr lang="en-US" dirty="0"/>
              <a:t>The SNOW Learning site provides asynchronous learning modules that will be great for supplementing your learning! </a:t>
            </a:r>
          </a:p>
          <a:p>
            <a:pPr marL="305435" indent="-305435"/>
            <a:r>
              <a:rPr lang="en-US" dirty="0"/>
              <a:t>Use this in conjunction with training to solidify your knowledge and better prepare for your certification exam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/>
              <a:t>Bookmark the Certified System Administrator (CSA) learning path for a quick link</a:t>
            </a:r>
          </a:p>
        </p:txBody>
      </p:sp>
    </p:spTree>
    <p:extLst>
      <p:ext uri="{BB962C8B-B14F-4D97-AF65-F5344CB8AC3E}">
        <p14:creationId xmlns:p14="http://schemas.microsoft.com/office/powerpoint/2010/main" val="307792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F8CC-19A9-33BF-78CD-97417319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 Developer 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03567-6EFE-1FA6-6242-29776E56B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65850"/>
          </a:xfrm>
        </p:spPr>
        <p:txBody>
          <a:bodyPr>
            <a:normAutofit lnSpcReduction="10000"/>
          </a:bodyPr>
          <a:lstStyle/>
          <a:p>
            <a:pPr marL="305435" indent="-305435"/>
            <a:r>
              <a:rPr lang="en-US"/>
              <a:t>To start building applications and get hands-on with the platform, you will need to spin up a personal developer instance</a:t>
            </a:r>
          </a:p>
          <a:p>
            <a:pPr marL="305435" indent="-305435"/>
            <a:r>
              <a:rPr lang="en-US"/>
              <a:t>Go to the SNOW Developer site to spin up your instance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Home | ServiceNow Developers</a:t>
            </a:r>
          </a:p>
          <a:p>
            <a:pPr marL="305435" indent="-305435"/>
            <a:r>
              <a:rPr lang="en-US">
                <a:ea typeface="+mn-lt"/>
                <a:cs typeface="+mn-lt"/>
              </a:rPr>
              <a:t>This is where you will access your instance each day</a:t>
            </a:r>
            <a:endParaRPr lang="en-US" dirty="0">
              <a:ea typeface="+mn-lt"/>
              <a:cs typeface="+mn-lt"/>
            </a:endParaRPr>
          </a:p>
          <a:p>
            <a:pPr marL="305435" indent="-305435"/>
            <a:r>
              <a:rPr lang="en-US">
                <a:ea typeface="+mn-lt"/>
                <a:cs typeface="+mn-lt"/>
              </a:rPr>
              <a:t>Exists entirely on the cloud</a:t>
            </a:r>
            <a:endParaRPr lang="en-US" dirty="0">
              <a:ea typeface="+mn-lt"/>
              <a:cs typeface="+mn-lt"/>
            </a:endParaRPr>
          </a:p>
          <a:p>
            <a:pPr marL="305435" indent="-305435"/>
            <a:r>
              <a:rPr lang="en-US">
                <a:ea typeface="+mn-lt"/>
                <a:cs typeface="+mn-lt"/>
              </a:rPr>
              <a:t>You will also receive an email with a link to your instance along with a dev instance password</a:t>
            </a:r>
            <a:endParaRPr lang="en-US" dirty="0">
              <a:ea typeface="+mn-lt"/>
              <a:cs typeface="+mn-lt"/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>
                <a:ea typeface="+mn-lt"/>
                <a:cs typeface="+mn-lt"/>
              </a:rPr>
              <a:t>It should look something like this: https://&lt;&lt;customdevinstancename&gt;&gt;.service-now.com/login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>
                <a:ea typeface="+mn-lt"/>
                <a:cs typeface="+mn-lt"/>
              </a:rPr>
              <a:t>SAVE YOUR DEV INSTANCE PASSWORD SOMEWHERE SAFE</a:t>
            </a:r>
          </a:p>
          <a:p>
            <a:pPr marL="305435" indent="-305435"/>
            <a:r>
              <a:rPr lang="en-US">
                <a:ea typeface="+mn-lt"/>
                <a:cs typeface="+mn-lt"/>
              </a:rPr>
              <a:t>Each day you will need to wake up your instance and this may take a few minutes, so get it up and running first thing each day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843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BF4F-577E-5163-F378-51FABFE8F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SNOW Plugins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F7BC2-283E-265D-978B-0A7BC722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51472"/>
          </a:xfrm>
        </p:spPr>
        <p:txBody>
          <a:bodyPr/>
          <a:lstStyle/>
          <a:p>
            <a:pPr marL="305435" indent="-305435"/>
            <a:r>
              <a:rPr lang="en-US"/>
              <a:t>Plugins are software components that provide features and functionalities within a ServiceNow instance</a:t>
            </a:r>
          </a:p>
          <a:p>
            <a:pPr marL="305435" indent="-305435"/>
            <a:r>
              <a:rPr lang="en-US"/>
              <a:t>Plugins add features or extend the functionality of the Now Platform</a:t>
            </a:r>
            <a:endParaRPr lang="en-US" dirty="0"/>
          </a:p>
          <a:p>
            <a:pPr marL="305435" indent="-305435"/>
            <a:r>
              <a:rPr lang="en-US"/>
              <a:t>Applications are standalone pieces of code that implements a collection of features on the Now Platform that may include a number of active plugins</a:t>
            </a:r>
          </a:p>
          <a:p>
            <a:pPr marL="305435" indent="-305435"/>
            <a:r>
              <a:rPr lang="en-US"/>
              <a:t>All plugins are provided by ServiceNow</a:t>
            </a:r>
            <a:endParaRPr lang="en-US" dirty="0"/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/>
              <a:t>A set of plugins are active by default, but you can activate additional plugins if needed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/>
              <a:t>Some plugins require activation by ServiceNow personell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98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A6CED-EBA0-966D-06BB-847B1F80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Hands-on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80D28-D611-35CB-49D0-7B1AF6D7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/>
              <a:t>Tour the Service Now Platform</a:t>
            </a:r>
            <a:endParaRPr lang="en-US" dirty="0"/>
          </a:p>
          <a:p>
            <a:pPr marL="305435" indent="-305435"/>
            <a:r>
              <a:rPr lang="en-US"/>
              <a:t>Let's add a custom logo to our platform that will span across all of our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079498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5E9B-CBC3-2AD1-26DC-9B76C753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83F7F-C6C9-0375-B05F-96B34B1FC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/>
              <a:t>Read through this document on Plugins</a:t>
            </a: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ServiceNow plugins</a:t>
            </a:r>
          </a:p>
          <a:p>
            <a:pPr marL="305435" indent="-305435"/>
            <a:r>
              <a:rPr lang="en-US">
                <a:ea typeface="+mn-lt"/>
                <a:cs typeface="+mn-lt"/>
              </a:rPr>
              <a:t>Practice navigating the SNOW platform in your developer instance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5048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274C-5473-5C7D-E0DB-427B3930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09433-2AA1-8C88-B4F3-75CAD4918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/>
              <a:t>ISTM – IT Service Management </a:t>
            </a:r>
            <a:r>
              <a:rPr lang="en-US">
                <a:latin typeface="Gill Sans MT"/>
                <a:cs typeface="Segoe UI"/>
              </a:rPr>
              <a:t>is a set of practices, policies, and processes designed to manage and deliver IT services to meet the needs of an organization and its customer</a:t>
            </a:r>
            <a:endParaRPr lang="en-US" dirty="0">
              <a:latin typeface="Gill Sans MT"/>
            </a:endParaRPr>
          </a:p>
          <a:p>
            <a:pPr marL="305435" indent="-305435"/>
            <a:r>
              <a:rPr lang="en-US">
                <a:cs typeface="Segoe UI"/>
              </a:rPr>
              <a:t>ITIL – IT Infrastructure Library that serves as an ITSM framework with a 5-stage lifecycle</a:t>
            </a:r>
            <a:endParaRPr lang="en-US" dirty="0">
              <a:cs typeface="Segoe UI"/>
            </a:endParaRPr>
          </a:p>
          <a:p>
            <a:pPr marL="305435" indent="-305435"/>
            <a:r>
              <a:rPr lang="en-US"/>
              <a:t>Banner – Contains the app logo, contextual app pill, global search bar, and logged in user that spans the top of the page in the SNOW platform</a:t>
            </a:r>
          </a:p>
          <a:p>
            <a:pPr marL="305435" indent="-305435"/>
            <a:r>
              <a:rPr lang="en-US"/>
              <a:t>Contextual App Pill – A user interface element that dynamically changes to show the name of the current page that the user is </a:t>
            </a:r>
            <a:r>
              <a:rPr lang="en-US" dirty="0"/>
              <a:t>on</a:t>
            </a:r>
          </a:p>
          <a:p>
            <a:pPr marL="305435" indent="-305435"/>
            <a:r>
              <a:rPr lang="en-US"/>
              <a:t>Global Search – A search bar user widget that searches the entire platform</a:t>
            </a:r>
          </a:p>
          <a:p>
            <a:pPr marL="305435" indent="-305435"/>
            <a:r>
              <a:rPr lang="en-US"/>
              <a:t>Filter Navigator – allows us search and filter the list of applications and modules under 'all' to quickly find the one we need</a:t>
            </a:r>
          </a:p>
        </p:txBody>
      </p:sp>
    </p:spTree>
    <p:extLst>
      <p:ext uri="{BB962C8B-B14F-4D97-AF65-F5344CB8AC3E}">
        <p14:creationId xmlns:p14="http://schemas.microsoft.com/office/powerpoint/2010/main" val="33743575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1518</Words>
  <Application>Microsoft Office PowerPoint</Application>
  <PresentationFormat>Widescreen</PresentationFormat>
  <Paragraphs>153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Courier New</vt:lpstr>
      <vt:lpstr>Gill Sans MT</vt:lpstr>
      <vt:lpstr>Segoe UI</vt:lpstr>
      <vt:lpstr>Wingdings</vt:lpstr>
      <vt:lpstr>Wingdings 2</vt:lpstr>
      <vt:lpstr>Dividend</vt:lpstr>
      <vt:lpstr>Welcome to Service Now</vt:lpstr>
      <vt:lpstr>Overview</vt:lpstr>
      <vt:lpstr>Intro to ITSM</vt:lpstr>
      <vt:lpstr>ITSM (Cont.)</vt:lpstr>
      <vt:lpstr>ITIL</vt:lpstr>
      <vt:lpstr>ITIL(Cont.)</vt:lpstr>
      <vt:lpstr>What is Service Now?</vt:lpstr>
      <vt:lpstr>Service Now Solutions</vt:lpstr>
      <vt:lpstr>Key Benefits of Service Now</vt:lpstr>
      <vt:lpstr>Features of Service Now</vt:lpstr>
      <vt:lpstr>What is Service Now suitable for?</vt:lpstr>
      <vt:lpstr>Some Service Now Customers</vt:lpstr>
      <vt:lpstr>Service Now Architecture</vt:lpstr>
      <vt:lpstr>Service Now Instances</vt:lpstr>
      <vt:lpstr>Break</vt:lpstr>
      <vt:lpstr>SNOW Docs &amp; Community</vt:lpstr>
      <vt:lpstr>Personal Developer Instance</vt:lpstr>
      <vt:lpstr>SNOW Plugins</vt:lpstr>
      <vt:lpstr>Hands-on Demo</vt:lpstr>
      <vt:lpstr>Your Task</vt:lpstr>
      <vt:lpstr>Terminology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586</cp:revision>
  <dcterms:created xsi:type="dcterms:W3CDTF">2025-02-12T19:53:45Z</dcterms:created>
  <dcterms:modified xsi:type="dcterms:W3CDTF">2025-06-05T13:36:07Z</dcterms:modified>
</cp:coreProperties>
</file>