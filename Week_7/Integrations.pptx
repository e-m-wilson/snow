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2"/>
  </p:notesMasterIdLst>
  <p:sldIdLst>
    <p:sldId id="380" r:id="rId2"/>
    <p:sldId id="420" r:id="rId3"/>
    <p:sldId id="421" r:id="rId4"/>
    <p:sldId id="423" r:id="rId5"/>
    <p:sldId id="435" r:id="rId6"/>
    <p:sldId id="425" r:id="rId7"/>
    <p:sldId id="436" r:id="rId8"/>
    <p:sldId id="437" r:id="rId9"/>
    <p:sldId id="424" r:id="rId10"/>
    <p:sldId id="438" r:id="rId11"/>
    <p:sldId id="422" r:id="rId12"/>
    <p:sldId id="426" r:id="rId13"/>
    <p:sldId id="428" r:id="rId14"/>
    <p:sldId id="429" r:id="rId15"/>
    <p:sldId id="430" r:id="rId16"/>
    <p:sldId id="431" r:id="rId17"/>
    <p:sldId id="433" r:id="rId18"/>
    <p:sldId id="434" r:id="rId19"/>
    <p:sldId id="427" r:id="rId20"/>
    <p:sldId id="432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98" autoAdjust="0"/>
    <p:restoredTop sz="96247" autoAdjust="0"/>
  </p:normalViewPr>
  <p:slideViewPr>
    <p:cSldViewPr snapToGrid="0">
      <p:cViewPr varScale="1">
        <p:scale>
          <a:sx n="103" d="100"/>
          <a:sy n="103" d="100"/>
        </p:scale>
        <p:origin x="1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1AF3C-A5CD-74B9-B6D6-12F8C9410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C1C5-93A4-0443-1DD8-FADF9710D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2B8AF-DF68-6BAE-4A3B-663298CA8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35E67-6B14-97AF-34E6-3B26F3A41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848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4593A-1774-9D58-B3F0-BFB465BC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3E5E97-1F00-016E-5165-0083A44E0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84AEF-1E96-1D89-2F91-7666CAF61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E6D5E-6E53-6F10-08A3-ECD4512B4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507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1D4A-8496-6011-6AAB-EBD40B6A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94A98-907C-88E9-EA6C-EFED52E95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Inbound integrations </a:t>
            </a:r>
            <a:r>
              <a:rPr lang="en-US" dirty="0"/>
              <a:t>are when our ServiceNow instance accepts requests from external systems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Outbound integrations </a:t>
            </a:r>
            <a:r>
              <a:rPr lang="en-US" dirty="0"/>
              <a:t>are when our ServiceNow instance makes requests to external systems </a:t>
            </a:r>
          </a:p>
        </p:txBody>
      </p:sp>
    </p:spTree>
    <p:extLst>
      <p:ext uri="{BB962C8B-B14F-4D97-AF65-F5344CB8AC3E}">
        <p14:creationId xmlns:p14="http://schemas.microsoft.com/office/powerpoint/2010/main" val="2142517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843-AABC-E7C6-10E8-2FA453344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BFBF-6605-B2E4-F7A7-CD5E5ED5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95439"/>
            <a:ext cx="11029615" cy="44815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REST APIs</a:t>
            </a:r>
          </a:p>
          <a:p>
            <a:pPr lvl="1"/>
            <a:r>
              <a:rPr lang="en-US" dirty="0"/>
              <a:t>REST API Explorer – discover and test ServiceNow’s REST APIs</a:t>
            </a:r>
          </a:p>
          <a:p>
            <a:pPr lvl="1"/>
            <a:r>
              <a:rPr lang="en-US" dirty="0"/>
              <a:t>Scripted REST APIs – build your own endpoints with custom logic </a:t>
            </a:r>
          </a:p>
          <a:p>
            <a:r>
              <a:rPr lang="en-US" dirty="0"/>
              <a:t>SOAP APIs</a:t>
            </a:r>
          </a:p>
          <a:p>
            <a:pPr lvl="1"/>
            <a:r>
              <a:rPr lang="en-US" dirty="0"/>
              <a:t> Scripted SOAP APIs – build your own SOAP endpoints with custom logic</a:t>
            </a:r>
          </a:p>
          <a:p>
            <a:r>
              <a:rPr lang="en-US" dirty="0"/>
              <a:t>Import Sets – batch or schedule data imports into ServiceNow tables (REST – </a:t>
            </a:r>
            <a:r>
              <a:rPr lang="en-US" dirty="0" err="1"/>
              <a:t>IntegrationHub</a:t>
            </a:r>
            <a:r>
              <a:rPr lang="en-US" dirty="0"/>
              <a:t> option available)</a:t>
            </a:r>
          </a:p>
          <a:p>
            <a:r>
              <a:rPr lang="en-US" dirty="0"/>
              <a:t>Email Inbound Actions – use scripts to interpret received email and then create or update records 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triggers to launch a flow from a REST request</a:t>
            </a:r>
          </a:p>
          <a:p>
            <a:r>
              <a:rPr lang="en-US" dirty="0" err="1"/>
              <a:t>IntegrationHub</a:t>
            </a:r>
            <a:r>
              <a:rPr lang="en-US" dirty="0"/>
              <a:t> (Import Tool) – schedule batched record imports from files or external systems</a:t>
            </a:r>
          </a:p>
          <a:p>
            <a:r>
              <a:rPr lang="en-US" dirty="0"/>
              <a:t>MID Server – bridge ServiceNow and on-premises systems</a:t>
            </a:r>
          </a:p>
          <a:p>
            <a:r>
              <a:rPr lang="en-US" dirty="0"/>
              <a:t>Application Registry – these records define our authentication scheme for OAuth 2.0 </a:t>
            </a:r>
          </a:p>
          <a:p>
            <a:pPr lvl="1"/>
            <a:r>
              <a:rPr lang="en-US" dirty="0"/>
              <a:t>Any external system will need to pass through our Application Registry to get an authorization token and an access token</a:t>
            </a:r>
          </a:p>
        </p:txBody>
      </p:sp>
    </p:spTree>
    <p:extLst>
      <p:ext uri="{BB962C8B-B14F-4D97-AF65-F5344CB8AC3E}">
        <p14:creationId xmlns:p14="http://schemas.microsoft.com/office/powerpoint/2010/main" val="742969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95F1-E4E6-083B-7D0E-927228812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Explorer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83F-F75B-F5B3-B8EC-6D960AA50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9124" y="1982560"/>
            <a:ext cx="6853750" cy="796652"/>
          </a:xfrm>
        </p:spPr>
        <p:txBody>
          <a:bodyPr>
            <a:normAutofit/>
          </a:bodyPr>
          <a:lstStyle/>
          <a:p>
            <a:r>
              <a:rPr lang="en-US" dirty="0"/>
              <a:t>Use the REST API Explorer to test REST endpoints on your instance</a:t>
            </a:r>
          </a:p>
          <a:p>
            <a:r>
              <a:rPr lang="en-US" dirty="0"/>
              <a:t>Offers guidance on how to construct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879BD-A38A-FD87-0C93-BF42548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16" y="2855412"/>
            <a:ext cx="10340167" cy="37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2DA8A-7A63-BB8C-932A-6C2A931A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DFBC-A3CE-4448-B92B-A375734F8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0070E-AB0E-6BFB-7719-6E5E8B845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030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Use the Table API as an aid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endpoint should I hit to create an incident record? What does your request body look like?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We should be able to set the impact, urgency, and short description.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After the record is created, we should get a 201 status code returned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incident number should be returned to the client after it is created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ED4966-87FF-02A8-4B97-D5786944BB9E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Find an endpoint to use</a:t>
            </a:r>
          </a:p>
        </p:txBody>
      </p:sp>
    </p:spTree>
    <p:extLst>
      <p:ext uri="{BB962C8B-B14F-4D97-AF65-F5344CB8AC3E}">
        <p14:creationId xmlns:p14="http://schemas.microsoft.com/office/powerpoint/2010/main" val="3354676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8500-8E01-950C-1C41-3654DE8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Scripted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ADFF-1DE0-6028-B289-B55F1732E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53281" cy="3678303"/>
          </a:xfrm>
        </p:spPr>
        <p:txBody>
          <a:bodyPr/>
          <a:lstStyle/>
          <a:p>
            <a:r>
              <a:rPr lang="en-US" dirty="0"/>
              <a:t>Scripted REST APIs &amp; Scripted SOAP Services both contain logic to handle custom requests</a:t>
            </a:r>
          </a:p>
          <a:p>
            <a:r>
              <a:rPr lang="en-US" dirty="0"/>
              <a:t>These are endpoints that developers define, and we use scripts to determine how to handle the request and what we send back as the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36E03-FB0C-C509-25A4-B728BE122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889" y="1938977"/>
            <a:ext cx="219105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E2CE7-955C-4910-08E5-4A34077C1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13" y="3429000"/>
            <a:ext cx="5598343" cy="305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26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0E325-56D7-E4F4-6277-F2915CE5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SOAP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875F68-9F64-8956-FD64-7BC23C9AA5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739" y="1935136"/>
            <a:ext cx="6491460" cy="46751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304312-F3AB-0D3A-C0BB-E9E35BE21E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356" y="4381138"/>
            <a:ext cx="3124636" cy="22291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1E3C06-6008-CC47-A248-BB646797BC07}"/>
              </a:ext>
            </a:extLst>
          </p:cNvPr>
          <p:cNvSpPr txBox="1"/>
          <p:nvPr/>
        </p:nvSpPr>
        <p:spPr>
          <a:xfrm>
            <a:off x="581192" y="2263763"/>
            <a:ext cx="376023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must set input/output parameters in the related lists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Make sure you authenticate users by checking roles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generated WSDL file is shared to consumers</a:t>
            </a:r>
          </a:p>
        </p:txBody>
      </p:sp>
    </p:spTree>
    <p:extLst>
      <p:ext uri="{BB962C8B-B14F-4D97-AF65-F5344CB8AC3E}">
        <p14:creationId xmlns:p14="http://schemas.microsoft.com/office/powerpoint/2010/main" val="1326814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BDD7B-291D-4448-E1C7-19D5B8169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6055-EEC8-0044-A73F-AA332266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105D0-CD9A-5EF3-949A-AFF279D29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1866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webservice that accepts the impact, urgency, and short description for incidents and then create the record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6924FC-186B-444E-C065-F1B15629FAD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scripted webservice</a:t>
            </a:r>
          </a:p>
        </p:txBody>
      </p:sp>
    </p:spTree>
    <p:extLst>
      <p:ext uri="{BB962C8B-B14F-4D97-AF65-F5344CB8AC3E}">
        <p14:creationId xmlns:p14="http://schemas.microsoft.com/office/powerpoint/2010/main" val="716592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B712-7B9A-FC09-C8C1-F468C2F35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Enterprise License - REST API Trigger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C53E6-7E2C-620C-C11D-DDE603E1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967" y="2111829"/>
            <a:ext cx="8221118" cy="430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726007-289D-54DD-7CCD-1B23C8EB48D5}"/>
              </a:ext>
            </a:extLst>
          </p:cNvPr>
          <p:cNvSpPr txBox="1"/>
          <p:nvPr/>
        </p:nvSpPr>
        <p:spPr>
          <a:xfrm>
            <a:off x="457200" y="2778501"/>
            <a:ext cx="295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Requires </a:t>
            </a:r>
            <a:r>
              <a:rPr lang="en-US" dirty="0" err="1"/>
              <a:t>IntegrationHub</a:t>
            </a:r>
            <a:r>
              <a:rPr lang="en-US" dirty="0"/>
              <a:t> Enterprise License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Install from developer site for PDIs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Launch Flows from a REST request</a:t>
            </a:r>
          </a:p>
        </p:txBody>
      </p:sp>
    </p:spTree>
    <p:extLst>
      <p:ext uri="{BB962C8B-B14F-4D97-AF65-F5344CB8AC3E}">
        <p14:creationId xmlns:p14="http://schemas.microsoft.com/office/powerpoint/2010/main" val="1486957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FC38-0736-0515-C970-73F9DC699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4403-FB6B-A580-15EF-A8AD5651E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CEC6-580C-B11C-044C-FA5D8751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5565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have the </a:t>
            </a:r>
            <a:r>
              <a:rPr lang="en-US" dirty="0" err="1">
                <a:ea typeface="+mn-lt"/>
                <a:cs typeface="+mn-lt"/>
              </a:rPr>
              <a:t>IntegrationHub</a:t>
            </a:r>
            <a:r>
              <a:rPr lang="en-US" dirty="0">
                <a:ea typeface="+mn-lt"/>
                <a:cs typeface="+mn-lt"/>
              </a:rPr>
              <a:t> – Enterprise package installed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 that takes in impact, urgency, and short description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record from the input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E5EEDF-D292-4F10-D315-D905B01EF03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</a:t>
            </a:r>
          </a:p>
        </p:txBody>
      </p:sp>
    </p:spTree>
    <p:extLst>
      <p:ext uri="{BB962C8B-B14F-4D97-AF65-F5344CB8AC3E}">
        <p14:creationId xmlns:p14="http://schemas.microsoft.com/office/powerpoint/2010/main" val="14463474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B77B-A818-7F51-9CB5-27E0A122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Import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0CF04-DF2F-1950-6EAE-EEAA5152C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7" y="2100046"/>
            <a:ext cx="7965155" cy="3714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D4C4C-D8D5-4642-0510-E07C57E5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998" y="4393590"/>
            <a:ext cx="3467584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DBB781-50B8-0579-2C23-55E3AA795A34}"/>
              </a:ext>
            </a:extLst>
          </p:cNvPr>
          <p:cNvSpPr txBox="1"/>
          <p:nvPr/>
        </p:nvSpPr>
        <p:spPr>
          <a:xfrm>
            <a:off x="362418" y="2830286"/>
            <a:ext cx="30883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Map external data to tables via transform mapping, just like Import Sets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Spokes to import record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Uses the underlying Import Set features but has a more modern UI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Executes scripts before or after imports</a:t>
            </a:r>
          </a:p>
        </p:txBody>
      </p:sp>
    </p:spTree>
    <p:extLst>
      <p:ext uri="{BB962C8B-B14F-4D97-AF65-F5344CB8AC3E}">
        <p14:creationId xmlns:p14="http://schemas.microsoft.com/office/powerpoint/2010/main" val="1203343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8E140-D467-0DB7-75DB-C3E40DC8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&amp; </a:t>
            </a:r>
            <a:r>
              <a:rPr lang="en-US" dirty="0" err="1"/>
              <a:t>Oauth</a:t>
            </a:r>
            <a:r>
              <a:rPr lang="en-US" dirty="0"/>
              <a:t> Grant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8EDF-D99E-D251-5865-64C152DA4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1111" y="2584719"/>
            <a:ext cx="3881951" cy="3678303"/>
          </a:xfrm>
        </p:spPr>
        <p:txBody>
          <a:bodyPr/>
          <a:lstStyle/>
          <a:p>
            <a:r>
              <a:rPr lang="en-US" dirty="0"/>
              <a:t>Application Registries define how external system may authenticate with our instance</a:t>
            </a:r>
          </a:p>
          <a:p>
            <a:r>
              <a:rPr lang="en-US" dirty="0"/>
              <a:t>Authorization – directs user to instance for login; respects user ACLs</a:t>
            </a:r>
          </a:p>
          <a:p>
            <a:r>
              <a:rPr lang="en-US" dirty="0"/>
              <a:t>Client credentials – allows us to get an access token with only the client secret and ID; usually used for machine-to-machine 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CA791-75EA-373D-0E12-7A4DE628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819" y="1965508"/>
            <a:ext cx="1867161" cy="619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499323-160E-BA1B-49C2-2D637E56A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442" y="2075060"/>
            <a:ext cx="1562318" cy="400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3A0AD7-2CD8-4236-BAC4-36B565493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3583"/>
            <a:ext cx="3774731" cy="345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88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4DD7-AD9C-351C-4447-0A988085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Key for Code Exchange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4D709-2C72-6A43-3074-B6BAC4F4A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Proof Key for Code Exchange (PKCE) </a:t>
            </a:r>
            <a:r>
              <a:rPr lang="en-US" dirty="0"/>
              <a:t>is an extension to the OAuth 2.0 flow that makes it more secure</a:t>
            </a:r>
          </a:p>
          <a:p>
            <a:pPr lvl="1"/>
            <a:r>
              <a:rPr lang="en-US" dirty="0"/>
              <a:t>Pronounced as ‘pixie’</a:t>
            </a:r>
          </a:p>
          <a:p>
            <a:pPr lvl="1"/>
            <a:r>
              <a:rPr lang="en-US" dirty="0"/>
              <a:t>Used on SPAs or mobile apps where we can’t safely store a client secret</a:t>
            </a:r>
          </a:p>
          <a:p>
            <a:pPr lvl="1"/>
            <a:r>
              <a:rPr lang="en-US" dirty="0"/>
              <a:t>Required in OAuth 2.1</a:t>
            </a:r>
          </a:p>
          <a:p>
            <a:pPr lvl="1"/>
            <a:r>
              <a:rPr lang="en-US" dirty="0"/>
              <a:t>Not a language or specific code – it’s a standard to be implemented in our code</a:t>
            </a:r>
          </a:p>
        </p:txBody>
      </p:sp>
    </p:spTree>
    <p:extLst>
      <p:ext uri="{BB962C8B-B14F-4D97-AF65-F5344CB8AC3E}">
        <p14:creationId xmlns:p14="http://schemas.microsoft.com/office/powerpoint/2010/main" val="3813627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13ED-D113-1AC0-341C-D4B330E9D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DF51B-0269-199F-8F46-B9DCA297B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290" y="2259430"/>
            <a:ext cx="7953420" cy="4598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2EAAD0-917E-DC25-B332-F84DF2883003}"/>
              </a:ext>
            </a:extLst>
          </p:cNvPr>
          <p:cNvSpPr txBox="1"/>
          <p:nvPr/>
        </p:nvSpPr>
        <p:spPr>
          <a:xfrm>
            <a:off x="3716502" y="1803027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is susceptible to a man-in-the-middle attack</a:t>
            </a:r>
          </a:p>
        </p:txBody>
      </p:sp>
    </p:spTree>
    <p:extLst>
      <p:ext uri="{BB962C8B-B14F-4D97-AF65-F5344CB8AC3E}">
        <p14:creationId xmlns:p14="http://schemas.microsoft.com/office/powerpoint/2010/main" val="2397391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C068A-F609-2C75-FDFC-784289DE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542B2-F639-47A4-D72E-90F23F958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57" y="1945338"/>
            <a:ext cx="8287085" cy="41054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0E693-DEB9-6C10-D463-D2ED571F3FB5}"/>
              </a:ext>
            </a:extLst>
          </p:cNvPr>
          <p:cNvSpPr txBox="1"/>
          <p:nvPr/>
        </p:nvSpPr>
        <p:spPr>
          <a:xfrm>
            <a:off x="1239509" y="6050739"/>
            <a:ext cx="9712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 if attackers get the authorization code, they won’t have the </a:t>
            </a:r>
            <a:r>
              <a:rPr lang="en-US" dirty="0" err="1"/>
              <a:t>code_verifier</a:t>
            </a:r>
            <a:r>
              <a:rPr lang="en-US" dirty="0"/>
              <a:t> = no access!</a:t>
            </a:r>
          </a:p>
          <a:p>
            <a:r>
              <a:rPr lang="en-US" dirty="0"/>
              <a:t>The access token will be shorter lived, but it is still not 100% safe to store in the client (XSS attacks)…</a:t>
            </a:r>
          </a:p>
        </p:txBody>
      </p:sp>
    </p:spTree>
    <p:extLst>
      <p:ext uri="{BB962C8B-B14F-4D97-AF65-F5344CB8AC3E}">
        <p14:creationId xmlns:p14="http://schemas.microsoft.com/office/powerpoint/2010/main" val="19356969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B89B-91AE-EAF5-748D-02615820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Want a BFF?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EE97C-8EB9-8682-3BB5-8DD233C57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19004" cy="42231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Backend for Frontend </a:t>
            </a:r>
            <a:r>
              <a:rPr lang="en-US" dirty="0"/>
              <a:t>design pattern provides a tailored backend interface for different types of clients</a:t>
            </a:r>
          </a:p>
          <a:p>
            <a:pPr lvl="1"/>
            <a:r>
              <a:rPr lang="en-US" dirty="0"/>
              <a:t>Could have one for web and another for mobile apps</a:t>
            </a:r>
          </a:p>
          <a:p>
            <a:pPr lvl="1"/>
            <a:r>
              <a:rPr lang="en-US" dirty="0"/>
              <a:t>Acts as a proxy layer in between the client and backend</a:t>
            </a:r>
          </a:p>
          <a:p>
            <a:pPr lvl="1"/>
            <a:r>
              <a:rPr lang="en-US" dirty="0"/>
              <a:t>Auth tokens are stored on the BFF so no chance of XSS attacks, the client only ever see what we return in the BFF (likely record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1239-5A34-9A0C-B1B7-5373CFE52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81" y="2089983"/>
            <a:ext cx="7409626" cy="42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08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6FBCD-DCF9-293F-2ED3-47F86D107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Express?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3EF7-9A49-C3D6-AE3F-77D442829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Express.js </a:t>
            </a:r>
            <a:r>
              <a:rPr lang="en-US" dirty="0"/>
              <a:t>aka </a:t>
            </a:r>
            <a:r>
              <a:rPr lang="en-US" dirty="0">
                <a:solidFill>
                  <a:schemeClr val="accent2"/>
                </a:solidFill>
              </a:rPr>
              <a:t>Express</a:t>
            </a:r>
            <a:r>
              <a:rPr lang="en-US" dirty="0"/>
              <a:t>, is a free open-source back-end web application framework for node.js </a:t>
            </a:r>
          </a:p>
          <a:p>
            <a:pPr lvl="1"/>
            <a:r>
              <a:rPr lang="en-US" dirty="0"/>
              <a:t>Support for middleware</a:t>
            </a:r>
          </a:p>
          <a:p>
            <a:pPr lvl="1"/>
            <a:r>
              <a:rPr lang="en-US" dirty="0"/>
              <a:t>Routing</a:t>
            </a:r>
          </a:p>
          <a:p>
            <a:pPr lvl="1"/>
            <a:r>
              <a:rPr lang="en-US" dirty="0"/>
              <a:t>Unopinionated – bring your own design pattern </a:t>
            </a:r>
          </a:p>
        </p:txBody>
      </p:sp>
    </p:spTree>
    <p:extLst>
      <p:ext uri="{BB962C8B-B14F-4D97-AF65-F5344CB8AC3E}">
        <p14:creationId xmlns:p14="http://schemas.microsoft.com/office/powerpoint/2010/main" val="225980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4718-9672-4019-CE66-8E940875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29A-C009-A6D0-B99F-DFC06B7A4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10686" cy="3678303"/>
          </a:xfrm>
        </p:spPr>
        <p:txBody>
          <a:bodyPr/>
          <a:lstStyle/>
          <a:p>
            <a:r>
              <a:rPr lang="en-US" dirty="0"/>
              <a:t>We create the express app by first installing with ‘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express’</a:t>
            </a:r>
            <a:r>
              <a:rPr lang="en-US" dirty="0"/>
              <a:t> </a:t>
            </a:r>
          </a:p>
          <a:p>
            <a:r>
              <a:rPr lang="en-US" dirty="0"/>
              <a:t>Import into a </a:t>
            </a:r>
            <a:r>
              <a:rPr lang="en-US" dirty="0" err="1"/>
              <a:t>js</a:t>
            </a:r>
            <a:r>
              <a:rPr lang="en-US" dirty="0"/>
              <a:t> file to instantiate the app</a:t>
            </a:r>
          </a:p>
          <a:p>
            <a:r>
              <a:rPr lang="en-US" dirty="0"/>
              <a:t>Add routes &amp; define route logic before setting the response</a:t>
            </a:r>
          </a:p>
          <a:p>
            <a:r>
              <a:rPr lang="en-US" dirty="0"/>
              <a:t>Start listening to requests with .listen()</a:t>
            </a:r>
          </a:p>
          <a:p>
            <a:r>
              <a:rPr lang="en-US" dirty="0"/>
              <a:t>Start Express server with ‘node server.js’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A3A71-17AF-741B-3067-E9BCB720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123" y="2515449"/>
            <a:ext cx="2391109" cy="371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C65D10-84F3-B338-A999-B36EBBA5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75" y="2139844"/>
            <a:ext cx="3943900" cy="342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3C23AC-E61F-813C-54BB-E79F9A6D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110910"/>
            <a:ext cx="4519005" cy="328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951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A263-5610-8325-1962-01E9C5E4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- </a:t>
            </a:r>
            <a:r>
              <a:rPr lang="en-US" dirty="0" err="1"/>
              <a:t>Oauth</a:t>
            </a:r>
            <a:r>
              <a:rPr lang="en-US" dirty="0"/>
              <a:t> Client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D3CB-B2C4-1F4F-6910-84500C0E8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20694" cy="3975349"/>
          </a:xfrm>
        </p:spPr>
        <p:txBody>
          <a:bodyPr/>
          <a:lstStyle/>
          <a:p>
            <a:r>
              <a:rPr lang="en-US" dirty="0" err="1"/>
              <a:t>RedirectURL</a:t>
            </a:r>
            <a:r>
              <a:rPr lang="en-US" dirty="0"/>
              <a:t> – the URL that ServiceNow will direct the client to while sending the authorization token (Part 2 of the PKCE Auth Flow)</a:t>
            </a:r>
          </a:p>
          <a:p>
            <a:r>
              <a:rPr lang="en-US" dirty="0"/>
              <a:t>Client ID/Secret – used in authentication steps </a:t>
            </a:r>
          </a:p>
          <a:p>
            <a:r>
              <a:rPr lang="en-US" dirty="0"/>
              <a:t>This is a public client – required to use the PKCE flow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B9DA1-79C1-75EB-2BB2-89308741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98" y="2278467"/>
            <a:ext cx="7506893" cy="371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994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786F-5148-A236-421B-72DEEA4F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PKCE Login Flow with BFF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7D4D9-B190-7F13-CD9C-89F4C611D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929" y="2639025"/>
            <a:ext cx="3207555" cy="367830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BFF: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INSTANCEURL/oauth_auth.do</a:t>
            </a:r>
          </a:p>
          <a:p>
            <a:pPr marL="0" indent="0">
              <a:buNone/>
            </a:pPr>
            <a:r>
              <a:rPr lang="en-US" dirty="0" err="1"/>
              <a:t>response_type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client_id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redirect_uri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code_challenge_method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72EB9-AFF8-6424-C64A-AA44E439F10B}"/>
              </a:ext>
            </a:extLst>
          </p:cNvPr>
          <p:cNvSpPr txBox="1"/>
          <p:nvPr/>
        </p:nvSpPr>
        <p:spPr>
          <a:xfrm>
            <a:off x="4184155" y="2513019"/>
            <a:ext cx="2061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ServiceNow:</a:t>
            </a:r>
          </a:p>
          <a:p>
            <a:r>
              <a:rPr lang="en-US" dirty="0"/>
              <a:t>Authorization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6D700-CFA0-A488-D04A-30E2EB75B46E}"/>
              </a:ext>
            </a:extLst>
          </p:cNvPr>
          <p:cNvSpPr txBox="1"/>
          <p:nvPr/>
        </p:nvSpPr>
        <p:spPr>
          <a:xfrm>
            <a:off x="7224346" y="2690465"/>
            <a:ext cx="322447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BFF:</a:t>
            </a:r>
          </a:p>
          <a:p>
            <a:endParaRPr lang="en-US" dirty="0"/>
          </a:p>
          <a:p>
            <a:r>
              <a:rPr lang="en-US" dirty="0"/>
              <a:t>INSTANCEURL/oauth_token.do</a:t>
            </a:r>
          </a:p>
          <a:p>
            <a:r>
              <a:rPr lang="en-US" dirty="0" err="1"/>
              <a:t>grant_type</a:t>
            </a:r>
            <a:endParaRPr lang="en-US" dirty="0"/>
          </a:p>
          <a:p>
            <a:r>
              <a:rPr lang="en-US" dirty="0"/>
              <a:t>Authorization Code</a:t>
            </a:r>
          </a:p>
          <a:p>
            <a:r>
              <a:rPr lang="en-US" dirty="0" err="1"/>
              <a:t>redirect_uri</a:t>
            </a:r>
            <a:endParaRPr lang="en-US" dirty="0"/>
          </a:p>
          <a:p>
            <a:r>
              <a:rPr lang="en-US" dirty="0" err="1"/>
              <a:t>client_id</a:t>
            </a:r>
            <a:endParaRPr lang="en-US" dirty="0"/>
          </a:p>
          <a:p>
            <a:r>
              <a:rPr lang="en-US" dirty="0" err="1"/>
              <a:t>code_verifier</a:t>
            </a:r>
            <a:endParaRPr lang="en-US" dirty="0"/>
          </a:p>
          <a:p>
            <a:r>
              <a:rPr lang="en-US" dirty="0" err="1"/>
              <a:t>client_secret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E7BA0-3C92-8230-593F-35E5437DA81E}"/>
              </a:ext>
            </a:extLst>
          </p:cNvPr>
          <p:cNvSpPr txBox="1"/>
          <p:nvPr/>
        </p:nvSpPr>
        <p:spPr>
          <a:xfrm>
            <a:off x="366895" y="2374519"/>
            <a:ext cx="978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Login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9DDC9-DB23-6AE6-E953-E251A6DFED82}"/>
              </a:ext>
            </a:extLst>
          </p:cNvPr>
          <p:cNvSpPr txBox="1"/>
          <p:nvPr/>
        </p:nvSpPr>
        <p:spPr>
          <a:xfrm>
            <a:off x="8846208" y="2236020"/>
            <a:ext cx="3224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ServiceNow receives request and sends access token + refresh token to BFF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BF72C6D-7068-D998-C981-C66ECAFA9769}"/>
              </a:ext>
            </a:extLst>
          </p:cNvPr>
          <p:cNvSpPr/>
          <p:nvPr/>
        </p:nvSpPr>
        <p:spPr>
          <a:xfrm>
            <a:off x="6245938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6E10E-29F6-ED7D-344D-B962296FBA44}"/>
              </a:ext>
            </a:extLst>
          </p:cNvPr>
          <p:cNvSpPr/>
          <p:nvPr/>
        </p:nvSpPr>
        <p:spPr>
          <a:xfrm>
            <a:off x="3142425" y="25879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65D34F2-664D-05FC-4508-EC9611DB2741}"/>
              </a:ext>
            </a:extLst>
          </p:cNvPr>
          <p:cNvSpPr/>
          <p:nvPr/>
        </p:nvSpPr>
        <p:spPr>
          <a:xfrm>
            <a:off x="1297117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5F0EC6-D75B-892E-7074-80948455DB55}"/>
              </a:ext>
            </a:extLst>
          </p:cNvPr>
          <p:cNvSpPr/>
          <p:nvPr/>
        </p:nvSpPr>
        <p:spPr>
          <a:xfrm>
            <a:off x="7818517" y="259386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5748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26812</TotalTime>
  <Words>1016</Words>
  <Application>Microsoft Office PowerPoint</Application>
  <PresentationFormat>Widescreen</PresentationFormat>
  <Paragraphs>119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Gill Sans MT</vt:lpstr>
      <vt:lpstr>Wingdings</vt:lpstr>
      <vt:lpstr>Wingdings 2</vt:lpstr>
      <vt:lpstr>Dividend</vt:lpstr>
      <vt:lpstr>Integrations</vt:lpstr>
      <vt:lpstr>Integration Options</vt:lpstr>
      <vt:lpstr>Inbound Options</vt:lpstr>
      <vt:lpstr>REST API Explorer</vt:lpstr>
      <vt:lpstr>Challenge</vt:lpstr>
      <vt:lpstr>Scripted Web Services</vt:lpstr>
      <vt:lpstr>SOAP Example</vt:lpstr>
      <vt:lpstr>Challenge</vt:lpstr>
      <vt:lpstr>IntegrationHub Enterprise License - REST API Trigger</vt:lpstr>
      <vt:lpstr>Challenge</vt:lpstr>
      <vt:lpstr>IntegrationHub Import Tool</vt:lpstr>
      <vt:lpstr>Application Registry &amp; Oauth Grant Types</vt:lpstr>
      <vt:lpstr>Proof Key for Code Exchange</vt:lpstr>
      <vt:lpstr>When Not Using PKCE</vt:lpstr>
      <vt:lpstr>Using PKCE</vt:lpstr>
      <vt:lpstr>Want a BFF?</vt:lpstr>
      <vt:lpstr>What is Express?</vt:lpstr>
      <vt:lpstr>Express Basics</vt:lpstr>
      <vt:lpstr>Application Registry - Oauth Client Setup</vt:lpstr>
      <vt:lpstr>ServiceNow PKCE Login Flow with BFF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626</cp:revision>
  <dcterms:created xsi:type="dcterms:W3CDTF">2025-02-12T19:53:45Z</dcterms:created>
  <dcterms:modified xsi:type="dcterms:W3CDTF">2025-11-06T16:07:15Z</dcterms:modified>
</cp:coreProperties>
</file>