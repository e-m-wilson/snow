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76" r:id="rId5"/>
    <p:sldId id="26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61" r:id="rId23"/>
    <p:sldId id="293" r:id="rId24"/>
    <p:sldId id="264" r:id="rId25"/>
    <p:sldId id="268" r:id="rId26"/>
    <p:sldId id="265" r:id="rId27"/>
    <p:sldId id="266" r:id="rId28"/>
    <p:sldId id="267" r:id="rId29"/>
    <p:sldId id="275" r:id="rId30"/>
    <p:sldId id="269" r:id="rId31"/>
    <p:sldId id="270" r:id="rId32"/>
    <p:sldId id="271" r:id="rId33"/>
    <p:sldId id="27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C1334-6A78-4A22-9972-D8E0A4412BD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BEB2C06D-19E7-426D-AEDB-AF6D87A0C3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Services over technology</a:t>
          </a:r>
        </a:p>
      </dgm:t>
    </dgm:pt>
    <dgm:pt modelId="{F4AC4AB5-C860-4835-894B-96CBC1F73396}" type="parTrans" cxnId="{3DCE5180-DE3A-42DC-B05C-481337232785}">
      <dgm:prSet/>
      <dgm:spPr/>
      <dgm:t>
        <a:bodyPr/>
        <a:lstStyle/>
        <a:p>
          <a:endParaRPr lang="en-US"/>
        </a:p>
      </dgm:t>
    </dgm:pt>
    <dgm:pt modelId="{819A5090-8A44-4550-A44C-D428C7546D4B}" type="sibTrans" cxnId="{3DCE5180-DE3A-42DC-B05C-481337232785}">
      <dgm:prSet/>
      <dgm:spPr/>
      <dgm:t>
        <a:bodyPr/>
        <a:lstStyle/>
        <a:p>
          <a:endParaRPr lang="en-US"/>
        </a:p>
      </dgm:t>
    </dgm:pt>
    <dgm:pt modelId="{7F3C08C8-4BA5-47FE-BDAB-48D6CC4F2E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ITSM isn’t just about servers, networks, or software – it’s about how those things help people and the business</a:t>
          </a:r>
        </a:p>
      </dgm:t>
    </dgm:pt>
    <dgm:pt modelId="{72605294-A626-4F4E-B725-055A4286E1CA}" type="parTrans" cxnId="{C881174C-15D5-489D-A99C-76680B79DF5B}">
      <dgm:prSet/>
      <dgm:spPr/>
      <dgm:t>
        <a:bodyPr/>
        <a:lstStyle/>
        <a:p>
          <a:endParaRPr lang="en-US"/>
        </a:p>
      </dgm:t>
    </dgm:pt>
    <dgm:pt modelId="{B67B1275-5964-40BB-99B9-4C4FB22C574C}" type="sibTrans" cxnId="{C881174C-15D5-489D-A99C-76680B79DF5B}">
      <dgm:prSet/>
      <dgm:spPr/>
      <dgm:t>
        <a:bodyPr/>
        <a:lstStyle/>
        <a:p>
          <a:endParaRPr lang="en-US"/>
        </a:p>
      </dgm:t>
    </dgm:pt>
    <dgm:pt modelId="{8064684B-C6C6-40FA-9289-C0358EE2DA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Processes over chaos</a:t>
          </a:r>
        </a:p>
      </dgm:t>
    </dgm:pt>
    <dgm:pt modelId="{1E8A9CD8-BB25-4C07-94FB-7661F3C1D5C1}" type="parTrans" cxnId="{3F74A9EB-EC36-40EB-9B38-BFEDDB859728}">
      <dgm:prSet/>
      <dgm:spPr/>
      <dgm:t>
        <a:bodyPr/>
        <a:lstStyle/>
        <a:p>
          <a:endParaRPr lang="en-US"/>
        </a:p>
      </dgm:t>
    </dgm:pt>
    <dgm:pt modelId="{87D4AE2C-06A6-4781-9486-6EDDBAD9C12E}" type="sibTrans" cxnId="{3F74A9EB-EC36-40EB-9B38-BFEDDB859728}">
      <dgm:prSet/>
      <dgm:spPr/>
      <dgm:t>
        <a:bodyPr/>
        <a:lstStyle/>
        <a:p>
          <a:endParaRPr lang="en-US"/>
        </a:p>
      </dgm:t>
    </dgm:pt>
    <dgm:pt modelId="{D2D6D386-7652-4308-B39A-D0D026BF22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Instead of only solving issues as they pop up, ITSM uses structured processes to prevent, manage, and improve IT services</a:t>
          </a:r>
        </a:p>
      </dgm:t>
    </dgm:pt>
    <dgm:pt modelId="{36F61864-B916-49D4-9559-567F1F79CE28}" type="parTrans" cxnId="{A066D363-61DC-424E-9F90-C538963E5178}">
      <dgm:prSet/>
      <dgm:spPr/>
      <dgm:t>
        <a:bodyPr/>
        <a:lstStyle/>
        <a:p>
          <a:endParaRPr lang="en-US"/>
        </a:p>
      </dgm:t>
    </dgm:pt>
    <dgm:pt modelId="{941534AF-CD7F-4B99-8C60-26F00F445D02}" type="sibTrans" cxnId="{A066D363-61DC-424E-9F90-C538963E5178}">
      <dgm:prSet/>
      <dgm:spPr/>
      <dgm:t>
        <a:bodyPr/>
        <a:lstStyle/>
        <a:p>
          <a:endParaRPr lang="en-US"/>
        </a:p>
      </dgm:t>
    </dgm:pt>
    <dgm:pt modelId="{A43A64FC-231A-455E-AC37-F619B7DA22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Framework-driven</a:t>
          </a:r>
        </a:p>
      </dgm:t>
    </dgm:pt>
    <dgm:pt modelId="{59F1CEEF-CD9D-46B5-9985-925EE5B68036}" type="parTrans" cxnId="{4C328C15-6BCD-433F-AA45-F0534DF59A37}">
      <dgm:prSet/>
      <dgm:spPr/>
      <dgm:t>
        <a:bodyPr/>
        <a:lstStyle/>
        <a:p>
          <a:endParaRPr lang="en-US"/>
        </a:p>
      </dgm:t>
    </dgm:pt>
    <dgm:pt modelId="{FD3B7592-AE1F-47EB-A5CB-CC7AE63DF4E7}" type="sibTrans" cxnId="{4C328C15-6BCD-433F-AA45-F0534DF59A37}">
      <dgm:prSet/>
      <dgm:spPr/>
      <dgm:t>
        <a:bodyPr/>
        <a:lstStyle/>
        <a:p>
          <a:endParaRPr lang="en-US"/>
        </a:p>
      </dgm:t>
    </dgm:pt>
    <dgm:pt modelId="{D15305EC-5129-4B07-A2E0-68A6890765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Organizations often use frameworks like ITIL (Information Technology Infrastructure Library), COBIT, or ISO/IEC 20000 as guides</a:t>
          </a:r>
        </a:p>
      </dgm:t>
    </dgm:pt>
    <dgm:pt modelId="{5D67F0B6-2487-464F-BC72-74A49B9605BC}" type="parTrans" cxnId="{AF20B66A-463A-4FB7-B42F-5013A3753CDF}">
      <dgm:prSet/>
      <dgm:spPr/>
      <dgm:t>
        <a:bodyPr/>
        <a:lstStyle/>
        <a:p>
          <a:endParaRPr lang="en-US"/>
        </a:p>
      </dgm:t>
    </dgm:pt>
    <dgm:pt modelId="{6A9F3232-BE1F-44F4-8FAB-D6590508DA43}" type="sibTrans" cxnId="{AF20B66A-463A-4FB7-B42F-5013A3753CDF}">
      <dgm:prSet/>
      <dgm:spPr/>
      <dgm:t>
        <a:bodyPr/>
        <a:lstStyle/>
        <a:p>
          <a:endParaRPr lang="en-US"/>
        </a:p>
      </dgm:t>
    </dgm:pt>
    <dgm:pt modelId="{16FD3C5F-E76B-4D0B-BA9F-E064C3C1A7CC}" type="pres">
      <dgm:prSet presAssocID="{D70C1334-6A78-4A22-9972-D8E0A4412BD6}" presName="root" presStyleCnt="0">
        <dgm:presLayoutVars>
          <dgm:dir/>
          <dgm:resizeHandles val="exact"/>
        </dgm:presLayoutVars>
      </dgm:prSet>
      <dgm:spPr/>
    </dgm:pt>
    <dgm:pt modelId="{4495D44A-FB43-48E5-BCB0-401A2075B0E5}" type="pres">
      <dgm:prSet presAssocID="{BEB2C06D-19E7-426D-AEDB-AF6D87A0C387}" presName="compNode" presStyleCnt="0"/>
      <dgm:spPr/>
    </dgm:pt>
    <dgm:pt modelId="{B1F0BE29-2ADF-49E8-A6DA-74978A36FCFE}" type="pres">
      <dgm:prSet presAssocID="{BEB2C06D-19E7-426D-AEDB-AF6D87A0C3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C83FD93-0602-43D1-8349-60F5B7356806}" type="pres">
      <dgm:prSet presAssocID="{BEB2C06D-19E7-426D-AEDB-AF6D87A0C387}" presName="iconSpace" presStyleCnt="0"/>
      <dgm:spPr/>
    </dgm:pt>
    <dgm:pt modelId="{35F0D082-6CB4-4364-B794-06FB84ADC805}" type="pres">
      <dgm:prSet presAssocID="{BEB2C06D-19E7-426D-AEDB-AF6D87A0C387}" presName="parTx" presStyleLbl="revTx" presStyleIdx="0" presStyleCnt="6">
        <dgm:presLayoutVars>
          <dgm:chMax val="0"/>
          <dgm:chPref val="0"/>
        </dgm:presLayoutVars>
      </dgm:prSet>
      <dgm:spPr/>
    </dgm:pt>
    <dgm:pt modelId="{C7085EE2-D95C-4B1B-9495-AEF67C995EA0}" type="pres">
      <dgm:prSet presAssocID="{BEB2C06D-19E7-426D-AEDB-AF6D87A0C387}" presName="txSpace" presStyleCnt="0"/>
      <dgm:spPr/>
    </dgm:pt>
    <dgm:pt modelId="{1DDD96DF-E050-4A35-84B1-883F60C6EF78}" type="pres">
      <dgm:prSet presAssocID="{BEB2C06D-19E7-426D-AEDB-AF6D87A0C387}" presName="desTx" presStyleLbl="revTx" presStyleIdx="1" presStyleCnt="6">
        <dgm:presLayoutVars/>
      </dgm:prSet>
      <dgm:spPr/>
    </dgm:pt>
    <dgm:pt modelId="{25932658-B26F-4D9E-9AE7-400EE30E6267}" type="pres">
      <dgm:prSet presAssocID="{819A5090-8A44-4550-A44C-D428C7546D4B}" presName="sibTrans" presStyleCnt="0"/>
      <dgm:spPr/>
    </dgm:pt>
    <dgm:pt modelId="{E40274A7-BA69-4428-B03A-EAEBF2E5D5A4}" type="pres">
      <dgm:prSet presAssocID="{8064684B-C6C6-40FA-9289-C0358EE2DAC9}" presName="compNode" presStyleCnt="0"/>
      <dgm:spPr/>
    </dgm:pt>
    <dgm:pt modelId="{79D8C975-94A8-403B-9619-50764353242C}" type="pres">
      <dgm:prSet presAssocID="{8064684B-C6C6-40FA-9289-C0358EE2DA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5C327B2-5BE5-4CC1-A346-343BEAEFFED4}" type="pres">
      <dgm:prSet presAssocID="{8064684B-C6C6-40FA-9289-C0358EE2DAC9}" presName="iconSpace" presStyleCnt="0"/>
      <dgm:spPr/>
    </dgm:pt>
    <dgm:pt modelId="{644394AE-CCD1-4F6F-ACC4-EB6CCC5596DE}" type="pres">
      <dgm:prSet presAssocID="{8064684B-C6C6-40FA-9289-C0358EE2DAC9}" presName="parTx" presStyleLbl="revTx" presStyleIdx="2" presStyleCnt="6">
        <dgm:presLayoutVars>
          <dgm:chMax val="0"/>
          <dgm:chPref val="0"/>
        </dgm:presLayoutVars>
      </dgm:prSet>
      <dgm:spPr/>
    </dgm:pt>
    <dgm:pt modelId="{68B17F85-F964-4CDF-86D6-6D0CDDA11EDE}" type="pres">
      <dgm:prSet presAssocID="{8064684B-C6C6-40FA-9289-C0358EE2DAC9}" presName="txSpace" presStyleCnt="0"/>
      <dgm:spPr/>
    </dgm:pt>
    <dgm:pt modelId="{29300BA7-52BE-4396-8540-48FB0DEE69DA}" type="pres">
      <dgm:prSet presAssocID="{8064684B-C6C6-40FA-9289-C0358EE2DAC9}" presName="desTx" presStyleLbl="revTx" presStyleIdx="3" presStyleCnt="6">
        <dgm:presLayoutVars/>
      </dgm:prSet>
      <dgm:spPr/>
    </dgm:pt>
    <dgm:pt modelId="{89712037-4B32-4CF3-BDE1-734DA97061DB}" type="pres">
      <dgm:prSet presAssocID="{87D4AE2C-06A6-4781-9486-6EDDBAD9C12E}" presName="sibTrans" presStyleCnt="0"/>
      <dgm:spPr/>
    </dgm:pt>
    <dgm:pt modelId="{A9769C91-6376-4D72-B733-9D78555EB160}" type="pres">
      <dgm:prSet presAssocID="{A43A64FC-231A-455E-AC37-F619B7DA2256}" presName="compNode" presStyleCnt="0"/>
      <dgm:spPr/>
    </dgm:pt>
    <dgm:pt modelId="{41C208A3-3D2C-4A42-85E4-ECDD0843A54B}" type="pres">
      <dgm:prSet presAssocID="{A43A64FC-231A-455E-AC37-F619B7DA22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B078BAF-435C-470F-88B0-D41C03F54C68}" type="pres">
      <dgm:prSet presAssocID="{A43A64FC-231A-455E-AC37-F619B7DA2256}" presName="iconSpace" presStyleCnt="0"/>
      <dgm:spPr/>
    </dgm:pt>
    <dgm:pt modelId="{3D846661-5B0F-418F-B6D4-5C5F8258A257}" type="pres">
      <dgm:prSet presAssocID="{A43A64FC-231A-455E-AC37-F619B7DA2256}" presName="parTx" presStyleLbl="revTx" presStyleIdx="4" presStyleCnt="6">
        <dgm:presLayoutVars>
          <dgm:chMax val="0"/>
          <dgm:chPref val="0"/>
        </dgm:presLayoutVars>
      </dgm:prSet>
      <dgm:spPr/>
    </dgm:pt>
    <dgm:pt modelId="{D7B5AC13-FBD2-41B9-BBC8-293965FF328F}" type="pres">
      <dgm:prSet presAssocID="{A43A64FC-231A-455E-AC37-F619B7DA2256}" presName="txSpace" presStyleCnt="0"/>
      <dgm:spPr/>
    </dgm:pt>
    <dgm:pt modelId="{F24F88A0-D9CA-4960-8E61-146A3B027A04}" type="pres">
      <dgm:prSet presAssocID="{A43A64FC-231A-455E-AC37-F619B7DA2256}" presName="desTx" presStyleLbl="revTx" presStyleIdx="5" presStyleCnt="6">
        <dgm:presLayoutVars/>
      </dgm:prSet>
      <dgm:spPr/>
    </dgm:pt>
  </dgm:ptLst>
  <dgm:cxnLst>
    <dgm:cxn modelId="{D7639014-613B-4BF7-8121-3CD87B8F9939}" type="presOf" srcId="{7F3C08C8-4BA5-47FE-BDAB-48D6CC4F2E9F}" destId="{1DDD96DF-E050-4A35-84B1-883F60C6EF78}" srcOrd="0" destOrd="0" presId="urn:microsoft.com/office/officeart/2018/2/layout/IconLabelDescriptionList"/>
    <dgm:cxn modelId="{4C328C15-6BCD-433F-AA45-F0534DF59A37}" srcId="{D70C1334-6A78-4A22-9972-D8E0A4412BD6}" destId="{A43A64FC-231A-455E-AC37-F619B7DA2256}" srcOrd="2" destOrd="0" parTransId="{59F1CEEF-CD9D-46B5-9985-925EE5B68036}" sibTransId="{FD3B7592-AE1F-47EB-A5CB-CC7AE63DF4E7}"/>
    <dgm:cxn modelId="{D4E3B91A-87E7-4A37-B36F-C7B285EC71A6}" type="presOf" srcId="{D15305EC-5129-4B07-A2E0-68A6890765DC}" destId="{F24F88A0-D9CA-4960-8E61-146A3B027A04}" srcOrd="0" destOrd="0" presId="urn:microsoft.com/office/officeart/2018/2/layout/IconLabelDescriptionList"/>
    <dgm:cxn modelId="{A066D363-61DC-424E-9F90-C538963E5178}" srcId="{8064684B-C6C6-40FA-9289-C0358EE2DAC9}" destId="{D2D6D386-7652-4308-B39A-D0D026BF2242}" srcOrd="0" destOrd="0" parTransId="{36F61864-B916-49D4-9559-567F1F79CE28}" sibTransId="{941534AF-CD7F-4B99-8C60-26F00F445D02}"/>
    <dgm:cxn modelId="{AF20B66A-463A-4FB7-B42F-5013A3753CDF}" srcId="{A43A64FC-231A-455E-AC37-F619B7DA2256}" destId="{D15305EC-5129-4B07-A2E0-68A6890765DC}" srcOrd="0" destOrd="0" parTransId="{5D67F0B6-2487-464F-BC72-74A49B9605BC}" sibTransId="{6A9F3232-BE1F-44F4-8FAB-D6590508DA43}"/>
    <dgm:cxn modelId="{C881174C-15D5-489D-A99C-76680B79DF5B}" srcId="{BEB2C06D-19E7-426D-AEDB-AF6D87A0C387}" destId="{7F3C08C8-4BA5-47FE-BDAB-48D6CC4F2E9F}" srcOrd="0" destOrd="0" parTransId="{72605294-A626-4F4E-B725-055A4286E1CA}" sibTransId="{B67B1275-5964-40BB-99B9-4C4FB22C574C}"/>
    <dgm:cxn modelId="{EF2E0679-27EF-40DB-8341-FA5B2A8E5B07}" type="presOf" srcId="{D70C1334-6A78-4A22-9972-D8E0A4412BD6}" destId="{16FD3C5F-E76B-4D0B-BA9F-E064C3C1A7CC}" srcOrd="0" destOrd="0" presId="urn:microsoft.com/office/officeart/2018/2/layout/IconLabelDescriptionList"/>
    <dgm:cxn modelId="{1173F87F-53E6-442B-B794-1CBD23C80C2A}" type="presOf" srcId="{8064684B-C6C6-40FA-9289-C0358EE2DAC9}" destId="{644394AE-CCD1-4F6F-ACC4-EB6CCC5596DE}" srcOrd="0" destOrd="0" presId="urn:microsoft.com/office/officeart/2018/2/layout/IconLabelDescriptionList"/>
    <dgm:cxn modelId="{3DCE5180-DE3A-42DC-B05C-481337232785}" srcId="{D70C1334-6A78-4A22-9972-D8E0A4412BD6}" destId="{BEB2C06D-19E7-426D-AEDB-AF6D87A0C387}" srcOrd="0" destOrd="0" parTransId="{F4AC4AB5-C860-4835-894B-96CBC1F73396}" sibTransId="{819A5090-8A44-4550-A44C-D428C7546D4B}"/>
    <dgm:cxn modelId="{9836E9A1-F601-4142-9AD1-5223F44467F8}" type="presOf" srcId="{BEB2C06D-19E7-426D-AEDB-AF6D87A0C387}" destId="{35F0D082-6CB4-4364-B794-06FB84ADC805}" srcOrd="0" destOrd="0" presId="urn:microsoft.com/office/officeart/2018/2/layout/IconLabelDescriptionList"/>
    <dgm:cxn modelId="{2FA213DF-C222-4D7C-ADF2-3B12E474402A}" type="presOf" srcId="{D2D6D386-7652-4308-B39A-D0D026BF2242}" destId="{29300BA7-52BE-4396-8540-48FB0DEE69DA}" srcOrd="0" destOrd="0" presId="urn:microsoft.com/office/officeart/2018/2/layout/IconLabelDescriptionList"/>
    <dgm:cxn modelId="{D0EB35DF-D56E-4169-BC1D-B2941D9FFADA}" type="presOf" srcId="{A43A64FC-231A-455E-AC37-F619B7DA2256}" destId="{3D846661-5B0F-418F-B6D4-5C5F8258A257}" srcOrd="0" destOrd="0" presId="urn:microsoft.com/office/officeart/2018/2/layout/IconLabelDescriptionList"/>
    <dgm:cxn modelId="{3F74A9EB-EC36-40EB-9B38-BFEDDB859728}" srcId="{D70C1334-6A78-4A22-9972-D8E0A4412BD6}" destId="{8064684B-C6C6-40FA-9289-C0358EE2DAC9}" srcOrd="1" destOrd="0" parTransId="{1E8A9CD8-BB25-4C07-94FB-7661F3C1D5C1}" sibTransId="{87D4AE2C-06A6-4781-9486-6EDDBAD9C12E}"/>
    <dgm:cxn modelId="{DABA35BB-F485-4C01-B6E6-7381B352A16C}" type="presParOf" srcId="{16FD3C5F-E76B-4D0B-BA9F-E064C3C1A7CC}" destId="{4495D44A-FB43-48E5-BCB0-401A2075B0E5}" srcOrd="0" destOrd="0" presId="urn:microsoft.com/office/officeart/2018/2/layout/IconLabelDescriptionList"/>
    <dgm:cxn modelId="{8BE51748-6640-4027-B267-EE9BD37A1D17}" type="presParOf" srcId="{4495D44A-FB43-48E5-BCB0-401A2075B0E5}" destId="{B1F0BE29-2ADF-49E8-A6DA-74978A36FCFE}" srcOrd="0" destOrd="0" presId="urn:microsoft.com/office/officeart/2018/2/layout/IconLabelDescriptionList"/>
    <dgm:cxn modelId="{54105366-3C8E-475C-AC76-D62F529FB0F4}" type="presParOf" srcId="{4495D44A-FB43-48E5-BCB0-401A2075B0E5}" destId="{9C83FD93-0602-43D1-8349-60F5B7356806}" srcOrd="1" destOrd="0" presId="urn:microsoft.com/office/officeart/2018/2/layout/IconLabelDescriptionList"/>
    <dgm:cxn modelId="{2F6C4973-7F54-4B9A-8B80-904AA3141044}" type="presParOf" srcId="{4495D44A-FB43-48E5-BCB0-401A2075B0E5}" destId="{35F0D082-6CB4-4364-B794-06FB84ADC805}" srcOrd="2" destOrd="0" presId="urn:microsoft.com/office/officeart/2018/2/layout/IconLabelDescriptionList"/>
    <dgm:cxn modelId="{A6539D08-50C3-4E05-8177-D541CCD550AE}" type="presParOf" srcId="{4495D44A-FB43-48E5-BCB0-401A2075B0E5}" destId="{C7085EE2-D95C-4B1B-9495-AEF67C995EA0}" srcOrd="3" destOrd="0" presId="urn:microsoft.com/office/officeart/2018/2/layout/IconLabelDescriptionList"/>
    <dgm:cxn modelId="{514D65CD-CD0F-4157-91CE-BA6A19E45BEE}" type="presParOf" srcId="{4495D44A-FB43-48E5-BCB0-401A2075B0E5}" destId="{1DDD96DF-E050-4A35-84B1-883F60C6EF78}" srcOrd="4" destOrd="0" presId="urn:microsoft.com/office/officeart/2018/2/layout/IconLabelDescriptionList"/>
    <dgm:cxn modelId="{F2BAE92F-E3B4-40E1-8F77-E02042ED0457}" type="presParOf" srcId="{16FD3C5F-E76B-4D0B-BA9F-E064C3C1A7CC}" destId="{25932658-B26F-4D9E-9AE7-400EE30E6267}" srcOrd="1" destOrd="0" presId="urn:microsoft.com/office/officeart/2018/2/layout/IconLabelDescriptionList"/>
    <dgm:cxn modelId="{A2E0E105-114C-4EFA-A080-12967BE4CEA2}" type="presParOf" srcId="{16FD3C5F-E76B-4D0B-BA9F-E064C3C1A7CC}" destId="{E40274A7-BA69-4428-B03A-EAEBF2E5D5A4}" srcOrd="2" destOrd="0" presId="urn:microsoft.com/office/officeart/2018/2/layout/IconLabelDescriptionList"/>
    <dgm:cxn modelId="{0163C55F-5ED6-4061-99EB-62035E78B268}" type="presParOf" srcId="{E40274A7-BA69-4428-B03A-EAEBF2E5D5A4}" destId="{79D8C975-94A8-403B-9619-50764353242C}" srcOrd="0" destOrd="0" presId="urn:microsoft.com/office/officeart/2018/2/layout/IconLabelDescriptionList"/>
    <dgm:cxn modelId="{1E36A406-747B-446F-A8A1-235824F93CDF}" type="presParOf" srcId="{E40274A7-BA69-4428-B03A-EAEBF2E5D5A4}" destId="{D5C327B2-5BE5-4CC1-A346-343BEAEFFED4}" srcOrd="1" destOrd="0" presId="urn:microsoft.com/office/officeart/2018/2/layout/IconLabelDescriptionList"/>
    <dgm:cxn modelId="{E8FC9CA9-3D77-48FB-8D25-6167294FFABE}" type="presParOf" srcId="{E40274A7-BA69-4428-B03A-EAEBF2E5D5A4}" destId="{644394AE-CCD1-4F6F-ACC4-EB6CCC5596DE}" srcOrd="2" destOrd="0" presId="urn:microsoft.com/office/officeart/2018/2/layout/IconLabelDescriptionList"/>
    <dgm:cxn modelId="{8FD14E27-8FC5-4D3C-AE93-7412298CF501}" type="presParOf" srcId="{E40274A7-BA69-4428-B03A-EAEBF2E5D5A4}" destId="{68B17F85-F964-4CDF-86D6-6D0CDDA11EDE}" srcOrd="3" destOrd="0" presId="urn:microsoft.com/office/officeart/2018/2/layout/IconLabelDescriptionList"/>
    <dgm:cxn modelId="{B4AEB760-2EB9-42DB-BD97-4359D72495A6}" type="presParOf" srcId="{E40274A7-BA69-4428-B03A-EAEBF2E5D5A4}" destId="{29300BA7-52BE-4396-8540-48FB0DEE69DA}" srcOrd="4" destOrd="0" presId="urn:microsoft.com/office/officeart/2018/2/layout/IconLabelDescriptionList"/>
    <dgm:cxn modelId="{7492EFA3-4F47-4458-8AB7-575961738D53}" type="presParOf" srcId="{16FD3C5F-E76B-4D0B-BA9F-E064C3C1A7CC}" destId="{89712037-4B32-4CF3-BDE1-734DA97061DB}" srcOrd="3" destOrd="0" presId="urn:microsoft.com/office/officeart/2018/2/layout/IconLabelDescriptionList"/>
    <dgm:cxn modelId="{64E59539-A389-4270-A463-5D4D51F3B1A0}" type="presParOf" srcId="{16FD3C5F-E76B-4D0B-BA9F-E064C3C1A7CC}" destId="{A9769C91-6376-4D72-B733-9D78555EB160}" srcOrd="4" destOrd="0" presId="urn:microsoft.com/office/officeart/2018/2/layout/IconLabelDescriptionList"/>
    <dgm:cxn modelId="{9A99FE95-AF52-4BEE-B941-CF8D6D0617B8}" type="presParOf" srcId="{A9769C91-6376-4D72-B733-9D78555EB160}" destId="{41C208A3-3D2C-4A42-85E4-ECDD0843A54B}" srcOrd="0" destOrd="0" presId="urn:microsoft.com/office/officeart/2018/2/layout/IconLabelDescriptionList"/>
    <dgm:cxn modelId="{64C0CABA-DC0C-4F7F-8489-AB5CAB9B61DA}" type="presParOf" srcId="{A9769C91-6376-4D72-B733-9D78555EB160}" destId="{5B078BAF-435C-470F-88B0-D41C03F54C68}" srcOrd="1" destOrd="0" presId="urn:microsoft.com/office/officeart/2018/2/layout/IconLabelDescriptionList"/>
    <dgm:cxn modelId="{D3022CDE-188A-4E1E-9AE1-C58DC8F1DAEC}" type="presParOf" srcId="{A9769C91-6376-4D72-B733-9D78555EB160}" destId="{3D846661-5B0F-418F-B6D4-5C5F8258A257}" srcOrd="2" destOrd="0" presId="urn:microsoft.com/office/officeart/2018/2/layout/IconLabelDescriptionList"/>
    <dgm:cxn modelId="{E2255F69-FEEB-4756-9A14-913C24100A80}" type="presParOf" srcId="{A9769C91-6376-4D72-B733-9D78555EB160}" destId="{D7B5AC13-FBD2-41B9-BBC8-293965FF328F}" srcOrd="3" destOrd="0" presId="urn:microsoft.com/office/officeart/2018/2/layout/IconLabelDescriptionList"/>
    <dgm:cxn modelId="{8D811CEA-A25F-44F5-9842-91EC01B35959}" type="presParOf" srcId="{A9769C91-6376-4D72-B733-9D78555EB160}" destId="{F24F88A0-D9CA-4960-8E61-146A3B027A0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C76C09-858B-4B4F-9E08-26B5DFD225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A6078A-5787-4F36-B225-AEF12FC670E9}">
      <dgm:prSet/>
      <dgm:spPr/>
      <dgm:t>
        <a:bodyPr/>
        <a:lstStyle/>
        <a:p>
          <a:r>
            <a:rPr lang="en-US"/>
            <a:t>Standardizes IT processes</a:t>
          </a:r>
        </a:p>
      </dgm:t>
    </dgm:pt>
    <dgm:pt modelId="{ED632505-E04B-498F-BCEF-F13D97A7C3B5}" type="parTrans" cxnId="{C4D4488C-A1D8-48FD-978B-617BD23A9CBD}">
      <dgm:prSet/>
      <dgm:spPr/>
      <dgm:t>
        <a:bodyPr/>
        <a:lstStyle/>
        <a:p>
          <a:endParaRPr lang="en-US"/>
        </a:p>
      </dgm:t>
    </dgm:pt>
    <dgm:pt modelId="{A21DCF1E-D918-4A28-9648-5D1909B116A5}" type="sibTrans" cxnId="{C4D4488C-A1D8-48FD-978B-617BD23A9CBD}">
      <dgm:prSet/>
      <dgm:spPr/>
      <dgm:t>
        <a:bodyPr/>
        <a:lstStyle/>
        <a:p>
          <a:endParaRPr lang="en-US"/>
        </a:p>
      </dgm:t>
    </dgm:pt>
    <dgm:pt modelId="{CDECAE0E-4E39-440A-81D6-F4B9F11A84CE}">
      <dgm:prSet/>
      <dgm:spPr/>
      <dgm:t>
        <a:bodyPr/>
        <a:lstStyle/>
        <a:p>
          <a:r>
            <a:rPr lang="en-US"/>
            <a:t>Improves service quality &amp; customer satisfaction</a:t>
          </a:r>
        </a:p>
      </dgm:t>
    </dgm:pt>
    <dgm:pt modelId="{F3E218D0-2218-4526-91F6-7BED646A06EF}" type="parTrans" cxnId="{3AB4361B-8CBB-4B8D-A39C-A709AD0C0099}">
      <dgm:prSet/>
      <dgm:spPr/>
      <dgm:t>
        <a:bodyPr/>
        <a:lstStyle/>
        <a:p>
          <a:endParaRPr lang="en-US"/>
        </a:p>
      </dgm:t>
    </dgm:pt>
    <dgm:pt modelId="{5CE23711-02C0-458E-91B1-7A7F6304B698}" type="sibTrans" cxnId="{3AB4361B-8CBB-4B8D-A39C-A709AD0C0099}">
      <dgm:prSet/>
      <dgm:spPr/>
      <dgm:t>
        <a:bodyPr/>
        <a:lstStyle/>
        <a:p>
          <a:endParaRPr lang="en-US"/>
        </a:p>
      </dgm:t>
    </dgm:pt>
    <dgm:pt modelId="{786D5EFD-419D-4B32-A996-AAA492AD9439}">
      <dgm:prSet/>
      <dgm:spPr/>
      <dgm:t>
        <a:bodyPr/>
        <a:lstStyle/>
        <a:p>
          <a:r>
            <a:rPr lang="en-US"/>
            <a:t>Reduces downtime</a:t>
          </a:r>
        </a:p>
      </dgm:t>
    </dgm:pt>
    <dgm:pt modelId="{66FFAC0A-34D4-45E2-84FA-BABB9169BA0D}" type="parTrans" cxnId="{DFACC46D-33EA-4092-8858-13B2C05CD760}">
      <dgm:prSet/>
      <dgm:spPr/>
      <dgm:t>
        <a:bodyPr/>
        <a:lstStyle/>
        <a:p>
          <a:endParaRPr lang="en-US"/>
        </a:p>
      </dgm:t>
    </dgm:pt>
    <dgm:pt modelId="{14F94C7D-6E87-4F11-AB46-513A0787403F}" type="sibTrans" cxnId="{DFACC46D-33EA-4092-8858-13B2C05CD760}">
      <dgm:prSet/>
      <dgm:spPr/>
      <dgm:t>
        <a:bodyPr/>
        <a:lstStyle/>
        <a:p>
          <a:endParaRPr lang="en-US"/>
        </a:p>
      </dgm:t>
    </dgm:pt>
    <dgm:pt modelId="{DF203F95-EACF-418A-BBF4-719D276C3900}">
      <dgm:prSet/>
      <dgm:spPr/>
      <dgm:t>
        <a:bodyPr/>
        <a:lstStyle/>
        <a:p>
          <a:r>
            <a:rPr lang="en-US"/>
            <a:t>Aligns IT with business needs</a:t>
          </a:r>
        </a:p>
      </dgm:t>
    </dgm:pt>
    <dgm:pt modelId="{F392EB46-F33A-4FDE-941D-7449C1F657F3}" type="parTrans" cxnId="{3B7F95F9-DE3A-4FB4-A71B-ABB90FE61F09}">
      <dgm:prSet/>
      <dgm:spPr/>
      <dgm:t>
        <a:bodyPr/>
        <a:lstStyle/>
        <a:p>
          <a:endParaRPr lang="en-US"/>
        </a:p>
      </dgm:t>
    </dgm:pt>
    <dgm:pt modelId="{780F28F4-3242-4484-937F-074D73828A5A}" type="sibTrans" cxnId="{3B7F95F9-DE3A-4FB4-A71B-ABB90FE61F09}">
      <dgm:prSet/>
      <dgm:spPr/>
      <dgm:t>
        <a:bodyPr/>
        <a:lstStyle/>
        <a:p>
          <a:endParaRPr lang="en-US"/>
        </a:p>
      </dgm:t>
    </dgm:pt>
    <dgm:pt modelId="{83B37128-C536-4410-8577-E92B42B3B846}">
      <dgm:prSet/>
      <dgm:spPr/>
      <dgm:t>
        <a:bodyPr/>
        <a:lstStyle/>
        <a:p>
          <a:r>
            <a:rPr lang="en-US"/>
            <a:t>Provides measurable metrics for IT performance </a:t>
          </a:r>
        </a:p>
      </dgm:t>
    </dgm:pt>
    <dgm:pt modelId="{A206A016-5C1E-4B99-8584-A7A8FFC0BB37}" type="parTrans" cxnId="{C9326A07-E35A-45AB-907C-0A3E9FFC1554}">
      <dgm:prSet/>
      <dgm:spPr/>
      <dgm:t>
        <a:bodyPr/>
        <a:lstStyle/>
        <a:p>
          <a:endParaRPr lang="en-US"/>
        </a:p>
      </dgm:t>
    </dgm:pt>
    <dgm:pt modelId="{ECB600DE-23C1-48B2-99AA-450EE36F5516}" type="sibTrans" cxnId="{C9326A07-E35A-45AB-907C-0A3E9FFC1554}">
      <dgm:prSet/>
      <dgm:spPr/>
      <dgm:t>
        <a:bodyPr/>
        <a:lstStyle/>
        <a:p>
          <a:endParaRPr lang="en-US"/>
        </a:p>
      </dgm:t>
    </dgm:pt>
    <dgm:pt modelId="{95290AF8-0707-42EB-A12D-D796333D6B0F}" type="pres">
      <dgm:prSet presAssocID="{8EC76C09-858B-4B4F-9E08-26B5DFD22518}" presName="root" presStyleCnt="0">
        <dgm:presLayoutVars>
          <dgm:dir/>
          <dgm:resizeHandles val="exact"/>
        </dgm:presLayoutVars>
      </dgm:prSet>
      <dgm:spPr/>
    </dgm:pt>
    <dgm:pt modelId="{197251DB-DDED-4E07-95BE-CFEBC77CBB1F}" type="pres">
      <dgm:prSet presAssocID="{F1A6078A-5787-4F36-B225-AEF12FC670E9}" presName="compNode" presStyleCnt="0"/>
      <dgm:spPr/>
    </dgm:pt>
    <dgm:pt modelId="{3330BD12-7EAB-47D9-8C6D-DCD54F488193}" type="pres">
      <dgm:prSet presAssocID="{F1A6078A-5787-4F36-B225-AEF12FC670E9}" presName="bgRect" presStyleLbl="bgShp" presStyleIdx="0" presStyleCnt="5"/>
      <dgm:spPr/>
    </dgm:pt>
    <dgm:pt modelId="{4025E2BB-8158-47BB-8AF8-F56348B965FE}" type="pres">
      <dgm:prSet presAssocID="{F1A6078A-5787-4F36-B225-AEF12FC670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E9F4E74-1B68-47D9-89C0-31C4C3E00E5E}" type="pres">
      <dgm:prSet presAssocID="{F1A6078A-5787-4F36-B225-AEF12FC670E9}" presName="spaceRect" presStyleCnt="0"/>
      <dgm:spPr/>
    </dgm:pt>
    <dgm:pt modelId="{26DA3ECF-6C38-42D3-9383-4FD405A903A6}" type="pres">
      <dgm:prSet presAssocID="{F1A6078A-5787-4F36-B225-AEF12FC670E9}" presName="parTx" presStyleLbl="revTx" presStyleIdx="0" presStyleCnt="5">
        <dgm:presLayoutVars>
          <dgm:chMax val="0"/>
          <dgm:chPref val="0"/>
        </dgm:presLayoutVars>
      </dgm:prSet>
      <dgm:spPr/>
    </dgm:pt>
    <dgm:pt modelId="{5976FC45-3255-4E25-B27D-E090C79F886A}" type="pres">
      <dgm:prSet presAssocID="{A21DCF1E-D918-4A28-9648-5D1909B116A5}" presName="sibTrans" presStyleCnt="0"/>
      <dgm:spPr/>
    </dgm:pt>
    <dgm:pt modelId="{4205BF6C-0D45-4FB3-8C44-7547D37AB58A}" type="pres">
      <dgm:prSet presAssocID="{CDECAE0E-4E39-440A-81D6-F4B9F11A84CE}" presName="compNode" presStyleCnt="0"/>
      <dgm:spPr/>
    </dgm:pt>
    <dgm:pt modelId="{D1D4809A-795A-49FF-9F2D-B41B03ECE781}" type="pres">
      <dgm:prSet presAssocID="{CDECAE0E-4E39-440A-81D6-F4B9F11A84CE}" presName="bgRect" presStyleLbl="bgShp" presStyleIdx="1" presStyleCnt="5"/>
      <dgm:spPr/>
    </dgm:pt>
    <dgm:pt modelId="{6AE92AFF-726C-4DE8-8464-6A9260DA6DB0}" type="pres">
      <dgm:prSet presAssocID="{CDECAE0E-4E39-440A-81D6-F4B9F11A84C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AE67CB79-D1EF-4585-97C1-7C055D61B5DC}" type="pres">
      <dgm:prSet presAssocID="{CDECAE0E-4E39-440A-81D6-F4B9F11A84CE}" presName="spaceRect" presStyleCnt="0"/>
      <dgm:spPr/>
    </dgm:pt>
    <dgm:pt modelId="{438A603B-683B-4AB2-B82D-C74B516C1C5E}" type="pres">
      <dgm:prSet presAssocID="{CDECAE0E-4E39-440A-81D6-F4B9F11A84CE}" presName="parTx" presStyleLbl="revTx" presStyleIdx="1" presStyleCnt="5">
        <dgm:presLayoutVars>
          <dgm:chMax val="0"/>
          <dgm:chPref val="0"/>
        </dgm:presLayoutVars>
      </dgm:prSet>
      <dgm:spPr/>
    </dgm:pt>
    <dgm:pt modelId="{FAF611A7-CC09-4D7F-87E2-ABD31298A5D5}" type="pres">
      <dgm:prSet presAssocID="{5CE23711-02C0-458E-91B1-7A7F6304B698}" presName="sibTrans" presStyleCnt="0"/>
      <dgm:spPr/>
    </dgm:pt>
    <dgm:pt modelId="{13CBE73A-51A0-46B9-B2AA-4FBEC6679B77}" type="pres">
      <dgm:prSet presAssocID="{786D5EFD-419D-4B32-A996-AAA492AD9439}" presName="compNode" presStyleCnt="0"/>
      <dgm:spPr/>
    </dgm:pt>
    <dgm:pt modelId="{CEDDF74C-0FD3-42B6-885E-AD55CB722B30}" type="pres">
      <dgm:prSet presAssocID="{786D5EFD-419D-4B32-A996-AAA492AD9439}" presName="bgRect" presStyleLbl="bgShp" presStyleIdx="2" presStyleCnt="5"/>
      <dgm:spPr/>
    </dgm:pt>
    <dgm:pt modelId="{C7CA6526-B9CE-4DBC-88E7-C6AB7B9A2918}" type="pres">
      <dgm:prSet presAssocID="{786D5EFD-419D-4B32-A996-AAA492AD943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75E6DFA5-7EF7-4B3A-993B-9FA390C09202}" type="pres">
      <dgm:prSet presAssocID="{786D5EFD-419D-4B32-A996-AAA492AD9439}" presName="spaceRect" presStyleCnt="0"/>
      <dgm:spPr/>
    </dgm:pt>
    <dgm:pt modelId="{16EED5A7-D50C-4443-BB04-0CD430D00E4E}" type="pres">
      <dgm:prSet presAssocID="{786D5EFD-419D-4B32-A996-AAA492AD9439}" presName="parTx" presStyleLbl="revTx" presStyleIdx="2" presStyleCnt="5">
        <dgm:presLayoutVars>
          <dgm:chMax val="0"/>
          <dgm:chPref val="0"/>
        </dgm:presLayoutVars>
      </dgm:prSet>
      <dgm:spPr/>
    </dgm:pt>
    <dgm:pt modelId="{0953249D-0C18-4D6D-9C9D-DF21E51D36C7}" type="pres">
      <dgm:prSet presAssocID="{14F94C7D-6E87-4F11-AB46-513A0787403F}" presName="sibTrans" presStyleCnt="0"/>
      <dgm:spPr/>
    </dgm:pt>
    <dgm:pt modelId="{A30D58EA-881E-4A07-B737-422128BF122B}" type="pres">
      <dgm:prSet presAssocID="{DF203F95-EACF-418A-BBF4-719D276C3900}" presName="compNode" presStyleCnt="0"/>
      <dgm:spPr/>
    </dgm:pt>
    <dgm:pt modelId="{D8A6309E-54F1-41C5-AA32-9C7DE0689AC7}" type="pres">
      <dgm:prSet presAssocID="{DF203F95-EACF-418A-BBF4-719D276C3900}" presName="bgRect" presStyleLbl="bgShp" presStyleIdx="3" presStyleCnt="5"/>
      <dgm:spPr/>
    </dgm:pt>
    <dgm:pt modelId="{7BE7BD24-223E-4FED-8783-736C019B8C1D}" type="pres">
      <dgm:prSet presAssocID="{DF203F95-EACF-418A-BBF4-719D276C390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FA88A78-17BF-4567-8DB8-09538CB83045}" type="pres">
      <dgm:prSet presAssocID="{DF203F95-EACF-418A-BBF4-719D276C3900}" presName="spaceRect" presStyleCnt="0"/>
      <dgm:spPr/>
    </dgm:pt>
    <dgm:pt modelId="{2F7D39BD-FD0C-4840-81D4-A739EBF22F45}" type="pres">
      <dgm:prSet presAssocID="{DF203F95-EACF-418A-BBF4-719D276C3900}" presName="parTx" presStyleLbl="revTx" presStyleIdx="3" presStyleCnt="5">
        <dgm:presLayoutVars>
          <dgm:chMax val="0"/>
          <dgm:chPref val="0"/>
        </dgm:presLayoutVars>
      </dgm:prSet>
      <dgm:spPr/>
    </dgm:pt>
    <dgm:pt modelId="{1671E06F-DA32-45B7-AC41-5DB546C121F0}" type="pres">
      <dgm:prSet presAssocID="{780F28F4-3242-4484-937F-074D73828A5A}" presName="sibTrans" presStyleCnt="0"/>
      <dgm:spPr/>
    </dgm:pt>
    <dgm:pt modelId="{9D8935D6-96B7-48ED-9CAB-657A511E2382}" type="pres">
      <dgm:prSet presAssocID="{83B37128-C536-4410-8577-E92B42B3B846}" presName="compNode" presStyleCnt="0"/>
      <dgm:spPr/>
    </dgm:pt>
    <dgm:pt modelId="{EB46B1D3-6EE1-4270-BE3F-7FC8E2476E6B}" type="pres">
      <dgm:prSet presAssocID="{83B37128-C536-4410-8577-E92B42B3B846}" presName="bgRect" presStyleLbl="bgShp" presStyleIdx="4" presStyleCnt="5"/>
      <dgm:spPr/>
    </dgm:pt>
    <dgm:pt modelId="{FE5561DE-1340-426C-8537-F697716107F2}" type="pres">
      <dgm:prSet presAssocID="{83B37128-C536-4410-8577-E92B42B3B84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87F2884-8BFD-430E-B291-17CDCBC0F8A4}" type="pres">
      <dgm:prSet presAssocID="{83B37128-C536-4410-8577-E92B42B3B846}" presName="spaceRect" presStyleCnt="0"/>
      <dgm:spPr/>
    </dgm:pt>
    <dgm:pt modelId="{24DA57D3-C62A-4814-9735-CB0162E9B312}" type="pres">
      <dgm:prSet presAssocID="{83B37128-C536-4410-8577-E92B42B3B84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EE6B104-8D24-4C1C-85BE-3F007A266D26}" type="presOf" srcId="{786D5EFD-419D-4B32-A996-AAA492AD9439}" destId="{16EED5A7-D50C-4443-BB04-0CD430D00E4E}" srcOrd="0" destOrd="0" presId="urn:microsoft.com/office/officeart/2018/2/layout/IconVerticalSolidList"/>
    <dgm:cxn modelId="{C9326A07-E35A-45AB-907C-0A3E9FFC1554}" srcId="{8EC76C09-858B-4B4F-9E08-26B5DFD22518}" destId="{83B37128-C536-4410-8577-E92B42B3B846}" srcOrd="4" destOrd="0" parTransId="{A206A016-5C1E-4B99-8584-A7A8FFC0BB37}" sibTransId="{ECB600DE-23C1-48B2-99AA-450EE36F5516}"/>
    <dgm:cxn modelId="{3AB4361B-8CBB-4B8D-A39C-A709AD0C0099}" srcId="{8EC76C09-858B-4B4F-9E08-26B5DFD22518}" destId="{CDECAE0E-4E39-440A-81D6-F4B9F11A84CE}" srcOrd="1" destOrd="0" parTransId="{F3E218D0-2218-4526-91F6-7BED646A06EF}" sibTransId="{5CE23711-02C0-458E-91B1-7A7F6304B698}"/>
    <dgm:cxn modelId="{C9B19C41-D582-4CAE-ABF4-33EAA90B84DE}" type="presOf" srcId="{83B37128-C536-4410-8577-E92B42B3B846}" destId="{24DA57D3-C62A-4814-9735-CB0162E9B312}" srcOrd="0" destOrd="0" presId="urn:microsoft.com/office/officeart/2018/2/layout/IconVerticalSolidList"/>
    <dgm:cxn modelId="{DFACC46D-33EA-4092-8858-13B2C05CD760}" srcId="{8EC76C09-858B-4B4F-9E08-26B5DFD22518}" destId="{786D5EFD-419D-4B32-A996-AAA492AD9439}" srcOrd="2" destOrd="0" parTransId="{66FFAC0A-34D4-45E2-84FA-BABB9169BA0D}" sibTransId="{14F94C7D-6E87-4F11-AB46-513A0787403F}"/>
    <dgm:cxn modelId="{C4D4488C-A1D8-48FD-978B-617BD23A9CBD}" srcId="{8EC76C09-858B-4B4F-9E08-26B5DFD22518}" destId="{F1A6078A-5787-4F36-B225-AEF12FC670E9}" srcOrd="0" destOrd="0" parTransId="{ED632505-E04B-498F-BCEF-F13D97A7C3B5}" sibTransId="{A21DCF1E-D918-4A28-9648-5D1909B116A5}"/>
    <dgm:cxn modelId="{7AFBC68F-231C-4235-B6AB-111536B6F50B}" type="presOf" srcId="{F1A6078A-5787-4F36-B225-AEF12FC670E9}" destId="{26DA3ECF-6C38-42D3-9383-4FD405A903A6}" srcOrd="0" destOrd="0" presId="urn:microsoft.com/office/officeart/2018/2/layout/IconVerticalSolidList"/>
    <dgm:cxn modelId="{93A3679B-EFAE-4206-A23D-99A0C3847FD6}" type="presOf" srcId="{DF203F95-EACF-418A-BBF4-719D276C3900}" destId="{2F7D39BD-FD0C-4840-81D4-A739EBF22F45}" srcOrd="0" destOrd="0" presId="urn:microsoft.com/office/officeart/2018/2/layout/IconVerticalSolidList"/>
    <dgm:cxn modelId="{0C56D0BF-A901-4852-95BA-6F02401C692A}" type="presOf" srcId="{8EC76C09-858B-4B4F-9E08-26B5DFD22518}" destId="{95290AF8-0707-42EB-A12D-D796333D6B0F}" srcOrd="0" destOrd="0" presId="urn:microsoft.com/office/officeart/2018/2/layout/IconVerticalSolidList"/>
    <dgm:cxn modelId="{BA7675EB-C712-456E-9B86-4E200C601801}" type="presOf" srcId="{CDECAE0E-4E39-440A-81D6-F4B9F11A84CE}" destId="{438A603B-683B-4AB2-B82D-C74B516C1C5E}" srcOrd="0" destOrd="0" presId="urn:microsoft.com/office/officeart/2018/2/layout/IconVerticalSolidList"/>
    <dgm:cxn modelId="{3B7F95F9-DE3A-4FB4-A71B-ABB90FE61F09}" srcId="{8EC76C09-858B-4B4F-9E08-26B5DFD22518}" destId="{DF203F95-EACF-418A-BBF4-719D276C3900}" srcOrd="3" destOrd="0" parTransId="{F392EB46-F33A-4FDE-941D-7449C1F657F3}" sibTransId="{780F28F4-3242-4484-937F-074D73828A5A}"/>
    <dgm:cxn modelId="{FA2F9779-50E3-4896-A642-FF6BE25BD745}" type="presParOf" srcId="{95290AF8-0707-42EB-A12D-D796333D6B0F}" destId="{197251DB-DDED-4E07-95BE-CFEBC77CBB1F}" srcOrd="0" destOrd="0" presId="urn:microsoft.com/office/officeart/2018/2/layout/IconVerticalSolidList"/>
    <dgm:cxn modelId="{B18E0BB1-E6A9-4D3A-88F6-A54388913BE7}" type="presParOf" srcId="{197251DB-DDED-4E07-95BE-CFEBC77CBB1F}" destId="{3330BD12-7EAB-47D9-8C6D-DCD54F488193}" srcOrd="0" destOrd="0" presId="urn:microsoft.com/office/officeart/2018/2/layout/IconVerticalSolidList"/>
    <dgm:cxn modelId="{30DE33FA-14C0-4D37-B305-E91645113CBC}" type="presParOf" srcId="{197251DB-DDED-4E07-95BE-CFEBC77CBB1F}" destId="{4025E2BB-8158-47BB-8AF8-F56348B965FE}" srcOrd="1" destOrd="0" presId="urn:microsoft.com/office/officeart/2018/2/layout/IconVerticalSolidList"/>
    <dgm:cxn modelId="{7EDA0C58-EA16-4927-BEE2-0AC4A2E79C39}" type="presParOf" srcId="{197251DB-DDED-4E07-95BE-CFEBC77CBB1F}" destId="{3E9F4E74-1B68-47D9-89C0-31C4C3E00E5E}" srcOrd="2" destOrd="0" presId="urn:microsoft.com/office/officeart/2018/2/layout/IconVerticalSolidList"/>
    <dgm:cxn modelId="{2B81417D-CB1A-4662-8EAE-8864C105CF67}" type="presParOf" srcId="{197251DB-DDED-4E07-95BE-CFEBC77CBB1F}" destId="{26DA3ECF-6C38-42D3-9383-4FD405A903A6}" srcOrd="3" destOrd="0" presId="urn:microsoft.com/office/officeart/2018/2/layout/IconVerticalSolidList"/>
    <dgm:cxn modelId="{B002C902-0E4A-41C0-AB10-6449C496FFA3}" type="presParOf" srcId="{95290AF8-0707-42EB-A12D-D796333D6B0F}" destId="{5976FC45-3255-4E25-B27D-E090C79F886A}" srcOrd="1" destOrd="0" presId="urn:microsoft.com/office/officeart/2018/2/layout/IconVerticalSolidList"/>
    <dgm:cxn modelId="{01535D9F-9421-4A0D-8818-A73E2A811B5E}" type="presParOf" srcId="{95290AF8-0707-42EB-A12D-D796333D6B0F}" destId="{4205BF6C-0D45-4FB3-8C44-7547D37AB58A}" srcOrd="2" destOrd="0" presId="urn:microsoft.com/office/officeart/2018/2/layout/IconVerticalSolidList"/>
    <dgm:cxn modelId="{447FE66C-7430-4C5C-80CF-35E774F5FA21}" type="presParOf" srcId="{4205BF6C-0D45-4FB3-8C44-7547D37AB58A}" destId="{D1D4809A-795A-49FF-9F2D-B41B03ECE781}" srcOrd="0" destOrd="0" presId="urn:microsoft.com/office/officeart/2018/2/layout/IconVerticalSolidList"/>
    <dgm:cxn modelId="{67BC9986-2BF7-4C8E-85D7-2AE7A1E999B9}" type="presParOf" srcId="{4205BF6C-0D45-4FB3-8C44-7547D37AB58A}" destId="{6AE92AFF-726C-4DE8-8464-6A9260DA6DB0}" srcOrd="1" destOrd="0" presId="urn:microsoft.com/office/officeart/2018/2/layout/IconVerticalSolidList"/>
    <dgm:cxn modelId="{B89EC44D-792E-4676-8589-8E9BDC4B71D1}" type="presParOf" srcId="{4205BF6C-0D45-4FB3-8C44-7547D37AB58A}" destId="{AE67CB79-D1EF-4585-97C1-7C055D61B5DC}" srcOrd="2" destOrd="0" presId="urn:microsoft.com/office/officeart/2018/2/layout/IconVerticalSolidList"/>
    <dgm:cxn modelId="{FEF177A1-5471-41EC-9E85-FD8DEAE5F0A8}" type="presParOf" srcId="{4205BF6C-0D45-4FB3-8C44-7547D37AB58A}" destId="{438A603B-683B-4AB2-B82D-C74B516C1C5E}" srcOrd="3" destOrd="0" presId="urn:microsoft.com/office/officeart/2018/2/layout/IconVerticalSolidList"/>
    <dgm:cxn modelId="{F76E5683-EEE7-44F0-8627-9690FD2BC889}" type="presParOf" srcId="{95290AF8-0707-42EB-A12D-D796333D6B0F}" destId="{FAF611A7-CC09-4D7F-87E2-ABD31298A5D5}" srcOrd="3" destOrd="0" presId="urn:microsoft.com/office/officeart/2018/2/layout/IconVerticalSolidList"/>
    <dgm:cxn modelId="{FB9581D5-42D4-4A6B-8686-285EBDB41AF4}" type="presParOf" srcId="{95290AF8-0707-42EB-A12D-D796333D6B0F}" destId="{13CBE73A-51A0-46B9-B2AA-4FBEC6679B77}" srcOrd="4" destOrd="0" presId="urn:microsoft.com/office/officeart/2018/2/layout/IconVerticalSolidList"/>
    <dgm:cxn modelId="{5484F6C1-58DD-4582-8F9A-F29109FF1C73}" type="presParOf" srcId="{13CBE73A-51A0-46B9-B2AA-4FBEC6679B77}" destId="{CEDDF74C-0FD3-42B6-885E-AD55CB722B30}" srcOrd="0" destOrd="0" presId="urn:microsoft.com/office/officeart/2018/2/layout/IconVerticalSolidList"/>
    <dgm:cxn modelId="{AE1EA602-91F3-4399-A94A-54B5CD5758DE}" type="presParOf" srcId="{13CBE73A-51A0-46B9-B2AA-4FBEC6679B77}" destId="{C7CA6526-B9CE-4DBC-88E7-C6AB7B9A2918}" srcOrd="1" destOrd="0" presId="urn:microsoft.com/office/officeart/2018/2/layout/IconVerticalSolidList"/>
    <dgm:cxn modelId="{8F96A278-99A9-46F6-981B-F2E6639975F6}" type="presParOf" srcId="{13CBE73A-51A0-46B9-B2AA-4FBEC6679B77}" destId="{75E6DFA5-7EF7-4B3A-993B-9FA390C09202}" srcOrd="2" destOrd="0" presId="urn:microsoft.com/office/officeart/2018/2/layout/IconVerticalSolidList"/>
    <dgm:cxn modelId="{2619FC0B-0292-47A3-BAC6-DBE4CDA2E9A7}" type="presParOf" srcId="{13CBE73A-51A0-46B9-B2AA-4FBEC6679B77}" destId="{16EED5A7-D50C-4443-BB04-0CD430D00E4E}" srcOrd="3" destOrd="0" presId="urn:microsoft.com/office/officeart/2018/2/layout/IconVerticalSolidList"/>
    <dgm:cxn modelId="{F98AEBA7-9D60-47C1-B90C-4DDDBD946428}" type="presParOf" srcId="{95290AF8-0707-42EB-A12D-D796333D6B0F}" destId="{0953249D-0C18-4D6D-9C9D-DF21E51D36C7}" srcOrd="5" destOrd="0" presId="urn:microsoft.com/office/officeart/2018/2/layout/IconVerticalSolidList"/>
    <dgm:cxn modelId="{733F9197-CA7F-46DF-BE38-E24486181A37}" type="presParOf" srcId="{95290AF8-0707-42EB-A12D-D796333D6B0F}" destId="{A30D58EA-881E-4A07-B737-422128BF122B}" srcOrd="6" destOrd="0" presId="urn:microsoft.com/office/officeart/2018/2/layout/IconVerticalSolidList"/>
    <dgm:cxn modelId="{B51D5CC2-7DB1-40C8-B856-952E0D7D8FC6}" type="presParOf" srcId="{A30D58EA-881E-4A07-B737-422128BF122B}" destId="{D8A6309E-54F1-41C5-AA32-9C7DE0689AC7}" srcOrd="0" destOrd="0" presId="urn:microsoft.com/office/officeart/2018/2/layout/IconVerticalSolidList"/>
    <dgm:cxn modelId="{B1C97931-CE22-47BC-88F2-B18248DDC38E}" type="presParOf" srcId="{A30D58EA-881E-4A07-B737-422128BF122B}" destId="{7BE7BD24-223E-4FED-8783-736C019B8C1D}" srcOrd="1" destOrd="0" presId="urn:microsoft.com/office/officeart/2018/2/layout/IconVerticalSolidList"/>
    <dgm:cxn modelId="{56DD2D65-F8D6-4064-A560-7429FE6CF101}" type="presParOf" srcId="{A30D58EA-881E-4A07-B737-422128BF122B}" destId="{5FA88A78-17BF-4567-8DB8-09538CB83045}" srcOrd="2" destOrd="0" presId="urn:microsoft.com/office/officeart/2018/2/layout/IconVerticalSolidList"/>
    <dgm:cxn modelId="{AD57CC96-05AB-4B8F-BA27-753FE77E9624}" type="presParOf" srcId="{A30D58EA-881E-4A07-B737-422128BF122B}" destId="{2F7D39BD-FD0C-4840-81D4-A739EBF22F45}" srcOrd="3" destOrd="0" presId="urn:microsoft.com/office/officeart/2018/2/layout/IconVerticalSolidList"/>
    <dgm:cxn modelId="{5BF87BE8-C741-4134-8103-4F96941C28A4}" type="presParOf" srcId="{95290AF8-0707-42EB-A12D-D796333D6B0F}" destId="{1671E06F-DA32-45B7-AC41-5DB546C121F0}" srcOrd="7" destOrd="0" presId="urn:microsoft.com/office/officeart/2018/2/layout/IconVerticalSolidList"/>
    <dgm:cxn modelId="{AE33F017-B993-4FB8-9ED8-2BBD1256160D}" type="presParOf" srcId="{95290AF8-0707-42EB-A12D-D796333D6B0F}" destId="{9D8935D6-96B7-48ED-9CAB-657A511E2382}" srcOrd="8" destOrd="0" presId="urn:microsoft.com/office/officeart/2018/2/layout/IconVerticalSolidList"/>
    <dgm:cxn modelId="{2DB5E1E3-3AA9-4D6D-BEB5-B4FFDFE1DF9E}" type="presParOf" srcId="{9D8935D6-96B7-48ED-9CAB-657A511E2382}" destId="{EB46B1D3-6EE1-4270-BE3F-7FC8E2476E6B}" srcOrd="0" destOrd="0" presId="urn:microsoft.com/office/officeart/2018/2/layout/IconVerticalSolidList"/>
    <dgm:cxn modelId="{DADA9FF2-37CC-43EC-920B-D2C6011ACB15}" type="presParOf" srcId="{9D8935D6-96B7-48ED-9CAB-657A511E2382}" destId="{FE5561DE-1340-426C-8537-F697716107F2}" srcOrd="1" destOrd="0" presId="urn:microsoft.com/office/officeart/2018/2/layout/IconVerticalSolidList"/>
    <dgm:cxn modelId="{17D1B17E-01EC-40CE-A666-32F07646194E}" type="presParOf" srcId="{9D8935D6-96B7-48ED-9CAB-657A511E2382}" destId="{787F2884-8BFD-430E-B291-17CDCBC0F8A4}" srcOrd="2" destOrd="0" presId="urn:microsoft.com/office/officeart/2018/2/layout/IconVerticalSolidList"/>
    <dgm:cxn modelId="{95831267-C691-4B99-8C7E-0AC700159A54}" type="presParOf" srcId="{9D8935D6-96B7-48ED-9CAB-657A511E2382}" destId="{24DA57D3-C62A-4814-9735-CB0162E9B3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0BE29-2ADF-49E8-A6DA-74978A36FCFE}">
      <dsp:nvSpPr>
        <dsp:cNvPr id="0" name=""/>
        <dsp:cNvSpPr/>
      </dsp:nvSpPr>
      <dsp:spPr>
        <a:xfrm>
          <a:off x="1247" y="1295011"/>
          <a:ext cx="732375" cy="732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0D082-6CB4-4364-B794-06FB84ADC805}">
      <dsp:nvSpPr>
        <dsp:cNvPr id="0" name=""/>
        <dsp:cNvSpPr/>
      </dsp:nvSpPr>
      <dsp:spPr>
        <a:xfrm>
          <a:off x="1247" y="2118507"/>
          <a:ext cx="2092500" cy="31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Services over technology</a:t>
          </a:r>
        </a:p>
      </dsp:txBody>
      <dsp:txXfrm>
        <a:off x="1247" y="2118507"/>
        <a:ext cx="2092500" cy="313875"/>
      </dsp:txXfrm>
    </dsp:sp>
    <dsp:sp modelId="{1DDD96DF-E050-4A35-84B1-883F60C6EF78}">
      <dsp:nvSpPr>
        <dsp:cNvPr id="0" name=""/>
        <dsp:cNvSpPr/>
      </dsp:nvSpPr>
      <dsp:spPr>
        <a:xfrm>
          <a:off x="1247" y="2474764"/>
          <a:ext cx="2092500" cy="939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ITSM isn’t just about servers, networks, or software – it’s about how those things help people and the business</a:t>
          </a:r>
        </a:p>
      </dsp:txBody>
      <dsp:txXfrm>
        <a:off x="1247" y="2474764"/>
        <a:ext cx="2092500" cy="939355"/>
      </dsp:txXfrm>
    </dsp:sp>
    <dsp:sp modelId="{79D8C975-94A8-403B-9619-50764353242C}">
      <dsp:nvSpPr>
        <dsp:cNvPr id="0" name=""/>
        <dsp:cNvSpPr/>
      </dsp:nvSpPr>
      <dsp:spPr>
        <a:xfrm>
          <a:off x="2459935" y="1295011"/>
          <a:ext cx="732375" cy="732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394AE-CCD1-4F6F-ACC4-EB6CCC5596DE}">
      <dsp:nvSpPr>
        <dsp:cNvPr id="0" name=""/>
        <dsp:cNvSpPr/>
      </dsp:nvSpPr>
      <dsp:spPr>
        <a:xfrm>
          <a:off x="2459935" y="2118507"/>
          <a:ext cx="2092500" cy="31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Processes over chaos</a:t>
          </a:r>
        </a:p>
      </dsp:txBody>
      <dsp:txXfrm>
        <a:off x="2459935" y="2118507"/>
        <a:ext cx="2092500" cy="313875"/>
      </dsp:txXfrm>
    </dsp:sp>
    <dsp:sp modelId="{29300BA7-52BE-4396-8540-48FB0DEE69DA}">
      <dsp:nvSpPr>
        <dsp:cNvPr id="0" name=""/>
        <dsp:cNvSpPr/>
      </dsp:nvSpPr>
      <dsp:spPr>
        <a:xfrm>
          <a:off x="2459935" y="2474764"/>
          <a:ext cx="2092500" cy="939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Instead of only solving issues as they pop up, ITSM uses structured processes to prevent, manage, and improve IT services</a:t>
          </a:r>
        </a:p>
      </dsp:txBody>
      <dsp:txXfrm>
        <a:off x="2459935" y="2474764"/>
        <a:ext cx="2092500" cy="939355"/>
      </dsp:txXfrm>
    </dsp:sp>
    <dsp:sp modelId="{41C208A3-3D2C-4A42-85E4-ECDD0843A54B}">
      <dsp:nvSpPr>
        <dsp:cNvPr id="0" name=""/>
        <dsp:cNvSpPr/>
      </dsp:nvSpPr>
      <dsp:spPr>
        <a:xfrm>
          <a:off x="4918622" y="1295011"/>
          <a:ext cx="732375" cy="732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46661-5B0F-418F-B6D4-5C5F8258A257}">
      <dsp:nvSpPr>
        <dsp:cNvPr id="0" name=""/>
        <dsp:cNvSpPr/>
      </dsp:nvSpPr>
      <dsp:spPr>
        <a:xfrm>
          <a:off x="4918622" y="2118507"/>
          <a:ext cx="2092500" cy="31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Framework-driven</a:t>
          </a:r>
        </a:p>
      </dsp:txBody>
      <dsp:txXfrm>
        <a:off x="4918622" y="2118507"/>
        <a:ext cx="2092500" cy="313875"/>
      </dsp:txXfrm>
    </dsp:sp>
    <dsp:sp modelId="{F24F88A0-D9CA-4960-8E61-146A3B027A04}">
      <dsp:nvSpPr>
        <dsp:cNvPr id="0" name=""/>
        <dsp:cNvSpPr/>
      </dsp:nvSpPr>
      <dsp:spPr>
        <a:xfrm>
          <a:off x="4918622" y="2474764"/>
          <a:ext cx="2092500" cy="939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Organizations often use frameworks like ITIL (Information Technology Infrastructure Library), COBIT, or ISO/IEC 20000 as guides</a:t>
          </a:r>
        </a:p>
      </dsp:txBody>
      <dsp:txXfrm>
        <a:off x="4918622" y="2474764"/>
        <a:ext cx="2092500" cy="9393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0BD12-7EAB-47D9-8C6D-DCD54F488193}">
      <dsp:nvSpPr>
        <dsp:cNvPr id="0" name=""/>
        <dsp:cNvSpPr/>
      </dsp:nvSpPr>
      <dsp:spPr>
        <a:xfrm>
          <a:off x="0" y="3679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5E2BB-8158-47BB-8AF8-F56348B965FE}">
      <dsp:nvSpPr>
        <dsp:cNvPr id="0" name=""/>
        <dsp:cNvSpPr/>
      </dsp:nvSpPr>
      <dsp:spPr>
        <a:xfrm>
          <a:off x="237047" y="179995"/>
          <a:ext cx="430995" cy="430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A3ECF-6C38-42D3-9383-4FD405A903A6}">
      <dsp:nvSpPr>
        <dsp:cNvPr id="0" name=""/>
        <dsp:cNvSpPr/>
      </dsp:nvSpPr>
      <dsp:spPr>
        <a:xfrm>
          <a:off x="905091" y="3679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Standardizes IT processes</a:t>
          </a:r>
        </a:p>
      </dsp:txBody>
      <dsp:txXfrm>
        <a:off x="905091" y="3679"/>
        <a:ext cx="6107278" cy="783628"/>
      </dsp:txXfrm>
    </dsp:sp>
    <dsp:sp modelId="{D1D4809A-795A-49FF-9F2D-B41B03ECE781}">
      <dsp:nvSpPr>
        <dsp:cNvPr id="0" name=""/>
        <dsp:cNvSpPr/>
      </dsp:nvSpPr>
      <dsp:spPr>
        <a:xfrm>
          <a:off x="0" y="983215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92AFF-726C-4DE8-8464-6A9260DA6DB0}">
      <dsp:nvSpPr>
        <dsp:cNvPr id="0" name=""/>
        <dsp:cNvSpPr/>
      </dsp:nvSpPr>
      <dsp:spPr>
        <a:xfrm>
          <a:off x="237047" y="1159531"/>
          <a:ext cx="430995" cy="430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A603B-683B-4AB2-B82D-C74B516C1C5E}">
      <dsp:nvSpPr>
        <dsp:cNvPr id="0" name=""/>
        <dsp:cNvSpPr/>
      </dsp:nvSpPr>
      <dsp:spPr>
        <a:xfrm>
          <a:off x="905091" y="983215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Improves service quality &amp; customer satisfaction</a:t>
          </a:r>
        </a:p>
      </dsp:txBody>
      <dsp:txXfrm>
        <a:off x="905091" y="983215"/>
        <a:ext cx="6107278" cy="783628"/>
      </dsp:txXfrm>
    </dsp:sp>
    <dsp:sp modelId="{CEDDF74C-0FD3-42B6-885E-AD55CB722B30}">
      <dsp:nvSpPr>
        <dsp:cNvPr id="0" name=""/>
        <dsp:cNvSpPr/>
      </dsp:nvSpPr>
      <dsp:spPr>
        <a:xfrm>
          <a:off x="0" y="1962751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A6526-B9CE-4DBC-88E7-C6AB7B9A2918}">
      <dsp:nvSpPr>
        <dsp:cNvPr id="0" name=""/>
        <dsp:cNvSpPr/>
      </dsp:nvSpPr>
      <dsp:spPr>
        <a:xfrm>
          <a:off x="237047" y="2139067"/>
          <a:ext cx="430995" cy="430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ED5A7-D50C-4443-BB04-0CD430D00E4E}">
      <dsp:nvSpPr>
        <dsp:cNvPr id="0" name=""/>
        <dsp:cNvSpPr/>
      </dsp:nvSpPr>
      <dsp:spPr>
        <a:xfrm>
          <a:off x="905091" y="1962751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downtime</a:t>
          </a:r>
        </a:p>
      </dsp:txBody>
      <dsp:txXfrm>
        <a:off x="905091" y="1962751"/>
        <a:ext cx="6107278" cy="783628"/>
      </dsp:txXfrm>
    </dsp:sp>
    <dsp:sp modelId="{D8A6309E-54F1-41C5-AA32-9C7DE0689AC7}">
      <dsp:nvSpPr>
        <dsp:cNvPr id="0" name=""/>
        <dsp:cNvSpPr/>
      </dsp:nvSpPr>
      <dsp:spPr>
        <a:xfrm>
          <a:off x="0" y="2942287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7BD24-223E-4FED-8783-736C019B8C1D}">
      <dsp:nvSpPr>
        <dsp:cNvPr id="0" name=""/>
        <dsp:cNvSpPr/>
      </dsp:nvSpPr>
      <dsp:spPr>
        <a:xfrm>
          <a:off x="237047" y="3118603"/>
          <a:ext cx="430995" cy="430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D39BD-FD0C-4840-81D4-A739EBF22F45}">
      <dsp:nvSpPr>
        <dsp:cNvPr id="0" name=""/>
        <dsp:cNvSpPr/>
      </dsp:nvSpPr>
      <dsp:spPr>
        <a:xfrm>
          <a:off x="905091" y="2942287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Aligns IT with business needs</a:t>
          </a:r>
        </a:p>
      </dsp:txBody>
      <dsp:txXfrm>
        <a:off x="905091" y="2942287"/>
        <a:ext cx="6107278" cy="783628"/>
      </dsp:txXfrm>
    </dsp:sp>
    <dsp:sp modelId="{EB46B1D3-6EE1-4270-BE3F-7FC8E2476E6B}">
      <dsp:nvSpPr>
        <dsp:cNvPr id="0" name=""/>
        <dsp:cNvSpPr/>
      </dsp:nvSpPr>
      <dsp:spPr>
        <a:xfrm>
          <a:off x="0" y="3921823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561DE-1340-426C-8537-F697716107F2}">
      <dsp:nvSpPr>
        <dsp:cNvPr id="0" name=""/>
        <dsp:cNvSpPr/>
      </dsp:nvSpPr>
      <dsp:spPr>
        <a:xfrm>
          <a:off x="237047" y="4098139"/>
          <a:ext cx="430995" cy="4309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A57D3-C62A-4814-9735-CB0162E9B312}">
      <dsp:nvSpPr>
        <dsp:cNvPr id="0" name=""/>
        <dsp:cNvSpPr/>
      </dsp:nvSpPr>
      <dsp:spPr>
        <a:xfrm>
          <a:off x="905091" y="3921823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Provides measurable metrics for IT performance </a:t>
          </a:r>
        </a:p>
      </dsp:txBody>
      <dsp:txXfrm>
        <a:off x="905091" y="3921823"/>
        <a:ext cx="6107278" cy="783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icenow.com/community/" TargetMode="External"/><Relationship Id="rId2" Type="http://schemas.openxmlformats.org/officeDocument/2006/relationships/hyperlink" Target="https://www.servicenow.com/docs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servicenow.com/dev.do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rvicenow.com/docs/bundle/xanadu-platform-administration/page/administer/plugins/concept/c_ServiceNowPlugin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Service 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D7622E4E-6271-FAF7-80FD-0DAEECD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99" y="1576734"/>
            <a:ext cx="5427258" cy="9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ITSM</a:t>
            </a:r>
          </a:p>
          <a:p>
            <a:pPr marL="305435" indent="-305435"/>
            <a:r>
              <a:rPr lang="en-US" dirty="0"/>
              <a:t>ITIL</a:t>
            </a:r>
          </a:p>
          <a:p>
            <a:pPr marL="305435" indent="-305435"/>
            <a:r>
              <a:rPr lang="en-US" dirty="0"/>
              <a:t>What is Service Now?</a:t>
            </a:r>
          </a:p>
          <a:p>
            <a:pPr marL="305435" indent="-305435"/>
            <a:r>
              <a:rPr lang="en-US" dirty="0"/>
              <a:t>SNOW Architecture</a:t>
            </a:r>
          </a:p>
          <a:p>
            <a:pPr marL="305435" indent="-305435"/>
            <a:r>
              <a:rPr lang="en-US" dirty="0"/>
              <a:t>SNOW Docs &amp; Community</a:t>
            </a:r>
          </a:p>
          <a:p>
            <a:pPr marL="305435" indent="-305435"/>
            <a:r>
              <a:rPr lang="en-US" dirty="0"/>
              <a:t>Personal Developer Instance</a:t>
            </a:r>
          </a:p>
          <a:p>
            <a:pPr marL="305435" indent="-305435"/>
            <a:r>
              <a:rPr lang="en-US" dirty="0"/>
              <a:t>Plugins</a:t>
            </a:r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ITSM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IT Service Management (ITSM) </a:t>
            </a:r>
            <a:r>
              <a:rPr lang="en-US" dirty="0">
                <a:latin typeface="Gill Sans MT"/>
                <a:cs typeface="Segoe UI"/>
              </a:rPr>
              <a:t>is the practice of managing IT services in a structured and process-driven way. 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IT Services </a:t>
            </a:r>
            <a:r>
              <a:rPr lang="en-US" dirty="0">
                <a:latin typeface="Gill Sans MT"/>
                <a:cs typeface="Segoe UI"/>
              </a:rPr>
              <a:t>are the various technologies and support that an organization provides to its employees, customers, or partners </a:t>
            </a:r>
          </a:p>
          <a:p>
            <a:pPr marL="305435" indent="-305435"/>
            <a:endParaRPr lang="en-US" dirty="0">
              <a:latin typeface="Gill Sans MT"/>
              <a:cs typeface="Segoe UI"/>
            </a:endParaRPr>
          </a:p>
          <a:p>
            <a:pPr marL="305435" indent="-305435"/>
            <a:endParaRPr lang="en-US" dirty="0">
              <a:latin typeface="Gill Sans MT"/>
              <a:cs typeface="Segoe UI"/>
            </a:endParaRPr>
          </a:p>
          <a:p>
            <a:pPr marL="305435" indent="-305435"/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Larger Concept</a:t>
            </a:r>
            <a:r>
              <a:rPr lang="en-US" dirty="0">
                <a:latin typeface="Gill Sans MT"/>
                <a:cs typeface="Segoe UI"/>
              </a:rPr>
              <a:t>: Instead of IT being reactive (‘something’s broken, fix it), ITSM focuses on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delivering IT as a service</a:t>
            </a:r>
            <a:r>
              <a:rPr lang="en-US" dirty="0">
                <a:latin typeface="Gill Sans MT"/>
                <a:cs typeface="Segoe UI"/>
              </a:rPr>
              <a:t> that aligns with business goals. 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DC969F4-277E-4F95-9ABB-0421358B0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C2334-A5BD-B110-8BA5-F440FF5B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ITSM Core Concepts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B62B70-0FFB-4EBC-A23C-3EE215C71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448DF1-A468-4624-99E7-933CC6207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7DD6E9-9BF0-44B2-A5B9-1CE2477A4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E2BD0E-96C7-4908-AD02-AD9AC69C9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83A291-73C8-4A73-8305-1581C89D9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58786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39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ITSM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Some common processes (from ITIL) include: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Incident Management </a:t>
            </a:r>
            <a:r>
              <a:rPr lang="en-US" dirty="0"/>
              <a:t>= restore service quickly when something breaks (Example: Fixing a crashed email server)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Problem Management </a:t>
            </a:r>
            <a:r>
              <a:rPr lang="en-US" dirty="0"/>
              <a:t>= find root causes of recurring issues to prevent future incidents (Example: Discovering that email crashes happen due to low storage)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Change Management </a:t>
            </a:r>
            <a:r>
              <a:rPr lang="en-US" dirty="0"/>
              <a:t>= control and minimize risks when making updates to systems (Example: Testing before rolling out a new version of software) 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Service Request Management </a:t>
            </a:r>
            <a:r>
              <a:rPr lang="en-US" dirty="0"/>
              <a:t>= handle routine requests (Example: Employee requests a new laptop)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Configuration Management (CMDB) </a:t>
            </a:r>
            <a:r>
              <a:rPr lang="en-US" dirty="0"/>
              <a:t>= keep track of all IT assets and their relationships (Example: knowing which apps are running on which servers)</a:t>
            </a:r>
          </a:p>
          <a:p>
            <a:pPr marL="305435" indent="-305435"/>
            <a:r>
              <a:rPr lang="en-US" dirty="0">
                <a:solidFill>
                  <a:schemeClr val="accent2"/>
                </a:solidFill>
              </a:rPr>
              <a:t>Service Level Management (SLM) </a:t>
            </a:r>
            <a:r>
              <a:rPr lang="en-US" dirty="0"/>
              <a:t>= define and measure service quality through SLAs (Service Level Agreements)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C969F4-277E-4F95-9ABB-0421358B0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F4FB6-B87A-4B2D-8045-9D73ADA2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Benefits of ITSM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62B70-0FFB-4EBC-A23C-3EE215C71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48DF1-A468-4624-99E7-933CC6207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7DD6E9-9BF0-44B2-A5B9-1CE2477A4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E2BD0E-96C7-4908-AD02-AD9AC69C9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FA5EED-B5E3-9F1F-FE1C-F599F585D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717439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862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BC862-D264-830C-D80C-7E3175A5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Common ITSM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CC5B9DD-223C-C79D-6A0B-E167D9918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ServiceNow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Jira Service Management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BMC Helix (Remedy)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Freshservice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ManageEngine ServiceDesk Plus</a:t>
            </a:r>
          </a:p>
        </p:txBody>
      </p:sp>
    </p:spTree>
    <p:extLst>
      <p:ext uri="{BB962C8B-B14F-4D97-AF65-F5344CB8AC3E}">
        <p14:creationId xmlns:p14="http://schemas.microsoft.com/office/powerpoint/2010/main" val="1404706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86FE-C26A-61CE-E9DD-94EC2AF00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ITIL again?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23788-317C-91A3-F242-D466037AE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ITIL (The Information Technology Infrastructure Library) </a:t>
            </a:r>
            <a:r>
              <a:rPr lang="en-US" dirty="0"/>
              <a:t>is the most widely used framework for ITSM. </a:t>
            </a:r>
          </a:p>
          <a:p>
            <a:pPr lvl="1"/>
            <a:r>
              <a:rPr lang="en-US" dirty="0"/>
              <a:t>It is not a tool or software – it’s a set of best practices</a:t>
            </a:r>
          </a:p>
          <a:p>
            <a:pPr lvl="1"/>
            <a:r>
              <a:rPr lang="en-US" dirty="0"/>
              <a:t>Created in the 80s by the UK government, ITIL has evolved for years</a:t>
            </a:r>
          </a:p>
          <a:p>
            <a:pPr lvl="1"/>
            <a:r>
              <a:rPr lang="en-US" dirty="0"/>
              <a:t>The latest version is ITIL 4 (2019)</a:t>
            </a:r>
          </a:p>
        </p:txBody>
      </p:sp>
    </p:spTree>
    <p:extLst>
      <p:ext uri="{BB962C8B-B14F-4D97-AF65-F5344CB8AC3E}">
        <p14:creationId xmlns:p14="http://schemas.microsoft.com/office/powerpoint/2010/main" val="10213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E487-D9C4-15A1-B1E6-EA3243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ITSM vs ITIL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4E99-52DD-C7C6-87BD-89C254C5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ITSM = the practice of managing IT as a service</a:t>
            </a:r>
          </a:p>
          <a:p>
            <a:r>
              <a:rPr lang="en-US" dirty="0"/>
              <a:t>ITIL = the most popular framework for ITSM, providing best practices and processes</a:t>
            </a:r>
          </a:p>
        </p:txBody>
      </p:sp>
    </p:spTree>
    <p:extLst>
      <p:ext uri="{BB962C8B-B14F-4D97-AF65-F5344CB8AC3E}">
        <p14:creationId xmlns:p14="http://schemas.microsoft.com/office/powerpoint/2010/main" val="386403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C6B4-2B6C-487D-EF9D-B6C01EF8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ITIL Service Value System (SVS)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3DA6-0AAB-987A-1FDC-972B6F0C3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Service Value System (SVS) </a:t>
            </a:r>
            <a:r>
              <a:rPr lang="en-US" dirty="0"/>
              <a:t>describes how all the pieces of ITSM fit together to create value for the business</a:t>
            </a:r>
          </a:p>
          <a:p>
            <a:r>
              <a:rPr lang="en-US" dirty="0"/>
              <a:t>The SVS includes: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Guiding principles </a:t>
            </a:r>
            <a:r>
              <a:rPr lang="en-US" dirty="0"/>
              <a:t>– shape decisions and behaviors everywhere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Governance</a:t>
            </a:r>
            <a:r>
              <a:rPr lang="en-US" dirty="0"/>
              <a:t> – ensures accountability, policies, and direction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Service Value Chain </a:t>
            </a:r>
            <a:r>
              <a:rPr lang="en-US" dirty="0"/>
              <a:t>– the engine of value delivery (Plan =&gt; Engage =&gt; Design =&gt; Build =&gt; Deliver =&gt; Improve)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Practices</a:t>
            </a:r>
            <a:r>
              <a:rPr lang="en-US" dirty="0"/>
              <a:t> (formerly called processes) – the tools in the toolbox (like Incident, Problem, Change)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Continuous Improvement </a:t>
            </a:r>
            <a:r>
              <a:rPr lang="en-US" dirty="0"/>
              <a:t>– the glue that keeps everything evolving</a:t>
            </a:r>
          </a:p>
        </p:txBody>
      </p:sp>
    </p:spTree>
    <p:extLst>
      <p:ext uri="{BB962C8B-B14F-4D97-AF65-F5344CB8AC3E}">
        <p14:creationId xmlns:p14="http://schemas.microsoft.com/office/powerpoint/2010/main" val="2894257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099A-7D11-05E9-C164-772E8299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 Interaction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B460A-740C-BBD3-BACC-E4B1DD429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2" y="2275050"/>
            <a:ext cx="7265626" cy="39896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A2EF3C-4792-AB9B-66FB-228082839668}"/>
              </a:ext>
            </a:extLst>
          </p:cNvPr>
          <p:cNvSpPr txBox="1"/>
          <p:nvPr/>
        </p:nvSpPr>
        <p:spPr>
          <a:xfrm>
            <a:off x="7924801" y="2656114"/>
            <a:ext cx="40712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The SVS is not linear, it’s a system of interactions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An Incident (Practice) triggers engagement (Value Chain) guided by ‘focus on value’ (Principle)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Governance checks if changes align with business objectives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Continuous Improvement feeds back into all of it</a:t>
            </a:r>
          </a:p>
        </p:txBody>
      </p:sp>
    </p:spTree>
    <p:extLst>
      <p:ext uri="{BB962C8B-B14F-4D97-AF65-F5344CB8AC3E}">
        <p14:creationId xmlns:p14="http://schemas.microsoft.com/office/powerpoint/2010/main" val="780583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5BD3-0B61-4FA8-E57E-49693653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4ED0-A4F5-C8D8-D4C4-7DC9F271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86" y="2386684"/>
            <a:ext cx="5093466" cy="3975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Focus on Value</a:t>
            </a:r>
          </a:p>
          <a:p>
            <a:pPr marL="324000" lvl="1" indent="0">
              <a:buNone/>
            </a:pPr>
            <a:r>
              <a:rPr lang="en-US" sz="1400" dirty="0"/>
              <a:t>Always ask: </a:t>
            </a:r>
            <a:r>
              <a:rPr lang="en-US" sz="1400" i="1" dirty="0"/>
              <a:t>Who is the customer, and what is value to them?</a:t>
            </a:r>
            <a:endParaRPr lang="en-US" sz="1400" dirty="0"/>
          </a:p>
          <a:p>
            <a:pPr marL="324000" lvl="1" indent="0">
              <a:buNone/>
            </a:pPr>
            <a:r>
              <a:rPr lang="en-US" sz="1400" dirty="0"/>
              <a:t>Example: Deploying a flashy new dashboard that users don’t need ≠ value.</a:t>
            </a:r>
          </a:p>
          <a:p>
            <a:pPr marL="0" indent="0">
              <a:buNone/>
            </a:pPr>
            <a:r>
              <a:rPr lang="en-US" sz="1400" b="1" dirty="0"/>
              <a:t>Start Where You Are</a:t>
            </a:r>
          </a:p>
          <a:p>
            <a:pPr marL="324000" lvl="1" indent="0">
              <a:buNone/>
            </a:pPr>
            <a:r>
              <a:rPr lang="en-US" sz="1400" dirty="0"/>
              <a:t>Don’t throw away existing processes, tools, or knowledge.</a:t>
            </a:r>
          </a:p>
          <a:p>
            <a:pPr marL="324000" lvl="1" indent="0">
              <a:buNone/>
            </a:pPr>
            <a:r>
              <a:rPr lang="en-US" sz="1400" dirty="0"/>
              <a:t>Assess what you already have before making changes.</a:t>
            </a:r>
          </a:p>
          <a:p>
            <a:pPr marL="0" indent="0">
              <a:buNone/>
            </a:pPr>
            <a:r>
              <a:rPr lang="en-US" sz="1400" b="1" dirty="0"/>
              <a:t>Progress Iteratively with Feedback</a:t>
            </a:r>
          </a:p>
          <a:p>
            <a:pPr marL="324000" lvl="1" indent="0">
              <a:buNone/>
            </a:pPr>
            <a:r>
              <a:rPr lang="en-US" sz="1400" dirty="0"/>
              <a:t>Deliver improvements in </a:t>
            </a:r>
            <a:r>
              <a:rPr lang="en-US" sz="1400" b="1" dirty="0"/>
              <a:t>small, testable steps</a:t>
            </a:r>
            <a:r>
              <a:rPr lang="en-US" sz="1400" dirty="0"/>
              <a:t> instead of giant projects.</a:t>
            </a:r>
          </a:p>
          <a:p>
            <a:pPr marL="324000" lvl="1" indent="0">
              <a:buNone/>
            </a:pPr>
            <a:r>
              <a:rPr lang="en-US" sz="1400" dirty="0"/>
              <a:t>Feedback loops help you adapt quickly.</a:t>
            </a:r>
          </a:p>
          <a:p>
            <a:pPr marL="0" indent="0">
              <a:buNone/>
            </a:pPr>
            <a:r>
              <a:rPr lang="en-US" sz="1400" b="1" dirty="0"/>
              <a:t>Collaborate and Promote Visibility</a:t>
            </a:r>
          </a:p>
          <a:p>
            <a:pPr marL="324000" lvl="1" indent="0">
              <a:buNone/>
            </a:pPr>
            <a:r>
              <a:rPr lang="en-US" sz="1400" dirty="0"/>
              <a:t>Break silos, involve stakeholders, and keep work transparent.</a:t>
            </a:r>
          </a:p>
          <a:p>
            <a:pPr marL="324000" lvl="1" indent="0">
              <a:buNone/>
            </a:pPr>
            <a:r>
              <a:rPr lang="en-US" sz="1400" dirty="0"/>
              <a:t>“No hidden queues” — everyone should see progress and blockers.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00560-CE7F-F4FC-C053-206EAE50AEDF}"/>
              </a:ext>
            </a:extLst>
          </p:cNvPr>
          <p:cNvSpPr txBox="1"/>
          <p:nvPr/>
        </p:nvSpPr>
        <p:spPr>
          <a:xfrm>
            <a:off x="6338048" y="2279724"/>
            <a:ext cx="50934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Think and Work Holistically</a:t>
            </a:r>
            <a:endParaRPr lang="en-US" sz="1400" dirty="0"/>
          </a:p>
          <a:p>
            <a:pPr lvl="1"/>
            <a:r>
              <a:rPr lang="en-US" sz="1400" dirty="0"/>
              <a:t>IT services are complex systems — a change in one area can affect many others.</a:t>
            </a:r>
          </a:p>
          <a:p>
            <a:pPr lvl="1"/>
            <a:r>
              <a:rPr lang="en-US" sz="1400" dirty="0"/>
              <a:t>Always consider people, processes, technology, and partners.</a:t>
            </a:r>
          </a:p>
          <a:p>
            <a:r>
              <a:rPr lang="en-US" sz="1400" b="1" dirty="0"/>
              <a:t>Keep It Simple and Practical</a:t>
            </a:r>
            <a:endParaRPr lang="en-US" sz="1400" dirty="0"/>
          </a:p>
          <a:p>
            <a:pPr lvl="1"/>
            <a:r>
              <a:rPr lang="en-US" sz="1400" dirty="0"/>
              <a:t>If a process or control adds no value, drop it.</a:t>
            </a:r>
          </a:p>
          <a:p>
            <a:pPr lvl="1"/>
            <a:r>
              <a:rPr lang="en-US" sz="1400" dirty="0"/>
              <a:t>Don’t over-engineer.</a:t>
            </a:r>
          </a:p>
          <a:p>
            <a:r>
              <a:rPr lang="en-US" sz="1400" b="1" dirty="0"/>
              <a:t>Optimize and Automate</a:t>
            </a:r>
            <a:endParaRPr lang="en-US" sz="1400" dirty="0"/>
          </a:p>
          <a:p>
            <a:pPr lvl="1"/>
            <a:r>
              <a:rPr lang="en-US" sz="1400" dirty="0"/>
              <a:t>Streamline processes before automating them.</a:t>
            </a:r>
          </a:p>
          <a:p>
            <a:pPr lvl="1"/>
            <a:r>
              <a:rPr lang="en-US" sz="1400" dirty="0"/>
              <a:t>Use automation to handle repetitive tasks, but don’t lose human oversight.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5661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FE91-5A8E-E012-B990-666C8ED7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9709-9A39-9685-0B98-5E8921A5D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Governance</a:t>
            </a:r>
            <a:r>
              <a:rPr lang="en-US" dirty="0"/>
              <a:t> in ITIL is the way an organization is directed and controlled while aligning with strategy, policies, and compliance needs.</a:t>
            </a:r>
          </a:p>
          <a:p>
            <a:r>
              <a:rPr lang="en-US" dirty="0"/>
              <a:t>Sits above the Service Value Chain</a:t>
            </a:r>
          </a:p>
          <a:p>
            <a:r>
              <a:rPr lang="en-US" dirty="0"/>
              <a:t>Influences decisions and controls outputs of the Service Value Chain and Practices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785B16-0B63-A0FC-C9DA-F668764F4421}"/>
              </a:ext>
            </a:extLst>
          </p:cNvPr>
          <p:cNvSpPr txBox="1">
            <a:spLocks/>
          </p:cNvSpPr>
          <p:nvPr/>
        </p:nvSpPr>
        <p:spPr>
          <a:xfrm>
            <a:off x="6096000" y="2180495"/>
            <a:ext cx="55148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Provides </a:t>
            </a:r>
            <a:r>
              <a:rPr lang="en-US" dirty="0">
                <a:solidFill>
                  <a:schemeClr val="accent2"/>
                </a:solidFill>
              </a:rPr>
              <a:t>Direction</a:t>
            </a:r>
            <a:r>
              <a:rPr lang="en-US" dirty="0"/>
              <a:t> – set priorities, vision, and goals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2"/>
                </a:solidFill>
              </a:rPr>
              <a:t>Oversight</a:t>
            </a:r>
            <a:r>
              <a:rPr lang="en-US" dirty="0"/>
              <a:t> – makes sure activities are aligned and compliant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2"/>
                </a:solidFill>
              </a:rPr>
              <a:t>Accountability</a:t>
            </a:r>
            <a:r>
              <a:rPr lang="en-US" dirty="0"/>
              <a:t> – ensures roles, responsibilities, and decision-making are clear</a:t>
            </a:r>
          </a:p>
        </p:txBody>
      </p:sp>
    </p:spTree>
    <p:extLst>
      <p:ext uri="{BB962C8B-B14F-4D97-AF65-F5344CB8AC3E}">
        <p14:creationId xmlns:p14="http://schemas.microsoft.com/office/powerpoint/2010/main" val="396837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3924-6C00-E9FA-C559-DD01302C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Main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8F341-48A8-1C5D-04AE-DF477B19C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Evaluate </a:t>
            </a:r>
          </a:p>
          <a:p>
            <a:pPr lvl="1"/>
            <a:r>
              <a:rPr lang="en-US" dirty="0"/>
              <a:t>Assess the current and future needs of stakeholders</a:t>
            </a:r>
          </a:p>
          <a:p>
            <a:pPr lvl="1"/>
            <a:r>
              <a:rPr lang="en-US" dirty="0"/>
              <a:t>Check risks, opportunities, and resources</a:t>
            </a:r>
          </a:p>
          <a:p>
            <a:pPr lvl="1"/>
            <a:r>
              <a:rPr lang="en-US" dirty="0"/>
              <a:t>Example: Board reviews IT’s cloud strategy</a:t>
            </a:r>
          </a:p>
          <a:p>
            <a:r>
              <a:rPr lang="en-US" dirty="0"/>
              <a:t>Direct</a:t>
            </a:r>
          </a:p>
          <a:p>
            <a:pPr lvl="1"/>
            <a:r>
              <a:rPr lang="en-US" dirty="0"/>
              <a:t>Set priorities, strategies, and policies</a:t>
            </a:r>
          </a:p>
          <a:p>
            <a:pPr lvl="1"/>
            <a:r>
              <a:rPr lang="en-US" dirty="0"/>
              <a:t>Example: Approve a new IT security policy to mandate compliance with GDPR</a:t>
            </a:r>
          </a:p>
          <a:p>
            <a:r>
              <a:rPr lang="en-US" dirty="0"/>
              <a:t>Monitor</a:t>
            </a:r>
          </a:p>
          <a:p>
            <a:pPr lvl="1"/>
            <a:r>
              <a:rPr lang="en-US" dirty="0"/>
              <a:t>Track performance against strategy and policies</a:t>
            </a:r>
          </a:p>
          <a:p>
            <a:pPr lvl="1"/>
            <a:r>
              <a:rPr lang="en-US" dirty="0"/>
              <a:t>Example: Audit reports, SLA dashboards, compliance checks</a:t>
            </a:r>
          </a:p>
        </p:txBody>
      </p:sp>
    </p:spTree>
    <p:extLst>
      <p:ext uri="{BB962C8B-B14F-4D97-AF65-F5344CB8AC3E}">
        <p14:creationId xmlns:p14="http://schemas.microsoft.com/office/powerpoint/2010/main" val="230902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642C-4AF6-79A5-8AED-E53E2013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Value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77534-0D22-8A4F-A14C-2F2BD286A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Service Value Chain (SVC) </a:t>
            </a:r>
            <a:r>
              <a:rPr lang="en-US" dirty="0"/>
              <a:t>describes the key activities an organization performs to create value through services</a:t>
            </a:r>
          </a:p>
          <a:p>
            <a:pPr lvl="1"/>
            <a:r>
              <a:rPr lang="en-US" dirty="0"/>
              <a:t>Transforms inputs (opportunities and demand) into outputs (value for customers) </a:t>
            </a:r>
          </a:p>
        </p:txBody>
      </p:sp>
    </p:spTree>
    <p:extLst>
      <p:ext uri="{BB962C8B-B14F-4D97-AF65-F5344CB8AC3E}">
        <p14:creationId xmlns:p14="http://schemas.microsoft.com/office/powerpoint/2010/main" val="98745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5146-30A9-91C3-D23A-2A4E389A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Key Value Chain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C884-FAF8-D775-D46A-76C55FCA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272"/>
            <a:ext cx="6895373" cy="476025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Plan</a:t>
            </a:r>
            <a:r>
              <a:rPr lang="en-US" dirty="0"/>
              <a:t> – Ensures a shared understanding of the vision, current status, and improvement direction. Aligns organizational strategy with the work being done.</a:t>
            </a:r>
          </a:p>
          <a:p>
            <a:pPr lvl="1"/>
            <a:r>
              <a:rPr lang="en-US" dirty="0"/>
              <a:t>Example: Strategic planning sessions, portfolio management</a:t>
            </a:r>
          </a:p>
          <a:p>
            <a:r>
              <a:rPr lang="en-US" dirty="0">
                <a:solidFill>
                  <a:schemeClr val="accent2"/>
                </a:solidFill>
              </a:rPr>
              <a:t>Engage</a:t>
            </a:r>
            <a:r>
              <a:rPr lang="en-US" dirty="0"/>
              <a:t> – Interactions with stakeholders to understand demand, expectations, and feedback</a:t>
            </a:r>
          </a:p>
          <a:p>
            <a:pPr lvl="1"/>
            <a:r>
              <a:rPr lang="en-US" dirty="0"/>
              <a:t>Example: Service desk interactions, customer surveys</a:t>
            </a:r>
          </a:p>
          <a:p>
            <a:r>
              <a:rPr lang="en-US" dirty="0">
                <a:solidFill>
                  <a:schemeClr val="accent2"/>
                </a:solidFill>
              </a:rPr>
              <a:t>Design &amp; Transition </a:t>
            </a:r>
            <a:r>
              <a:rPr lang="en-US" dirty="0"/>
              <a:t>– Ensures that products and services are designed and transitioned to meet requirements and quality expectations </a:t>
            </a:r>
          </a:p>
          <a:p>
            <a:pPr lvl="1"/>
            <a:r>
              <a:rPr lang="en-US" dirty="0"/>
              <a:t>Example: Developing a new service, implementing changes, deploying updates</a:t>
            </a:r>
          </a:p>
          <a:p>
            <a:r>
              <a:rPr lang="en-US" dirty="0">
                <a:solidFill>
                  <a:schemeClr val="accent2"/>
                </a:solidFill>
              </a:rPr>
              <a:t>Obtain/Build </a:t>
            </a:r>
            <a:r>
              <a:rPr lang="en-US" dirty="0"/>
              <a:t>– Focuses on acquiring or building components required to deliver services</a:t>
            </a:r>
          </a:p>
          <a:p>
            <a:pPr lvl="1"/>
            <a:r>
              <a:rPr lang="en-US" dirty="0"/>
              <a:t>Example: Procuring cloud infrastructure, coding an app, or integrating 3</a:t>
            </a:r>
            <a:r>
              <a:rPr lang="en-US" baseline="30000" dirty="0"/>
              <a:t>rd</a:t>
            </a:r>
            <a:r>
              <a:rPr lang="en-US" dirty="0"/>
              <a:t> party tools</a:t>
            </a:r>
          </a:p>
          <a:p>
            <a:r>
              <a:rPr lang="en-US" dirty="0">
                <a:solidFill>
                  <a:schemeClr val="accent2"/>
                </a:solidFill>
              </a:rPr>
              <a:t>Deliver &amp; Support </a:t>
            </a:r>
            <a:r>
              <a:rPr lang="en-US" dirty="0"/>
              <a:t>– Ensures services are available, reliable, and supported</a:t>
            </a:r>
          </a:p>
          <a:p>
            <a:pPr lvl="1"/>
            <a:r>
              <a:rPr lang="en-US" dirty="0"/>
              <a:t>Example: Running a SaaS platform, managing incidents, providing helpdesk support</a:t>
            </a:r>
          </a:p>
          <a:p>
            <a:r>
              <a:rPr lang="en-US" dirty="0">
                <a:solidFill>
                  <a:schemeClr val="accent2"/>
                </a:solidFill>
              </a:rPr>
              <a:t>Improve</a:t>
            </a:r>
            <a:r>
              <a:rPr lang="en-US" dirty="0"/>
              <a:t> – Continually identifies and implements improvements across services, practices, and the value chain itself </a:t>
            </a:r>
          </a:p>
          <a:p>
            <a:pPr lvl="1"/>
            <a:r>
              <a:rPr lang="en-US" dirty="0"/>
              <a:t>Example: Regular service reviews, performance analysis, continual improvement initiatives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8BFF9-14A1-704B-5BD3-7DE031AE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565" y="2859349"/>
            <a:ext cx="4349396" cy="282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18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EEAA5-40F6-D766-E063-79ABA9F9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ITIL Practices (formerly processes)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36E52-C4BE-3884-889B-BA5593F99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Practices</a:t>
            </a:r>
            <a:r>
              <a:rPr lang="en-US" dirty="0"/>
              <a:t> are sets of organizational resources designed for performing work or accomplishing an objective</a:t>
            </a:r>
          </a:p>
          <a:p>
            <a:pPr lvl="1"/>
            <a:r>
              <a:rPr lang="en-US" dirty="0"/>
              <a:t>Practices are how the SVC executes activities</a:t>
            </a:r>
          </a:p>
          <a:p>
            <a:pPr lvl="1"/>
            <a:r>
              <a:rPr lang="en-US" dirty="0"/>
              <a:t>34 practices grouped into 3 categories</a:t>
            </a:r>
          </a:p>
          <a:p>
            <a:pPr lvl="1"/>
            <a:r>
              <a:rPr lang="en-US" dirty="0"/>
              <a:t>Practices are flexible – we don’t follow a process rigidly, we use it as guidance </a:t>
            </a:r>
          </a:p>
        </p:txBody>
      </p:sp>
    </p:spTree>
    <p:extLst>
      <p:ext uri="{BB962C8B-B14F-4D97-AF65-F5344CB8AC3E}">
        <p14:creationId xmlns:p14="http://schemas.microsoft.com/office/powerpoint/2010/main" val="1796626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A811-F798-2B2A-FDAD-A7015C46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Management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6B2D40-F477-8DC6-30A8-194540DB4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084738"/>
              </p:ext>
            </p:extLst>
          </p:nvPr>
        </p:nvGraphicFramePr>
        <p:xfrm>
          <a:off x="581192" y="2002971"/>
          <a:ext cx="11029616" cy="46624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514808">
                  <a:extLst>
                    <a:ext uri="{9D8B030D-6E8A-4147-A177-3AD203B41FA5}">
                      <a16:colId xmlns:a16="http://schemas.microsoft.com/office/drawing/2014/main" val="11614698"/>
                    </a:ext>
                  </a:extLst>
                </a:gridCol>
                <a:gridCol w="5514808">
                  <a:extLst>
                    <a:ext uri="{9D8B030D-6E8A-4147-A177-3AD203B41FA5}">
                      <a16:colId xmlns:a16="http://schemas.microsoft.com/office/drawing/2014/main" val="95420636"/>
                    </a:ext>
                  </a:extLst>
                </a:gridCol>
              </a:tblGrid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Practice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Purpose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369704017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Continual Improvement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Ongoing improvement of services, practices, and value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66846146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Architecture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Designing and maintaining organizational architectures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177154204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Strategy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Aligning strategy with value creation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1638125367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Portfolio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Managing investments, services, and products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4086170453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Project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Planning and executing projects effectively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229563752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Relationship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Maintaining stakeholder relationships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880251889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Risk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Identifying and managing organizational risks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3795711324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Knowledge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Making information accessible and usable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695540396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Organizational Change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Managing change in organizational culture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174599206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Workforce and Talent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Managing skills and people capabilities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433459085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Measurement and Reporting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Measuring and reporting performance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1771673588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Information Security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Protecting information assets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87629911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Supplier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Managing third-party providers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4077869237"/>
                  </a:ext>
                </a:extLst>
              </a:tr>
              <a:tr h="303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Financial Management</a:t>
                      </a:r>
                    </a:p>
                  </a:txBody>
                  <a:tcPr marL="36508" marR="36508" marT="18254" marB="18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Managing budgeting, accounting, and costs</a:t>
                      </a:r>
                    </a:p>
                  </a:txBody>
                  <a:tcPr marL="36508" marR="36508" marT="18254" marB="18254" anchor="ctr"/>
                </a:tc>
                <a:extLst>
                  <a:ext uri="{0D108BD9-81ED-4DB2-BD59-A6C34878D82A}">
                    <a16:rowId xmlns:a16="http://schemas.microsoft.com/office/drawing/2014/main" val="2631521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34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1B3-F433-8CD7-A80E-F5E9660B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Service Management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2100BB-0D7A-2EEC-A061-1C964000D0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342502"/>
              </p:ext>
            </p:extLst>
          </p:nvPr>
        </p:nvGraphicFramePr>
        <p:xfrm>
          <a:off x="581192" y="1839686"/>
          <a:ext cx="11029616" cy="492323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514808">
                  <a:extLst>
                    <a:ext uri="{9D8B030D-6E8A-4147-A177-3AD203B41FA5}">
                      <a16:colId xmlns:a16="http://schemas.microsoft.com/office/drawing/2014/main" val="2930491870"/>
                    </a:ext>
                  </a:extLst>
                </a:gridCol>
                <a:gridCol w="5514808">
                  <a:extLst>
                    <a:ext uri="{9D8B030D-6E8A-4147-A177-3AD203B41FA5}">
                      <a16:colId xmlns:a16="http://schemas.microsoft.com/office/drawing/2014/main" val="2417583227"/>
                    </a:ext>
                  </a:extLst>
                </a:gridCol>
              </a:tblGrid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Practice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466547570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Desk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Single point of contact for users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4180561521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Incident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Restoring normal service operation quickly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561129611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Problem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Identifying root causes of issues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4110741153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Change Enablement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Managing risk associated with changes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265160212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Level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Defining and monitoring service quality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492708404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Request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Handling user requests efficiently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2109886924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Availability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Ensuring services meet agreed availability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744474690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Capacity and Performance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Optimizing resources for performance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032098798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IT Asset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Managing IT assets through lifecycle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3627096745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Monitoring and Event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Detecting and responding to events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643105862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Continuity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Ensuring service availability under disruption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827399682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Release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Planning and deploying releases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3529046602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Deployment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Deploying components into environments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2267355360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Configuration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Maintaining accurate service information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113831200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Validation and Testing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Ensuring services meet requirements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1160934059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Knowledge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Capturing and sharing knowledge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3651280178"/>
                  </a:ext>
                </a:extLst>
              </a:tr>
              <a:tr h="25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Financial Management</a:t>
                      </a:r>
                    </a:p>
                  </a:txBody>
                  <a:tcPr marL="26269" marR="26269" marT="13134" marB="4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Managing costs of services</a:t>
                      </a:r>
                    </a:p>
                  </a:txBody>
                  <a:tcPr marL="26269" marR="26269" marT="13134" marB="47019" anchor="ctr"/>
                </a:tc>
                <a:extLst>
                  <a:ext uri="{0D108BD9-81ED-4DB2-BD59-A6C34878D82A}">
                    <a16:rowId xmlns:a16="http://schemas.microsoft.com/office/drawing/2014/main" val="700575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90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6E0D-4E0E-2DAB-5335-0A96F5E8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Management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A910EF-1233-3C0B-94D1-96D017BB7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713018"/>
              </p:ext>
            </p:extLst>
          </p:nvPr>
        </p:nvGraphicFramePr>
        <p:xfrm>
          <a:off x="581192" y="2697480"/>
          <a:ext cx="1102995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58792787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530591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42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Technical deployment of components and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56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Infrastructure &amp; Platform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Managing IT infrastructure and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07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Software Development &amp;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Building, maintaining, and supporting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22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321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BC02-1639-E39A-66E5-6694F5D0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7704-0F7B-3713-76CA-8BDA4B273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645232" cy="4220304"/>
          </a:xfrm>
        </p:spPr>
        <p:txBody>
          <a:bodyPr/>
          <a:lstStyle/>
          <a:p>
            <a:r>
              <a:rPr lang="en-US" dirty="0"/>
              <a:t>Definition: The </a:t>
            </a:r>
            <a:r>
              <a:rPr lang="en-US" dirty="0">
                <a:solidFill>
                  <a:schemeClr val="accent2"/>
                </a:solidFill>
              </a:rPr>
              <a:t>Continuous Improvement model </a:t>
            </a:r>
            <a:r>
              <a:rPr lang="en-US" dirty="0"/>
              <a:t>is a 7-step, iterative, and circular process for continuously improving services, processes, and practices to align with changing business needs and stakeholder expectations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D30FB-B44C-DE51-EDA4-A7DE2AAED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509" y="2142531"/>
            <a:ext cx="4744112" cy="4258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8C77D1-29A7-9763-0C72-C4CECAF9B34F}"/>
              </a:ext>
            </a:extLst>
          </p:cNvPr>
          <p:cNvSpPr txBox="1"/>
          <p:nvPr/>
        </p:nvSpPr>
        <p:spPr>
          <a:xfrm>
            <a:off x="7252448" y="1995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B6C3C-18AA-BD0C-DB9C-4BAF0D3C09E9}"/>
              </a:ext>
            </a:extLst>
          </p:cNvPr>
          <p:cNvSpPr txBox="1"/>
          <p:nvPr/>
        </p:nvSpPr>
        <p:spPr>
          <a:xfrm>
            <a:off x="7234520" y="28231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EE7B2-0DD7-BB8A-D759-C30B57925AE1}"/>
              </a:ext>
            </a:extLst>
          </p:cNvPr>
          <p:cNvSpPr txBox="1"/>
          <p:nvPr/>
        </p:nvSpPr>
        <p:spPr>
          <a:xfrm>
            <a:off x="7252448" y="34657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B866-241C-2785-B509-5D3B1FBB620F}"/>
              </a:ext>
            </a:extLst>
          </p:cNvPr>
          <p:cNvSpPr txBox="1"/>
          <p:nvPr/>
        </p:nvSpPr>
        <p:spPr>
          <a:xfrm>
            <a:off x="7205266" y="41235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9DBD4-A1AE-6F2C-8F59-87CE847328B7}"/>
              </a:ext>
            </a:extLst>
          </p:cNvPr>
          <p:cNvSpPr txBox="1"/>
          <p:nvPr/>
        </p:nvSpPr>
        <p:spPr>
          <a:xfrm>
            <a:off x="7234520" y="48040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D4D2C-E972-6CF2-19F1-9BD008918A2B}"/>
              </a:ext>
            </a:extLst>
          </p:cNvPr>
          <p:cNvSpPr txBox="1"/>
          <p:nvPr/>
        </p:nvSpPr>
        <p:spPr>
          <a:xfrm>
            <a:off x="7205266" y="55999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644D6-BCCB-DBA8-8064-C487C2CCA4A6}"/>
              </a:ext>
            </a:extLst>
          </p:cNvPr>
          <p:cNvSpPr txBox="1"/>
          <p:nvPr/>
        </p:nvSpPr>
        <p:spPr>
          <a:xfrm>
            <a:off x="5716468" y="37541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232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5530-E206-36B8-5B6E-2239FA4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73AE-5BF0-99A7-4EA6-49D4DFD3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27530" cy="3985378"/>
          </a:xfrm>
        </p:spPr>
        <p:txBody>
          <a:bodyPr/>
          <a:lstStyle/>
          <a:p>
            <a:pPr marL="305435" indent="-305435"/>
            <a:r>
              <a:rPr lang="en-US" dirty="0"/>
              <a:t>A provider of cloud-based services that automate IT processes and operations</a:t>
            </a:r>
          </a:p>
          <a:p>
            <a:pPr marL="305435" indent="-305435"/>
            <a:r>
              <a:rPr lang="en-US" dirty="0"/>
              <a:t>An ITSM tool</a:t>
            </a:r>
          </a:p>
          <a:p>
            <a:pPr marL="305435" indent="-305435"/>
            <a:r>
              <a:rPr lang="en-US" dirty="0"/>
              <a:t>Can be considered SaaS / PaaS</a:t>
            </a:r>
          </a:p>
          <a:p>
            <a:pPr marL="305435" indent="-305435"/>
            <a:r>
              <a:rPr lang="en-US" dirty="0"/>
              <a:t>ServiceNow Inc is the American company that built the Now Platform and was founded in 2004</a:t>
            </a:r>
          </a:p>
          <a:p>
            <a:pPr marL="305435" indent="-305435"/>
            <a:r>
              <a:rPr lang="en-US" dirty="0"/>
              <a:t>Known for ITSM, ITOM, and CSM product offerings</a:t>
            </a:r>
          </a:p>
        </p:txBody>
      </p:sp>
      <p:pic>
        <p:nvPicPr>
          <p:cNvPr id="4" name="Picture 3" descr="See related image detail. Platform-as-a-Service | Enterprise Cloud Service Management | ServiceNow">
            <a:extLst>
              <a:ext uri="{FF2B5EF4-FFF2-40B4-BE49-F238E27FC236}">
                <a16:creationId xmlns:a16="http://schemas.microsoft.com/office/drawing/2014/main" id="{57CD6E38-079D-4E8C-04DA-13AFA536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60" y="2434330"/>
            <a:ext cx="4829714" cy="34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22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1F64-4318-BEAB-0D1B-193D6512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ITSM, ITOM, CSM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B42D-FB89-36B7-6B0B-A5B30FD5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should know what ITSM is by now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IT Operations Management (ITOM) </a:t>
            </a:r>
            <a:r>
              <a:rPr lang="en-US" dirty="0"/>
              <a:t>supports the performance and availability of IT infrastructure and services, including networks, servers, and applications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Customer Service Management (CSM) </a:t>
            </a:r>
            <a:r>
              <a:rPr lang="en-US" dirty="0"/>
              <a:t>is used to deliver a personalized customer service experience across all communication mediums, i.e. email or phone </a:t>
            </a:r>
          </a:p>
        </p:txBody>
      </p:sp>
    </p:spTree>
    <p:extLst>
      <p:ext uri="{BB962C8B-B14F-4D97-AF65-F5344CB8AC3E}">
        <p14:creationId xmlns:p14="http://schemas.microsoft.com/office/powerpoint/2010/main" val="3773659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FEE68-DEF2-1E57-2A75-E9B82661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Key Benefits of Service Now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9317-1C8F-0745-5275-AA8790AC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Simplified experiences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Empower everyone inside and outside the organization using a simplified layer of engagement with data unified from any system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Purposeful automation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We can take the digital sprawl across the enterprise and deliver an automated, intelligent System of Action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Organizational agility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 low-code and intelligent platform helps meet business needs and is able to pivot and adapt quickly in today's changing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1342308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7873-60F3-21F3-9093-4A2D2DC5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of Service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3E52-0037-A8C1-1058-8829E35C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>
                <a:latin typeface="Gill Sans MT"/>
                <a:cs typeface="Segoe UI"/>
              </a:rPr>
              <a:t>Key features of ServiceNow are:</a:t>
            </a:r>
            <a:endParaRPr lang="en-US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Simple and Consistent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Flexible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Secure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Lower Total Cost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Easy to Intergate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Speed Time to Production</a:t>
            </a:r>
            <a:endParaRPr lang="en-US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385519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615E-3278-D317-694A-5C8415ED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Now suitable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A546-5653-BBBA-FDD7-D6B568C6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08982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 dirty="0"/>
              <a:t>Education</a:t>
            </a:r>
          </a:p>
          <a:p>
            <a:pPr marL="305435" indent="-305435"/>
            <a:r>
              <a:rPr lang="en-US" dirty="0"/>
              <a:t>Energy and utilities</a:t>
            </a:r>
          </a:p>
          <a:p>
            <a:pPr marL="305435" indent="-305435"/>
            <a:r>
              <a:rPr lang="en-US" dirty="0"/>
              <a:t>Financial services</a:t>
            </a:r>
          </a:p>
          <a:p>
            <a:pPr marL="305435" indent="-305435"/>
            <a:r>
              <a:rPr lang="en-US" dirty="0"/>
              <a:t>Government</a:t>
            </a:r>
          </a:p>
          <a:p>
            <a:pPr marL="305435" indent="-305435"/>
            <a:r>
              <a:rPr lang="en-US" dirty="0"/>
              <a:t>Healthcare</a:t>
            </a:r>
          </a:p>
          <a:p>
            <a:pPr marL="305435" indent="-305435"/>
            <a:r>
              <a:rPr lang="en-US" dirty="0"/>
              <a:t>Logistics</a:t>
            </a:r>
          </a:p>
          <a:p>
            <a:pPr marL="305435" indent="-305435"/>
            <a:r>
              <a:rPr lang="en-US" dirty="0"/>
              <a:t>Manufacturing</a:t>
            </a:r>
          </a:p>
          <a:p>
            <a:pPr marL="305435" indent="-305435"/>
            <a:r>
              <a:rPr lang="en-US" dirty="0"/>
              <a:t>Retail</a:t>
            </a:r>
          </a:p>
          <a:p>
            <a:pPr marL="305435" indent="-305435"/>
            <a:r>
              <a:rPr lang="en-US" dirty="0"/>
              <a:t>Service providers</a:t>
            </a:r>
          </a:p>
          <a:p>
            <a:pPr marL="305435" indent="-305435"/>
            <a:r>
              <a:rPr lang="en-US" dirty="0"/>
              <a:t>Telecommunications, media,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2043612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BB0D-2F13-C973-422B-32B333E7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Service Now Customers</a:t>
            </a:r>
          </a:p>
        </p:txBody>
      </p:sp>
      <p:pic>
        <p:nvPicPr>
          <p:cNvPr id="4" name="Content Placeholder 3" descr="Accenture Logo | Symbol, History, PNG (3840*2160)">
            <a:extLst>
              <a:ext uri="{FF2B5EF4-FFF2-40B4-BE49-F238E27FC236}">
                <a16:creationId xmlns:a16="http://schemas.microsoft.com/office/drawing/2014/main" id="{0C966AA6-F358-2E99-9094-2080EBB04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28" y="2094961"/>
            <a:ext cx="2369656" cy="1334729"/>
          </a:xfrm>
        </p:spPr>
      </p:pic>
      <p:pic>
        <p:nvPicPr>
          <p:cNvPr id="5" name="Picture 4" descr="Deloitte – Logos Download">
            <a:extLst>
              <a:ext uri="{FF2B5EF4-FFF2-40B4-BE49-F238E27FC236}">
                <a16:creationId xmlns:a16="http://schemas.microsoft.com/office/drawing/2014/main" id="{EAF25BDF-59FB-BCE2-DBFA-E7A59CFC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855" y="2684778"/>
            <a:ext cx="2743195" cy="510783"/>
          </a:xfrm>
          <a:prstGeom prst="rect">
            <a:avLst/>
          </a:prstGeom>
        </p:spPr>
      </p:pic>
      <p:pic>
        <p:nvPicPr>
          <p:cNvPr id="6" name="Picture 5" descr="Nhl Logo PNG Image | Transparent PNG Free Download on SeekPNG">
            <a:extLst>
              <a:ext uri="{FF2B5EF4-FFF2-40B4-BE49-F238E27FC236}">
                <a16:creationId xmlns:a16="http://schemas.microsoft.com/office/drawing/2014/main" id="{062CDE89-28FF-EB3C-79ED-AAEB753F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287" y="4444952"/>
            <a:ext cx="2024330" cy="1720586"/>
          </a:xfrm>
          <a:prstGeom prst="rect">
            <a:avLst/>
          </a:prstGeom>
        </p:spPr>
      </p:pic>
      <p:pic>
        <p:nvPicPr>
          <p:cNvPr id="8" name="Picture 7" descr="Uber Logo, symbol, meaning, history, PNG, brand">
            <a:extLst>
              <a:ext uri="{FF2B5EF4-FFF2-40B4-BE49-F238E27FC236}">
                <a16:creationId xmlns:a16="http://schemas.microsoft.com/office/drawing/2014/main" id="{01E97602-892D-CB7E-0815-93CCDC75F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853" y="4440267"/>
            <a:ext cx="2743200" cy="1543050"/>
          </a:xfrm>
          <a:prstGeom prst="rect">
            <a:avLst/>
          </a:prstGeom>
        </p:spPr>
      </p:pic>
      <p:pic>
        <p:nvPicPr>
          <p:cNvPr id="9" name="Picture 8" descr="Lenovo – Logos Download">
            <a:extLst>
              <a:ext uri="{FF2B5EF4-FFF2-40B4-BE49-F238E27FC236}">
                <a16:creationId xmlns:a16="http://schemas.microsoft.com/office/drawing/2014/main" id="{4C3E1509-1634-F394-A294-68FA5453A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288" y="2482879"/>
            <a:ext cx="2743198" cy="914582"/>
          </a:xfrm>
          <a:prstGeom prst="rect">
            <a:avLst/>
          </a:prstGeom>
        </p:spPr>
      </p:pic>
      <p:pic>
        <p:nvPicPr>
          <p:cNvPr id="10" name="Picture 9" descr="Adobe Creative Campus | Western Sydney University">
            <a:extLst>
              <a:ext uri="{FF2B5EF4-FFF2-40B4-BE49-F238E27FC236}">
                <a16:creationId xmlns:a16="http://schemas.microsoft.com/office/drawing/2014/main" id="{704F7C86-F452-95F3-BAAF-415B88C24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62" y="4994781"/>
            <a:ext cx="2743199" cy="40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45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50C2-6C0E-C398-B598-F9F78E463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Now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66C6-36DF-13AD-5CC5-94C12D40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8310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As previously stated, SNOW can be considered a PaaS or SaaS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PaaS</a:t>
            </a:r>
            <a:r>
              <a:rPr lang="en-US" dirty="0"/>
              <a:t> – platform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developer, it is a platform for developing applications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SaaS</a:t>
            </a:r>
            <a:r>
              <a:rPr lang="en-US" dirty="0"/>
              <a:t> – software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customer, it is a software to interact with</a:t>
            </a:r>
          </a:p>
          <a:p>
            <a:pPr marL="305435" indent="-305435"/>
            <a:r>
              <a:rPr lang="en-US" dirty="0"/>
              <a:t>There are 4 pillars of Service Now architecture: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ServiceNow Datacenters</a:t>
            </a:r>
            <a:r>
              <a:rPr lang="en-US" dirty="0"/>
              <a:t> – this is where all our data and database tables live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ServiceNow Firewall</a:t>
            </a:r>
            <a:r>
              <a:rPr lang="en-US" dirty="0"/>
              <a:t> – think of this as backend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Customer Firewall</a:t>
            </a:r>
            <a:r>
              <a:rPr lang="en-US" dirty="0"/>
              <a:t> – think of this as frontend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User Interface</a:t>
            </a:r>
            <a:r>
              <a:rPr lang="en-US" dirty="0"/>
              <a:t> – this is how users interact with the application/platform</a:t>
            </a:r>
          </a:p>
        </p:txBody>
      </p:sp>
    </p:spTree>
    <p:extLst>
      <p:ext uri="{BB962C8B-B14F-4D97-AF65-F5344CB8AC3E}">
        <p14:creationId xmlns:p14="http://schemas.microsoft.com/office/powerpoint/2010/main" val="4039270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24E6-0C40-BB0C-F9DB-241873DD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Now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3AA4-76D1-B8D9-A442-C3486B4D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9239"/>
            <a:ext cx="11029615" cy="4712445"/>
          </a:xfrm>
        </p:spPr>
        <p:txBody>
          <a:bodyPr>
            <a:normAutofit/>
          </a:bodyPr>
          <a:lstStyle/>
          <a:p>
            <a:pPr marL="305435" indent="-305435"/>
            <a:r>
              <a:rPr lang="en-US"/>
              <a:t>When developing an application, development will happen on a separate instance from testing and production</a:t>
            </a:r>
          </a:p>
          <a:p>
            <a:pPr marL="305435" indent="-305435"/>
            <a:r>
              <a:rPr lang="en-US"/>
              <a:t>Service Now uses this separation of environments as well</a:t>
            </a:r>
          </a:p>
          <a:p>
            <a:pPr marL="305435" indent="-305435"/>
            <a:r>
              <a:rPr lang="en-US"/>
              <a:t>Typically, development exists in a dev instance and a dev instance cannot be used as a production instance (it cannot be published)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https://&lt;xxxdev&gt;.service-now.com/</a:t>
            </a:r>
            <a:endParaRPr lang="en-US" dirty="0"/>
          </a:p>
          <a:p>
            <a:pPr marL="305435" indent="-305435"/>
            <a:r>
              <a:rPr lang="en-US"/>
              <a:t>A test environment will allow for various tests to take place, such as load testing, regression testing, and QA (Quality Assurance)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https://&lt;xxxtest&gt;.service-now.com/</a:t>
            </a:r>
            <a:endParaRPr lang="en-US" dirty="0"/>
          </a:p>
          <a:p>
            <a:pPr marL="305435" indent="-305435"/>
            <a:r>
              <a:rPr lang="en-US"/>
              <a:t>A UAT (user acceptance testing) environment will ensure that the application meets quality standards and best practices for users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hlinkClick r:id="" action="ppaction://noaction"/>
              </a:rPr>
              <a:t>https</a:t>
            </a:r>
            <a:r>
              <a:rPr lang="en-US" dirty="0">
                <a:ea typeface="+mn-lt"/>
                <a:cs typeface="+mn-lt"/>
                <a:hlinkClick r:id="" action="ppaction://noaction"/>
              </a:rPr>
              <a:t>://&lt;xxxuat&gt;.service-now.com/</a:t>
            </a:r>
            <a:endParaRPr lang="en-US"/>
          </a:p>
          <a:p>
            <a:pPr marL="305435" indent="-305435"/>
            <a:r>
              <a:rPr lang="en-US"/>
              <a:t>Finally, a production environment is where the live application lives 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https://&lt;xxxprod&gt;.service-now.com/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12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70B1-8A22-E900-80EE-30688093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Docs &amp;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B0F9-1144-3614-B283-45FBA68E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50017"/>
          </a:xfrm>
        </p:spPr>
        <p:txBody>
          <a:bodyPr/>
          <a:lstStyle/>
          <a:p>
            <a:pPr marL="305435" indent="-305435"/>
            <a:r>
              <a:rPr lang="en-US" dirty="0"/>
              <a:t>Training will provide the core principles, but YOU are responsible for ensuring a deep understanding</a:t>
            </a:r>
          </a:p>
          <a:p>
            <a:pPr marL="305435" indent="-305435"/>
            <a:r>
              <a:rPr lang="en-US" dirty="0"/>
              <a:t>The SNOW documentation site will be your reference guide for finding information about SNOW products, apps, and releases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Product Documentation | ServiceNow</a:t>
            </a:r>
          </a:p>
          <a:p>
            <a:pPr marL="305435" indent="-305435"/>
            <a:r>
              <a:rPr lang="en-US" dirty="0"/>
              <a:t>The SNOW community site is great for asking questions, getting/giving advice, and connecting with other SNOW professionals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Home - ServiceNow Community</a:t>
            </a:r>
          </a:p>
          <a:p>
            <a:pPr marL="305435" indent="-305435"/>
            <a:r>
              <a:rPr lang="en-US" dirty="0"/>
              <a:t>The SNOW Learning site provides asynchronous learning modules that will be great for supplementing your learning! </a:t>
            </a:r>
          </a:p>
          <a:p>
            <a:pPr marL="305435" indent="-305435"/>
            <a:r>
              <a:rPr lang="en-US" dirty="0"/>
              <a:t>Use this in conjunction with training to solidify your knowledge and better prepare for your certification exam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Bookmark the Certified System Administrator (CSA) learning path for a quick link</a:t>
            </a:r>
          </a:p>
        </p:txBody>
      </p:sp>
    </p:spTree>
    <p:extLst>
      <p:ext uri="{BB962C8B-B14F-4D97-AF65-F5344CB8AC3E}">
        <p14:creationId xmlns:p14="http://schemas.microsoft.com/office/powerpoint/2010/main" val="307792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F8CC-19A9-33BF-78CD-97417319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Developer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3567-6EFE-1FA6-6242-29776E56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65850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/>
              <a:t>To start building applications and get hands-on with the platform, you will need to spin up a personal developer instance</a:t>
            </a:r>
          </a:p>
          <a:p>
            <a:pPr marL="305435" indent="-305435"/>
            <a:r>
              <a:rPr lang="en-US"/>
              <a:t>Go to the SNOW Developer site to spin up your instance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Home | ServiceNow Developers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This is where you will access your instance each day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Exists entirely on the cloud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You will also receive an email with a link to your instance along with a dev instance password</a:t>
            </a:r>
            <a:endParaRPr lang="en-US" dirty="0">
              <a:ea typeface="+mn-lt"/>
              <a:cs typeface="+mn-lt"/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It should look something like this: https://&lt;&lt;customdevinstancename&gt;&gt;.service-now.com/login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SAVE YOUR DEV INSTANCE PASSWORD SOMEWHERE SAFE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Each day you will need to wake up your instance and this may take a few minutes, so get it up and running first thing each day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843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BF4F-577E-5163-F378-51FABFE8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7BC2-283E-265D-978B-0A7BC722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51472"/>
          </a:xfrm>
        </p:spPr>
        <p:txBody>
          <a:bodyPr/>
          <a:lstStyle/>
          <a:p>
            <a:pPr marL="305435" indent="-305435"/>
            <a:r>
              <a:rPr lang="en-US"/>
              <a:t>Plugins are software components that provide features and functionalities within a ServiceNow instance</a:t>
            </a:r>
          </a:p>
          <a:p>
            <a:pPr marL="305435" indent="-305435"/>
            <a:r>
              <a:rPr lang="en-US"/>
              <a:t>Plugins add features or extend the functionality of the Now Platform</a:t>
            </a:r>
            <a:endParaRPr lang="en-US" dirty="0"/>
          </a:p>
          <a:p>
            <a:pPr marL="305435" indent="-305435"/>
            <a:r>
              <a:rPr lang="en-US"/>
              <a:t>Applications are standalone pieces of code that implements a collection of features on the Now Platform that may include a number of active plugins</a:t>
            </a:r>
          </a:p>
          <a:p>
            <a:pPr marL="305435" indent="-305435"/>
            <a:r>
              <a:rPr lang="en-US"/>
              <a:t>All plugins are provided by ServiceNow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A set of plugins are active by default, but you can activate additional plugins if needed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Some plugins require activation by ServiceNow personell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98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E9B-CBC3-2AD1-26DC-9B76C753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3F7F-C6C9-0375-B05F-96B34B1F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21494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/>
              <a:t>Read through this document on Plugins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ServiceNow plugins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Practice navigating the SNOW platform in your developer instance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633C40-FD34-2977-76D0-B8C79D866012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Initialize your developer instance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04833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860</TotalTime>
  <Words>2335</Words>
  <Application>Microsoft Office PowerPoint</Application>
  <PresentationFormat>Widescreen</PresentationFormat>
  <Paragraphs>303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Courier New</vt:lpstr>
      <vt:lpstr>Gill Sans MT</vt:lpstr>
      <vt:lpstr>Wingdings</vt:lpstr>
      <vt:lpstr>Wingdings 2</vt:lpstr>
      <vt:lpstr>Dividend</vt:lpstr>
      <vt:lpstr>Welcome to Service Now</vt:lpstr>
      <vt:lpstr>Overview</vt:lpstr>
      <vt:lpstr>Intro to ITSM</vt:lpstr>
      <vt:lpstr>ITSM Core Concepts</vt:lpstr>
      <vt:lpstr>Key ITSM Processes</vt:lpstr>
      <vt:lpstr>Benefits of ITSM</vt:lpstr>
      <vt:lpstr>Common ITSM Tools</vt:lpstr>
      <vt:lpstr>What is ITIL again?</vt:lpstr>
      <vt:lpstr>ITSM vs ITIL</vt:lpstr>
      <vt:lpstr>THE ITIL Service Value System (SVS)</vt:lpstr>
      <vt:lpstr>SVS Interaction Model</vt:lpstr>
      <vt:lpstr>Guiding Principles</vt:lpstr>
      <vt:lpstr>Governance</vt:lpstr>
      <vt:lpstr>Governance Main Activities</vt:lpstr>
      <vt:lpstr>Service Value Chain</vt:lpstr>
      <vt:lpstr>6 Key Value Chain Activities</vt:lpstr>
      <vt:lpstr>ITIL Practices (formerly processes)</vt:lpstr>
      <vt:lpstr>General Management Practices</vt:lpstr>
      <vt:lpstr>Service Management Practices</vt:lpstr>
      <vt:lpstr>Technical Management Practices</vt:lpstr>
      <vt:lpstr>Continuous Improvement</vt:lpstr>
      <vt:lpstr>What is Service Now?</vt:lpstr>
      <vt:lpstr>ITSM, ITOM, CSM</vt:lpstr>
      <vt:lpstr>Key Benefits of Service Now</vt:lpstr>
      <vt:lpstr>Features of Service Now</vt:lpstr>
      <vt:lpstr>What is Service Now suitable for?</vt:lpstr>
      <vt:lpstr>Some Service Now Customers</vt:lpstr>
      <vt:lpstr>Service Now Architecture</vt:lpstr>
      <vt:lpstr>Service Now Instances</vt:lpstr>
      <vt:lpstr>SNOW Docs &amp; Community</vt:lpstr>
      <vt:lpstr>Personal Developer Instance</vt:lpstr>
      <vt:lpstr>SNOW Plugins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590</cp:revision>
  <dcterms:created xsi:type="dcterms:W3CDTF">2025-02-12T19:53:45Z</dcterms:created>
  <dcterms:modified xsi:type="dcterms:W3CDTF">2025-10-06T15:49:16Z</dcterms:modified>
</cp:coreProperties>
</file>