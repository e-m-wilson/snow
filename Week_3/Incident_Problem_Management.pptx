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73" r:id="rId3"/>
    <p:sldId id="274" r:id="rId4"/>
    <p:sldId id="276" r:id="rId5"/>
    <p:sldId id="284" r:id="rId6"/>
    <p:sldId id="275" r:id="rId7"/>
    <p:sldId id="279" r:id="rId8"/>
    <p:sldId id="277" r:id="rId9"/>
    <p:sldId id="272" r:id="rId10"/>
    <p:sldId id="278" r:id="rId11"/>
    <p:sldId id="280" r:id="rId12"/>
    <p:sldId id="281" r:id="rId13"/>
    <p:sldId id="282" r:id="rId14"/>
    <p:sldId id="283" r:id="rId15"/>
    <p:sldId id="293" r:id="rId16"/>
    <p:sldId id="285" r:id="rId17"/>
    <p:sldId id="286" r:id="rId18"/>
    <p:sldId id="287" r:id="rId19"/>
    <p:sldId id="289" r:id="rId20"/>
    <p:sldId id="291" r:id="rId21"/>
    <p:sldId id="288" r:id="rId22"/>
    <p:sldId id="290" r:id="rId23"/>
    <p:sldId id="292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250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Incident Management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95674-13A9-9205-28DD-508DE993C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Incident Management?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7E3DD8-E45A-6112-A399-C81789AA6D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428849"/>
            <a:ext cx="11029615" cy="3419057"/>
          </a:xfrm>
        </p:spPr>
        <p:txBody>
          <a:bodyPr>
            <a:normAutofit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Incident Management </a:t>
            </a:r>
            <a:r>
              <a:rPr lang="en-US" dirty="0"/>
              <a:t>in ServiceNow is the process and supporting application used to restore normal service operation as quickly as possible after an unplanned interruption or reduction in quality of IT service — minimizing the impact on business operations.</a:t>
            </a:r>
          </a:p>
          <a:p>
            <a:pPr lvl="1"/>
            <a:r>
              <a:rPr lang="en-US" dirty="0"/>
              <a:t>Make sure service disruptions are resolved quickly</a:t>
            </a:r>
          </a:p>
          <a:p>
            <a:pPr lvl="1"/>
            <a:r>
              <a:rPr lang="en-US" dirty="0"/>
              <a:t>Work is assigned automatically to the right teams</a:t>
            </a:r>
          </a:p>
          <a:p>
            <a:pPr lvl="1"/>
            <a:r>
              <a:rPr lang="en-US" dirty="0"/>
              <a:t>Customers and support staff can track progress transparently</a:t>
            </a:r>
          </a:p>
          <a:p>
            <a:pPr lvl="1"/>
            <a:r>
              <a:rPr lang="en-US" dirty="0"/>
              <a:t>Finding a cause is not the concern of incidents, restoring service quickly is</a:t>
            </a:r>
          </a:p>
        </p:txBody>
      </p:sp>
    </p:spTree>
    <p:extLst>
      <p:ext uri="{BB962C8B-B14F-4D97-AF65-F5344CB8AC3E}">
        <p14:creationId xmlns:p14="http://schemas.microsoft.com/office/powerpoint/2010/main" val="2296974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B31A9-E4D9-49FE-30B2-49AC8C0F5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Incident Management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10D351-4738-29CF-CBC3-EC24B2563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The Incident record </a:t>
            </a:r>
            <a:r>
              <a:rPr lang="en-US" dirty="0"/>
              <a:t>– a form for capturing details such as caller, category, impact, urgency, and description</a:t>
            </a:r>
          </a:p>
          <a:p>
            <a:r>
              <a:rPr lang="en-US" dirty="0">
                <a:solidFill>
                  <a:schemeClr val="accent2"/>
                </a:solidFill>
              </a:rPr>
              <a:t>Assignment Rules </a:t>
            </a:r>
            <a:r>
              <a:rPr lang="en-US" dirty="0"/>
              <a:t>– automatically routes incidents to the correct support group or individual</a:t>
            </a:r>
          </a:p>
          <a:p>
            <a:r>
              <a:rPr lang="en-US" dirty="0">
                <a:solidFill>
                  <a:schemeClr val="accent2"/>
                </a:solidFill>
              </a:rPr>
              <a:t>Priority Matrix </a:t>
            </a:r>
            <a:r>
              <a:rPr lang="en-US" dirty="0"/>
              <a:t>– priority = impact + urgency</a:t>
            </a:r>
          </a:p>
          <a:p>
            <a:r>
              <a:rPr lang="en-US" dirty="0">
                <a:solidFill>
                  <a:schemeClr val="accent2"/>
                </a:solidFill>
              </a:rPr>
              <a:t>SLAs</a:t>
            </a:r>
            <a:r>
              <a:rPr lang="en-US" dirty="0"/>
              <a:t> – track resolution and response targets</a:t>
            </a:r>
          </a:p>
          <a:p>
            <a:r>
              <a:rPr lang="en-US" dirty="0">
                <a:solidFill>
                  <a:schemeClr val="accent2"/>
                </a:solidFill>
              </a:rPr>
              <a:t>Work Notes &amp; Comments </a:t>
            </a:r>
            <a:r>
              <a:rPr lang="en-US" dirty="0"/>
              <a:t>– facilitate collaboration between support teams and communicate with the user</a:t>
            </a:r>
          </a:p>
          <a:p>
            <a:r>
              <a:rPr lang="en-US" dirty="0">
                <a:solidFill>
                  <a:schemeClr val="accent2"/>
                </a:solidFill>
              </a:rPr>
              <a:t>Knowledge Integration </a:t>
            </a:r>
            <a:r>
              <a:rPr lang="en-US" dirty="0"/>
              <a:t>– Create knowledge articles for faster resolution in the future</a:t>
            </a:r>
          </a:p>
        </p:txBody>
      </p:sp>
    </p:spTree>
    <p:extLst>
      <p:ext uri="{BB962C8B-B14F-4D97-AF65-F5344CB8AC3E}">
        <p14:creationId xmlns:p14="http://schemas.microsoft.com/office/powerpoint/2010/main" val="1345171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C48D8-6422-B7FE-71A4-B78DC31A3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Incident Lifecycle – ITIL Concepts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74A94A-DA18-30A2-9A45-E26D5E653C86}"/>
              </a:ext>
            </a:extLst>
          </p:cNvPr>
          <p:cNvSpPr txBox="1"/>
          <p:nvPr/>
        </p:nvSpPr>
        <p:spPr>
          <a:xfrm>
            <a:off x="654424" y="1927412"/>
            <a:ext cx="1095638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2"/>
                </a:solidFill>
              </a:rPr>
              <a:t>Incident Detection &amp; Logging 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Detection: Incidents are identified through monitoring, user reports, or automated systems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Logging: The incident is recorded in a system (incident record)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2"/>
                </a:solidFill>
              </a:rPr>
              <a:t>Categorization &amp; Prioritization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Categorization: The incident is classified by type (category, subcategory fields)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Prioritization: The incident is assigned a priority level based on its urgency and business impact (Priority Matrix)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2"/>
                </a:solidFill>
              </a:rPr>
              <a:t>Assignment &amp; Escalation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Assignment: The incident is assigned to a support team or individual who can solve it (Assignment Rules)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Escalation: If the initial support team cannot resolve the issue quickly, the incident is escalated to more specialized technical teams or even management, depending on severity (Escalations)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2"/>
                </a:solidFill>
              </a:rPr>
              <a:t>Investigation, Diagnosis, &amp; Resolution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Investigation/Diagnosis: assigned team investigates cause and determines fix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Resolution: The team impalements the fix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2"/>
                </a:solidFill>
              </a:rPr>
              <a:t>Closure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The incident record status is set to ‘Closed’</a:t>
            </a:r>
          </a:p>
        </p:txBody>
      </p:sp>
    </p:spTree>
    <p:extLst>
      <p:ext uri="{BB962C8B-B14F-4D97-AF65-F5344CB8AC3E}">
        <p14:creationId xmlns:p14="http://schemas.microsoft.com/office/powerpoint/2010/main" val="1795188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21ADC-1526-6E35-255B-72A0C25E3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Roles &amp; Responsibilities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0A9B-BECF-FB2B-4150-8320FB110E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Service Desk </a:t>
            </a:r>
            <a:r>
              <a:rPr lang="en-US" dirty="0"/>
              <a:t>– First-line support, logging, &amp; communication (</a:t>
            </a:r>
            <a:r>
              <a:rPr lang="en-US" dirty="0" err="1"/>
              <a:t>itil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Incident Manager </a:t>
            </a:r>
            <a:r>
              <a:rPr lang="en-US" dirty="0"/>
              <a:t>– Oversees process, coordinates escalations (</a:t>
            </a:r>
            <a:r>
              <a:rPr lang="en-US" dirty="0" err="1"/>
              <a:t>incident_manager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Support Teams (L2/L3) </a:t>
            </a:r>
            <a:r>
              <a:rPr lang="en-US" dirty="0"/>
              <a:t>– Technical resolution and root cause (</a:t>
            </a:r>
            <a:r>
              <a:rPr lang="en-US" dirty="0" err="1"/>
              <a:t>itil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Problem Manager </a:t>
            </a:r>
            <a:r>
              <a:rPr lang="en-US" dirty="0"/>
              <a:t>– Investigates recurring incidents (</a:t>
            </a:r>
            <a:r>
              <a:rPr lang="en-US" dirty="0" err="1"/>
              <a:t>problem_manager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Change Manager </a:t>
            </a:r>
            <a:r>
              <a:rPr lang="en-US" dirty="0"/>
              <a:t>– Approves changes for permanent fixes (</a:t>
            </a:r>
            <a:r>
              <a:rPr lang="en-US" dirty="0" err="1"/>
              <a:t>change_manager</a:t>
            </a:r>
            <a:r>
              <a:rPr lang="en-US" dirty="0"/>
              <a:t> role)</a:t>
            </a:r>
          </a:p>
        </p:txBody>
      </p:sp>
    </p:spTree>
    <p:extLst>
      <p:ext uri="{BB962C8B-B14F-4D97-AF65-F5344CB8AC3E}">
        <p14:creationId xmlns:p14="http://schemas.microsoft.com/office/powerpoint/2010/main" val="691313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0879C-AFD5-F146-0441-1615FB66F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Incident Record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CD578-9281-FD5A-B588-C002E76E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12748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State – New, In Progress, Resolved, On Hold, Cancelled, Closed</a:t>
            </a:r>
          </a:p>
          <a:p>
            <a:r>
              <a:rPr lang="en-US" dirty="0"/>
              <a:t>Category/Subcategory – classification of the incident</a:t>
            </a:r>
          </a:p>
          <a:p>
            <a:r>
              <a:rPr lang="en-US" dirty="0"/>
              <a:t>Service/Service Offering – ties into Service Portfolio Management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7B03A17-C39F-52C3-BF08-98D9FBCF0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613" y="3429000"/>
            <a:ext cx="10308771" cy="311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884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E84B5-917B-03F3-A0CB-F631E740A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Priority Matrix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9CBD80E-FDB1-0F4C-7AD1-61A0C30178D9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81026" y="3288824"/>
          <a:ext cx="11029948" cy="1463040"/>
        </p:xfrm>
        <a:graphic>
          <a:graphicData uri="http://schemas.openxmlformats.org/drawingml/2006/table">
            <a:tbl>
              <a:tblPr/>
              <a:tblGrid>
                <a:gridCol w="2757487">
                  <a:extLst>
                    <a:ext uri="{9D8B030D-6E8A-4147-A177-3AD203B41FA5}">
                      <a16:colId xmlns:a16="http://schemas.microsoft.com/office/drawing/2014/main" val="3509168799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741191081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3655566715"/>
                    </a:ext>
                  </a:extLst>
                </a:gridCol>
                <a:gridCol w="2757487">
                  <a:extLst>
                    <a:ext uri="{9D8B030D-6E8A-4147-A177-3AD203B41FA5}">
                      <a16:colId xmlns:a16="http://schemas.microsoft.com/office/drawing/2014/main" val="14037973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Impact ↓ / Urgency →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High Urgency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Medium Urgency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Low Urgency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00183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High Impact</a:t>
                      </a:r>
                      <a:endParaRPr lang="en-US" sz="18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P1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538975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Medium Impact</a:t>
                      </a:r>
                      <a:endParaRPr lang="en-US" sz="18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569862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Low Impact</a:t>
                      </a:r>
                      <a:endParaRPr lang="en-US" sz="18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P5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91399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3906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C743A-B089-0485-4D12-E9E081A23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 Portfolio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F87A74-43E5-AE51-0E64-0A71A410D9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86526" cy="3678303"/>
          </a:xfrm>
        </p:spPr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Services</a:t>
            </a:r>
            <a:r>
              <a:rPr lang="en-US" dirty="0"/>
              <a:t> – IT services we provide</a:t>
            </a:r>
          </a:p>
          <a:p>
            <a:r>
              <a:rPr lang="en-US" dirty="0">
                <a:solidFill>
                  <a:schemeClr val="accent2"/>
                </a:solidFill>
              </a:rPr>
              <a:t>Service Offerings </a:t>
            </a:r>
            <a:r>
              <a:rPr lang="en-US" dirty="0"/>
              <a:t>– variants or individual components of a service</a:t>
            </a:r>
          </a:p>
          <a:p>
            <a:pPr lvl="1"/>
            <a:r>
              <a:rPr lang="en-US" dirty="0"/>
              <a:t>Service: Email</a:t>
            </a:r>
          </a:p>
          <a:p>
            <a:pPr lvl="1"/>
            <a:r>
              <a:rPr lang="en-US" dirty="0"/>
              <a:t>Service Offerings: Bronze Email Plan, Silver Email Plan, Gold Email Plan</a:t>
            </a:r>
          </a:p>
          <a:p>
            <a:r>
              <a:rPr lang="en-US" dirty="0"/>
              <a:t>If we set the ‘Support Group’ field on both a Service Offering and its parent Service record, then baseline configurations will kick in to automatically set an incident assignment group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4C3047-52B0-7CFA-EC97-C493CF062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9658" y="2328435"/>
            <a:ext cx="4018526" cy="32933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F224FC-3343-73FD-DF86-21DBBA29D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8073" y="5784317"/>
            <a:ext cx="4020111" cy="3715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57B626B-A519-5FAE-6781-50F6C3075D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8072" y="6234292"/>
            <a:ext cx="4020112" cy="345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405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D5E9B-CBC3-2AD1-26DC-9B76C7531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283F7F-C6C9-0375-B05F-96B34B1F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346436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/>
              <a:t>Create a new Service called ‘Training’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related Service Offering called ‘Online Training’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 Set the ‘Support Group’ field on both records to ‘ITSM Agents’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incident record with your new service and offering to test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2633C40-FD34-2977-76D0-B8C79D866012}"/>
              </a:ext>
            </a:extLst>
          </p:cNvPr>
          <p:cNvSpPr txBox="1">
            <a:spLocks/>
          </p:cNvSpPr>
          <p:nvPr/>
        </p:nvSpPr>
        <p:spPr>
          <a:xfrm>
            <a:off x="903921" y="2691484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new service and offering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850483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A6675-384D-C5AD-1DB0-EBC1540C9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5651DB-47F7-AF40-BA8D-345C82D37B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591443" cy="3678303"/>
          </a:xfrm>
        </p:spPr>
        <p:txBody>
          <a:bodyPr/>
          <a:lstStyle/>
          <a:p>
            <a:r>
              <a:rPr lang="en-US" dirty="0"/>
              <a:t>System Policy &gt; Rules &gt; Assignment</a:t>
            </a:r>
          </a:p>
          <a:p>
            <a:r>
              <a:rPr lang="en-US" dirty="0"/>
              <a:t>Definition: Assignment Rules are a set of automated instructions that determine how incidents are routed to the appropriate support group or individual</a:t>
            </a:r>
          </a:p>
          <a:p>
            <a:r>
              <a:rPr lang="en-US" dirty="0"/>
              <a:t>Available on Task-based tables (many tables such as incidents inherit from Task)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0432CD-D2C5-BF34-A504-BC80B4ADE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280" y="2180496"/>
            <a:ext cx="5810746" cy="3843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845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467CE-E546-48C6-3ED9-D7A203A05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09FF6-6655-1341-F3D9-F87412B0CE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363279" cy="3678303"/>
          </a:xfrm>
        </p:spPr>
        <p:txBody>
          <a:bodyPr/>
          <a:lstStyle/>
          <a:p>
            <a:r>
              <a:rPr lang="en-US" dirty="0"/>
              <a:t>Provide a name</a:t>
            </a:r>
          </a:p>
          <a:p>
            <a:r>
              <a:rPr lang="en-US" dirty="0"/>
              <a:t>Applies To – determines what table and field conditions must be met to trigger</a:t>
            </a:r>
          </a:p>
          <a:p>
            <a:r>
              <a:rPr lang="en-US" dirty="0"/>
              <a:t>Assign To – the user or group to route the incident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780CC6-9C18-7902-8E42-6F83068592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9067" y="2098149"/>
            <a:ext cx="7431741" cy="251654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58B95F8-0F7F-56C4-E7CE-1B52198DE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0880" y="4715133"/>
            <a:ext cx="5468113" cy="140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5151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59DB9-35FF-8221-666E-D73F9F88E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03C89-55B2-1D23-C14A-AC8AD516C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FEB02-646E-0A16-C7E3-2D2B4F8CA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14053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/>
              <a:t>All critical priority incidents, where the ‘Channel’ is ‘Walk-In’, should be routed to our ‘ITSM Agents’ group</a:t>
            </a:r>
            <a:endParaRPr lang="en-US" dirty="0">
              <a:ea typeface="+mn-lt"/>
              <a:cs typeface="+mn-lt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EEE1FA6-F3E9-5FE7-8FB7-0EB68D53E40E}"/>
              </a:ext>
            </a:extLst>
          </p:cNvPr>
          <p:cNvSpPr txBox="1">
            <a:spLocks/>
          </p:cNvSpPr>
          <p:nvPr/>
        </p:nvSpPr>
        <p:spPr>
          <a:xfrm>
            <a:off x="903921" y="2691484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new Assignment Rule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266670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50643-7DB5-0C37-E624-F0989D0D8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957D9-7D60-D12E-50D9-2ABB9E5932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Problem Management</a:t>
            </a:r>
          </a:p>
        </p:txBody>
      </p:sp>
    </p:spTree>
    <p:extLst>
      <p:ext uri="{BB962C8B-B14F-4D97-AF65-F5344CB8AC3E}">
        <p14:creationId xmlns:p14="http://schemas.microsoft.com/office/powerpoint/2010/main" val="1311938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9B63C-70BA-6A2A-13EC-95D5D4192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Problem Management?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0F0DE-F953-8C4E-30FE-522A9CC7CB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Problem Management </a:t>
            </a:r>
            <a:r>
              <a:rPr lang="en-US" dirty="0"/>
              <a:t>is the ITIL practice focused on identifying the root cause of incidents and preventing recurring issues</a:t>
            </a:r>
          </a:p>
          <a:p>
            <a:pPr lvl="1"/>
            <a:r>
              <a:rPr lang="en-US" dirty="0"/>
              <a:t>Reduce the number of incidents</a:t>
            </a:r>
          </a:p>
          <a:p>
            <a:pPr lvl="1"/>
            <a:r>
              <a:rPr lang="en-US" dirty="0"/>
              <a:t>Identify root causes</a:t>
            </a:r>
          </a:p>
        </p:txBody>
      </p:sp>
    </p:spTree>
    <p:extLst>
      <p:ext uri="{BB962C8B-B14F-4D97-AF65-F5344CB8AC3E}">
        <p14:creationId xmlns:p14="http://schemas.microsoft.com/office/powerpoint/2010/main" val="23186434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90051-E65F-E0C9-488E-F59B15C22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Reactive vs Proactive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43F3E-73A2-0AA6-ACBF-98C8BAF173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Reactive Problem Management </a:t>
            </a:r>
            <a:r>
              <a:rPr lang="en-US" dirty="0"/>
              <a:t>is triggered after an incident has occurred, and its goal is to identify and remove the root cause</a:t>
            </a:r>
          </a:p>
          <a:p>
            <a:pPr lvl="1"/>
            <a:r>
              <a:rPr lang="en-US" dirty="0"/>
              <a:t>Problem records created from existing incidents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Proactive Problem Management </a:t>
            </a:r>
            <a:r>
              <a:rPr lang="en-US" dirty="0"/>
              <a:t>aims to identify and prevent problems before they cause incidents</a:t>
            </a:r>
          </a:p>
          <a:p>
            <a:pPr lvl="1"/>
            <a:r>
              <a:rPr lang="en-US" dirty="0"/>
              <a:t>Use trend analysis, monitoring data, and continuous improvement to detect issues early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25185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FFC745-70F1-2EEF-8C2F-71D334B9D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Problem Management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168EC-9684-3E21-8BEA-2CCD41D4C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The Problem record </a:t>
            </a:r>
            <a:r>
              <a:rPr lang="en-US" dirty="0"/>
              <a:t>– link related incidents; log problem details; handle resolution/closure</a:t>
            </a:r>
          </a:p>
          <a:p>
            <a:r>
              <a:rPr lang="en-US" dirty="0">
                <a:solidFill>
                  <a:schemeClr val="accent2"/>
                </a:solidFill>
              </a:rPr>
              <a:t>Assignment Rules </a:t>
            </a:r>
            <a:r>
              <a:rPr lang="en-US" dirty="0"/>
              <a:t>– automatically routes problems to the correct support group or individual</a:t>
            </a:r>
          </a:p>
          <a:p>
            <a:r>
              <a:rPr lang="en-US" dirty="0">
                <a:solidFill>
                  <a:schemeClr val="accent2"/>
                </a:solidFill>
              </a:rPr>
              <a:t>Priority Matrix </a:t>
            </a:r>
            <a:r>
              <a:rPr lang="en-US" dirty="0"/>
              <a:t>– priority = impact + urgency</a:t>
            </a:r>
          </a:p>
          <a:p>
            <a:r>
              <a:rPr lang="en-US" dirty="0">
                <a:solidFill>
                  <a:schemeClr val="accent2"/>
                </a:solidFill>
              </a:rPr>
              <a:t>Work Notes &amp; Comments </a:t>
            </a:r>
            <a:r>
              <a:rPr lang="en-US" dirty="0"/>
              <a:t>– facilitate collaboration between support teams and communicate with the user</a:t>
            </a:r>
          </a:p>
          <a:p>
            <a:r>
              <a:rPr lang="en-US" dirty="0">
                <a:solidFill>
                  <a:schemeClr val="accent2"/>
                </a:solidFill>
              </a:rPr>
              <a:t>Communicate Workarounds </a:t>
            </a:r>
            <a:r>
              <a:rPr lang="en-US" dirty="0"/>
              <a:t>– tell related incident owners about the fix</a:t>
            </a:r>
          </a:p>
          <a:p>
            <a:r>
              <a:rPr lang="en-US" dirty="0">
                <a:solidFill>
                  <a:schemeClr val="accent2"/>
                </a:solidFill>
              </a:rPr>
              <a:t>Known Errors </a:t>
            </a:r>
            <a:r>
              <a:rPr lang="en-US" dirty="0"/>
              <a:t>– Identify root causes and find solutions; create knowledge base articles</a:t>
            </a:r>
          </a:p>
        </p:txBody>
      </p:sp>
    </p:spTree>
    <p:extLst>
      <p:ext uri="{BB962C8B-B14F-4D97-AF65-F5344CB8AC3E}">
        <p14:creationId xmlns:p14="http://schemas.microsoft.com/office/powerpoint/2010/main" val="33013527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90990-6B86-C8A4-7A44-555AE00DD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Problem Lifecycle – ITIL 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F5C0BD-BF7F-0F6F-D2A5-49A0481E4A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>
                <a:solidFill>
                  <a:schemeClr val="accent2"/>
                </a:solidFill>
              </a:rPr>
              <a:t>Detection &amp; Identification</a:t>
            </a:r>
            <a:r>
              <a:rPr lang="en-US" dirty="0"/>
              <a:t> – problem is created; incidents are linked to the problem (problem record lifecycle)</a:t>
            </a:r>
          </a:p>
          <a:p>
            <a:r>
              <a:rPr lang="en-US" dirty="0">
                <a:solidFill>
                  <a:schemeClr val="accent2"/>
                </a:solidFill>
              </a:rPr>
              <a:t>Logging</a:t>
            </a:r>
            <a:r>
              <a:rPr lang="en-US" dirty="0"/>
              <a:t> – problem has a number, short description, category, CI (problem record lifecycle)</a:t>
            </a:r>
          </a:p>
          <a:p>
            <a:r>
              <a:rPr lang="en-US" dirty="0">
                <a:solidFill>
                  <a:schemeClr val="accent2"/>
                </a:solidFill>
              </a:rPr>
              <a:t>Categorization &amp; Prioritization</a:t>
            </a:r>
            <a:r>
              <a:rPr lang="en-US" dirty="0"/>
              <a:t> – problem has assigned category/subcategory fields and priority is calculated (problem record fields)</a:t>
            </a:r>
          </a:p>
          <a:p>
            <a:r>
              <a:rPr lang="en-US" dirty="0">
                <a:solidFill>
                  <a:schemeClr val="accent2"/>
                </a:solidFill>
              </a:rPr>
              <a:t>Investigation &amp; Diagnosis</a:t>
            </a:r>
            <a:r>
              <a:rPr lang="en-US" dirty="0"/>
              <a:t> – problem is assigned; root cause analysis performed using techniques like the ‘5 whys’ (assignment rules)</a:t>
            </a:r>
          </a:p>
          <a:p>
            <a:r>
              <a:rPr lang="en-US" dirty="0">
                <a:solidFill>
                  <a:schemeClr val="accent2"/>
                </a:solidFill>
              </a:rPr>
              <a:t>Workaround</a:t>
            </a:r>
            <a:r>
              <a:rPr lang="en-US" dirty="0"/>
              <a:t> – develop temporary solutions while a permanent fix is being prepared (share workarounds)</a:t>
            </a:r>
          </a:p>
          <a:p>
            <a:r>
              <a:rPr lang="en-US" dirty="0">
                <a:solidFill>
                  <a:schemeClr val="accent2"/>
                </a:solidFill>
              </a:rPr>
              <a:t>Known Error Creation </a:t>
            </a:r>
            <a:r>
              <a:rPr lang="en-US" dirty="0"/>
              <a:t>– document the problem, root cause, and workaround in the Known Error Database (share known error knowledge articles)</a:t>
            </a:r>
          </a:p>
          <a:p>
            <a:r>
              <a:rPr lang="en-US" dirty="0">
                <a:solidFill>
                  <a:schemeClr val="accent2"/>
                </a:solidFill>
              </a:rPr>
              <a:t>Resolution &amp; Change Implementation</a:t>
            </a:r>
            <a:r>
              <a:rPr lang="en-US" dirty="0"/>
              <a:t> – Resolution notes filled out before close; implement the fix while engaging Change Management (problem record lifecycle)</a:t>
            </a:r>
          </a:p>
          <a:p>
            <a:r>
              <a:rPr lang="en-US" dirty="0">
                <a:solidFill>
                  <a:schemeClr val="accent2"/>
                </a:solidFill>
              </a:rPr>
              <a:t>Closure</a:t>
            </a:r>
            <a:r>
              <a:rPr lang="en-US" dirty="0"/>
              <a:t> – finished; conduct any post-review (problem record lifecycle)</a:t>
            </a:r>
          </a:p>
        </p:txBody>
      </p:sp>
    </p:spTree>
    <p:extLst>
      <p:ext uri="{BB962C8B-B14F-4D97-AF65-F5344CB8AC3E}">
        <p14:creationId xmlns:p14="http://schemas.microsoft.com/office/powerpoint/2010/main" val="19926283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98043-3B6E-5B17-4579-42C5A89BC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5 Whys – Root Cause Identification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7E7658-17BF-1339-C1B5-A6DD1DDD52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1919" y="2036852"/>
            <a:ext cx="5688162" cy="4435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3052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B90FD-5C5E-B17E-C84D-F3F2CD339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673CB8-8DB1-3803-3880-1352FE59B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Roles &amp; Responsibilities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F51CF-D761-3D2A-6F19-2C7EF958C1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Service Desk </a:t>
            </a:r>
            <a:r>
              <a:rPr lang="en-US" dirty="0"/>
              <a:t>– First-line support, logging, &amp; communication (</a:t>
            </a:r>
            <a:r>
              <a:rPr lang="en-US" dirty="0" err="1"/>
              <a:t>itil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Incident Manager </a:t>
            </a:r>
            <a:r>
              <a:rPr lang="en-US" dirty="0"/>
              <a:t>– Oversees process, coordinates escalations (</a:t>
            </a:r>
            <a:r>
              <a:rPr lang="en-US" dirty="0" err="1"/>
              <a:t>incident_manager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Support Teams (L2/L3) </a:t>
            </a:r>
            <a:r>
              <a:rPr lang="en-US" dirty="0"/>
              <a:t>– Technical resolution and root cause (</a:t>
            </a:r>
            <a:r>
              <a:rPr lang="en-US" dirty="0" err="1"/>
              <a:t>itil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Problem Manager </a:t>
            </a:r>
            <a:r>
              <a:rPr lang="en-US" dirty="0"/>
              <a:t>– Investigates recurring incidents (</a:t>
            </a:r>
            <a:r>
              <a:rPr lang="en-US" dirty="0" err="1"/>
              <a:t>problem_manager</a:t>
            </a:r>
            <a:r>
              <a:rPr lang="en-US" dirty="0"/>
              <a:t> role)</a:t>
            </a:r>
          </a:p>
          <a:p>
            <a:r>
              <a:rPr lang="en-US" dirty="0">
                <a:solidFill>
                  <a:schemeClr val="accent2"/>
                </a:solidFill>
              </a:rPr>
              <a:t>Problem Coordinator </a:t>
            </a:r>
            <a:r>
              <a:rPr lang="en-US" dirty="0"/>
              <a:t>– manages the lifecycle of the problem (</a:t>
            </a:r>
            <a:r>
              <a:rPr lang="en-US" dirty="0" err="1"/>
              <a:t>problem_coordinator</a:t>
            </a:r>
            <a:r>
              <a:rPr lang="en-US" dirty="0"/>
              <a:t>)</a:t>
            </a:r>
          </a:p>
          <a:p>
            <a:r>
              <a:rPr lang="en-US" dirty="0">
                <a:solidFill>
                  <a:schemeClr val="accent2"/>
                </a:solidFill>
              </a:rPr>
              <a:t>Change Manager </a:t>
            </a:r>
            <a:r>
              <a:rPr lang="en-US" dirty="0"/>
              <a:t>– Approves changes for permanent fixes (</a:t>
            </a:r>
            <a:r>
              <a:rPr lang="en-US" dirty="0" err="1"/>
              <a:t>change_manager</a:t>
            </a:r>
            <a:r>
              <a:rPr lang="en-US" dirty="0"/>
              <a:t> role)</a:t>
            </a:r>
          </a:p>
        </p:txBody>
      </p:sp>
    </p:spTree>
    <p:extLst>
      <p:ext uri="{BB962C8B-B14F-4D97-AF65-F5344CB8AC3E}">
        <p14:creationId xmlns:p14="http://schemas.microsoft.com/office/powerpoint/2010/main" val="9050732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409C4-AB8E-A200-9FF0-3F10B8BE5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Lifecycle In ServiceNow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BD3CCE-E1D4-96A1-488A-29049FDE6D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46" y="2121726"/>
            <a:ext cx="11701396" cy="40341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95AD22-7B5F-57CF-93F7-C54CFF0303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192" y="3426648"/>
            <a:ext cx="734905" cy="3983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958EA00-443D-8EE7-D8AA-55FFAAE337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6754" y="4556124"/>
            <a:ext cx="2119296" cy="35856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821A71-FE05-F7AE-E87F-EDBB783B30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6050" y="3364490"/>
            <a:ext cx="2208445" cy="2478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40C290B-3A00-E5B4-2665-4B311A1187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7717" y="3488433"/>
            <a:ext cx="1708442" cy="26349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92111F9-2FEA-BBE7-7B19-FD1D792290C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1669" y="4595525"/>
            <a:ext cx="1500647" cy="3191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9112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565F5-AF09-019F-0164-4594AB84C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Communicate Workarounds/Fixes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7DF41-1A2C-69C0-D1D2-F88130D7A0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Fill out the workaround/Fix field and save the record</a:t>
            </a:r>
          </a:p>
          <a:p>
            <a:r>
              <a:rPr lang="en-US" dirty="0"/>
              <a:t>Link incidents</a:t>
            </a:r>
          </a:p>
          <a:p>
            <a:r>
              <a:rPr lang="en-US" dirty="0"/>
              <a:t>Click ‘Communicate Workaround’ or ‘Communicate Fix’ to share </a:t>
            </a:r>
          </a:p>
          <a:p>
            <a:r>
              <a:rPr lang="en-US" dirty="0"/>
              <a:t>On the incident record, you will see the workaround or fix posted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94E148-422C-F0CE-F393-8833AE1B70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8510" y="2180496"/>
            <a:ext cx="3294027" cy="196735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3A6D9BC-F6CC-39A9-0400-40AEF8A19C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907605"/>
            <a:ext cx="1680613" cy="84947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4EB37C4-46A4-A0C8-5BF4-8A4BBA208C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8753" y="4484187"/>
            <a:ext cx="5360032" cy="1877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5083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C2053-AB9D-C0C2-C1DE-DC1DC6DBE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Known Errors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5349A4-81B1-79F8-99D4-2DC9768EF3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017701" cy="3678303"/>
          </a:xfrm>
        </p:spPr>
        <p:txBody>
          <a:bodyPr/>
          <a:lstStyle/>
          <a:p>
            <a:r>
              <a:rPr lang="en-US" dirty="0"/>
              <a:t>Click ‘Create Known Error Article’ from the incident record</a:t>
            </a:r>
          </a:p>
          <a:p>
            <a:r>
              <a:rPr lang="en-US" dirty="0"/>
              <a:t>Find duplicates first</a:t>
            </a:r>
          </a:p>
          <a:p>
            <a:r>
              <a:rPr lang="en-US" dirty="0"/>
              <a:t>Fill out the record and submit new article if needed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A54781-3440-AEC0-C99D-BF7FE3BCD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706" y="1990853"/>
            <a:ext cx="3069716" cy="12485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00B2BB9-0F96-C04C-7B15-86211C4657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7377" y="3352889"/>
            <a:ext cx="6364941" cy="2913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2841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F57AE-8D91-7E49-D5F9-7E6A36972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75E5D-CC68-0EC1-01D8-8AACB89D5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82855C-9C10-0A26-AC7A-6E99555F8E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29" y="2691484"/>
            <a:ext cx="5192079" cy="25170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incident and link it to a new problem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and share a workaround with the related incident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and share a knowledge base article with the related incident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4731CAA-A961-C2B3-33C6-29407BDFC9EA}"/>
              </a:ext>
            </a:extLst>
          </p:cNvPr>
          <p:cNvSpPr txBox="1">
            <a:spLocks/>
          </p:cNvSpPr>
          <p:nvPr/>
        </p:nvSpPr>
        <p:spPr>
          <a:xfrm>
            <a:off x="903921" y="2666662"/>
            <a:ext cx="5192079" cy="1013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/>
              <a:t>Create a new incident &amp; problem</a:t>
            </a:r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94362430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1861</TotalTime>
  <Words>1254</Words>
  <Application>Microsoft Office PowerPoint</Application>
  <PresentationFormat>Widescreen</PresentationFormat>
  <Paragraphs>134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Gill Sans MT</vt:lpstr>
      <vt:lpstr>Wingdings</vt:lpstr>
      <vt:lpstr>Wingdings 2</vt:lpstr>
      <vt:lpstr>Dividend</vt:lpstr>
      <vt:lpstr>Incident Management</vt:lpstr>
      <vt:lpstr>What is Incident Management?</vt:lpstr>
      <vt:lpstr>Key Incident Management Features</vt:lpstr>
      <vt:lpstr>The Incident Lifecycle – ITIL Concepts</vt:lpstr>
      <vt:lpstr>Roles &amp; Responsibilities</vt:lpstr>
      <vt:lpstr>The Incident Record</vt:lpstr>
      <vt:lpstr>Priority Matrix</vt:lpstr>
      <vt:lpstr>Service Portfolio Management</vt:lpstr>
      <vt:lpstr>Challenge</vt:lpstr>
      <vt:lpstr>Assignment Rules</vt:lpstr>
      <vt:lpstr>Assignment Rules</vt:lpstr>
      <vt:lpstr>Challenge</vt:lpstr>
      <vt:lpstr>Problem Management</vt:lpstr>
      <vt:lpstr>What is Problem Management?</vt:lpstr>
      <vt:lpstr>Reactive vs Proactive</vt:lpstr>
      <vt:lpstr>Key Problem Management Features</vt:lpstr>
      <vt:lpstr>The Problem Lifecycle – ITIL Concepts</vt:lpstr>
      <vt:lpstr>The 5 Whys – Root Cause Identification</vt:lpstr>
      <vt:lpstr>Roles &amp; Responsibilities</vt:lpstr>
      <vt:lpstr>Problem Lifecycle In ServiceNow</vt:lpstr>
      <vt:lpstr>Communicate Workarounds/Fixes</vt:lpstr>
      <vt:lpstr>Create Known Errors</vt:lpstr>
      <vt:lpstr>Challenge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593</cp:revision>
  <dcterms:created xsi:type="dcterms:W3CDTF">2025-02-12T19:53:45Z</dcterms:created>
  <dcterms:modified xsi:type="dcterms:W3CDTF">2025-10-09T20:36:51Z</dcterms:modified>
</cp:coreProperties>
</file>