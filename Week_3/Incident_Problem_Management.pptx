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  <p:sldId id="273" r:id="rId3"/>
    <p:sldId id="274" r:id="rId4"/>
    <p:sldId id="276" r:id="rId5"/>
    <p:sldId id="284" r:id="rId6"/>
    <p:sldId id="275" r:id="rId7"/>
    <p:sldId id="279" r:id="rId8"/>
    <p:sldId id="277" r:id="rId9"/>
    <p:sldId id="272" r:id="rId10"/>
    <p:sldId id="278" r:id="rId11"/>
    <p:sldId id="280" r:id="rId12"/>
    <p:sldId id="318" r:id="rId13"/>
    <p:sldId id="281" r:id="rId14"/>
    <p:sldId id="282" r:id="rId15"/>
    <p:sldId id="283" r:id="rId16"/>
    <p:sldId id="294" r:id="rId17"/>
    <p:sldId id="293" r:id="rId18"/>
    <p:sldId id="285" r:id="rId19"/>
    <p:sldId id="286" r:id="rId20"/>
    <p:sldId id="287" r:id="rId21"/>
    <p:sldId id="289" r:id="rId22"/>
    <p:sldId id="291" r:id="rId23"/>
    <p:sldId id="288" r:id="rId24"/>
    <p:sldId id="290" r:id="rId25"/>
    <p:sldId id="292" r:id="rId26"/>
    <p:sldId id="295" r:id="rId27"/>
    <p:sldId id="296" r:id="rId28"/>
    <p:sldId id="297" r:id="rId29"/>
    <p:sldId id="299" r:id="rId30"/>
    <p:sldId id="298" r:id="rId31"/>
    <p:sldId id="307" r:id="rId32"/>
    <p:sldId id="300" r:id="rId33"/>
    <p:sldId id="305" r:id="rId34"/>
    <p:sldId id="301" r:id="rId35"/>
    <p:sldId id="303" r:id="rId36"/>
    <p:sldId id="304" r:id="rId37"/>
    <p:sldId id="306" r:id="rId38"/>
    <p:sldId id="315" r:id="rId39"/>
    <p:sldId id="316" r:id="rId40"/>
    <p:sldId id="308" r:id="rId41"/>
    <p:sldId id="309" r:id="rId42"/>
    <p:sldId id="310" r:id="rId43"/>
    <p:sldId id="314" r:id="rId44"/>
    <p:sldId id="311" r:id="rId45"/>
    <p:sldId id="312" r:id="rId46"/>
    <p:sldId id="317" r:id="rId47"/>
    <p:sldId id="313" r:id="rId4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D3D3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C8EF453-3095-AE8A-2F6D-B0378CA79EC1}" v="28" dt="2025-06-02T16:07:27.587"/>
    <p1510:client id="{DEF17522-F9FC-8578-697D-16CF15692E13}" v="5" dt="2025-06-03T14:51:56.486"/>
  </p1510:revLst>
</p1510:revInfo>
</file>

<file path=ppt/tableStyles.xml><?xml version="1.0" encoding="utf-8"?>
<a:tblStyleLst xmlns:a="http://schemas.openxmlformats.org/drawingml/2006/main" def="{5C22544A-7EE6-4342-B048-85BDC9FD1C3A}"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3250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19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10/31/2025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8113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10/31/2025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58775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10/31/2025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73755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10/31/2025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5091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10/31/2025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22488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10/31/2025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9988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10/31/2025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8299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10/31/2025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37106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10/31/2025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97160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10/31/2025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90617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10/31/2025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8553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</a:t>
            </a:r>
          </a:p>
          <a:p>
            <a:pPr lvl="6"/>
            <a:r>
              <a:rPr lang="en-US" dirty="0"/>
              <a:t>Seven</a:t>
            </a:r>
          </a:p>
          <a:p>
            <a:pPr lvl="7"/>
            <a:r>
              <a:rPr lang="en-US" dirty="0"/>
              <a:t>Eight</a:t>
            </a:r>
          </a:p>
          <a:p>
            <a:pPr lvl="8"/>
            <a:r>
              <a:rPr lang="en-US" dirty="0"/>
              <a:t>ni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10/31/2025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6156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Incident Management</a:t>
            </a: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95674-13A9-9205-28DD-508DE993CD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Incident Management?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7E3DD8-E45A-6112-A399-C81789AA6D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1" y="2428849"/>
            <a:ext cx="11029615" cy="3419057"/>
          </a:xfrm>
        </p:spPr>
        <p:txBody>
          <a:bodyPr>
            <a:normAutofit/>
          </a:bodyPr>
          <a:lstStyle/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Incident Management </a:t>
            </a:r>
            <a:r>
              <a:rPr lang="en-US" dirty="0"/>
              <a:t>in ServiceNow is the process and supporting application used to restore normal service operation as quickly as possible after an unplanned interruption or reduction in quality of IT service — minimizing the impact on business operations.</a:t>
            </a:r>
          </a:p>
          <a:p>
            <a:pPr lvl="1"/>
            <a:r>
              <a:rPr lang="en-US" dirty="0"/>
              <a:t>Make sure service disruptions are resolved quickly</a:t>
            </a:r>
          </a:p>
          <a:p>
            <a:pPr lvl="1"/>
            <a:r>
              <a:rPr lang="en-US" dirty="0"/>
              <a:t>Work is assigned automatically to the right teams</a:t>
            </a:r>
          </a:p>
          <a:p>
            <a:pPr lvl="1"/>
            <a:r>
              <a:rPr lang="en-US" dirty="0"/>
              <a:t>Customers and support staff can track progress transparently</a:t>
            </a:r>
          </a:p>
          <a:p>
            <a:pPr lvl="1"/>
            <a:r>
              <a:rPr lang="en-US" dirty="0"/>
              <a:t>Finding a cause is not the concern of incidents, restoring service quickly is</a:t>
            </a:r>
          </a:p>
        </p:txBody>
      </p:sp>
    </p:spTree>
    <p:extLst>
      <p:ext uri="{BB962C8B-B14F-4D97-AF65-F5344CB8AC3E}">
        <p14:creationId xmlns:p14="http://schemas.microsoft.com/office/powerpoint/2010/main" val="22969748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8B31A9-E4D9-49FE-30B2-49AC8C0F5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Incident Management Features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10D351-4738-29CF-CBC3-EC24B25635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accent2"/>
                </a:solidFill>
              </a:rPr>
              <a:t>The Incident record </a:t>
            </a:r>
            <a:r>
              <a:rPr lang="en-US" dirty="0"/>
              <a:t>– a form for capturing details such as caller, category, impact, urgency, and description</a:t>
            </a:r>
          </a:p>
          <a:p>
            <a:r>
              <a:rPr lang="en-US" dirty="0">
                <a:solidFill>
                  <a:schemeClr val="accent2"/>
                </a:solidFill>
              </a:rPr>
              <a:t>Assignment Rules </a:t>
            </a:r>
            <a:r>
              <a:rPr lang="en-US" dirty="0"/>
              <a:t>– automatically routes incidents to the correct support group or individual</a:t>
            </a:r>
          </a:p>
          <a:p>
            <a:r>
              <a:rPr lang="en-US" dirty="0">
                <a:solidFill>
                  <a:schemeClr val="accent2"/>
                </a:solidFill>
              </a:rPr>
              <a:t>Priority Matrix </a:t>
            </a:r>
            <a:r>
              <a:rPr lang="en-US" dirty="0"/>
              <a:t>– priority = impact + urgency</a:t>
            </a:r>
          </a:p>
          <a:p>
            <a:r>
              <a:rPr lang="en-US" dirty="0">
                <a:solidFill>
                  <a:schemeClr val="accent2"/>
                </a:solidFill>
              </a:rPr>
              <a:t>SLAs</a:t>
            </a:r>
            <a:r>
              <a:rPr lang="en-US" dirty="0"/>
              <a:t> – track resolution and response targets</a:t>
            </a:r>
          </a:p>
          <a:p>
            <a:r>
              <a:rPr lang="en-US" dirty="0">
                <a:solidFill>
                  <a:schemeClr val="accent2"/>
                </a:solidFill>
              </a:rPr>
              <a:t>Work Notes &amp; Comments </a:t>
            </a:r>
            <a:r>
              <a:rPr lang="en-US" dirty="0"/>
              <a:t>– facilitate collaboration between support teams and communicate with the user</a:t>
            </a:r>
          </a:p>
          <a:p>
            <a:r>
              <a:rPr lang="en-US" dirty="0">
                <a:solidFill>
                  <a:schemeClr val="accent2"/>
                </a:solidFill>
              </a:rPr>
              <a:t>Knowledge Integration </a:t>
            </a:r>
            <a:r>
              <a:rPr lang="en-US" dirty="0"/>
              <a:t>– Create knowledge articles for faster resolution in the future</a:t>
            </a:r>
          </a:p>
        </p:txBody>
      </p:sp>
    </p:spTree>
    <p:extLst>
      <p:ext uri="{BB962C8B-B14F-4D97-AF65-F5344CB8AC3E}">
        <p14:creationId xmlns:p14="http://schemas.microsoft.com/office/powerpoint/2010/main" val="13451715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CC48D8-6422-B7FE-71A4-B78DC31A3C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Incident Lifecycle – ITIL Concepts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74A94A-DA18-30A2-9A45-E26D5E653C86}"/>
              </a:ext>
            </a:extLst>
          </p:cNvPr>
          <p:cNvSpPr txBox="1"/>
          <p:nvPr/>
        </p:nvSpPr>
        <p:spPr>
          <a:xfrm>
            <a:off x="654424" y="1927412"/>
            <a:ext cx="1095638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accent2"/>
                </a:solidFill>
              </a:rPr>
              <a:t>Incident Detection &amp; Logging </a:t>
            </a:r>
          </a:p>
          <a:p>
            <a:pPr marL="742950" lvl="1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Detection: Incidents are identified through monitoring, user reports, or automated systems</a:t>
            </a:r>
          </a:p>
          <a:p>
            <a:pPr marL="742950" lvl="1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Logging: The incident is recorded in a system (incident record)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accent2"/>
                </a:solidFill>
              </a:rPr>
              <a:t>Categorization &amp; Prioritization</a:t>
            </a:r>
          </a:p>
          <a:p>
            <a:pPr marL="742950" lvl="1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Categorization: The incident is classified by type (category, subcategory fields)</a:t>
            </a:r>
          </a:p>
          <a:p>
            <a:pPr marL="742950" lvl="1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Prioritization: The incident is assigned a priority level based on its urgency and business impact (Priority Matrix)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accent2"/>
                </a:solidFill>
              </a:rPr>
              <a:t>Assignment &amp; Escalation</a:t>
            </a:r>
          </a:p>
          <a:p>
            <a:pPr marL="742950" lvl="1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Assignment: The incident is assigned to a support team or individual who can solve it (Assignment Rules)</a:t>
            </a:r>
          </a:p>
          <a:p>
            <a:pPr marL="742950" lvl="1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Escalation: If the initial support team cannot resolve the issue quickly, the incident is escalated to more specialized technical teams or even management, depending on severity (Escalations)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accent2"/>
                </a:solidFill>
              </a:rPr>
              <a:t>Investigation, Diagnosis, &amp; Resolution</a:t>
            </a:r>
          </a:p>
          <a:p>
            <a:pPr marL="742950" lvl="1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Investigation/Diagnosis: assigned team investigates cause and determines fix</a:t>
            </a:r>
          </a:p>
          <a:p>
            <a:pPr marL="742950" lvl="1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Resolution: The team impalements the fix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accent2"/>
                </a:solidFill>
              </a:rPr>
              <a:t>Closure</a:t>
            </a:r>
          </a:p>
          <a:p>
            <a:pPr marL="742950" lvl="1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The incident record status is set to ‘Closed’</a:t>
            </a:r>
          </a:p>
        </p:txBody>
      </p:sp>
    </p:spTree>
    <p:extLst>
      <p:ext uri="{BB962C8B-B14F-4D97-AF65-F5344CB8AC3E}">
        <p14:creationId xmlns:p14="http://schemas.microsoft.com/office/powerpoint/2010/main" val="17951881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E21ADC-1526-6E35-255B-72A0C25E32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Roles &amp; Responsibilities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A80A9B-BECF-FB2B-4150-8320FB110E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accent2"/>
                </a:solidFill>
              </a:rPr>
              <a:t>Service Desk </a:t>
            </a:r>
            <a:r>
              <a:rPr lang="en-US" dirty="0"/>
              <a:t>– First-line support, logging, &amp; communication (</a:t>
            </a:r>
            <a:r>
              <a:rPr lang="en-US" dirty="0" err="1"/>
              <a:t>itil</a:t>
            </a:r>
            <a:r>
              <a:rPr lang="en-US" dirty="0"/>
              <a:t> role)</a:t>
            </a:r>
          </a:p>
          <a:p>
            <a:r>
              <a:rPr lang="en-US" dirty="0">
                <a:solidFill>
                  <a:schemeClr val="accent2"/>
                </a:solidFill>
              </a:rPr>
              <a:t>Incident Manager </a:t>
            </a:r>
            <a:r>
              <a:rPr lang="en-US" dirty="0"/>
              <a:t>– Oversees process, coordinates escalations (</a:t>
            </a:r>
            <a:r>
              <a:rPr lang="en-US" dirty="0" err="1"/>
              <a:t>incident_manager</a:t>
            </a:r>
            <a:r>
              <a:rPr lang="en-US" dirty="0"/>
              <a:t> role)</a:t>
            </a:r>
          </a:p>
          <a:p>
            <a:r>
              <a:rPr lang="en-US" dirty="0">
                <a:solidFill>
                  <a:schemeClr val="accent2"/>
                </a:solidFill>
              </a:rPr>
              <a:t>Support Teams (L2/L3) </a:t>
            </a:r>
            <a:r>
              <a:rPr lang="en-US" dirty="0"/>
              <a:t>– Technical resolution and root cause (</a:t>
            </a:r>
            <a:r>
              <a:rPr lang="en-US" dirty="0" err="1"/>
              <a:t>itil</a:t>
            </a:r>
            <a:r>
              <a:rPr lang="en-US" dirty="0"/>
              <a:t> role)</a:t>
            </a:r>
          </a:p>
          <a:p>
            <a:r>
              <a:rPr lang="en-US" dirty="0">
                <a:solidFill>
                  <a:schemeClr val="accent2"/>
                </a:solidFill>
              </a:rPr>
              <a:t>Problem Manager </a:t>
            </a:r>
            <a:r>
              <a:rPr lang="en-US" dirty="0"/>
              <a:t>– Investigates recurring incidents (</a:t>
            </a:r>
            <a:r>
              <a:rPr lang="en-US" dirty="0" err="1"/>
              <a:t>problem_manager</a:t>
            </a:r>
            <a:r>
              <a:rPr lang="en-US" dirty="0"/>
              <a:t> role)</a:t>
            </a:r>
          </a:p>
          <a:p>
            <a:r>
              <a:rPr lang="en-US" dirty="0">
                <a:solidFill>
                  <a:schemeClr val="accent2"/>
                </a:solidFill>
              </a:rPr>
              <a:t>Change Manager </a:t>
            </a:r>
            <a:r>
              <a:rPr lang="en-US" dirty="0"/>
              <a:t>– Approves changes for permanent fixes (</a:t>
            </a:r>
            <a:r>
              <a:rPr lang="en-US" dirty="0" err="1"/>
              <a:t>change_manager</a:t>
            </a:r>
            <a:r>
              <a:rPr lang="en-US" dirty="0"/>
              <a:t> role)</a:t>
            </a:r>
          </a:p>
        </p:txBody>
      </p:sp>
    </p:spTree>
    <p:extLst>
      <p:ext uri="{BB962C8B-B14F-4D97-AF65-F5344CB8AC3E}">
        <p14:creationId xmlns:p14="http://schemas.microsoft.com/office/powerpoint/2010/main" val="6913139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40879C-AFD5-F146-0441-1615FB66FD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Incident Record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4CD578-9281-FD5A-B588-C002E76EA4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112748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State – New, In Progress, Resolved, On Hold, Cancelled, Closed</a:t>
            </a:r>
          </a:p>
          <a:p>
            <a:r>
              <a:rPr lang="en-US" dirty="0"/>
              <a:t>Category/Subcategory – classification of the incident</a:t>
            </a:r>
          </a:p>
          <a:p>
            <a:r>
              <a:rPr lang="en-US" dirty="0"/>
              <a:t>Service/Service Offering – ties into Service Portfolio Management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7B03A17-C39F-52C3-BF08-98D9FBCF0E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613" y="3429000"/>
            <a:ext cx="10308771" cy="3111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88844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E84B5-917B-03F3-A0CB-F631E740AD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Priority Matrix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59CBD80E-FDB1-0F4C-7AD1-61A0C30178D9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581026" y="3288824"/>
          <a:ext cx="11029948" cy="1463040"/>
        </p:xfrm>
        <a:graphic>
          <a:graphicData uri="http://schemas.openxmlformats.org/drawingml/2006/table">
            <a:tbl>
              <a:tblPr/>
              <a:tblGrid>
                <a:gridCol w="2757487">
                  <a:extLst>
                    <a:ext uri="{9D8B030D-6E8A-4147-A177-3AD203B41FA5}">
                      <a16:colId xmlns:a16="http://schemas.microsoft.com/office/drawing/2014/main" val="3509168799"/>
                    </a:ext>
                  </a:extLst>
                </a:gridCol>
                <a:gridCol w="2757487">
                  <a:extLst>
                    <a:ext uri="{9D8B030D-6E8A-4147-A177-3AD203B41FA5}">
                      <a16:colId xmlns:a16="http://schemas.microsoft.com/office/drawing/2014/main" val="741191081"/>
                    </a:ext>
                  </a:extLst>
                </a:gridCol>
                <a:gridCol w="2757487">
                  <a:extLst>
                    <a:ext uri="{9D8B030D-6E8A-4147-A177-3AD203B41FA5}">
                      <a16:colId xmlns:a16="http://schemas.microsoft.com/office/drawing/2014/main" val="3655566715"/>
                    </a:ext>
                  </a:extLst>
                </a:gridCol>
                <a:gridCol w="2757487">
                  <a:extLst>
                    <a:ext uri="{9D8B030D-6E8A-4147-A177-3AD203B41FA5}">
                      <a16:colId xmlns:a16="http://schemas.microsoft.com/office/drawing/2014/main" val="14037973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Impact ↓ / Urgency →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High Urgency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Medium Urgency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Low Urgency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0001831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/>
                        <a:t>High Impact</a:t>
                      </a:r>
                      <a:endParaRPr lang="en-US" sz="18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P1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P2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P3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35389759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/>
                        <a:t>Medium Impact</a:t>
                      </a:r>
                      <a:endParaRPr lang="en-US" sz="18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P2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P3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P4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5698627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/>
                        <a:t>Low Impact</a:t>
                      </a:r>
                      <a:endParaRPr lang="en-US" sz="18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P3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P4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/>
                        <a:t>P5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91399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839066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DC743A-B089-0485-4D12-E9E081A237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Service Portfolio Management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F87A74-43E5-AE51-0E64-0A71A410D9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5586526" cy="3678303"/>
          </a:xfrm>
        </p:spPr>
        <p:txBody>
          <a:bodyPr/>
          <a:lstStyle/>
          <a:p>
            <a:r>
              <a:rPr lang="en-US" dirty="0">
                <a:solidFill>
                  <a:schemeClr val="accent2"/>
                </a:solidFill>
              </a:rPr>
              <a:t>Services</a:t>
            </a:r>
            <a:r>
              <a:rPr lang="en-US" dirty="0"/>
              <a:t> – IT services we provide</a:t>
            </a:r>
          </a:p>
          <a:p>
            <a:r>
              <a:rPr lang="en-US" dirty="0">
                <a:solidFill>
                  <a:schemeClr val="accent2"/>
                </a:solidFill>
              </a:rPr>
              <a:t>Service Offerings </a:t>
            </a:r>
            <a:r>
              <a:rPr lang="en-US" dirty="0"/>
              <a:t>– variants or individual components of a service</a:t>
            </a:r>
          </a:p>
          <a:p>
            <a:pPr lvl="1"/>
            <a:r>
              <a:rPr lang="en-US" dirty="0"/>
              <a:t>Service: Email</a:t>
            </a:r>
          </a:p>
          <a:p>
            <a:pPr lvl="1"/>
            <a:r>
              <a:rPr lang="en-US" dirty="0"/>
              <a:t>Service Offerings: Bronze Email Plan, Silver Email Plan, Gold Email Plan</a:t>
            </a:r>
          </a:p>
          <a:p>
            <a:r>
              <a:rPr lang="en-US" dirty="0"/>
              <a:t>If we set the ‘Support Group’ field on both a Service Offering and its parent Service record, then baseline configurations will kick in to automatically set an incident assignment group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34C3047-52B0-7CFA-EC97-C493CF062D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9658" y="2328435"/>
            <a:ext cx="4018526" cy="329337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5F224FC-3343-73FD-DF86-21DBBA29D1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8073" y="5784317"/>
            <a:ext cx="4020111" cy="37152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57B626B-A519-5FAE-6781-50F6C3075D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8072" y="6234292"/>
            <a:ext cx="4020112" cy="3456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04053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DD5E9B-CBC3-2AD1-26DC-9B76C7531C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283F7F-C6C9-0375-B05F-96B34B1FC6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29" y="2691484"/>
            <a:ext cx="5192079" cy="346436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/>
              <a:t>Create a new Service called ‘Training’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related Service Offering called ‘Online Training’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 Set the ‘Support Group’ field on both records to ‘ITSM Agents’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new incident record with your new service and offering to test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2633C40-FD34-2977-76D0-B8C79D866012}"/>
              </a:ext>
            </a:extLst>
          </p:cNvPr>
          <p:cNvSpPr txBox="1">
            <a:spLocks/>
          </p:cNvSpPr>
          <p:nvPr/>
        </p:nvSpPr>
        <p:spPr>
          <a:xfrm>
            <a:off x="903921" y="2691484"/>
            <a:ext cx="5192079" cy="1013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/>
              <a:t>Create a new service and offering</a:t>
            </a:r>
            <a:endParaRPr lang="en-US" dirty="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5850483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8A6675-384D-C5AD-1DB0-EBC1540C96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 Rules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5651DB-47F7-AF40-BA8D-345C82D37B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4591443" cy="3678303"/>
          </a:xfrm>
        </p:spPr>
        <p:txBody>
          <a:bodyPr/>
          <a:lstStyle/>
          <a:p>
            <a:r>
              <a:rPr lang="en-US" dirty="0"/>
              <a:t>System Policy &gt; Rules &gt; Assignment</a:t>
            </a:r>
          </a:p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Assignment Rules </a:t>
            </a:r>
            <a:r>
              <a:rPr lang="en-US" dirty="0"/>
              <a:t>are a set of automated instructions that determine how incidents are routed to the appropriate support group or individual</a:t>
            </a:r>
          </a:p>
          <a:p>
            <a:pPr lvl="1"/>
            <a:r>
              <a:rPr lang="en-US" dirty="0"/>
              <a:t>Only works if both the ‘</a:t>
            </a:r>
            <a:r>
              <a:rPr lang="en-US" dirty="0" err="1"/>
              <a:t>assigned_to</a:t>
            </a:r>
            <a:r>
              <a:rPr lang="en-US" dirty="0"/>
              <a:t>’ and ‘</a:t>
            </a:r>
            <a:r>
              <a:rPr lang="en-US" dirty="0" err="1"/>
              <a:t>assignment_group</a:t>
            </a:r>
            <a:r>
              <a:rPr lang="en-US" dirty="0"/>
              <a:t>’ fields are already empty </a:t>
            </a:r>
          </a:p>
          <a:p>
            <a:r>
              <a:rPr lang="en-US" dirty="0"/>
              <a:t>Available on Task-based tables (many tables such as incidents inherit from Task)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80432CD-D2C5-BF34-A504-BC80B4ADE5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0280" y="2180496"/>
            <a:ext cx="5810746" cy="38430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845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467CE-E546-48C6-3ED9-D7A203A058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 Rules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D09FF6-6655-1341-F3D9-F87412B0CE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3363279" cy="3678303"/>
          </a:xfrm>
        </p:spPr>
        <p:txBody>
          <a:bodyPr/>
          <a:lstStyle/>
          <a:p>
            <a:r>
              <a:rPr lang="en-US" dirty="0"/>
              <a:t>Provide a name</a:t>
            </a:r>
          </a:p>
          <a:p>
            <a:r>
              <a:rPr lang="en-US" dirty="0"/>
              <a:t>Applies To – determines what table and field conditions must be met to trigger</a:t>
            </a:r>
          </a:p>
          <a:p>
            <a:r>
              <a:rPr lang="en-US" dirty="0"/>
              <a:t>Assign To – the user or group to route the incident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A780CC6-9C18-7902-8E42-6F83068592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9067" y="2098149"/>
            <a:ext cx="7431741" cy="251654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58B95F8-0F7F-56C4-E7CE-1B52198DE7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0880" y="4715133"/>
            <a:ext cx="5468113" cy="1400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85151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262D1E-A5AD-195C-2611-8A3C701F99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Best practice Note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58AD8C-851A-B9A8-A9A8-C0C8085020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Many process automations/scripts can change the ‘</a:t>
            </a:r>
            <a:r>
              <a:rPr lang="en-US" dirty="0" err="1"/>
              <a:t>assigned_to</a:t>
            </a:r>
            <a:r>
              <a:rPr lang="en-US" dirty="0"/>
              <a:t>’ and ‘</a:t>
            </a:r>
            <a:r>
              <a:rPr lang="en-US" dirty="0" err="1"/>
              <a:t>assignment_group</a:t>
            </a:r>
            <a:r>
              <a:rPr lang="en-US" dirty="0"/>
              <a:t>’ fields</a:t>
            </a:r>
          </a:p>
          <a:p>
            <a:r>
              <a:rPr lang="en-US" dirty="0"/>
              <a:t>Choose only one solution/script/automation to centralize all logic for these fields  </a:t>
            </a:r>
          </a:p>
          <a:p>
            <a:r>
              <a:rPr lang="en-US" dirty="0"/>
              <a:t>This is a best practice because it helps us debug issues better and provides more consistent results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29602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359DB9-35FF-8221-666E-D73F9F88E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403C89-55B2-1D23-C14A-AC8AD516CC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9FEB02-646E-0A16-C7E3-2D2B4F8CAF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29" y="2691484"/>
            <a:ext cx="5192079" cy="21046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/>
              <a:t>All critical priority incidents, where the ‘Channel’ is ‘Walk-In’, should be routed to our ‘ITSM Agents’ group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Test the functionality and then deactivate this Assignment Rule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EEE1FA6-F3E9-5FE7-8FB7-0EB68D53E40E}"/>
              </a:ext>
            </a:extLst>
          </p:cNvPr>
          <p:cNvSpPr txBox="1">
            <a:spLocks/>
          </p:cNvSpPr>
          <p:nvPr/>
        </p:nvSpPr>
        <p:spPr>
          <a:xfrm>
            <a:off x="903921" y="2691484"/>
            <a:ext cx="5192079" cy="1013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/>
              <a:t>Create a new Assignment Rule</a:t>
            </a:r>
            <a:endParaRPr lang="en-US" dirty="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42666700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850643-7DB5-0C37-E624-F0989D0D82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1957D9-7D60-D12E-50D9-2ABB9E5932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Problem Management</a:t>
            </a:r>
          </a:p>
        </p:txBody>
      </p:sp>
    </p:spTree>
    <p:extLst>
      <p:ext uri="{BB962C8B-B14F-4D97-AF65-F5344CB8AC3E}">
        <p14:creationId xmlns:p14="http://schemas.microsoft.com/office/powerpoint/2010/main" val="13119380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9B63C-70BA-6A2A-13EC-95D5D41929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Problem Management?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10F0DE-F953-8C4E-30FE-522A9CC7CB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Problem Management </a:t>
            </a:r>
            <a:r>
              <a:rPr lang="en-US" dirty="0"/>
              <a:t>is the ITIL practice focused on reducing the likelihood and impact of incidents by finding and addressing their underling causes, and by managing workarounds and known errors. </a:t>
            </a:r>
          </a:p>
          <a:p>
            <a:pPr lvl="1"/>
            <a:r>
              <a:rPr lang="en-US" dirty="0"/>
              <a:t>Reduce the number of incidents</a:t>
            </a:r>
          </a:p>
          <a:p>
            <a:pPr lvl="1"/>
            <a:r>
              <a:rPr lang="en-US" dirty="0"/>
              <a:t>Identify root causes</a:t>
            </a:r>
          </a:p>
        </p:txBody>
      </p:sp>
    </p:spTree>
    <p:extLst>
      <p:ext uri="{BB962C8B-B14F-4D97-AF65-F5344CB8AC3E}">
        <p14:creationId xmlns:p14="http://schemas.microsoft.com/office/powerpoint/2010/main" val="23186434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B87AE5-862B-4D98-69E8-20BBEDF56E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Workaround &amp; Known error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7D0D98-FF63-B1D3-4E61-D0B7A4A192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6553255" cy="3678303"/>
          </a:xfrm>
        </p:spPr>
        <p:txBody>
          <a:bodyPr/>
          <a:lstStyle/>
          <a:p>
            <a:r>
              <a:rPr lang="en-US" dirty="0"/>
              <a:t>Definition: A </a:t>
            </a:r>
            <a:r>
              <a:rPr lang="en-US" dirty="0">
                <a:solidFill>
                  <a:schemeClr val="accent2"/>
                </a:solidFill>
              </a:rPr>
              <a:t>workaround</a:t>
            </a:r>
            <a:r>
              <a:rPr lang="en-US" dirty="0"/>
              <a:t> restores service without a full fix</a:t>
            </a:r>
          </a:p>
          <a:p>
            <a:r>
              <a:rPr lang="en-US" dirty="0"/>
              <a:t>Definition: A </a:t>
            </a:r>
            <a:r>
              <a:rPr lang="en-US" dirty="0">
                <a:solidFill>
                  <a:schemeClr val="accent2"/>
                </a:solidFill>
              </a:rPr>
              <a:t>known error </a:t>
            </a:r>
            <a:r>
              <a:rPr lang="en-US" dirty="0"/>
              <a:t>is a problem that has a documented root cause and a workaround</a:t>
            </a:r>
          </a:p>
          <a:p>
            <a:pPr lvl="1"/>
            <a:r>
              <a:rPr lang="en-US" dirty="0"/>
              <a:t>Stored in the </a:t>
            </a:r>
            <a:r>
              <a:rPr lang="en-US" dirty="0">
                <a:solidFill>
                  <a:schemeClr val="accent2"/>
                </a:solidFill>
              </a:rPr>
              <a:t>Known Error Database (KEDB)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079044E-152A-2599-728F-E1A805643B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9710" y="3333335"/>
            <a:ext cx="2648320" cy="1190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001188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B90051-E65F-E0C9-488E-F59B15C225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Reactive vs Proactive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743F3E-73A2-0AA6-ACBF-98C8BAF173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Reactive Problem Management </a:t>
            </a:r>
            <a:r>
              <a:rPr lang="en-US" dirty="0"/>
              <a:t>is triggered after an incident has occurred, and its goal is to identify and remove the root cause</a:t>
            </a:r>
          </a:p>
          <a:p>
            <a:pPr lvl="1"/>
            <a:r>
              <a:rPr lang="en-US" dirty="0"/>
              <a:t>Problem records created from existing incidents</a:t>
            </a:r>
          </a:p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Proactive Problem Management </a:t>
            </a:r>
            <a:r>
              <a:rPr lang="en-US" dirty="0"/>
              <a:t>aims to identify and prevent problems before they cause incidents</a:t>
            </a:r>
          </a:p>
          <a:p>
            <a:pPr lvl="1"/>
            <a:r>
              <a:rPr lang="en-US" dirty="0"/>
              <a:t>Use trend analysis, monitoring data, and continuous improvement to detect issues early 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251855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FFC745-70F1-2EEF-8C2F-71D334B9DF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Problem Management Features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C168EC-9684-3E21-8BEA-2CCD41D4C7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accent2"/>
                </a:solidFill>
              </a:rPr>
              <a:t>The Problem record </a:t>
            </a:r>
            <a:r>
              <a:rPr lang="en-US" dirty="0"/>
              <a:t>– link related incidents; log problem details; handle resolution/closure</a:t>
            </a:r>
          </a:p>
          <a:p>
            <a:r>
              <a:rPr lang="en-US" dirty="0">
                <a:solidFill>
                  <a:schemeClr val="accent2"/>
                </a:solidFill>
              </a:rPr>
              <a:t>Assignment Rules </a:t>
            </a:r>
            <a:r>
              <a:rPr lang="en-US" dirty="0"/>
              <a:t>– automatically routes problems to the correct support group or individual</a:t>
            </a:r>
          </a:p>
          <a:p>
            <a:r>
              <a:rPr lang="en-US" dirty="0">
                <a:solidFill>
                  <a:schemeClr val="accent2"/>
                </a:solidFill>
              </a:rPr>
              <a:t>Priority Matrix </a:t>
            </a:r>
            <a:r>
              <a:rPr lang="en-US" dirty="0"/>
              <a:t>– priority = impact + urgency</a:t>
            </a:r>
          </a:p>
          <a:p>
            <a:r>
              <a:rPr lang="en-US" dirty="0">
                <a:solidFill>
                  <a:schemeClr val="accent2"/>
                </a:solidFill>
              </a:rPr>
              <a:t>Work Notes &amp; Comments </a:t>
            </a:r>
            <a:r>
              <a:rPr lang="en-US" dirty="0"/>
              <a:t>– facilitate collaboration between support teams and communicate with the user</a:t>
            </a:r>
          </a:p>
          <a:p>
            <a:r>
              <a:rPr lang="en-US" dirty="0">
                <a:solidFill>
                  <a:schemeClr val="accent2"/>
                </a:solidFill>
              </a:rPr>
              <a:t>Communicate Workarounds </a:t>
            </a:r>
            <a:r>
              <a:rPr lang="en-US" dirty="0"/>
              <a:t>– tell related incident owners about the fix</a:t>
            </a:r>
          </a:p>
          <a:p>
            <a:r>
              <a:rPr lang="en-US" dirty="0">
                <a:solidFill>
                  <a:schemeClr val="accent2"/>
                </a:solidFill>
              </a:rPr>
              <a:t>Known Errors </a:t>
            </a:r>
            <a:r>
              <a:rPr lang="en-US" dirty="0"/>
              <a:t>– Identify root causes and find solutions; create knowledge base articles</a:t>
            </a:r>
          </a:p>
        </p:txBody>
      </p:sp>
    </p:spTree>
    <p:extLst>
      <p:ext uri="{BB962C8B-B14F-4D97-AF65-F5344CB8AC3E}">
        <p14:creationId xmlns:p14="http://schemas.microsoft.com/office/powerpoint/2010/main" val="330135278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590990-6B86-C8A4-7A44-555AE00DD9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Problem Lifecycle – ITIL Concepts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F5C0BD-BF7F-0F6F-D2A5-49A0481E4A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>
                <a:solidFill>
                  <a:schemeClr val="accent2"/>
                </a:solidFill>
              </a:rPr>
              <a:t>Detection &amp; Identification</a:t>
            </a:r>
            <a:r>
              <a:rPr lang="en-US" dirty="0"/>
              <a:t> – problem is created; incidents are linked to the problem (problem record lifecycle)</a:t>
            </a:r>
          </a:p>
          <a:p>
            <a:r>
              <a:rPr lang="en-US" dirty="0">
                <a:solidFill>
                  <a:schemeClr val="accent2"/>
                </a:solidFill>
              </a:rPr>
              <a:t>Logging</a:t>
            </a:r>
            <a:r>
              <a:rPr lang="en-US" dirty="0"/>
              <a:t> – problem has a number, short description, category, CI (problem record lifecycle)</a:t>
            </a:r>
          </a:p>
          <a:p>
            <a:r>
              <a:rPr lang="en-US" dirty="0">
                <a:solidFill>
                  <a:schemeClr val="accent2"/>
                </a:solidFill>
              </a:rPr>
              <a:t>Categorization &amp; Prioritization</a:t>
            </a:r>
            <a:r>
              <a:rPr lang="en-US" dirty="0"/>
              <a:t> – problem has assigned category/subcategory fields and priority is calculated (problem record fields)</a:t>
            </a:r>
          </a:p>
          <a:p>
            <a:r>
              <a:rPr lang="en-US" dirty="0">
                <a:solidFill>
                  <a:schemeClr val="accent2"/>
                </a:solidFill>
              </a:rPr>
              <a:t>Investigation &amp; Diagnosis</a:t>
            </a:r>
            <a:r>
              <a:rPr lang="en-US" dirty="0"/>
              <a:t> – problem is assigned; root cause analysis performed using techniques like the ‘5 whys’ (assignment rules)</a:t>
            </a:r>
          </a:p>
          <a:p>
            <a:r>
              <a:rPr lang="en-US" dirty="0">
                <a:solidFill>
                  <a:schemeClr val="accent2"/>
                </a:solidFill>
              </a:rPr>
              <a:t>Workaround</a:t>
            </a:r>
            <a:r>
              <a:rPr lang="en-US" dirty="0"/>
              <a:t> – develop temporary solutions while a permanent fix is being prepared (share workarounds)</a:t>
            </a:r>
          </a:p>
          <a:p>
            <a:r>
              <a:rPr lang="en-US" dirty="0">
                <a:solidFill>
                  <a:schemeClr val="accent2"/>
                </a:solidFill>
              </a:rPr>
              <a:t>Known Error Creation </a:t>
            </a:r>
            <a:r>
              <a:rPr lang="en-US" dirty="0"/>
              <a:t>– document the problem, root cause, and workaround in the Known Error Database (share known error knowledge articles)</a:t>
            </a:r>
          </a:p>
          <a:p>
            <a:r>
              <a:rPr lang="en-US" dirty="0">
                <a:solidFill>
                  <a:schemeClr val="accent2"/>
                </a:solidFill>
              </a:rPr>
              <a:t>Resolution &amp; Change Implementation</a:t>
            </a:r>
            <a:r>
              <a:rPr lang="en-US" dirty="0"/>
              <a:t> – Resolution notes filled out before close; implement the fix while engaging Change Management (problem record lifecycle)</a:t>
            </a:r>
          </a:p>
          <a:p>
            <a:r>
              <a:rPr lang="en-US" dirty="0">
                <a:solidFill>
                  <a:schemeClr val="accent2"/>
                </a:solidFill>
              </a:rPr>
              <a:t>Closure</a:t>
            </a:r>
            <a:r>
              <a:rPr lang="en-US" dirty="0"/>
              <a:t> – finished; conduct any post-review (problem record lifecycle)</a:t>
            </a:r>
          </a:p>
        </p:txBody>
      </p:sp>
    </p:spTree>
    <p:extLst>
      <p:ext uri="{BB962C8B-B14F-4D97-AF65-F5344CB8AC3E}">
        <p14:creationId xmlns:p14="http://schemas.microsoft.com/office/powerpoint/2010/main" val="199262837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998043-3B6E-5B17-4579-42C5A89BC2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5 Whys – Root Cause Identification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D7E7658-17BF-1339-C1B5-A6DD1DDD52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1919" y="2036852"/>
            <a:ext cx="5688162" cy="44356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030529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5B90FD-5C5E-B17E-C84D-F3F2CD339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673CB8-8DB1-3803-3880-1352FE59B2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Roles &amp; Responsibilities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0F51CF-D761-3D2A-6F19-2C7EF958C1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accent2"/>
                </a:solidFill>
              </a:rPr>
              <a:t>Service Desk </a:t>
            </a:r>
            <a:r>
              <a:rPr lang="en-US" dirty="0"/>
              <a:t>– First-line support, logging, &amp; communication (</a:t>
            </a:r>
            <a:r>
              <a:rPr lang="en-US" dirty="0" err="1"/>
              <a:t>itil</a:t>
            </a:r>
            <a:r>
              <a:rPr lang="en-US" dirty="0"/>
              <a:t> role)</a:t>
            </a:r>
          </a:p>
          <a:p>
            <a:r>
              <a:rPr lang="en-US" dirty="0">
                <a:solidFill>
                  <a:schemeClr val="accent2"/>
                </a:solidFill>
              </a:rPr>
              <a:t>Incident Manager </a:t>
            </a:r>
            <a:r>
              <a:rPr lang="en-US" dirty="0"/>
              <a:t>– Oversees process, coordinates escalations (</a:t>
            </a:r>
            <a:r>
              <a:rPr lang="en-US" dirty="0" err="1"/>
              <a:t>incident_manager</a:t>
            </a:r>
            <a:r>
              <a:rPr lang="en-US" dirty="0"/>
              <a:t> role)</a:t>
            </a:r>
          </a:p>
          <a:p>
            <a:r>
              <a:rPr lang="en-US" dirty="0">
                <a:solidFill>
                  <a:schemeClr val="accent2"/>
                </a:solidFill>
              </a:rPr>
              <a:t>Support Teams (L2/L3) </a:t>
            </a:r>
            <a:r>
              <a:rPr lang="en-US" dirty="0"/>
              <a:t>– Technical resolution and root cause (</a:t>
            </a:r>
            <a:r>
              <a:rPr lang="en-US" dirty="0" err="1"/>
              <a:t>itil</a:t>
            </a:r>
            <a:r>
              <a:rPr lang="en-US" dirty="0"/>
              <a:t> role)</a:t>
            </a:r>
          </a:p>
          <a:p>
            <a:r>
              <a:rPr lang="en-US" dirty="0">
                <a:solidFill>
                  <a:schemeClr val="accent2"/>
                </a:solidFill>
              </a:rPr>
              <a:t>Problem Manager </a:t>
            </a:r>
            <a:r>
              <a:rPr lang="en-US" dirty="0"/>
              <a:t>– Investigates recurring incidents (</a:t>
            </a:r>
            <a:r>
              <a:rPr lang="en-US" dirty="0" err="1"/>
              <a:t>problem_manager</a:t>
            </a:r>
            <a:r>
              <a:rPr lang="en-US" dirty="0"/>
              <a:t> role)</a:t>
            </a:r>
          </a:p>
          <a:p>
            <a:r>
              <a:rPr lang="en-US" dirty="0">
                <a:solidFill>
                  <a:schemeClr val="accent2"/>
                </a:solidFill>
              </a:rPr>
              <a:t>Problem Coordinator </a:t>
            </a:r>
            <a:r>
              <a:rPr lang="en-US" dirty="0"/>
              <a:t>– manages the lifecycle of the problem (</a:t>
            </a:r>
            <a:r>
              <a:rPr lang="en-US" dirty="0" err="1"/>
              <a:t>problem_coordinator</a:t>
            </a:r>
            <a:r>
              <a:rPr lang="en-US" dirty="0"/>
              <a:t>)</a:t>
            </a:r>
          </a:p>
          <a:p>
            <a:r>
              <a:rPr lang="en-US" dirty="0">
                <a:solidFill>
                  <a:schemeClr val="accent2"/>
                </a:solidFill>
              </a:rPr>
              <a:t>Change Manager </a:t>
            </a:r>
            <a:r>
              <a:rPr lang="en-US" dirty="0"/>
              <a:t>– Approves changes for permanent fixes (</a:t>
            </a:r>
            <a:r>
              <a:rPr lang="en-US" dirty="0" err="1"/>
              <a:t>change_manager</a:t>
            </a:r>
            <a:r>
              <a:rPr lang="en-US" dirty="0"/>
              <a:t> role)</a:t>
            </a:r>
          </a:p>
        </p:txBody>
      </p:sp>
    </p:spTree>
    <p:extLst>
      <p:ext uri="{BB962C8B-B14F-4D97-AF65-F5344CB8AC3E}">
        <p14:creationId xmlns:p14="http://schemas.microsoft.com/office/powerpoint/2010/main" val="90507328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409C4-AB8E-A200-9FF0-3F10B8BE55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Lifecycle In ServiceNow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EBD3CCE-E1D4-96A1-488A-29049FDE6D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46" y="2121726"/>
            <a:ext cx="11701396" cy="403411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C95AD22-7B5F-57CF-93F7-C54CFF0303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192" y="3426648"/>
            <a:ext cx="734905" cy="39835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958EA00-443D-8EE7-D8AA-55FFAAE337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6754" y="4556124"/>
            <a:ext cx="2119296" cy="35856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6821A71-FE05-F7AE-E87F-EDBB783B307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06050" y="3364490"/>
            <a:ext cx="2208445" cy="24788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040C290B-3A00-E5B4-2665-4B311A11871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67717" y="3488433"/>
            <a:ext cx="1708442" cy="26349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292111F9-2FEA-BBE7-7B19-FD1D792290C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11669" y="4595525"/>
            <a:ext cx="1500647" cy="3191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891120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F565F5-AF09-019F-0164-4594AB84C8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Communicate Workarounds/Fixes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17DF41-1A2C-69C0-D1D2-F88130D7A0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514808" cy="3678303"/>
          </a:xfrm>
        </p:spPr>
        <p:txBody>
          <a:bodyPr/>
          <a:lstStyle/>
          <a:p>
            <a:r>
              <a:rPr lang="en-US" dirty="0"/>
              <a:t>Fill out the workaround/Fix field and save the record</a:t>
            </a:r>
          </a:p>
          <a:p>
            <a:r>
              <a:rPr lang="en-US" dirty="0"/>
              <a:t>Link incidents</a:t>
            </a:r>
          </a:p>
          <a:p>
            <a:r>
              <a:rPr lang="en-US" dirty="0"/>
              <a:t>Click ‘Communicate Workaround’ or ‘Communicate Fix’ to share </a:t>
            </a:r>
          </a:p>
          <a:p>
            <a:r>
              <a:rPr lang="en-US" dirty="0"/>
              <a:t>On the incident record, you will see the workaround or fix posted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C94E148-422C-F0CE-F393-8833AE1B70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8510" y="2180496"/>
            <a:ext cx="3294027" cy="196735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3A6D9BC-F6CC-39A9-0400-40AEF8A19C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2907605"/>
            <a:ext cx="1680613" cy="849473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34EB37C4-46A4-A0C8-5BF4-8A4BBA208C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8753" y="4484187"/>
            <a:ext cx="5360032" cy="1877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5083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C2053-AB9D-C0C2-C1DE-DC1DC6DBE1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Known Errors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5349A4-81B1-79F8-99D4-2DC9768EF3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4017701" cy="3678303"/>
          </a:xfrm>
        </p:spPr>
        <p:txBody>
          <a:bodyPr/>
          <a:lstStyle/>
          <a:p>
            <a:r>
              <a:rPr lang="en-US" dirty="0"/>
              <a:t>Click ‘Create Known Error Article’ from the incident record</a:t>
            </a:r>
          </a:p>
          <a:p>
            <a:r>
              <a:rPr lang="en-US" dirty="0"/>
              <a:t>Find duplicates first</a:t>
            </a:r>
          </a:p>
          <a:p>
            <a:r>
              <a:rPr lang="en-US" dirty="0"/>
              <a:t>Fill out the record and submit new article if needed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EA54781-3440-AEC0-C99D-BF7FE3BCD0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706" y="1990853"/>
            <a:ext cx="3069716" cy="124850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00B2BB9-0F96-C04C-7B15-86211C4657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7377" y="3352889"/>
            <a:ext cx="6364941" cy="29137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928411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0F57AE-8D91-7E49-D5F9-7E6A369724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375E5D-CC68-0EC1-01D8-8AACB89D57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82855C-9C10-0A26-AC7A-6E99555F8E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29" y="2691484"/>
            <a:ext cx="5192079" cy="251701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new incident and link it to a new problem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and share a workaround with the related incident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and share a knowledge base article with the related incident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4731CAA-A961-C2B3-33C6-29407BDFC9EA}"/>
              </a:ext>
            </a:extLst>
          </p:cNvPr>
          <p:cNvSpPr txBox="1">
            <a:spLocks/>
          </p:cNvSpPr>
          <p:nvPr/>
        </p:nvSpPr>
        <p:spPr>
          <a:xfrm>
            <a:off x="903921" y="2666662"/>
            <a:ext cx="5192079" cy="1013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/>
              <a:t>Create a new incident &amp; problem</a:t>
            </a:r>
            <a:endParaRPr lang="en-US" dirty="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59436243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EA57E7-9EF0-4C7C-E3A8-3B3F2FA106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9C5811-B36D-BFBB-FAA4-DA13B22FB74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Change Management</a:t>
            </a:r>
          </a:p>
        </p:txBody>
      </p:sp>
    </p:spTree>
    <p:extLst>
      <p:ext uri="{BB962C8B-B14F-4D97-AF65-F5344CB8AC3E}">
        <p14:creationId xmlns:p14="http://schemas.microsoft.com/office/powerpoint/2010/main" val="38014126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458A7F-7962-0CD3-6D38-C469283BDC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Change Management?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88AB57-8C17-2D7A-82A4-4954811D22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don’t call it change management anymore in ITIL version 4. </a:t>
            </a:r>
          </a:p>
          <a:p>
            <a:r>
              <a:rPr lang="en-US" dirty="0"/>
              <a:t>ITIL V3 = Change Management </a:t>
            </a:r>
          </a:p>
          <a:p>
            <a:r>
              <a:rPr lang="en-US" dirty="0"/>
              <a:t>ITIL V4 = Change Enablement</a:t>
            </a:r>
          </a:p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Change enablement </a:t>
            </a:r>
            <a:r>
              <a:rPr lang="en-US" dirty="0"/>
              <a:t>is the management practice of ensuring that changes to IT services and the IT infrastructure are implemented in a way that minimizes risk and disruption while maximizing value </a:t>
            </a:r>
          </a:p>
          <a:p>
            <a:endParaRPr lang="en-US" dirty="0"/>
          </a:p>
          <a:p>
            <a:endParaRPr lang="en-US" dirty="0"/>
          </a:p>
          <a:p>
            <a:pPr marL="0" indent="0" algn="ctr">
              <a:buNone/>
            </a:pPr>
            <a:r>
              <a:rPr lang="en-US" dirty="0"/>
              <a:t>You may see an even older term ‘change control’. In day-to-day practice, you could see or hear all 3.</a:t>
            </a:r>
          </a:p>
          <a:p>
            <a:pPr marL="0" indent="0" algn="ctr">
              <a:buNone/>
            </a:pPr>
            <a:r>
              <a:rPr lang="en-US" dirty="0"/>
              <a:t>Change Control, Change Management, Change Enablement (Newest)</a:t>
            </a:r>
          </a:p>
        </p:txBody>
      </p:sp>
    </p:spTree>
    <p:extLst>
      <p:ext uri="{BB962C8B-B14F-4D97-AF65-F5344CB8AC3E}">
        <p14:creationId xmlns:p14="http://schemas.microsoft.com/office/powerpoint/2010/main" val="254676644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FB02F0-5CF1-56C1-DD10-FFAB584D2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Change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21DC42-2694-ADC2-4855-D806E75AD6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Standard Changes </a:t>
            </a:r>
            <a:r>
              <a:rPr lang="en-US" dirty="0"/>
              <a:t>are pre-authorized changes that are low-risk and don’t need to be assessed or authorized </a:t>
            </a:r>
          </a:p>
          <a:p>
            <a:pPr lvl="1"/>
            <a:r>
              <a:rPr lang="en-US" dirty="0"/>
              <a:t>Example: provisioning a new employee’s email using a script</a:t>
            </a:r>
          </a:p>
          <a:p>
            <a:r>
              <a:rPr lang="en-US" dirty="0"/>
              <a:t>Definition:  An </a:t>
            </a:r>
            <a:r>
              <a:rPr lang="en-US" dirty="0">
                <a:solidFill>
                  <a:schemeClr val="accent2"/>
                </a:solidFill>
              </a:rPr>
              <a:t>Emergency Change </a:t>
            </a:r>
            <a:r>
              <a:rPr lang="en-US" dirty="0"/>
              <a:t>is a change that must be implemented as soon as possible</a:t>
            </a:r>
          </a:p>
          <a:p>
            <a:pPr lvl="1"/>
            <a:r>
              <a:rPr lang="en-US" dirty="0"/>
              <a:t>Example: Deploying a zero-day security hotfix</a:t>
            </a:r>
          </a:p>
          <a:p>
            <a:r>
              <a:rPr lang="en-US" dirty="0"/>
              <a:t>Definition: A </a:t>
            </a:r>
            <a:r>
              <a:rPr lang="en-US" dirty="0">
                <a:solidFill>
                  <a:schemeClr val="accent2"/>
                </a:solidFill>
              </a:rPr>
              <a:t>Normal Change </a:t>
            </a:r>
            <a:r>
              <a:rPr lang="en-US" dirty="0"/>
              <a:t>is any service change that is not a standard or emergency change</a:t>
            </a:r>
          </a:p>
          <a:p>
            <a:pPr lvl="1"/>
            <a:r>
              <a:rPr lang="en-US" dirty="0"/>
              <a:t>Example: Upgrading our database from v12 to v13</a:t>
            </a:r>
          </a:p>
          <a:p>
            <a:endParaRPr lang="en-US" dirty="0"/>
          </a:p>
          <a:p>
            <a:pPr marL="0" indent="0" algn="ctr">
              <a:buNone/>
            </a:pPr>
            <a:r>
              <a:rPr lang="en-US" dirty="0"/>
              <a:t>Changes are stored on [</a:t>
            </a:r>
            <a:r>
              <a:rPr lang="en-US" dirty="0" err="1"/>
              <a:t>change_request</a:t>
            </a:r>
            <a:r>
              <a:rPr lang="en-US" dirty="0"/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351058122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4F3E9E-7F68-4128-35D6-1D740E4FC0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Governance Roles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F5678F-DBE8-28B0-A126-4328ABA22F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ITIL V4 introduced the Change Authority terminology, but CAB is still used too</a:t>
            </a:r>
          </a:p>
          <a:p>
            <a:r>
              <a:rPr lang="en-US" dirty="0"/>
              <a:t>Definition: A </a:t>
            </a:r>
            <a:r>
              <a:rPr lang="en-US" dirty="0">
                <a:solidFill>
                  <a:schemeClr val="accent2"/>
                </a:solidFill>
              </a:rPr>
              <a:t>Change Authority </a:t>
            </a:r>
            <a:r>
              <a:rPr lang="en-US" dirty="0"/>
              <a:t>is any mechanism by which change approval is granted </a:t>
            </a:r>
          </a:p>
          <a:p>
            <a:pPr lvl="1"/>
            <a:r>
              <a:rPr lang="en-US" dirty="0"/>
              <a:t>A delegated team within the organization</a:t>
            </a:r>
          </a:p>
          <a:p>
            <a:pPr lvl="1"/>
            <a:r>
              <a:rPr lang="en-US" dirty="0"/>
              <a:t>A peer review </a:t>
            </a:r>
          </a:p>
          <a:p>
            <a:pPr lvl="1"/>
            <a:r>
              <a:rPr lang="en-US" dirty="0"/>
              <a:t>Automated approval processes in CI/CD pipelines</a:t>
            </a:r>
          </a:p>
          <a:p>
            <a:pPr lvl="1"/>
            <a:r>
              <a:rPr lang="en-US" dirty="0"/>
              <a:t>Business stakeholders </a:t>
            </a:r>
          </a:p>
          <a:p>
            <a:r>
              <a:rPr lang="en-US" dirty="0"/>
              <a:t>Definition: A </a:t>
            </a:r>
            <a:r>
              <a:rPr lang="en-US" dirty="0">
                <a:solidFill>
                  <a:schemeClr val="accent2"/>
                </a:solidFill>
              </a:rPr>
              <a:t>Change Advisory Board (CAB) </a:t>
            </a:r>
            <a:r>
              <a:rPr lang="en-US" dirty="0"/>
              <a:t>is a committee that provides guidance and oversight on proposed changes, evaluating their impact and risks before approving</a:t>
            </a:r>
          </a:p>
          <a:p>
            <a:r>
              <a:rPr lang="en-US" dirty="0"/>
              <a:t>Definition: An </a:t>
            </a:r>
            <a:r>
              <a:rPr lang="en-US" dirty="0">
                <a:solidFill>
                  <a:schemeClr val="accent2"/>
                </a:solidFill>
              </a:rPr>
              <a:t>Emergency Change Advisory Board (ECAB) </a:t>
            </a:r>
            <a:r>
              <a:rPr lang="en-US" dirty="0"/>
              <a:t>is a flexible, rapid-response decision making group that is convened to assess and authorize emergency changes</a:t>
            </a:r>
          </a:p>
        </p:txBody>
      </p:sp>
    </p:spTree>
    <p:extLst>
      <p:ext uri="{BB962C8B-B14F-4D97-AF65-F5344CB8AC3E}">
        <p14:creationId xmlns:p14="http://schemas.microsoft.com/office/powerpoint/2010/main" val="20319017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45A74A-8767-3F0D-E3AD-9A87A5F315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Change Enablement Features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DD9CC2-6FEE-A4B2-3868-E4FF6C870A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1945759"/>
            <a:ext cx="11029616" cy="4008734"/>
          </a:xfrm>
        </p:spPr>
        <p:txBody>
          <a:bodyPr>
            <a:normAutofit/>
          </a:bodyPr>
          <a:lstStyle/>
          <a:p>
            <a:r>
              <a:rPr lang="en-US" dirty="0"/>
              <a:t>The </a:t>
            </a:r>
            <a:r>
              <a:rPr lang="en-US" dirty="0">
                <a:solidFill>
                  <a:schemeClr val="accent2"/>
                </a:solidFill>
              </a:rPr>
              <a:t>change request record </a:t>
            </a:r>
            <a:r>
              <a:rPr lang="en-US" dirty="0"/>
              <a:t>on the [</a:t>
            </a:r>
            <a:r>
              <a:rPr lang="en-US" dirty="0" err="1"/>
              <a:t>change_request</a:t>
            </a:r>
            <a:r>
              <a:rPr lang="en-US" dirty="0"/>
              <a:t>] table</a:t>
            </a:r>
          </a:p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Risk Conditions </a:t>
            </a:r>
            <a:r>
              <a:rPr lang="en-US" dirty="0"/>
              <a:t>automatically calculate the risk field of a change record </a:t>
            </a:r>
          </a:p>
          <a:p>
            <a:pPr lvl="1"/>
            <a:r>
              <a:rPr lang="en-US" dirty="0"/>
              <a:t>Bulit-in by default</a:t>
            </a:r>
          </a:p>
          <a:p>
            <a:pPr lvl="1"/>
            <a:r>
              <a:rPr lang="en-US" dirty="0"/>
              <a:t>Risk Assessment plugin is an optional alternative. It calculates a weighted score from assessment questions (</a:t>
            </a:r>
            <a:r>
              <a:rPr lang="en-US" dirty="0" err="1"/>
              <a:t>com.snc.change_management.risk_assessment</a:t>
            </a:r>
            <a:r>
              <a:rPr lang="en-US" dirty="0"/>
              <a:t>)</a:t>
            </a:r>
          </a:p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Change Schedules </a:t>
            </a:r>
            <a:r>
              <a:rPr lang="en-US" dirty="0"/>
              <a:t>show us a calendar view that overlays our planned changes with blackout &amp; maintenance windows  </a:t>
            </a:r>
          </a:p>
          <a:p>
            <a:pPr lvl="1"/>
            <a:r>
              <a:rPr lang="en-US" dirty="0"/>
              <a:t>Helps spot conflicts </a:t>
            </a:r>
          </a:p>
          <a:p>
            <a:r>
              <a:rPr lang="en-US" dirty="0"/>
              <a:t>Definition</a:t>
            </a:r>
            <a:r>
              <a:rPr lang="en-US" dirty="0">
                <a:solidFill>
                  <a:schemeClr val="accent2"/>
                </a:solidFill>
              </a:rPr>
              <a:t>: Change Approval Policies </a:t>
            </a:r>
            <a:r>
              <a:rPr lang="en-US" dirty="0"/>
              <a:t>decide who must approve a change, when, and under what conditions </a:t>
            </a:r>
          </a:p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The CAB Workbench </a:t>
            </a:r>
            <a:r>
              <a:rPr lang="en-US" dirty="0"/>
              <a:t>is a built-in place to manage CAB meetings</a:t>
            </a:r>
          </a:p>
        </p:txBody>
      </p:sp>
    </p:spTree>
    <p:extLst>
      <p:ext uri="{BB962C8B-B14F-4D97-AF65-F5344CB8AC3E}">
        <p14:creationId xmlns:p14="http://schemas.microsoft.com/office/powerpoint/2010/main" val="79338710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A8CF73-FED4-CD29-1B92-24E7D67A4D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Change Requests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BCF200-E008-51D2-AB18-BB8E2DE540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4086500" cy="3678303"/>
          </a:xfrm>
        </p:spPr>
        <p:txBody>
          <a:bodyPr/>
          <a:lstStyle/>
          <a:p>
            <a:r>
              <a:rPr lang="en-US" dirty="0"/>
              <a:t>Change &gt; Create New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CCFB271-FF66-7175-5938-E8026B70A2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2308" y="2624148"/>
            <a:ext cx="6705600" cy="2888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479502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CC8597-C696-A85C-D5BF-4E865E6AC5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Risk Conditions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B2CE4A-A1DE-0EA7-6D50-5E5028ADCF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1013800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Find ‘Risk Conditions’ with the filter navigator</a:t>
            </a:r>
          </a:p>
          <a:p>
            <a:r>
              <a:rPr lang="en-US" dirty="0"/>
              <a:t>Set the conditions that a change record must meet</a:t>
            </a:r>
          </a:p>
          <a:p>
            <a:r>
              <a:rPr lang="en-US" dirty="0"/>
              <a:t>Determine what risk and impact to set as a result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1A1ED5A-560A-2E97-FE0E-1D56D1940B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279" y="3476725"/>
            <a:ext cx="10079442" cy="2679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421192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A4C0E0-4B5F-4D04-CF0D-371E3EF35B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23DC1A-F80A-6741-1DEC-475D69122E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FC8E64-5FC8-F426-4F76-6CF2172901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29" y="2382416"/>
            <a:ext cx="5192079" cy="209316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When a change request is made and category is ‘Hardware’ and the service offering is ‘Training’, set the risk and impact to ‘High’ 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8E7896F-2A6C-ED21-CB0F-6237AEC1BED7}"/>
              </a:ext>
            </a:extLst>
          </p:cNvPr>
          <p:cNvSpPr txBox="1">
            <a:spLocks/>
          </p:cNvSpPr>
          <p:nvPr/>
        </p:nvSpPr>
        <p:spPr>
          <a:xfrm>
            <a:off x="903921" y="2666662"/>
            <a:ext cx="5192079" cy="1013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/>
              <a:t>Create a new risk condition</a:t>
            </a:r>
            <a:endParaRPr lang="en-US" dirty="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00583391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213EBF-3735-403A-79BD-0226395D0E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Change Schedules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C66ED6-7014-E0DF-81F1-FC9B13A09A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1013800"/>
          </a:xfrm>
        </p:spPr>
        <p:txBody>
          <a:bodyPr/>
          <a:lstStyle/>
          <a:p>
            <a:r>
              <a:rPr lang="en-US" dirty="0"/>
              <a:t>Set blackout &amp; maintenance windows</a:t>
            </a:r>
          </a:p>
          <a:p>
            <a:r>
              <a:rPr lang="en-US" dirty="0"/>
              <a:t>View them on your change schedule to detect conflicts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7ED8633-E9B9-96C7-A719-F97C0107DE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8604" y="3336512"/>
            <a:ext cx="9794789" cy="31571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471406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40E40E-35E1-073A-345E-6ABA648153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Change Approval Policies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382674-8BC2-EDF3-0DC4-9B6C7D17E5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4639393" cy="3678303"/>
          </a:xfrm>
        </p:spPr>
        <p:txBody>
          <a:bodyPr/>
          <a:lstStyle/>
          <a:p>
            <a:r>
              <a:rPr lang="en-US" dirty="0"/>
              <a:t>Define rules to automate change approvals</a:t>
            </a:r>
          </a:p>
          <a:p>
            <a:r>
              <a:rPr lang="en-US" dirty="0"/>
              <a:t>Policy Inputs – the data that the change approval policy will evaluate</a:t>
            </a:r>
          </a:p>
          <a:p>
            <a:r>
              <a:rPr lang="en-US" dirty="0"/>
              <a:t>Decisions – conditions that when met trigger an answer </a:t>
            </a:r>
          </a:p>
          <a:p>
            <a:r>
              <a:rPr lang="en-US" dirty="0"/>
              <a:t>Approval Definitions (Answers) – what to create: user/group approvals, auto-approve, or auto-reject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CE1C4D3-EA96-C413-F1CE-EF5DCB023D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5768" y="2555046"/>
            <a:ext cx="5865821" cy="2929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558310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1C87AB-5550-AABF-EE1F-D321DA7D44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CAB Workbench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816F36-12BB-2B32-96C0-39E86EAC6D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4745720" cy="3678303"/>
          </a:xfrm>
        </p:spPr>
        <p:txBody>
          <a:bodyPr/>
          <a:lstStyle/>
          <a:p>
            <a:r>
              <a:rPr lang="en-US" dirty="0"/>
              <a:t>Create CAB definitions and related CAB meeting records</a:t>
            </a:r>
          </a:p>
          <a:p>
            <a:r>
              <a:rPr lang="en-US" dirty="0"/>
              <a:t>The records display on the CAB Workbench calendar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AD7CBBF-689F-8148-21C3-63BEB9F740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2105246"/>
            <a:ext cx="4912234" cy="4406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868202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B11514-5BD4-CF8E-C026-7B5D300DA9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New Standard Changes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05F9061-F9D5-BDCF-AC6B-3612DB8B39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722" y="3429000"/>
            <a:ext cx="10164555" cy="256338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4F138A8-E15D-9483-26CD-A27E3A9B3709}"/>
              </a:ext>
            </a:extLst>
          </p:cNvPr>
          <p:cNvSpPr txBox="1"/>
          <p:nvPr/>
        </p:nvSpPr>
        <p:spPr>
          <a:xfrm>
            <a:off x="2326757" y="2372423"/>
            <a:ext cx="753848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Create new standard changes through the Standard Change Catalog</a:t>
            </a:r>
          </a:p>
        </p:txBody>
      </p:sp>
    </p:spTree>
    <p:extLst>
      <p:ext uri="{BB962C8B-B14F-4D97-AF65-F5344CB8AC3E}">
        <p14:creationId xmlns:p14="http://schemas.microsoft.com/office/powerpoint/2010/main" val="89419937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774FC6-5679-58D6-FECF-2EF95D065C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Emergency Changes, Major Incidents, 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BD7FAF-2E94-3940-31F3-C7CE0D955A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394306" cy="367830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Major Incident is detected </a:t>
            </a:r>
          </a:p>
          <a:p>
            <a:r>
              <a:rPr lang="en-US" dirty="0"/>
              <a:t>Workaround involves a system update</a:t>
            </a:r>
          </a:p>
          <a:p>
            <a:pPr lvl="1"/>
            <a:r>
              <a:rPr lang="en-US" dirty="0"/>
              <a:t>Change Manager creates an Emergency Change linked to the incident </a:t>
            </a:r>
          </a:p>
          <a:p>
            <a:r>
              <a:rPr lang="en-US" dirty="0"/>
              <a:t>ECAB convenes and gives approval for emergency change</a:t>
            </a:r>
          </a:p>
          <a:p>
            <a:r>
              <a:rPr lang="en-US" dirty="0"/>
              <a:t>Change implemented and incident closed </a:t>
            </a:r>
          </a:p>
          <a:p>
            <a:r>
              <a:rPr lang="en-US" dirty="0"/>
              <a:t>Post-Implementation Review</a:t>
            </a:r>
          </a:p>
          <a:p>
            <a:pPr lvl="1"/>
            <a:r>
              <a:rPr lang="en-US" dirty="0"/>
              <a:t>Output: A problem record is initiated to perform root cause analysis</a:t>
            </a:r>
          </a:p>
          <a:p>
            <a:pPr lvl="1"/>
            <a:r>
              <a:rPr lang="en-US" dirty="0"/>
              <a:t>A normal change is implemented from the problem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9765288-10E7-FD7B-7AE0-14D4366C62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3452" y="3601693"/>
            <a:ext cx="4593319" cy="109876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938E0CB-A0D3-34F4-0E83-DDA6709EB338}"/>
              </a:ext>
            </a:extLst>
          </p:cNvPr>
          <p:cNvSpPr txBox="1"/>
          <p:nvPr/>
        </p:nvSpPr>
        <p:spPr>
          <a:xfrm>
            <a:off x="7108977" y="3256307"/>
            <a:ext cx="36022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The Major Incident plugin needs to be installed</a:t>
            </a:r>
          </a:p>
        </p:txBody>
      </p:sp>
    </p:spTree>
    <p:extLst>
      <p:ext uri="{BB962C8B-B14F-4D97-AF65-F5344CB8AC3E}">
        <p14:creationId xmlns:p14="http://schemas.microsoft.com/office/powerpoint/2010/main" val="413491961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374D77-DC61-9670-DF01-BC71FDE66C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0FA40F-B7CA-AFCD-E883-0291C3284B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2CF868-5036-1A29-D09B-483FEDFAC8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48608" y="2382416"/>
            <a:ext cx="5192079" cy="209316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Install the plugin: </a:t>
            </a:r>
            <a:r>
              <a:rPr lang="en-US" dirty="0" err="1">
                <a:ea typeface="+mn-lt"/>
                <a:cs typeface="+mn-lt"/>
              </a:rPr>
              <a:t>com.snc.incident.mim</a:t>
            </a:r>
            <a:endParaRPr lang="en-US" dirty="0">
              <a:ea typeface="+mn-lt"/>
              <a:cs typeface="+mn-lt"/>
            </a:endParaRP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Major Incident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related Emergency Change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9BAAA6A-F22A-252A-791F-A09313473335}"/>
              </a:ext>
            </a:extLst>
          </p:cNvPr>
          <p:cNvSpPr txBox="1">
            <a:spLocks/>
          </p:cNvSpPr>
          <p:nvPr/>
        </p:nvSpPr>
        <p:spPr>
          <a:xfrm>
            <a:off x="903921" y="2666662"/>
            <a:ext cx="5192079" cy="1013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new Major Incident and link it to an emergency change</a:t>
            </a:r>
          </a:p>
        </p:txBody>
      </p:sp>
    </p:spTree>
    <p:extLst>
      <p:ext uri="{BB962C8B-B14F-4D97-AF65-F5344CB8AC3E}">
        <p14:creationId xmlns:p14="http://schemas.microsoft.com/office/powerpoint/2010/main" val="89646329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F29BE-5D6D-2F42-2A1F-393302B1B1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B4165A-E25C-23C3-0B6F-376400DDB38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Knowledge Management</a:t>
            </a:r>
          </a:p>
        </p:txBody>
      </p:sp>
    </p:spTree>
    <p:extLst>
      <p:ext uri="{BB962C8B-B14F-4D97-AF65-F5344CB8AC3E}">
        <p14:creationId xmlns:p14="http://schemas.microsoft.com/office/powerpoint/2010/main" val="250824609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6470B8-1416-2A79-27C7-CA16703C67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Knowledge management?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95179-F491-2C74-CC80-3262BFC221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Knowledge Management </a:t>
            </a:r>
            <a:r>
              <a:rPr lang="en-US" dirty="0"/>
              <a:t>is the practice of effective, efficient, and convenient use of information and knowledge across the organization</a:t>
            </a:r>
          </a:p>
          <a:p>
            <a:pPr lvl="1"/>
            <a:r>
              <a:rPr lang="en-US" dirty="0"/>
              <a:t>Helps people make better decisions </a:t>
            </a:r>
          </a:p>
          <a:p>
            <a:pPr lvl="1"/>
            <a:r>
              <a:rPr lang="en-US" dirty="0"/>
              <a:t>Resolve issues faster</a:t>
            </a:r>
          </a:p>
          <a:p>
            <a:pPr lvl="1"/>
            <a:r>
              <a:rPr lang="en-US" dirty="0"/>
              <a:t>Reduce backtracking over work </a:t>
            </a:r>
          </a:p>
        </p:txBody>
      </p:sp>
    </p:spTree>
    <p:extLst>
      <p:ext uri="{BB962C8B-B14F-4D97-AF65-F5344CB8AC3E}">
        <p14:creationId xmlns:p14="http://schemas.microsoft.com/office/powerpoint/2010/main" val="359267171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987EB1-8925-CAA5-5991-A7A1921E27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Roles &amp; Access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4704E5-4470-E7C4-8714-E006F2F8B9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knowledge_admin</a:t>
            </a:r>
            <a:r>
              <a:rPr lang="en-US" dirty="0"/>
              <a:t> – full KM administration </a:t>
            </a:r>
          </a:p>
          <a:p>
            <a:r>
              <a:rPr lang="en-US" dirty="0" err="1"/>
              <a:t>knowledge_manager</a:t>
            </a:r>
            <a:r>
              <a:rPr lang="en-US" dirty="0"/>
              <a:t> – administer assigned knowledge bases; approve, curate, manage categories &amp; contributors</a:t>
            </a:r>
          </a:p>
        </p:txBody>
      </p:sp>
    </p:spTree>
    <p:extLst>
      <p:ext uri="{BB962C8B-B14F-4D97-AF65-F5344CB8AC3E}">
        <p14:creationId xmlns:p14="http://schemas.microsoft.com/office/powerpoint/2010/main" val="163581868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912792-D845-A6A1-9937-32FB27D33F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Knowledge Homepage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412B00-AE4D-CDED-9763-48D2D67107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626499"/>
          </a:xfrm>
        </p:spPr>
        <p:txBody>
          <a:bodyPr/>
          <a:lstStyle/>
          <a:p>
            <a:pPr marL="0" indent="0" algn="ctr">
              <a:buNone/>
            </a:pPr>
            <a:r>
              <a:rPr lang="en-US" dirty="0"/>
              <a:t>The Knowledge Homepage provides a space for self-serve users to get assistance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3772585-173E-2CB9-B88E-32ECD9039F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8046" y="2986755"/>
            <a:ext cx="8895907" cy="3336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040356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C1F023-E0E2-6422-7121-7438874E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Knowledge Base vs Knowledge Article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2F339B-4AD9-31CC-D724-73A9C0B1B6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5351775" cy="3678303"/>
          </a:xfrm>
        </p:spPr>
        <p:txBody>
          <a:bodyPr/>
          <a:lstStyle/>
          <a:p>
            <a:r>
              <a:rPr lang="en-US" dirty="0"/>
              <a:t>Definition: The </a:t>
            </a:r>
            <a:r>
              <a:rPr lang="en-US" dirty="0">
                <a:solidFill>
                  <a:schemeClr val="accent2"/>
                </a:solidFill>
              </a:rPr>
              <a:t>knowledge base </a:t>
            </a:r>
            <a:r>
              <a:rPr lang="en-US" dirty="0"/>
              <a:t>is a governed repository of knowledge articles</a:t>
            </a:r>
          </a:p>
          <a:p>
            <a:pPr lvl="1"/>
            <a:r>
              <a:rPr lang="en-US" dirty="0"/>
              <a:t>Example: Known Error</a:t>
            </a:r>
          </a:p>
          <a:p>
            <a:pPr lvl="1"/>
            <a:r>
              <a:rPr lang="en-US" dirty="0"/>
              <a:t>Table name: </a:t>
            </a:r>
            <a:r>
              <a:rPr lang="en-US" dirty="0" err="1"/>
              <a:t>kb_knowledge_base</a:t>
            </a:r>
            <a:endParaRPr lang="en-US" dirty="0"/>
          </a:p>
          <a:p>
            <a:r>
              <a:rPr lang="en-US" dirty="0"/>
              <a:t>Definition: A </a:t>
            </a:r>
            <a:r>
              <a:rPr lang="en-US" dirty="0">
                <a:solidFill>
                  <a:schemeClr val="accent2"/>
                </a:solidFill>
              </a:rPr>
              <a:t>knowledge article </a:t>
            </a:r>
            <a:r>
              <a:rPr lang="en-US" dirty="0"/>
              <a:t>is a single, reusable unit of content that answers a question or solves a specific problem </a:t>
            </a:r>
          </a:p>
          <a:p>
            <a:pPr lvl="1"/>
            <a:r>
              <a:rPr lang="en-US" dirty="0"/>
              <a:t>Table name: </a:t>
            </a:r>
            <a:r>
              <a:rPr lang="en-US" dirty="0" err="1"/>
              <a:t>kb_knowledge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B7955C4-1A0D-9F8B-A6E4-01AA0800F5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3181" y="2314419"/>
            <a:ext cx="3042956" cy="146512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2881229-72F1-82E3-127B-B0DA4055A1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4373" y="3909302"/>
            <a:ext cx="1853749" cy="2691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488612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652D30-2CC5-9008-4ADC-4E7EBED711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Knowledge Article States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65A246-F795-4B90-AF0D-91611C35A2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Draft – in the process of being created</a:t>
            </a:r>
          </a:p>
          <a:p>
            <a:r>
              <a:rPr lang="en-US" dirty="0"/>
              <a:t>Review – draft version sent to reviewers to approve or reject, we can recall to send back to draft</a:t>
            </a:r>
          </a:p>
          <a:p>
            <a:r>
              <a:rPr lang="en-US" dirty="0"/>
              <a:t>Scheduled for publish – draft version of knowledge article is scheduled at future date</a:t>
            </a:r>
          </a:p>
          <a:p>
            <a:r>
              <a:rPr lang="en-US" dirty="0"/>
              <a:t>Published – article is approved and published we can checkout to create new version in draft</a:t>
            </a:r>
          </a:p>
          <a:p>
            <a:r>
              <a:rPr lang="en-US" dirty="0"/>
              <a:t>Pending retirement – published article is selected for retirement, pending approval </a:t>
            </a:r>
          </a:p>
          <a:p>
            <a:r>
              <a:rPr lang="en-US" dirty="0"/>
              <a:t>Retired – published article is retired </a:t>
            </a:r>
          </a:p>
          <a:p>
            <a:r>
              <a:rPr lang="en-US" dirty="0"/>
              <a:t>Outdated – more recent version of the article has been published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CA3E9F8-82C6-1C2A-E2B2-82BA1FEACA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78314" y="3819594"/>
            <a:ext cx="1009791" cy="40010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CE44298-7B24-9D63-E81D-B3D1E21C4C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83209" y="2944297"/>
            <a:ext cx="676369" cy="428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337113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3CCAEC-40E8-EDE8-4AF5-9821D8141A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Knowledge Flows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F17AAA-93A0-DBA2-E8AF-063008DE5A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4779702" cy="3678303"/>
          </a:xfrm>
        </p:spPr>
        <p:txBody>
          <a:bodyPr/>
          <a:lstStyle/>
          <a:p>
            <a:r>
              <a:rPr lang="en-US" dirty="0"/>
              <a:t>Knowledge Flows are process automations that control the state of our articles all the way from Draft to Published and everything in between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ED0BF57-7BF4-9A4F-CF38-0E516C3DC9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5044" y="2180496"/>
            <a:ext cx="5144218" cy="373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135435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29B798-A9EE-4644-2382-1E3A43649C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BD1D23-32B4-D796-5CDF-7F6E31273E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611850-C33C-BAE4-0C82-14D9518424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29" y="2382416"/>
            <a:ext cx="5192079" cy="33379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HR needs their own knowledge base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new knowledge base called ‘HR’ and make sure only members of the HR department can read articles from it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the first knowledge article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You can use dummy data where necessary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181499C-88A3-C112-B418-24CD4A34FEDA}"/>
              </a:ext>
            </a:extLst>
          </p:cNvPr>
          <p:cNvSpPr txBox="1">
            <a:spLocks/>
          </p:cNvSpPr>
          <p:nvPr/>
        </p:nvSpPr>
        <p:spPr>
          <a:xfrm>
            <a:off x="903921" y="2666662"/>
            <a:ext cx="5192079" cy="1013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/>
              <a:t>Create a new knowledge base and article</a:t>
            </a:r>
            <a:endParaRPr lang="en-US" dirty="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076334379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366658"/>
      </a:accent1>
      <a:accent2>
        <a:srgbClr val="8CB64A"/>
      </a:accent2>
      <a:accent3>
        <a:srgbClr val="88D5A9"/>
      </a:accent3>
      <a:accent4>
        <a:srgbClr val="969FA7"/>
      </a:accent4>
      <a:accent5>
        <a:srgbClr val="E8A844"/>
      </a:accent5>
      <a:accent6>
        <a:srgbClr val="A1561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4BEC0EAF-CF86-4D49-B83B-56CC62D3CFF1}"/>
    </a:ext>
  </a:extLst>
</a:theme>
</file>

<file path=docMetadata/LabelInfo.xml><?xml version="1.0" encoding="utf-8"?>
<clbl:labelList xmlns:clbl="http://schemas.microsoft.com/office/2020/mipLabelMetadata">
  <clbl:label id="{6b63e28a-a8f9-47b5-aa40-97e231215164}" enabled="0" method="" siteId="{6b63e28a-a8f9-47b5-aa40-97e231215164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5830</TotalTime>
  <Words>2379</Words>
  <Application>Microsoft Office PowerPoint</Application>
  <PresentationFormat>Widescreen</PresentationFormat>
  <Paragraphs>257</Paragraphs>
  <Slides>47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1" baseType="lpstr">
      <vt:lpstr>Gill Sans MT</vt:lpstr>
      <vt:lpstr>Wingdings</vt:lpstr>
      <vt:lpstr>Wingdings 2</vt:lpstr>
      <vt:lpstr>Dividend</vt:lpstr>
      <vt:lpstr>Incident Management</vt:lpstr>
      <vt:lpstr>What is Incident Management?</vt:lpstr>
      <vt:lpstr>Key Incident Management Features</vt:lpstr>
      <vt:lpstr>The Incident Lifecycle – ITIL Concepts</vt:lpstr>
      <vt:lpstr>Roles &amp; Responsibilities</vt:lpstr>
      <vt:lpstr>The Incident Record</vt:lpstr>
      <vt:lpstr>Priority Matrix</vt:lpstr>
      <vt:lpstr>Service Portfolio Management</vt:lpstr>
      <vt:lpstr>Challenge</vt:lpstr>
      <vt:lpstr>Assignment Rules</vt:lpstr>
      <vt:lpstr>Assignment Rules</vt:lpstr>
      <vt:lpstr>Best practice Note</vt:lpstr>
      <vt:lpstr>Challenge</vt:lpstr>
      <vt:lpstr>Problem Management</vt:lpstr>
      <vt:lpstr>What is Problem Management?</vt:lpstr>
      <vt:lpstr>Workaround &amp; Known error</vt:lpstr>
      <vt:lpstr>Reactive vs Proactive</vt:lpstr>
      <vt:lpstr>Key Problem Management Features</vt:lpstr>
      <vt:lpstr>The Problem Lifecycle – ITIL Concepts</vt:lpstr>
      <vt:lpstr>The 5 Whys – Root Cause Identification</vt:lpstr>
      <vt:lpstr>Roles &amp; Responsibilities</vt:lpstr>
      <vt:lpstr>Problem Lifecycle In ServiceNow</vt:lpstr>
      <vt:lpstr>Communicate Workarounds/Fixes</vt:lpstr>
      <vt:lpstr>Create Known Errors</vt:lpstr>
      <vt:lpstr>Challenge</vt:lpstr>
      <vt:lpstr>Change Management</vt:lpstr>
      <vt:lpstr>What is Change Management?</vt:lpstr>
      <vt:lpstr>Change Types</vt:lpstr>
      <vt:lpstr>Governance Roles</vt:lpstr>
      <vt:lpstr>Key Change Enablement Features</vt:lpstr>
      <vt:lpstr>Creating Change Requests</vt:lpstr>
      <vt:lpstr>Risk Conditions</vt:lpstr>
      <vt:lpstr>Challenge</vt:lpstr>
      <vt:lpstr>Change Schedules</vt:lpstr>
      <vt:lpstr>Change Approval Policies</vt:lpstr>
      <vt:lpstr>The CAB Workbench</vt:lpstr>
      <vt:lpstr>Creating New Standard Changes</vt:lpstr>
      <vt:lpstr>Emergency Changes, Major Incidents, Problems</vt:lpstr>
      <vt:lpstr>Challenge</vt:lpstr>
      <vt:lpstr>Knowledge Management</vt:lpstr>
      <vt:lpstr>What is Knowledge management?</vt:lpstr>
      <vt:lpstr>Roles &amp; Access</vt:lpstr>
      <vt:lpstr>The Knowledge Homepage</vt:lpstr>
      <vt:lpstr>Knowledge Base vs Knowledge Article</vt:lpstr>
      <vt:lpstr>Knowledge Article States</vt:lpstr>
      <vt:lpstr>Knowledge Flows</vt:lpstr>
      <vt:lpstr>Challenge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Ethan Wilson</dc:creator>
  <cp:lastModifiedBy>Ethan Wilson</cp:lastModifiedBy>
  <cp:revision>600</cp:revision>
  <dcterms:created xsi:type="dcterms:W3CDTF">2025-02-12T19:53:45Z</dcterms:created>
  <dcterms:modified xsi:type="dcterms:W3CDTF">2025-10-31T14:33:25Z</dcterms:modified>
</cp:coreProperties>
</file>