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  <p:sldId id="275" r:id="rId3"/>
    <p:sldId id="277" r:id="rId4"/>
    <p:sldId id="274" r:id="rId5"/>
    <p:sldId id="312" r:id="rId6"/>
    <p:sldId id="273" r:id="rId7"/>
    <p:sldId id="276" r:id="rId8"/>
    <p:sldId id="278" r:id="rId9"/>
    <p:sldId id="279" r:id="rId10"/>
    <p:sldId id="280" r:id="rId11"/>
    <p:sldId id="281" r:id="rId12"/>
    <p:sldId id="282" r:id="rId13"/>
    <p:sldId id="284" r:id="rId14"/>
    <p:sldId id="283" r:id="rId15"/>
    <p:sldId id="285" r:id="rId16"/>
    <p:sldId id="295" r:id="rId17"/>
    <p:sldId id="290" r:id="rId18"/>
    <p:sldId id="287" r:id="rId19"/>
    <p:sldId id="286" r:id="rId20"/>
    <p:sldId id="291" r:id="rId21"/>
    <p:sldId id="288" r:id="rId22"/>
    <p:sldId id="289" r:id="rId23"/>
    <p:sldId id="272" r:id="rId24"/>
    <p:sldId id="292" r:id="rId25"/>
    <p:sldId id="294" r:id="rId26"/>
    <p:sldId id="293" r:id="rId27"/>
    <p:sldId id="313" r:id="rId28"/>
    <p:sldId id="299" r:id="rId29"/>
    <p:sldId id="314" r:id="rId30"/>
    <p:sldId id="296" r:id="rId31"/>
    <p:sldId id="303" r:id="rId32"/>
    <p:sldId id="325" r:id="rId33"/>
    <p:sldId id="298" r:id="rId34"/>
    <p:sldId id="297" r:id="rId35"/>
    <p:sldId id="327" r:id="rId36"/>
    <p:sldId id="300" r:id="rId37"/>
    <p:sldId id="301" r:id="rId38"/>
    <p:sldId id="304" r:id="rId39"/>
    <p:sldId id="305" r:id="rId40"/>
    <p:sldId id="306" r:id="rId41"/>
    <p:sldId id="307" r:id="rId42"/>
    <p:sldId id="326" r:id="rId43"/>
    <p:sldId id="308" r:id="rId44"/>
    <p:sldId id="309" r:id="rId45"/>
    <p:sldId id="310" r:id="rId46"/>
    <p:sldId id="311" r:id="rId47"/>
    <p:sldId id="302" r:id="rId48"/>
    <p:sldId id="315" r:id="rId49"/>
    <p:sldId id="316" r:id="rId50"/>
    <p:sldId id="317" r:id="rId51"/>
    <p:sldId id="318" r:id="rId52"/>
    <p:sldId id="319" r:id="rId53"/>
    <p:sldId id="320" r:id="rId54"/>
    <p:sldId id="321" r:id="rId55"/>
    <p:sldId id="322" r:id="rId56"/>
    <p:sldId id="323" r:id="rId57"/>
    <p:sldId id="324" r:id="rId5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D3D3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98" d="100"/>
          <a:sy n="98" d="100"/>
        </p:scale>
        <p:origin x="96" y="2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theme" Target="theme/theme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10/8/2025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81139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10/8/2025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58775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10/8/2025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73755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10/8/2025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65091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10/8/2025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22488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10/8/2025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99881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10/8/2025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82994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10/8/2025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37106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10/8/2025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97160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10/8/2025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90617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10/8/2025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8553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</a:t>
            </a:r>
          </a:p>
          <a:p>
            <a:pPr lvl="6"/>
            <a:r>
              <a:rPr lang="en-US" dirty="0"/>
              <a:t>Seven</a:t>
            </a:r>
          </a:p>
          <a:p>
            <a:pPr lvl="7"/>
            <a:r>
              <a:rPr lang="en-US" dirty="0"/>
              <a:t>Eight</a:t>
            </a:r>
          </a:p>
          <a:p>
            <a:pPr lvl="8"/>
            <a:r>
              <a:rPr lang="en-US" dirty="0"/>
              <a:t>ni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10/8/2025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6156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3.png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Basics</a:t>
            </a:r>
          </a:p>
        </p:txBody>
      </p:sp>
      <p:pic>
        <p:nvPicPr>
          <p:cNvPr id="4" name="Picture 3" descr="ServiceNow logo transparent PNG - StickPNG">
            <a:extLst>
              <a:ext uri="{FF2B5EF4-FFF2-40B4-BE49-F238E27FC236}">
                <a16:creationId xmlns:a16="http://schemas.microsoft.com/office/drawing/2014/main" id="{D7622E4E-6271-FAF7-80FD-0DAEECDB60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707" y="895417"/>
            <a:ext cx="5427258" cy="9294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3A009E-7C47-DDDC-C0B2-37FD489ADC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CSA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470C8E-B609-0EC7-FFCE-19B3D4ACCB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This course is geared towards the </a:t>
            </a:r>
            <a:r>
              <a:rPr lang="en-US" dirty="0">
                <a:solidFill>
                  <a:srgbClr val="92D050"/>
                </a:solidFill>
              </a:rPr>
              <a:t>Certified System Administrator (CSA) </a:t>
            </a:r>
            <a:r>
              <a:rPr lang="en-US" dirty="0"/>
              <a:t>credential</a:t>
            </a:r>
          </a:p>
          <a:p>
            <a:r>
              <a:rPr lang="en-US" dirty="0"/>
              <a:t>There are 6 major sections to the 90-minute, 60-question exam:</a:t>
            </a:r>
          </a:p>
          <a:p>
            <a:pPr lvl="1"/>
            <a:r>
              <a:rPr lang="en-US" dirty="0"/>
              <a:t>Platform Overview &amp; Navigation – 6%</a:t>
            </a:r>
          </a:p>
          <a:p>
            <a:pPr lvl="1"/>
            <a:r>
              <a:rPr lang="en-US" dirty="0"/>
              <a:t>Instance Configuration – 10%</a:t>
            </a:r>
          </a:p>
          <a:p>
            <a:pPr lvl="1"/>
            <a:r>
              <a:rPr lang="en-US" dirty="0"/>
              <a:t>Configuring Applications for Collaboration – 19.5%</a:t>
            </a:r>
          </a:p>
          <a:p>
            <a:pPr lvl="1"/>
            <a:r>
              <a:rPr lang="en-US" dirty="0"/>
              <a:t>Self-Service &amp; Automation – 19.5%</a:t>
            </a:r>
          </a:p>
          <a:p>
            <a:pPr lvl="1"/>
            <a:r>
              <a:rPr lang="en-US" dirty="0"/>
              <a:t>Database Management and Platform Security – 30%</a:t>
            </a:r>
          </a:p>
          <a:p>
            <a:pPr lvl="1"/>
            <a:r>
              <a:rPr lang="en-US" dirty="0"/>
              <a:t>Data Migration and Integration – 15%</a:t>
            </a:r>
          </a:p>
        </p:txBody>
      </p:sp>
    </p:spTree>
    <p:extLst>
      <p:ext uri="{BB962C8B-B14F-4D97-AF65-F5344CB8AC3E}">
        <p14:creationId xmlns:p14="http://schemas.microsoft.com/office/powerpoint/2010/main" val="30319809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2CE00B-3D29-E39D-94BC-98A3B220F0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Instance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173528-1251-720D-933D-018E2DA928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6106479" cy="3678303"/>
          </a:xfrm>
        </p:spPr>
        <p:txBody>
          <a:bodyPr/>
          <a:lstStyle/>
          <a:p>
            <a:r>
              <a:rPr lang="en-US" dirty="0"/>
              <a:t>Definition: An </a:t>
            </a:r>
            <a:r>
              <a:rPr lang="en-US" dirty="0">
                <a:solidFill>
                  <a:schemeClr val="accent2"/>
                </a:solidFill>
              </a:rPr>
              <a:t>instance</a:t>
            </a:r>
            <a:r>
              <a:rPr lang="en-US" dirty="0"/>
              <a:t> is a singular implementation of the ServiceNow platform</a:t>
            </a:r>
          </a:p>
          <a:p>
            <a:r>
              <a:rPr lang="en-US" dirty="0"/>
              <a:t>Every customer organization gets a minimum of 2 instances</a:t>
            </a:r>
          </a:p>
          <a:p>
            <a:pPr lvl="1"/>
            <a:r>
              <a:rPr lang="en-US" dirty="0"/>
              <a:t>Production</a:t>
            </a:r>
          </a:p>
          <a:p>
            <a:pPr lvl="1"/>
            <a:r>
              <a:rPr lang="en-US" dirty="0"/>
              <a:t>Sub-production</a:t>
            </a:r>
          </a:p>
          <a:p>
            <a:r>
              <a:rPr lang="en-US" dirty="0"/>
              <a:t>To access your instance, your organization will have a unique URL: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https://&lt;instance-name-here&gt;.service-now.com</a:t>
            </a:r>
          </a:p>
          <a:p>
            <a:r>
              <a:rPr lang="en-US" dirty="0">
                <a:solidFill>
                  <a:schemeClr val="tx1"/>
                </a:solidFill>
              </a:rPr>
              <a:t>Definition: A </a:t>
            </a:r>
            <a:r>
              <a:rPr lang="en-US" dirty="0">
                <a:solidFill>
                  <a:schemeClr val="accent2"/>
                </a:solidFill>
              </a:rPr>
              <a:t>Baseline implementation </a:t>
            </a:r>
            <a:r>
              <a:rPr lang="en-US" dirty="0">
                <a:solidFill>
                  <a:schemeClr val="tx1"/>
                </a:solidFill>
              </a:rPr>
              <a:t>is a set of installed applications on a ServiceNow instance before any configuration or customization has been done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36C18FD-B296-7102-44AC-E849E121C3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7268" y="2275114"/>
            <a:ext cx="3165275" cy="3765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55673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37B617-5DCD-C3C6-FB0A-58B280CAD3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3D0A88-6032-2740-E35B-E6E99CE74F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5210007" cy="3678303"/>
          </a:xfrm>
        </p:spPr>
        <p:txBody>
          <a:bodyPr/>
          <a:lstStyle/>
          <a:p>
            <a:r>
              <a:rPr lang="en-US" dirty="0"/>
              <a:t>Every six months there is a new SNOW release</a:t>
            </a:r>
          </a:p>
          <a:p>
            <a:pPr lvl="1"/>
            <a:r>
              <a:rPr lang="en-US" dirty="0"/>
              <a:t>Vancouver, Washington DC, Xanadu</a:t>
            </a:r>
          </a:p>
          <a:p>
            <a:r>
              <a:rPr lang="en-US" dirty="0"/>
              <a:t>Updates are made on a per instance basis</a:t>
            </a:r>
          </a:p>
          <a:p>
            <a:pPr lvl="1"/>
            <a:r>
              <a:rPr lang="en-US" dirty="0"/>
              <a:t>You must update your dev instances to match production, build features, then ship to production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4146B64-906E-03D5-351F-39C33A906C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78941" y="2813217"/>
            <a:ext cx="5631866" cy="21245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16629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53375C-BB1C-A3B9-C678-69075FF599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Configuration vs Customization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25CDEBC-6A23-A6B1-4796-897DA9C861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8299" y="2486695"/>
            <a:ext cx="5224185" cy="265535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711BDB7-BE42-EC40-5EE4-6C13BA4355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3526" y="3668114"/>
            <a:ext cx="5690175" cy="21745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96727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EE2938-5570-B0CB-CD8E-3E25ED52CE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Users Interact with ServiceNow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94585D-9F2D-D6CE-D83F-1FA9E3B1B0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950236" cy="4139622"/>
          </a:xfrm>
        </p:spPr>
        <p:txBody>
          <a:bodyPr/>
          <a:lstStyle/>
          <a:p>
            <a:r>
              <a:rPr lang="en-US" dirty="0">
                <a:solidFill>
                  <a:srgbClr val="92D050"/>
                </a:solidFill>
              </a:rPr>
              <a:t>The Next Experience Unified Navigation </a:t>
            </a:r>
            <a:r>
              <a:rPr lang="en-US" dirty="0"/>
              <a:t>– is the primary way to interact with apps and records within ServiceNow</a:t>
            </a:r>
          </a:p>
          <a:p>
            <a:r>
              <a:rPr lang="en-US" dirty="0">
                <a:solidFill>
                  <a:srgbClr val="92D050"/>
                </a:solidFill>
              </a:rPr>
              <a:t>The Now Mobile App </a:t>
            </a:r>
            <a:r>
              <a:rPr lang="en-US" dirty="0"/>
              <a:t>– allows users to submit incidents, sign documents, take surveys, and more</a:t>
            </a:r>
          </a:p>
          <a:p>
            <a:r>
              <a:rPr lang="en-US" dirty="0">
                <a:solidFill>
                  <a:srgbClr val="92D050"/>
                </a:solidFill>
              </a:rPr>
              <a:t>The Service Portal </a:t>
            </a:r>
            <a:r>
              <a:rPr lang="en-US" dirty="0"/>
              <a:t>– is a user-friendly UI for external customers to use the platform and view its data</a:t>
            </a:r>
          </a:p>
          <a:p>
            <a:pPr lvl="1"/>
            <a:r>
              <a:rPr lang="en-US" b="1" i="1" dirty="0"/>
              <a:t>https//&lt;instance-name-here&gt;.service-now.com/</a:t>
            </a:r>
            <a:r>
              <a:rPr lang="en-US" b="1" i="1" dirty="0" err="1"/>
              <a:t>sp</a:t>
            </a:r>
            <a:endParaRPr lang="en-US" dirty="0"/>
          </a:p>
          <a:p>
            <a:r>
              <a:rPr lang="en-US" dirty="0">
                <a:solidFill>
                  <a:srgbClr val="92D050"/>
                </a:solidFill>
              </a:rPr>
              <a:t>The Employee Center </a:t>
            </a:r>
            <a:r>
              <a:rPr lang="en-US" dirty="0"/>
              <a:t>– is a dynamic portal for internal employees for communication, engagement, and shared content, free for all ServiceNow customers </a:t>
            </a:r>
          </a:p>
          <a:p>
            <a:pPr lvl="1"/>
            <a:r>
              <a:rPr lang="en-US" b="1" i="1" dirty="0"/>
              <a:t>https//&lt;instance-name-here&gt;.service-now.com/esc</a:t>
            </a:r>
            <a:endParaRPr lang="en-US" dirty="0"/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29F00F1-5DE1-DCFD-0945-27521FC902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2057" y="2646913"/>
            <a:ext cx="4732317" cy="24951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94287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DC1B69-7037-9D6D-7185-A07D15C2B0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 Engine Studio &amp; Creator Studio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0A1962-10AD-7633-9786-6340ED5FE8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5434125" cy="3678303"/>
          </a:xfrm>
        </p:spPr>
        <p:txBody>
          <a:bodyPr/>
          <a:lstStyle/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App Engine Studio </a:t>
            </a:r>
            <a:r>
              <a:rPr lang="en-US" dirty="0"/>
              <a:t>is a tool for citizen developers to implement basic scripting or workflow customization using low-code tools</a:t>
            </a:r>
          </a:p>
          <a:p>
            <a:pPr lvl="1"/>
            <a:r>
              <a:rPr lang="en-US" dirty="0"/>
              <a:t>Design data tables, build flows, build forms, and more</a:t>
            </a:r>
          </a:p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Creator Studio </a:t>
            </a:r>
            <a:r>
              <a:rPr lang="en-US" dirty="0"/>
              <a:t>is a tool for citizen developers that simplifies app creation even further, using no code at all</a:t>
            </a:r>
          </a:p>
          <a:p>
            <a:pPr lvl="1"/>
            <a:r>
              <a:rPr lang="en-US" dirty="0"/>
              <a:t>Prebuilt templates, no access to scripting or custom tables, governed by App Engine Management Center (AEMC)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450D12D-897E-A050-D811-B5EF1474DA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1" y="2282596"/>
            <a:ext cx="5010910" cy="40964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46040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1F8173-8F81-7307-522B-FDA45451BD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 Further Complicate Matters…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8B62C0-644B-DDA3-9127-D79A2E5CFB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4941067" cy="3678303"/>
          </a:xfrm>
        </p:spPr>
        <p:txBody>
          <a:bodyPr/>
          <a:lstStyle/>
          <a:p>
            <a:r>
              <a:rPr lang="en-US" dirty="0"/>
              <a:t>Creator Studio Shouldn’t be confused with ServiceNow Studio</a:t>
            </a:r>
          </a:p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ServiceNow Studio </a:t>
            </a:r>
            <a:r>
              <a:rPr lang="en-US" dirty="0"/>
              <a:t>is a powerful application that runs on the platform to build complex applications and integrations</a:t>
            </a:r>
          </a:p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ServiceNow IDE </a:t>
            </a:r>
            <a:r>
              <a:rPr lang="en-US" dirty="0"/>
              <a:t>is a way for us to render our instance changes as metadata and back up to source control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FD5A4B3-1AB7-6761-B9D3-06F81EF574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9743" y="2266802"/>
            <a:ext cx="4353533" cy="3505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60598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48CEDA-9D88-CB56-F458-CE3CA12E1A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Next Experience UI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897C72-E313-56E8-4A24-1300773991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796989"/>
            <a:ext cx="11029615" cy="355898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This is how most users interact with the applications and data within a ServiceNow instance</a:t>
            </a:r>
          </a:p>
          <a:p>
            <a:r>
              <a:rPr lang="en-US" dirty="0"/>
              <a:t>All – lists our applications and modules</a:t>
            </a:r>
          </a:p>
          <a:p>
            <a:r>
              <a:rPr lang="en-US" dirty="0"/>
              <a:t>Favorites – displays our favorited items</a:t>
            </a:r>
          </a:p>
          <a:p>
            <a:r>
              <a:rPr lang="en-US" dirty="0"/>
              <a:t>History – displays recently viewed forms, lists, catalog items, and more </a:t>
            </a:r>
          </a:p>
          <a:p>
            <a:r>
              <a:rPr lang="en-US" dirty="0"/>
              <a:t>Workspaces – the list of workspaces we have access to (such as Service Operations Workspace)</a:t>
            </a:r>
          </a:p>
          <a:p>
            <a:r>
              <a:rPr lang="en-US" dirty="0"/>
              <a:t>Contextual App Pill – where we are in the instance (click the start to favorite an item)</a:t>
            </a:r>
          </a:p>
          <a:p>
            <a:r>
              <a:rPr lang="en-US" dirty="0"/>
              <a:t>Global Search – search for information across applications and records </a:t>
            </a:r>
          </a:p>
          <a:p>
            <a:r>
              <a:rPr lang="en-US" dirty="0"/>
              <a:t>Notifications – user notifications</a:t>
            </a:r>
          </a:p>
          <a:p>
            <a:r>
              <a:rPr lang="en-US" dirty="0"/>
              <a:t>User Menu – change personalization settings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04A41FE-D35A-B198-FAF9-98BC27E63E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923" y="2168809"/>
            <a:ext cx="11029617" cy="3856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26947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DC199D-F585-9960-1FA4-FA4F433DA8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Common User Interfaces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300C7E-871A-08C4-C13C-8DFFC7D53E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4284721" cy="3678303"/>
          </a:xfrm>
        </p:spPr>
        <p:txBody>
          <a:bodyPr/>
          <a:lstStyle/>
          <a:p>
            <a:r>
              <a:rPr lang="en-US" dirty="0"/>
              <a:t>Definition: A </a:t>
            </a:r>
            <a:r>
              <a:rPr lang="en-US" dirty="0">
                <a:solidFill>
                  <a:schemeClr val="accent2"/>
                </a:solidFill>
              </a:rPr>
              <a:t>workspace</a:t>
            </a:r>
            <a:r>
              <a:rPr lang="en-US" dirty="0"/>
              <a:t> is a role-based, task-focused user interface designed to streamline the experience for end-users or agents performing specific tasks</a:t>
            </a:r>
          </a:p>
          <a:p>
            <a:pPr lvl="1"/>
            <a:r>
              <a:rPr lang="en-US" dirty="0"/>
              <a:t>Customer Service reps, HR agents, field techs, etc.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CE9B50C-0FDE-80E1-2754-BB06635F0D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7428" y="2326514"/>
            <a:ext cx="6270171" cy="3386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92308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D44C3C-AA7C-3A57-75BE-4BD81A7052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Common User Interfaces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C63060-8335-4801-EAFC-2C4A1756CC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514808" cy="3678303"/>
          </a:xfrm>
        </p:spPr>
        <p:txBody>
          <a:bodyPr/>
          <a:lstStyle/>
          <a:p>
            <a:r>
              <a:rPr lang="en-US" dirty="0"/>
              <a:t>Lists</a:t>
            </a:r>
          </a:p>
          <a:p>
            <a:r>
              <a:rPr lang="en-US" dirty="0"/>
              <a:t>Forms</a:t>
            </a:r>
          </a:p>
          <a:p>
            <a:r>
              <a:rPr lang="en-US" dirty="0"/>
              <a:t>Dashboards</a:t>
            </a:r>
          </a:p>
          <a:p>
            <a:r>
              <a:rPr lang="en-US" dirty="0"/>
              <a:t>Knowledge Articles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1ED8CC2-A937-CCFF-7E1A-864E606CB3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8413" y="2128886"/>
            <a:ext cx="6322651" cy="189076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01BA668-71C0-325B-7244-E32151B4F7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3907" y="4432577"/>
            <a:ext cx="6207157" cy="1753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12269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01E8F9-1C6C-15E8-34BC-E703C9CA22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ServiceNow Architecture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D1D3135-8175-0904-F924-24B3E4D1A8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1044" y="2007021"/>
            <a:ext cx="8709912" cy="43720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027732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D8D7A0-6790-8ACC-4FE3-E2DBA404DD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Personas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691CEEF-DB1B-DDC2-7E56-A7C11E6938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1143" y="2318698"/>
            <a:ext cx="7478486" cy="3650690"/>
          </a:xfrm>
          <a:prstGeom prst="rect">
            <a:avLst/>
          </a:prstGeom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717D06C-C1BC-868B-7DF8-FBA2070CED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3261465" cy="4535990"/>
          </a:xfrm>
        </p:spPr>
        <p:txBody>
          <a:bodyPr>
            <a:normAutofit/>
          </a:bodyPr>
          <a:lstStyle/>
          <a:p>
            <a:r>
              <a:rPr lang="en-US" dirty="0"/>
              <a:t>Admins – that’s us</a:t>
            </a:r>
          </a:p>
          <a:p>
            <a:r>
              <a:rPr lang="en-US" dirty="0"/>
              <a:t>Specialized Admin - Report Administrator, Form Administrator, etc. </a:t>
            </a:r>
          </a:p>
          <a:p>
            <a:r>
              <a:rPr lang="en-US" dirty="0"/>
              <a:t>Process User – a customer service rep with the </a:t>
            </a:r>
            <a:r>
              <a:rPr lang="en-US" dirty="0" err="1"/>
              <a:t>itil</a:t>
            </a:r>
            <a:r>
              <a:rPr lang="en-US" dirty="0"/>
              <a:t> user role</a:t>
            </a:r>
          </a:p>
          <a:p>
            <a:r>
              <a:rPr lang="en-US" dirty="0"/>
              <a:t>Approver – a user listed as an approver for change requests</a:t>
            </a:r>
          </a:p>
          <a:p>
            <a:r>
              <a:rPr lang="en-US" dirty="0"/>
              <a:t>Requester – Users that may make use of the ESS portal to ask for IT services such as requesting a new work laptop</a:t>
            </a:r>
          </a:p>
        </p:txBody>
      </p:sp>
    </p:spTree>
    <p:extLst>
      <p:ext uri="{BB962C8B-B14F-4D97-AF65-F5344CB8AC3E}">
        <p14:creationId xmlns:p14="http://schemas.microsoft.com/office/powerpoint/2010/main" val="37840835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787298-A34D-9873-BCD8-06A3F4C956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Applications &amp; Modules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61D270-0881-393E-1CB1-83CA29347B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5756855" cy="3678303"/>
          </a:xfrm>
        </p:spPr>
        <p:txBody>
          <a:bodyPr/>
          <a:lstStyle/>
          <a:p>
            <a:r>
              <a:rPr lang="en-US" dirty="0"/>
              <a:t>Definition: An </a:t>
            </a:r>
            <a:r>
              <a:rPr lang="en-US" dirty="0">
                <a:solidFill>
                  <a:schemeClr val="accent2"/>
                </a:solidFill>
              </a:rPr>
              <a:t>application</a:t>
            </a:r>
            <a:r>
              <a:rPr lang="en-US" dirty="0"/>
              <a:t> is a container for related functionality within the ServiceNow platform</a:t>
            </a:r>
          </a:p>
          <a:p>
            <a:pPr lvl="1"/>
            <a:r>
              <a:rPr lang="en-US" dirty="0"/>
              <a:t>Groups together tables, forms, workflows, business rules, scripts, and modules </a:t>
            </a:r>
          </a:p>
          <a:p>
            <a:pPr lvl="1"/>
            <a:r>
              <a:rPr lang="en-US" dirty="0"/>
              <a:t>Applications have scope, which controls access to app data</a:t>
            </a:r>
          </a:p>
          <a:p>
            <a:r>
              <a:rPr lang="en-US" dirty="0"/>
              <a:t>Definition: An </a:t>
            </a:r>
            <a:r>
              <a:rPr lang="en-US" dirty="0">
                <a:solidFill>
                  <a:schemeClr val="accent2"/>
                </a:solidFill>
              </a:rPr>
              <a:t>application menu </a:t>
            </a:r>
            <a:r>
              <a:rPr lang="en-US" dirty="0"/>
              <a:t>is a navigation element that structures modules</a:t>
            </a:r>
          </a:p>
          <a:p>
            <a:r>
              <a:rPr lang="en-US" dirty="0"/>
              <a:t>Definition: A </a:t>
            </a:r>
            <a:r>
              <a:rPr lang="en-US" dirty="0">
                <a:solidFill>
                  <a:schemeClr val="accent2"/>
                </a:solidFill>
              </a:rPr>
              <a:t>module</a:t>
            </a:r>
            <a:r>
              <a:rPr lang="en-US" dirty="0"/>
              <a:t> is a navigation item inside an app</a:t>
            </a:r>
          </a:p>
          <a:p>
            <a:pPr lvl="1"/>
            <a:r>
              <a:rPr lang="en-US" dirty="0"/>
              <a:t>Can point to a form, a list of records, reports, dashboards, UI pages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55B25D6-2252-2969-14C0-EDECBDB7E0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5505" y="2180496"/>
            <a:ext cx="3691362" cy="43091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650054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17ED76-8675-3930-B35F-9724D0F727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Users &amp; Groups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211E00-2895-A189-4181-83C1CEF9EF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514808" cy="4292022"/>
          </a:xfrm>
        </p:spPr>
        <p:txBody>
          <a:bodyPr>
            <a:normAutofit/>
          </a:bodyPr>
          <a:lstStyle/>
          <a:p>
            <a:r>
              <a:rPr lang="en-US" dirty="0"/>
              <a:t>Users are represented by a record on the User [</a:t>
            </a:r>
            <a:r>
              <a:rPr lang="en-US" dirty="0" err="1"/>
              <a:t>sys_user</a:t>
            </a:r>
            <a:r>
              <a:rPr lang="en-US" dirty="0"/>
              <a:t>] table.</a:t>
            </a:r>
          </a:p>
          <a:p>
            <a:pPr lvl="1"/>
            <a:r>
              <a:rPr lang="en-US" dirty="0"/>
              <a:t>Update Records</a:t>
            </a:r>
          </a:p>
          <a:p>
            <a:pPr lvl="1"/>
            <a:r>
              <a:rPr lang="en-US" dirty="0"/>
              <a:t>Import Data</a:t>
            </a:r>
          </a:p>
          <a:p>
            <a:pPr lvl="1"/>
            <a:r>
              <a:rPr lang="en-US" dirty="0"/>
              <a:t>Request Items</a:t>
            </a:r>
          </a:p>
          <a:p>
            <a:pPr lvl="1"/>
            <a:r>
              <a:rPr lang="en-US" dirty="0"/>
              <a:t>Implement Flows</a:t>
            </a:r>
          </a:p>
          <a:p>
            <a:pPr lvl="1"/>
            <a:r>
              <a:rPr lang="en-US" dirty="0"/>
              <a:t>Approve Knowledge Content</a:t>
            </a:r>
          </a:p>
          <a:p>
            <a:pPr lvl="1"/>
            <a:r>
              <a:rPr lang="en-US" dirty="0"/>
              <a:t>Run Reports</a:t>
            </a:r>
          </a:p>
          <a:p>
            <a:pPr lvl="1"/>
            <a:r>
              <a:rPr lang="en-US" dirty="0"/>
              <a:t>Develop Applications</a:t>
            </a:r>
          </a:p>
          <a:p>
            <a:r>
              <a:rPr lang="en-US" dirty="0">
                <a:solidFill>
                  <a:schemeClr val="accent2"/>
                </a:solidFill>
              </a:rPr>
              <a:t>BEST PRACTICE</a:t>
            </a:r>
            <a:r>
              <a:rPr lang="en-US" dirty="0"/>
              <a:t>: Never delete user records, we just mark as inactive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663D491-F9E0-62A3-3810-438F821FF8C2}"/>
              </a:ext>
            </a:extLst>
          </p:cNvPr>
          <p:cNvSpPr txBox="1">
            <a:spLocks/>
          </p:cNvSpPr>
          <p:nvPr/>
        </p:nvSpPr>
        <p:spPr>
          <a:xfrm>
            <a:off x="6096000" y="2355615"/>
            <a:ext cx="5514808" cy="214676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A group is represented by a record on the Group [</a:t>
            </a:r>
            <a:r>
              <a:rPr lang="en-US" dirty="0" err="1"/>
              <a:t>sys_user_group</a:t>
            </a:r>
            <a:r>
              <a:rPr lang="en-US" dirty="0"/>
              <a:t>] table.</a:t>
            </a:r>
          </a:p>
          <a:p>
            <a:pPr lvl="1"/>
            <a:r>
              <a:rPr lang="en-US" dirty="0"/>
              <a:t>Groups share a common purpose, such as users approving change requests or users receiving email notifications</a:t>
            </a:r>
          </a:p>
          <a:p>
            <a:pPr lvl="1"/>
            <a:r>
              <a:rPr lang="en-US" dirty="0"/>
              <a:t>Examples: service desk, knowledge base authors, HR admins</a:t>
            </a:r>
          </a:p>
        </p:txBody>
      </p:sp>
    </p:spTree>
    <p:extLst>
      <p:ext uri="{BB962C8B-B14F-4D97-AF65-F5344CB8AC3E}">
        <p14:creationId xmlns:p14="http://schemas.microsoft.com/office/powerpoint/2010/main" val="346235637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C2E031-B3D1-5F27-47F9-0BEC850032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When Saving Records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72DD08-BCDF-04F3-7959-02A2F3E9DE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6847" y="2189460"/>
            <a:ext cx="4222377" cy="3678303"/>
          </a:xfrm>
        </p:spPr>
        <p:txBody>
          <a:bodyPr/>
          <a:lstStyle/>
          <a:p>
            <a:r>
              <a:rPr lang="en-US" dirty="0"/>
              <a:t>Right click + Save = save record but stay on record page</a:t>
            </a:r>
          </a:p>
          <a:p>
            <a:r>
              <a:rPr lang="en-US" dirty="0"/>
              <a:t>Submit/Update = save record and return to list view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FC482FF-A2D9-B9AA-0A8A-71F54113DD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9397" y="2758482"/>
            <a:ext cx="5936836" cy="2383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208717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F527E4-DB95-4780-E802-4CAD78B8A1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BB1FC1-C1DA-607B-BA8C-7D32383E4F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8EE752-E27D-2093-BB42-9E78B3ADC4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8729" y="2691484"/>
            <a:ext cx="5192079" cy="1683292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US" b="1" dirty="0"/>
              <a:t>Scenario: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Add a fictional character to your instance as a user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group called ‘ITSM Agents’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Add your new user to the user group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190DDEBD-5048-9FD9-C579-A632B9A5450F}"/>
              </a:ext>
            </a:extLst>
          </p:cNvPr>
          <p:cNvSpPr txBox="1">
            <a:spLocks/>
          </p:cNvSpPr>
          <p:nvPr/>
        </p:nvSpPr>
        <p:spPr>
          <a:xfrm>
            <a:off x="903921" y="2610801"/>
            <a:ext cx="5192079" cy="1013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US" b="1" dirty="0"/>
              <a:t>Goal: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new user and add them to a new group</a:t>
            </a:r>
          </a:p>
        </p:txBody>
      </p:sp>
    </p:spTree>
    <p:extLst>
      <p:ext uri="{BB962C8B-B14F-4D97-AF65-F5344CB8AC3E}">
        <p14:creationId xmlns:p14="http://schemas.microsoft.com/office/powerpoint/2010/main" val="11358524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3EF851-B851-9E34-6DD9-8204B1CAA9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User Impersonation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FB22056-6B03-FD01-7F6E-0EB2CC946C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1408" y="1925094"/>
            <a:ext cx="8549184" cy="4230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984918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250D3F-C3FC-D12E-175F-39886C495F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636F78-CE26-FBCB-2174-F4E5E057A3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514808" cy="3678303"/>
          </a:xfrm>
        </p:spPr>
        <p:txBody>
          <a:bodyPr>
            <a:normAutofit lnSpcReduction="10000"/>
          </a:bodyPr>
          <a:lstStyle/>
          <a:p>
            <a:r>
              <a:rPr lang="en-US" dirty="0"/>
              <a:t>Definition: A </a:t>
            </a:r>
            <a:r>
              <a:rPr lang="en-US" dirty="0">
                <a:solidFill>
                  <a:schemeClr val="accent2"/>
                </a:solidFill>
              </a:rPr>
              <a:t>role</a:t>
            </a:r>
            <a:r>
              <a:rPr lang="en-US" dirty="0"/>
              <a:t> is used to define access at the application, module, and/or Access Control List (ACL)</a:t>
            </a:r>
          </a:p>
          <a:p>
            <a:r>
              <a:rPr lang="en-US" dirty="0"/>
              <a:t>Roles can be:</a:t>
            </a:r>
          </a:p>
          <a:p>
            <a:pPr lvl="1"/>
            <a:r>
              <a:rPr lang="en-US" dirty="0"/>
              <a:t>Assigned to groups or to individuals</a:t>
            </a:r>
          </a:p>
          <a:p>
            <a:pPr lvl="1"/>
            <a:r>
              <a:rPr lang="en-US" dirty="0"/>
              <a:t>Nested inside other roles</a:t>
            </a:r>
          </a:p>
          <a:p>
            <a:r>
              <a:rPr lang="en-US" dirty="0"/>
              <a:t>A user can have more than one role</a:t>
            </a:r>
          </a:p>
          <a:p>
            <a:r>
              <a:rPr lang="en-US" dirty="0"/>
              <a:t>Roles are represented as records on [</a:t>
            </a:r>
            <a:r>
              <a:rPr lang="en-US" dirty="0" err="1"/>
              <a:t>sys_user_role</a:t>
            </a:r>
            <a:r>
              <a:rPr lang="en-US" dirty="0"/>
              <a:t>]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chemeClr val="accent2"/>
                </a:solidFill>
              </a:rPr>
              <a:t>BEST PRACTICE</a:t>
            </a:r>
            <a:r>
              <a:rPr lang="en-US" dirty="0"/>
              <a:t>: Rather than adding roles to individual users, add the user to a group and assign the role to the group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401198-FB2E-CA9A-DADC-A3E39954E3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47114" y="2180496"/>
            <a:ext cx="4610477" cy="35714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240871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442B71-7AEF-7FF5-4511-1CD374C038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F21F37-7268-EB8A-A661-3A1007D560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D9D3AC-D647-0077-101F-1F9B626651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8729" y="2691484"/>
            <a:ext cx="5192079" cy="338658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Scenario: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Impersonate your fictional character. Do they have access to the Service Operations Workspace? Do they have access to Problem records?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End impersonation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Assign the ‘ITIL’ role to the ‘ITSM Agents’ user group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Impersonate your fictional character once more. How about now?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35E7EB9-5E79-609B-D63B-64AB2C41C3F8}"/>
              </a:ext>
            </a:extLst>
          </p:cNvPr>
          <p:cNvSpPr txBox="1">
            <a:spLocks/>
          </p:cNvSpPr>
          <p:nvPr/>
        </p:nvSpPr>
        <p:spPr>
          <a:xfrm>
            <a:off x="903921" y="2691484"/>
            <a:ext cx="5192079" cy="1013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US" b="1" dirty="0"/>
              <a:t>Goal: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Assign the ITIL role</a:t>
            </a:r>
          </a:p>
        </p:txBody>
      </p:sp>
    </p:spTree>
    <p:extLst>
      <p:ext uri="{BB962C8B-B14F-4D97-AF65-F5344CB8AC3E}">
        <p14:creationId xmlns:p14="http://schemas.microsoft.com/office/powerpoint/2010/main" val="244004135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D914BB-FD0C-6475-E570-566D296540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Customize the Logo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622E77-6EFF-448D-91C3-B0FEC368AE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4394220" cy="3678303"/>
          </a:xfrm>
        </p:spPr>
        <p:txBody>
          <a:bodyPr/>
          <a:lstStyle/>
          <a:p>
            <a:r>
              <a:rPr lang="en-US" dirty="0"/>
              <a:t>Navigate to All &gt; System Properties &gt; My Company to change your logo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561D209-C1C4-F909-BEFF-91ACB05326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4515" y="2603599"/>
            <a:ext cx="6608224" cy="28320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468864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C907D3-93A4-FDD8-EB68-3677A435CF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Customizations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1417A5-6383-E686-13F6-4F57F4C78A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3969037" cy="4089674"/>
          </a:xfrm>
        </p:spPr>
        <p:txBody>
          <a:bodyPr/>
          <a:lstStyle/>
          <a:p>
            <a:r>
              <a:rPr lang="en-US" dirty="0"/>
              <a:t>Navigate to All &gt; System Properties &gt; Basic Configuration UI16 to find more:</a:t>
            </a:r>
          </a:p>
          <a:p>
            <a:pPr lvl="1"/>
            <a:r>
              <a:rPr lang="en-US" dirty="0"/>
              <a:t>Set instance time zone</a:t>
            </a:r>
          </a:p>
          <a:p>
            <a:pPr lvl="1"/>
            <a:r>
              <a:rPr lang="en-US" dirty="0"/>
              <a:t>Set browser tab title</a:t>
            </a:r>
          </a:p>
          <a:p>
            <a:pPr lvl="1"/>
            <a:r>
              <a:rPr lang="en-US" dirty="0"/>
              <a:t>Color scheme</a:t>
            </a:r>
          </a:p>
          <a:p>
            <a:r>
              <a:rPr lang="en-US" dirty="0"/>
              <a:t>UI16 was the last user interface version before the Next Experience, the system property changes still work</a:t>
            </a:r>
          </a:p>
          <a:p>
            <a:r>
              <a:rPr lang="en-US" dirty="0"/>
              <a:t>‘Basic Configuration’ is a set of even older system properties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60CC160-C7D3-8214-F90D-1AC1B1A5B6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50229" y="2173568"/>
            <a:ext cx="6911052" cy="4035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258157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DD5E9B-CBC3-2AD1-26DC-9B76C7531C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283F7F-C6C9-0375-B05F-96B34B1FC6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8729" y="2691484"/>
            <a:ext cx="5192079" cy="2149457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Scenario: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Change your organization logo within your instance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Set your browser tab to display ‘YourCompanyName’ while in your instance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2633C40-FD34-2977-76D0-B8C79D866012}"/>
              </a:ext>
            </a:extLst>
          </p:cNvPr>
          <p:cNvSpPr txBox="1">
            <a:spLocks/>
          </p:cNvSpPr>
          <p:nvPr/>
        </p:nvSpPr>
        <p:spPr>
          <a:xfrm>
            <a:off x="903921" y="2691484"/>
            <a:ext cx="5192079" cy="1013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US" b="1" dirty="0"/>
              <a:t>Goal: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Customize your instance</a:t>
            </a:r>
          </a:p>
        </p:txBody>
      </p:sp>
    </p:spTree>
    <p:extLst>
      <p:ext uri="{BB962C8B-B14F-4D97-AF65-F5344CB8AC3E}">
        <p14:creationId xmlns:p14="http://schemas.microsoft.com/office/powerpoint/2010/main" val="358504833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158186-5B6C-DA5F-3164-549ABD3C38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Lists, Records, &amp; Fields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D63B381-E347-8684-4D4F-7509F2ACF7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345" y="1910534"/>
            <a:ext cx="10804463" cy="46317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497914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4EF497-BFE8-C344-ECCD-2AABCDA5CD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Context Menus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2E11D71-C8D9-A413-79D4-9E8FC9AD6D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7618" y="2122354"/>
            <a:ext cx="9336764" cy="4221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24907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0D8B91-E70B-9DAB-7203-525BCEF89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List Views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B17809-A780-1B59-91BD-771DFD5A56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4412149" cy="3678303"/>
          </a:xfrm>
        </p:spPr>
        <p:txBody>
          <a:bodyPr/>
          <a:lstStyle/>
          <a:p>
            <a:r>
              <a:rPr lang="en-US" dirty="0"/>
              <a:t>Definition: A </a:t>
            </a:r>
            <a:r>
              <a:rPr lang="en-US" dirty="0">
                <a:solidFill>
                  <a:schemeClr val="accent2"/>
                </a:solidFill>
              </a:rPr>
              <a:t>list view </a:t>
            </a:r>
            <a:r>
              <a:rPr lang="en-US" dirty="0"/>
              <a:t>is a customizable display of records from a table</a:t>
            </a:r>
          </a:p>
          <a:p>
            <a:pPr lvl="1"/>
            <a:r>
              <a:rPr lang="en-US" dirty="0"/>
              <a:t>We may create different views for different user roles</a:t>
            </a:r>
          </a:p>
          <a:p>
            <a:pPr lvl="1"/>
            <a:r>
              <a:rPr lang="en-US" dirty="0"/>
              <a:t>Each view may display different fields, or the order of displayed fields may be different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763F771-F793-376D-829C-85B1156F36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8828" y="2689989"/>
            <a:ext cx="6291423" cy="26593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492203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D128F8-DA01-4E64-55BD-8C60039E8F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List Layout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EC2D319-B0FD-7BB1-01A9-8A5317C8AF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1014" y="2000672"/>
            <a:ext cx="6189971" cy="46198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495045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064797-EB88-07F1-22DF-28024617E3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Dot-Walking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ED24C04-1B05-A36F-3B27-2D0032FC9E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761" y="1836428"/>
            <a:ext cx="10036478" cy="48203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416328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61F41-2BE0-9D0F-09A5-501A4D2C28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FF1AAA-D9C8-DA3A-B0A1-48474741D7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174B60-0611-9018-2CBE-0C1E79B5E5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8729" y="2691485"/>
            <a:ext cx="5192079" cy="1172304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Scenario: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Ensure that the company name of the caller is displayed as a column next to the caller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8CE7EA8-99DA-F2A9-F75C-5158D9AA290C}"/>
              </a:ext>
            </a:extLst>
          </p:cNvPr>
          <p:cNvSpPr txBox="1">
            <a:spLocks/>
          </p:cNvSpPr>
          <p:nvPr/>
        </p:nvSpPr>
        <p:spPr>
          <a:xfrm>
            <a:off x="903921" y="2691484"/>
            <a:ext cx="5192079" cy="1013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US" b="1" dirty="0"/>
              <a:t>Goal: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Customize the default incident list view</a:t>
            </a:r>
          </a:p>
        </p:txBody>
      </p:sp>
    </p:spTree>
    <p:extLst>
      <p:ext uri="{BB962C8B-B14F-4D97-AF65-F5344CB8AC3E}">
        <p14:creationId xmlns:p14="http://schemas.microsoft.com/office/powerpoint/2010/main" val="103486814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AC341C-C82A-B3C0-492E-44AA0AD55A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Form Layout &amp; Form Builder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4ABA7E4-9DF0-FA00-E7EF-059F6E108B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4200" y="2212843"/>
            <a:ext cx="8043600" cy="130293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D7B6712-1D3E-CC36-B7C4-98346DDA7955}"/>
              </a:ext>
            </a:extLst>
          </p:cNvPr>
          <p:cNvSpPr txBox="1"/>
          <p:nvPr/>
        </p:nvSpPr>
        <p:spPr>
          <a:xfrm>
            <a:off x="1680849" y="3647301"/>
            <a:ext cx="8830302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Form Layout </a:t>
            </a:r>
            <a:r>
              <a:rPr lang="en-US" dirty="0"/>
              <a:t>is the older, traditional tool for configuring forms, fields, and sections</a:t>
            </a:r>
          </a:p>
          <a:p>
            <a:pPr marL="742950" lvl="1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As of the Zurich release, you rarely need to use this</a:t>
            </a:r>
          </a:p>
          <a:p>
            <a:pPr>
              <a:buClr>
                <a:schemeClr val="accent2"/>
              </a:buClr>
            </a:pPr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Form Design </a:t>
            </a:r>
            <a:r>
              <a:rPr lang="en-US" dirty="0"/>
              <a:t>is a slightly less old tool for configuring forms, fields, and sections</a:t>
            </a:r>
          </a:p>
          <a:p>
            <a:pPr marL="742950" lvl="1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This has a drag-and-drop interface like Form Builder, but is lacking modern features </a:t>
            </a:r>
          </a:p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Form Builder </a:t>
            </a:r>
            <a:r>
              <a:rPr lang="en-US" dirty="0"/>
              <a:t>is the newer tool for configuring forms, fields, sections, and more</a:t>
            </a:r>
          </a:p>
          <a:p>
            <a:pPr marL="742950" lvl="1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Add and remove fields from forms</a:t>
            </a:r>
          </a:p>
          <a:p>
            <a:pPr marL="742950" lvl="1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Create sections and reorder content in one or two columns</a:t>
            </a:r>
          </a:p>
          <a:p>
            <a:pPr marL="742950" lvl="1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Conditionally show or hide fields </a:t>
            </a:r>
          </a:p>
          <a:p>
            <a:pPr marL="742950" lvl="1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endParaRPr lang="en-US" dirty="0"/>
          </a:p>
          <a:p>
            <a:pPr lvl="1" algn="ctr">
              <a:buClr>
                <a:schemeClr val="accent2"/>
              </a:buClr>
            </a:pPr>
            <a:r>
              <a:rPr lang="en-US" dirty="0">
                <a:solidFill>
                  <a:schemeClr val="accent2"/>
                </a:solidFill>
              </a:rPr>
              <a:t>BEST PRACTICE</a:t>
            </a:r>
            <a:r>
              <a:rPr lang="en-US" dirty="0"/>
              <a:t>: Never place the same editable field in multiple sections.</a:t>
            </a:r>
          </a:p>
        </p:txBody>
      </p:sp>
    </p:spTree>
    <p:extLst>
      <p:ext uri="{BB962C8B-B14F-4D97-AF65-F5344CB8AC3E}">
        <p14:creationId xmlns:p14="http://schemas.microsoft.com/office/powerpoint/2010/main" val="30912470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964F88-F0B1-CD09-E733-EAA4B54B85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Anatomy Of a Form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304463F-F998-16BC-6579-2ED37C9F93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3714" y="1988105"/>
            <a:ext cx="6188708" cy="456833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1A002DA-2265-2749-BD5A-D4384B37EC37}"/>
              </a:ext>
            </a:extLst>
          </p:cNvPr>
          <p:cNvSpPr txBox="1"/>
          <p:nvPr/>
        </p:nvSpPr>
        <p:spPr>
          <a:xfrm>
            <a:off x="581192" y="2344365"/>
            <a:ext cx="404917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Sections group up content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Formatters can structure and aggregate data in an organized way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UI Actions run scripts 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Related lists display records from related tables </a:t>
            </a:r>
          </a:p>
        </p:txBody>
      </p:sp>
    </p:spTree>
    <p:extLst>
      <p:ext uri="{BB962C8B-B14F-4D97-AF65-F5344CB8AC3E}">
        <p14:creationId xmlns:p14="http://schemas.microsoft.com/office/powerpoint/2010/main" val="330046140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0664ED-22BC-BBBE-CDFD-941264814F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Formatters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47E1071-3BCD-6965-3568-6ECCA93056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2886" y="2069518"/>
            <a:ext cx="4824526" cy="216982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0E961B2-AE83-5D73-16B2-027DE55523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2886" y="4338918"/>
            <a:ext cx="5553932" cy="208877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0BE0374-6330-8D60-E634-4132A2A11D2F}"/>
              </a:ext>
            </a:extLst>
          </p:cNvPr>
          <p:cNvSpPr txBox="1"/>
          <p:nvPr/>
        </p:nvSpPr>
        <p:spPr>
          <a:xfrm>
            <a:off x="6716078" y="2069518"/>
            <a:ext cx="4894730" cy="43704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chemeClr val="accent2"/>
                </a:solidFill>
              </a:rPr>
              <a:t>Activity formatter</a:t>
            </a:r>
            <a:r>
              <a:rPr lang="en-US" sz="1600" dirty="0"/>
              <a:t>: Displays the list of activities, or history, on a task form. It provides an easy way to track items not saved with a field in the record, for example, journal fields like comments and work notes.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chemeClr val="accent2"/>
                </a:solidFill>
              </a:rPr>
              <a:t>Process flow formatter</a:t>
            </a:r>
            <a:r>
              <a:rPr lang="en-US" sz="1600" dirty="0"/>
              <a:t>: Displays the different stages in a linear process flow across the top of a record (ex: problem records)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chemeClr val="accent2"/>
                </a:solidFill>
              </a:rPr>
              <a:t>Parent breadcrumbs formatter</a:t>
            </a:r>
            <a:r>
              <a:rPr lang="en-US" sz="1600" dirty="0"/>
              <a:t>: Provides breadcrumbs to show the parent or parents of the current task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chemeClr val="accent2"/>
                </a:solidFill>
              </a:rPr>
              <a:t>Approval summarizer formatter</a:t>
            </a:r>
            <a:r>
              <a:rPr lang="en-US" sz="1600" dirty="0"/>
              <a:t>: Displays dynamic summary information about the request being approved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chemeClr val="accent2"/>
                </a:solidFill>
              </a:rPr>
              <a:t>CI relations formatter</a:t>
            </a:r>
            <a:r>
              <a:rPr lang="en-US" sz="1600" dirty="0"/>
              <a:t>: Displays on the CI form and allows for the viewing of relationships between the current CI and related CIs</a:t>
            </a:r>
          </a:p>
        </p:txBody>
      </p:sp>
    </p:spTree>
    <p:extLst>
      <p:ext uri="{BB962C8B-B14F-4D97-AF65-F5344CB8AC3E}">
        <p14:creationId xmlns:p14="http://schemas.microsoft.com/office/powerpoint/2010/main" val="400071506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7DA4AE-FFAD-4900-B151-CB57B2EC71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F7D9D9-6621-A295-90DA-4A67A4186C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Form Layout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133B436-30CE-BDAA-38AB-FB8A289714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7242" y="2039051"/>
            <a:ext cx="9297515" cy="4370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950060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62D31B-617A-F970-5CDB-E9F66AE859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Form Builder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B6E999-48F6-A000-AEBE-F919CC06A7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844805"/>
          </a:xfrm>
        </p:spPr>
        <p:txBody>
          <a:bodyPr/>
          <a:lstStyle/>
          <a:p>
            <a:r>
              <a:rPr lang="en-US" dirty="0"/>
              <a:t>With Form Builder we can create new fields, edit fields,  and remove fields</a:t>
            </a:r>
          </a:p>
          <a:p>
            <a:r>
              <a:rPr lang="en-US" dirty="0"/>
              <a:t>We can conditionally hide fields with a UI Policy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36E5A31-CAF1-D8B0-CE17-98E46C99E4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7250" y="3142031"/>
            <a:ext cx="9477497" cy="3492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82455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577FD8-DC06-D385-C28A-B8C6481630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Reference Fields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A36D78C-7F1D-7E0B-8440-01C27E4F18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3039" y="1970890"/>
            <a:ext cx="7045922" cy="47368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492194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4C80E2-626B-671B-B5EC-1A4DD3ECEB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Conditionally Render a Field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3A9AC0A-3AF5-5F0D-4288-21DF574424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8106" y="2245209"/>
            <a:ext cx="6546777" cy="154652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865C839-7A4E-64D6-AC18-960EE4373F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8106" y="4320988"/>
            <a:ext cx="6290896" cy="212964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3D3D860-999B-8CC6-6EF1-E64DBAA504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361" y="3550025"/>
            <a:ext cx="3742769" cy="11999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423825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FA9835-C13D-CA04-F29A-7C633A5042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57B966-0F0F-3802-7C0D-AC72148E36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30DA5E-ADFE-AF78-4F9E-A375F8BECF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8729" y="2691484"/>
            <a:ext cx="5192079" cy="2149457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b="1" dirty="0"/>
              <a:t>Scenario: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The caller of an incident refers to the one who submitted it. Display the name of the company the caller works for on the incident form.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The field should display under the ‘Caller’ field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The field should only display if the ‘State’ of the incident is ‘New’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152E06F-A640-9686-9EEE-47DF7AE40625}"/>
              </a:ext>
            </a:extLst>
          </p:cNvPr>
          <p:cNvSpPr txBox="1">
            <a:spLocks/>
          </p:cNvSpPr>
          <p:nvPr/>
        </p:nvSpPr>
        <p:spPr>
          <a:xfrm>
            <a:off x="903921" y="2628731"/>
            <a:ext cx="5192079" cy="1013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US" b="1" dirty="0"/>
              <a:t>Goal: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Conditionally render a field</a:t>
            </a:r>
          </a:p>
        </p:txBody>
      </p:sp>
    </p:spTree>
    <p:extLst>
      <p:ext uri="{BB962C8B-B14F-4D97-AF65-F5344CB8AC3E}">
        <p14:creationId xmlns:p14="http://schemas.microsoft.com/office/powerpoint/2010/main" val="361695633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D21072-7AD4-F93E-B814-740214C976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Configure Related Lists From Context Menu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5E5DC65-5973-D6CD-21F0-736724B6BE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6813" y="2826406"/>
            <a:ext cx="6278374" cy="19304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279324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690DF5-5AB9-EB21-D3C3-92CB75AE46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E57DF-E6B4-AF43-F893-9CE0E2BD89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6CE763-D8B1-1EA6-F2C5-DA1C30F370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8729" y="2691485"/>
            <a:ext cx="5192079" cy="108284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Scenario: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For the ‘Major Incident’ view, on incident forms, add the Affected CIs related list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9BBD45A-27BC-06F3-11B0-0D3F755DB1F7}"/>
              </a:ext>
            </a:extLst>
          </p:cNvPr>
          <p:cNvSpPr txBox="1">
            <a:spLocks/>
          </p:cNvSpPr>
          <p:nvPr/>
        </p:nvSpPr>
        <p:spPr>
          <a:xfrm>
            <a:off x="903921" y="2628731"/>
            <a:ext cx="5192079" cy="1013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US" b="1" dirty="0"/>
              <a:t>Goal: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Add a related list</a:t>
            </a:r>
          </a:p>
        </p:txBody>
      </p:sp>
    </p:spTree>
    <p:extLst>
      <p:ext uri="{BB962C8B-B14F-4D97-AF65-F5344CB8AC3E}">
        <p14:creationId xmlns:p14="http://schemas.microsoft.com/office/powerpoint/2010/main" val="193592905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467A3B-24B8-0E36-CABE-BBE58537F9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Field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6A8B63-0CEA-D958-AEF4-9D8E66B9B0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40247" y="5467171"/>
            <a:ext cx="9353817" cy="1124692"/>
          </a:xfrm>
        </p:spPr>
        <p:txBody>
          <a:bodyPr>
            <a:noAutofit/>
          </a:bodyPr>
          <a:lstStyle/>
          <a:p>
            <a:r>
              <a:rPr lang="en-US" dirty="0"/>
              <a:t>Fields are stored as ‘Dictionary Entries’ on the [</a:t>
            </a:r>
            <a:r>
              <a:rPr lang="en-US" dirty="0" err="1"/>
              <a:t>sys_dictionary</a:t>
            </a:r>
            <a:r>
              <a:rPr lang="en-US" dirty="0"/>
              <a:t>] table</a:t>
            </a:r>
          </a:p>
          <a:p>
            <a:r>
              <a:rPr lang="en-US" dirty="0"/>
              <a:t>There are over 30 field types </a:t>
            </a:r>
          </a:p>
          <a:p>
            <a:r>
              <a:rPr lang="en-US" dirty="0"/>
              <a:t>https://www.servicenow.com/docs/bundle/zurich-platform-administration/page/administer/reference-pages/reference/r_FieldTypes.html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43483D8-FEFA-AE5F-1D34-AC8249F3C8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632" y="2017199"/>
            <a:ext cx="10716735" cy="33330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612664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629A01-D4CD-E772-65EB-5CFF5C89EE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 New Fields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1081133-718E-6A69-070F-B4AEB07955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84371" y="2095875"/>
            <a:ext cx="7960359" cy="436872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1139C00-3884-1EA2-72A7-40DCB26C97A0}"/>
              </a:ext>
            </a:extLst>
          </p:cNvPr>
          <p:cNvSpPr txBox="1"/>
          <p:nvPr/>
        </p:nvSpPr>
        <p:spPr>
          <a:xfrm>
            <a:off x="414558" y="2217279"/>
            <a:ext cx="3469813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Custom fields we add will have a column name that starts with ‘u_’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Column Name: </a:t>
            </a:r>
            <a:r>
              <a:rPr lang="en-US" dirty="0" err="1"/>
              <a:t>u_root_cause_analysis</a:t>
            </a:r>
            <a:r>
              <a:rPr lang="en-US" dirty="0"/>
              <a:t> 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Column Field: Root Cause Analysis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endParaRPr lang="en-US" dirty="0"/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endParaRPr lang="en-US" dirty="0"/>
          </a:p>
          <a:p>
            <a:pPr>
              <a:buClr>
                <a:schemeClr val="accent2"/>
              </a:buClr>
            </a:pPr>
            <a:r>
              <a:rPr lang="en-US" dirty="0">
                <a:solidFill>
                  <a:schemeClr val="accent2"/>
                </a:solidFill>
              </a:rPr>
              <a:t>BEST PRACTICE</a:t>
            </a:r>
            <a:r>
              <a:rPr lang="en-US" dirty="0"/>
              <a:t>: Remember to never place the same field in multiple sections on a form.</a:t>
            </a:r>
          </a:p>
        </p:txBody>
      </p:sp>
    </p:spTree>
    <p:extLst>
      <p:ext uri="{BB962C8B-B14F-4D97-AF65-F5344CB8AC3E}">
        <p14:creationId xmlns:p14="http://schemas.microsoft.com/office/powerpoint/2010/main" val="87990566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8EE0C9-16E6-0337-37BB-20DB2B5D0B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Journal Input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0A930B-7A71-409D-CBED-07E65FD163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96192" y="2266700"/>
            <a:ext cx="8799616" cy="1387457"/>
          </a:xfrm>
        </p:spPr>
        <p:txBody>
          <a:bodyPr>
            <a:normAutofit lnSpcReduction="10000"/>
          </a:bodyPr>
          <a:lstStyle/>
          <a:p>
            <a:r>
              <a:rPr lang="en-US" dirty="0"/>
              <a:t>The journal input data type doesn’t store a permanent value to its input field. Instead, each saved value gets saved to the [</a:t>
            </a:r>
            <a:r>
              <a:rPr lang="en-US" dirty="0" err="1"/>
              <a:t>sys_journal_field</a:t>
            </a:r>
            <a:r>
              <a:rPr lang="en-US" dirty="0"/>
              <a:t>] table</a:t>
            </a:r>
          </a:p>
          <a:p>
            <a:r>
              <a:rPr lang="en-US" dirty="0"/>
              <a:t>The is how work notes and comments work </a:t>
            </a:r>
          </a:p>
          <a:p>
            <a:r>
              <a:rPr lang="en-US" dirty="0"/>
              <a:t>Items display in the activity stream, but you may need to update the filter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BE1C6F9-FA77-8911-3F1F-4F9F383D8A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234" y="4204902"/>
            <a:ext cx="10936941" cy="15475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105345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B608EB-4BEB-39EE-D453-24FF381D1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20ACC9-BAC7-0635-1EFC-B05D2B248E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FB4F14-1F59-FD72-D800-224837EF4A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8729" y="2691484"/>
            <a:ext cx="5192079" cy="219949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Scenario: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Add a new field called: ‘Root Cause Analysis’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Make sure it appears in the ‘Default’ incident view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The field type should be ‘Journal Input’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Place it next to your ‘Work Notes’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24FB733-C471-FFAF-523E-0B97E7B47D3E}"/>
              </a:ext>
            </a:extLst>
          </p:cNvPr>
          <p:cNvSpPr txBox="1">
            <a:spLocks/>
          </p:cNvSpPr>
          <p:nvPr/>
        </p:nvSpPr>
        <p:spPr>
          <a:xfrm>
            <a:off x="903921" y="2628731"/>
            <a:ext cx="5192079" cy="1013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US" b="1" dirty="0"/>
              <a:t>Goal: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new field</a:t>
            </a:r>
          </a:p>
        </p:txBody>
      </p:sp>
    </p:spTree>
    <p:extLst>
      <p:ext uri="{BB962C8B-B14F-4D97-AF65-F5344CB8AC3E}">
        <p14:creationId xmlns:p14="http://schemas.microsoft.com/office/powerpoint/2010/main" val="101600340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586352-E67C-418B-7CAA-8978D166E3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Personalize Forms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B1B020A-A386-7B86-6ECB-0CC28130CE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818" y="2048270"/>
            <a:ext cx="10416363" cy="39185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274206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FA78F0-A340-7604-6694-0C38D3867E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Form Templates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592C06F-7403-FF7F-87CC-D8BB654353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5282" y="2239611"/>
            <a:ext cx="9269507" cy="436998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73B4778-593B-9349-75EE-7670185389B8}"/>
              </a:ext>
            </a:extLst>
          </p:cNvPr>
          <p:cNvSpPr txBox="1"/>
          <p:nvPr/>
        </p:nvSpPr>
        <p:spPr>
          <a:xfrm>
            <a:off x="168349" y="1901057"/>
            <a:ext cx="1166337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accent2"/>
                </a:solidFill>
              </a:rPr>
              <a:t>BEST PRACTICE</a:t>
            </a:r>
            <a:r>
              <a:rPr lang="en-US" sz="1600" dirty="0"/>
              <a:t>:  Take care with templates and who has access to create them. They can set fields that users may not have access to. </a:t>
            </a:r>
          </a:p>
        </p:txBody>
      </p:sp>
    </p:spTree>
    <p:extLst>
      <p:ext uri="{BB962C8B-B14F-4D97-AF65-F5344CB8AC3E}">
        <p14:creationId xmlns:p14="http://schemas.microsoft.com/office/powerpoint/2010/main" val="212964306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024D97-BC29-28ED-5FFC-18526C34EF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58C009-59AB-931D-CDCE-205AC58353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1140DA-6E39-34F5-26F3-DC77A74012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8729" y="2691485"/>
            <a:ext cx="5192079" cy="120003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Scenario: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Edit the ‘Major Incident’ form template so that the Assignment Group field is set to ‘ITSM Agents’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0540749B-7410-805F-46CF-6EE8628D34B2}"/>
              </a:ext>
            </a:extLst>
          </p:cNvPr>
          <p:cNvSpPr txBox="1">
            <a:spLocks/>
          </p:cNvSpPr>
          <p:nvPr/>
        </p:nvSpPr>
        <p:spPr>
          <a:xfrm>
            <a:off x="903921" y="2628731"/>
            <a:ext cx="5192079" cy="1013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US" b="1" dirty="0"/>
              <a:t>Goal: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Edit a form template</a:t>
            </a:r>
          </a:p>
        </p:txBody>
      </p:sp>
    </p:spTree>
    <p:extLst>
      <p:ext uri="{BB962C8B-B14F-4D97-AF65-F5344CB8AC3E}">
        <p14:creationId xmlns:p14="http://schemas.microsoft.com/office/powerpoint/2010/main" val="253874577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CD8EDF-4091-B382-B43A-5226B70C6C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Filters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836E5D5-F7B9-BB92-DB68-0BB92ACA44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3428" y="2572067"/>
            <a:ext cx="9045144" cy="384284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ED38997-C869-281A-9537-B49CB739D771}"/>
              </a:ext>
            </a:extLst>
          </p:cNvPr>
          <p:cNvSpPr txBox="1"/>
          <p:nvPr/>
        </p:nvSpPr>
        <p:spPr>
          <a:xfrm>
            <a:off x="2197497" y="2034988"/>
            <a:ext cx="77970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Anyone with the ‘admin’ or ‘</a:t>
            </a:r>
            <a:r>
              <a:rPr lang="en-US" dirty="0" err="1"/>
              <a:t>personalize_list</a:t>
            </a:r>
            <a:r>
              <a:rPr lang="en-US" dirty="0"/>
              <a:t>’ role may create list filters used by all</a:t>
            </a:r>
          </a:p>
        </p:txBody>
      </p:sp>
    </p:spTree>
    <p:extLst>
      <p:ext uri="{BB962C8B-B14F-4D97-AF65-F5344CB8AC3E}">
        <p14:creationId xmlns:p14="http://schemas.microsoft.com/office/powerpoint/2010/main" val="333991564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C6590D-8D49-138B-1E1A-0759A58E61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Inline Edit Lists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E657ACF-1DDD-D3F1-3439-C03CE84B92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933" y="3443232"/>
            <a:ext cx="5765820" cy="243348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097680D-0809-701E-160C-D9B491387A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1576" y="3566685"/>
            <a:ext cx="5102009" cy="218657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1F00515-CBFD-4A5C-E62D-9E643247AB9B}"/>
              </a:ext>
            </a:extLst>
          </p:cNvPr>
          <p:cNvSpPr txBox="1"/>
          <p:nvPr/>
        </p:nvSpPr>
        <p:spPr>
          <a:xfrm>
            <a:off x="2762780" y="2394928"/>
            <a:ext cx="66664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 list editor is the quickest way to edit a field on multiple records</a:t>
            </a:r>
          </a:p>
        </p:txBody>
      </p:sp>
    </p:spTree>
    <p:extLst>
      <p:ext uri="{BB962C8B-B14F-4D97-AF65-F5344CB8AC3E}">
        <p14:creationId xmlns:p14="http://schemas.microsoft.com/office/powerpoint/2010/main" val="26267952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480B8A-4113-F8EB-056B-B5D5CBD9B0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Personalize Lists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DA4C91-B166-408D-A6ED-3BA2EAA9AC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4062526" cy="3678303"/>
          </a:xfrm>
        </p:spPr>
        <p:txBody>
          <a:bodyPr/>
          <a:lstStyle/>
          <a:p>
            <a:r>
              <a:rPr lang="en-US" dirty="0"/>
              <a:t>When you personalize a list, it is only active for you</a:t>
            </a:r>
          </a:p>
          <a:p>
            <a:r>
              <a:rPr lang="en-US" dirty="0"/>
              <a:t>If changes are made to the global list layout, then you wouldn’t see it unless you revert to default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5A3700B-68B9-1F44-448C-108C210581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18211" y="2014169"/>
            <a:ext cx="7253541" cy="37443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964245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D242F3-B723-C63E-AF91-C831C98407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2A0C9A-DB69-F506-EC5C-4F84BA4D33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3605325" cy="3678303"/>
          </a:xfrm>
        </p:spPr>
        <p:txBody>
          <a:bodyPr/>
          <a:lstStyle/>
          <a:p>
            <a:r>
              <a:rPr lang="en-US" dirty="0"/>
              <a:t>Anyone with the ‘admin’ or ‘</a:t>
            </a:r>
            <a:r>
              <a:rPr lang="en-US" dirty="0" err="1"/>
              <a:t>tags_admin</a:t>
            </a:r>
            <a:r>
              <a:rPr lang="en-US" dirty="0"/>
              <a:t>’ role can make tags that everyone can see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42178B6-6E70-BD2B-4CA5-30C8FA27AF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7882" y="2180496"/>
            <a:ext cx="7097230" cy="37044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079255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0C6D82-8427-28C3-69BD-4D8520B375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62D0A2-3B91-4B01-BB52-4D68881D10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701A36-EDDF-FD85-71D1-1598A16171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8729" y="2754237"/>
            <a:ext cx="5192079" cy="194326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dirty="0"/>
              <a:t>Scenario: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tag for incident records called ‘Needs Follow-Up’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filter usable by all that filters incident records to only show incidents that need a follow-up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D47B38B-1AE2-C012-547C-903B6E7729F6}"/>
              </a:ext>
            </a:extLst>
          </p:cNvPr>
          <p:cNvSpPr txBox="1">
            <a:spLocks/>
          </p:cNvSpPr>
          <p:nvPr/>
        </p:nvSpPr>
        <p:spPr>
          <a:xfrm>
            <a:off x="903921" y="2628731"/>
            <a:ext cx="5192079" cy="1013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US" b="1" dirty="0"/>
              <a:t>Goal: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tag and filter</a:t>
            </a:r>
          </a:p>
        </p:txBody>
      </p:sp>
    </p:spTree>
    <p:extLst>
      <p:ext uri="{BB962C8B-B14F-4D97-AF65-F5344CB8AC3E}">
        <p14:creationId xmlns:p14="http://schemas.microsoft.com/office/powerpoint/2010/main" val="303751768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D23B80-FDD7-6A72-7593-B3EF0AD566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Application Menus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C626470-103E-7B74-EBAD-2DF28A8B37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454" y="2452195"/>
            <a:ext cx="5068007" cy="302937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6774CC4-1A84-E3C7-3453-00AE9B537E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5461" y="2659036"/>
            <a:ext cx="6580094" cy="2615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496116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09971-8CD7-B550-D7A2-E612930D4F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Modules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D72F059-B3BF-1166-AFCF-CBA75F4664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192" y="2469314"/>
            <a:ext cx="5495277" cy="368653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8041182-83FD-5108-4ABD-EFC6E32E6D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6956" y="1950543"/>
            <a:ext cx="6633852" cy="3483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911092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2EC25A-502C-74BD-0AB9-8654006ADB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40978A-D54D-D338-AEBE-9CE834119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2AA4C8-3023-FA73-18A3-76B93AB799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8729" y="2754237"/>
            <a:ext cx="5192079" cy="194326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dirty="0"/>
              <a:t>Scenario: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an application menu called ‘ITSM Agent Center’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module in the ‘ITSM Agen Center’ that displays all incidents that have a critical priority and high impact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D0753B7-87FD-E083-C175-E922499C05CE}"/>
              </a:ext>
            </a:extLst>
          </p:cNvPr>
          <p:cNvSpPr txBox="1">
            <a:spLocks/>
          </p:cNvSpPr>
          <p:nvPr/>
        </p:nvSpPr>
        <p:spPr>
          <a:xfrm>
            <a:off x="903921" y="2628731"/>
            <a:ext cx="5192079" cy="1013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US" b="1" dirty="0"/>
              <a:t>Goal: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an application menu and module</a:t>
            </a:r>
          </a:p>
        </p:txBody>
      </p:sp>
    </p:spTree>
    <p:extLst>
      <p:ext uri="{BB962C8B-B14F-4D97-AF65-F5344CB8AC3E}">
        <p14:creationId xmlns:p14="http://schemas.microsoft.com/office/powerpoint/2010/main" val="24991692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57E63B-06AE-4E94-F54D-02C34784AA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Choice lists &amp; Choice List Dependency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A4877FD-9A86-ACFA-69DE-023B753A24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3073" y="1874586"/>
            <a:ext cx="7725853" cy="224821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713F7A0-CA1E-FFFF-CFA0-177921B636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48664" y="4281430"/>
            <a:ext cx="4015360" cy="232185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4EB5E8F-05D3-21E8-CF6E-DDBC6FA266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2967" y="4432568"/>
            <a:ext cx="5039428" cy="20195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712573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F2F07C-D75B-0EBE-861F-DF6C1BA20E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 Choices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DF5F09-F50F-7EF9-F468-F7CD8EF6B8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71475" y="2341860"/>
            <a:ext cx="4707984" cy="3678303"/>
          </a:xfrm>
        </p:spPr>
        <p:txBody>
          <a:bodyPr/>
          <a:lstStyle/>
          <a:p>
            <a:r>
              <a:rPr lang="en-US" dirty="0"/>
              <a:t>Choices are on the [</a:t>
            </a:r>
            <a:r>
              <a:rPr lang="en-US" dirty="0" err="1"/>
              <a:t>sys_choice</a:t>
            </a:r>
            <a:r>
              <a:rPr lang="en-US" dirty="0"/>
              <a:t>] table</a:t>
            </a:r>
          </a:p>
          <a:p>
            <a:r>
              <a:rPr lang="en-US" dirty="0"/>
              <a:t>You can manage choices there or right click on a choice list from a form to ‘Show Choice List’ or ‘Configure Choices’</a:t>
            </a:r>
          </a:p>
          <a:p>
            <a:r>
              <a:rPr lang="en-US" dirty="0"/>
              <a:t>Show – takes you to the list of choice records</a:t>
            </a:r>
          </a:p>
          <a:p>
            <a:r>
              <a:rPr lang="en-US" dirty="0"/>
              <a:t>Configure – takes you to edit the options directly </a:t>
            </a:r>
          </a:p>
          <a:p>
            <a:endParaRPr lang="en-US" dirty="0"/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CCD8251-E1EF-936E-D92B-C385829544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6529" y="2254389"/>
            <a:ext cx="3781953" cy="3353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099337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6B3255-C99A-83E6-3DB3-D8AB25D251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D2310-43E6-0A91-A553-E740D7EC6A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02610D-A881-9B25-8DF3-2EF526878D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8729" y="2754237"/>
            <a:ext cx="5192079" cy="194326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dirty="0"/>
              <a:t>Scenario: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new choice for the subcategory field called ‘General Question’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The new choice should be dependent on ‘Category’ and only display if ‘Category’ is set to ‘Inquiry’ 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B08F2F3-1661-4535-49E6-32DF7C831118}"/>
              </a:ext>
            </a:extLst>
          </p:cNvPr>
          <p:cNvSpPr txBox="1">
            <a:spLocks/>
          </p:cNvSpPr>
          <p:nvPr/>
        </p:nvSpPr>
        <p:spPr>
          <a:xfrm>
            <a:off x="903921" y="2628731"/>
            <a:ext cx="5192079" cy="1013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US" b="1" dirty="0"/>
              <a:t>Goal: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Add a new choice</a:t>
            </a:r>
          </a:p>
        </p:txBody>
      </p:sp>
    </p:spTree>
    <p:extLst>
      <p:ext uri="{BB962C8B-B14F-4D97-AF65-F5344CB8AC3E}">
        <p14:creationId xmlns:p14="http://schemas.microsoft.com/office/powerpoint/2010/main" val="1193731489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366658"/>
      </a:accent1>
      <a:accent2>
        <a:srgbClr val="8CB64A"/>
      </a:accent2>
      <a:accent3>
        <a:srgbClr val="88D5A9"/>
      </a:accent3>
      <a:accent4>
        <a:srgbClr val="969FA7"/>
      </a:accent4>
      <a:accent5>
        <a:srgbClr val="E8A844"/>
      </a:accent5>
      <a:accent6>
        <a:srgbClr val="A1561F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4BEC0EAF-CF86-4D49-B83B-56CC62D3CFF1}"/>
    </a:ext>
  </a:extLst>
</a:theme>
</file>

<file path=docMetadata/LabelInfo.xml><?xml version="1.0" encoding="utf-8"?>
<clbl:labelList xmlns:clbl="http://schemas.microsoft.com/office/2020/mipLabelMetadata">
  <clbl:label id="{6b63e28a-a8f9-47b5-aa40-97e231215164}" enabled="0" method="" siteId="{6b63e28a-a8f9-47b5-aa40-97e231215164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3922</TotalTime>
  <Words>2158</Words>
  <Application>Microsoft Office PowerPoint</Application>
  <PresentationFormat>Widescreen</PresentationFormat>
  <Paragraphs>247</Paragraphs>
  <Slides>57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57</vt:i4>
      </vt:variant>
    </vt:vector>
  </HeadingPairs>
  <TitlesOfParts>
    <vt:vector size="61" baseType="lpstr">
      <vt:lpstr>Gill Sans MT</vt:lpstr>
      <vt:lpstr>Wingdings</vt:lpstr>
      <vt:lpstr>Wingdings 2</vt:lpstr>
      <vt:lpstr>Dividend</vt:lpstr>
      <vt:lpstr>Basics</vt:lpstr>
      <vt:lpstr>CSA</vt:lpstr>
      <vt:lpstr>Instance</vt:lpstr>
      <vt:lpstr>Updates</vt:lpstr>
      <vt:lpstr>Configuration vs Customization</vt:lpstr>
      <vt:lpstr>How Users Interact with ServiceNow</vt:lpstr>
      <vt:lpstr>App Engine Studio &amp; Creator Studio</vt:lpstr>
      <vt:lpstr>To Further Complicate Matters…</vt:lpstr>
      <vt:lpstr>The Next Experience UI</vt:lpstr>
      <vt:lpstr>Common User Interfaces</vt:lpstr>
      <vt:lpstr>Common User Interfaces</vt:lpstr>
      <vt:lpstr>ServiceNow Architecture</vt:lpstr>
      <vt:lpstr>Personas</vt:lpstr>
      <vt:lpstr>Applications &amp; Modules</vt:lpstr>
      <vt:lpstr>Users &amp; Groups</vt:lpstr>
      <vt:lpstr>When Saving Records</vt:lpstr>
      <vt:lpstr>Challenge</vt:lpstr>
      <vt:lpstr>User Impersonation</vt:lpstr>
      <vt:lpstr>Roles</vt:lpstr>
      <vt:lpstr>Challenge</vt:lpstr>
      <vt:lpstr>Customize the Logo</vt:lpstr>
      <vt:lpstr>More Customizations</vt:lpstr>
      <vt:lpstr>Challenge</vt:lpstr>
      <vt:lpstr>Lists, Records, &amp; Fields</vt:lpstr>
      <vt:lpstr>Context Menus</vt:lpstr>
      <vt:lpstr>List Views</vt:lpstr>
      <vt:lpstr>List Layout</vt:lpstr>
      <vt:lpstr>Dot-Walking</vt:lpstr>
      <vt:lpstr>Challenge</vt:lpstr>
      <vt:lpstr>Form Layout &amp; Form Builder</vt:lpstr>
      <vt:lpstr>Anatomy Of a Form</vt:lpstr>
      <vt:lpstr>Formatters</vt:lpstr>
      <vt:lpstr>Form Layout</vt:lpstr>
      <vt:lpstr>Form Builder</vt:lpstr>
      <vt:lpstr>Using Reference Fields</vt:lpstr>
      <vt:lpstr>Conditionally Render a Field</vt:lpstr>
      <vt:lpstr>Challenge</vt:lpstr>
      <vt:lpstr>Configure Related Lists From Context Menu</vt:lpstr>
      <vt:lpstr>Challenge</vt:lpstr>
      <vt:lpstr>Field Types</vt:lpstr>
      <vt:lpstr>Adding New Fields</vt:lpstr>
      <vt:lpstr>Journal Input</vt:lpstr>
      <vt:lpstr>Challenge</vt:lpstr>
      <vt:lpstr>Personalize Forms</vt:lpstr>
      <vt:lpstr>Form Templates</vt:lpstr>
      <vt:lpstr>Challenge</vt:lpstr>
      <vt:lpstr>Filters</vt:lpstr>
      <vt:lpstr>Inline Edit Lists</vt:lpstr>
      <vt:lpstr>Personalize Lists</vt:lpstr>
      <vt:lpstr>Tags</vt:lpstr>
      <vt:lpstr>Challenge</vt:lpstr>
      <vt:lpstr>Create Application Menus</vt:lpstr>
      <vt:lpstr>Create Modules</vt:lpstr>
      <vt:lpstr>Challenge</vt:lpstr>
      <vt:lpstr>Choice lists &amp; Choice List Dependency</vt:lpstr>
      <vt:lpstr>Adding Choices</vt:lpstr>
      <vt:lpstr>Challenge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Ethan Wilson</dc:creator>
  <cp:lastModifiedBy>Ethan Wilson</cp:lastModifiedBy>
  <cp:revision>599</cp:revision>
  <dcterms:created xsi:type="dcterms:W3CDTF">2025-02-12T19:53:45Z</dcterms:created>
  <dcterms:modified xsi:type="dcterms:W3CDTF">2025-10-08T23:15:08Z</dcterms:modified>
</cp:coreProperties>
</file>