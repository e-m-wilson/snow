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5" r:id="rId3"/>
    <p:sldId id="277" r:id="rId4"/>
    <p:sldId id="274" r:id="rId5"/>
    <p:sldId id="273" r:id="rId6"/>
    <p:sldId id="276" r:id="rId7"/>
    <p:sldId id="278" r:id="rId8"/>
    <p:sldId id="279" r:id="rId9"/>
    <p:sldId id="280" r:id="rId10"/>
    <p:sldId id="281" r:id="rId11"/>
    <p:sldId id="282" r:id="rId12"/>
    <p:sldId id="284" r:id="rId13"/>
    <p:sldId id="283" r:id="rId14"/>
    <p:sldId id="285" r:id="rId15"/>
    <p:sldId id="290" r:id="rId16"/>
    <p:sldId id="287" r:id="rId17"/>
    <p:sldId id="286" r:id="rId18"/>
    <p:sldId id="291" r:id="rId19"/>
    <p:sldId id="288" r:id="rId20"/>
    <p:sldId id="289" r:id="rId21"/>
    <p:sldId id="272" r:id="rId22"/>
    <p:sldId id="292" r:id="rId23"/>
    <p:sldId id="293" r:id="rId24"/>
    <p:sldId id="29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Basics</a:t>
            </a:r>
          </a:p>
        </p:txBody>
      </p:sp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D7622E4E-6271-FAF7-80FD-0DAEECDB6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" y="895417"/>
            <a:ext cx="5427258" cy="929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009E-7C47-DDDC-C0B2-37FD489A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70C8E-B609-0EC7-FFCE-19B3D4ACC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course is geared towards the </a:t>
            </a:r>
            <a:r>
              <a:rPr lang="en-US" dirty="0">
                <a:solidFill>
                  <a:srgbClr val="92D050"/>
                </a:solidFill>
              </a:rPr>
              <a:t>Certified System Administrator (CSA) </a:t>
            </a:r>
            <a:r>
              <a:rPr lang="en-US" dirty="0"/>
              <a:t>credential</a:t>
            </a:r>
          </a:p>
          <a:p>
            <a:r>
              <a:rPr lang="en-US" dirty="0"/>
              <a:t>There are 6 major sections to the 90-minute, 60-question exam:</a:t>
            </a:r>
          </a:p>
          <a:p>
            <a:pPr lvl="1"/>
            <a:r>
              <a:rPr lang="en-US" dirty="0"/>
              <a:t>Platform Overview &amp; Navigation – 6%</a:t>
            </a:r>
          </a:p>
          <a:p>
            <a:pPr lvl="1"/>
            <a:r>
              <a:rPr lang="en-US" dirty="0"/>
              <a:t>Instance Configuration – 10%</a:t>
            </a:r>
          </a:p>
          <a:p>
            <a:pPr lvl="1"/>
            <a:r>
              <a:rPr lang="en-US" dirty="0"/>
              <a:t>Configuring Applications for Collaboration – 19.5%</a:t>
            </a:r>
          </a:p>
          <a:p>
            <a:pPr lvl="1"/>
            <a:r>
              <a:rPr lang="en-US" dirty="0"/>
              <a:t>Self-Service &amp; Automation – 19.5%</a:t>
            </a:r>
          </a:p>
          <a:p>
            <a:pPr lvl="1"/>
            <a:r>
              <a:rPr lang="en-US" dirty="0"/>
              <a:t>Database Management and Platform Security – 30%</a:t>
            </a:r>
          </a:p>
          <a:p>
            <a:pPr lvl="1"/>
            <a:r>
              <a:rPr lang="en-US" dirty="0"/>
              <a:t>Data Migration and Integration – 15%</a:t>
            </a:r>
          </a:p>
        </p:txBody>
      </p:sp>
    </p:spTree>
    <p:extLst>
      <p:ext uri="{BB962C8B-B14F-4D97-AF65-F5344CB8AC3E}">
        <p14:creationId xmlns:p14="http://schemas.microsoft.com/office/powerpoint/2010/main" val="303198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E00B-3D29-E39D-94BC-98A3B220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73528-1251-720D-933D-018E2DA9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06479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instance</a:t>
            </a:r>
            <a:r>
              <a:rPr lang="en-US" dirty="0"/>
              <a:t> is a singular implementation of the ServiceNow platform</a:t>
            </a:r>
          </a:p>
          <a:p>
            <a:r>
              <a:rPr lang="en-US" dirty="0"/>
              <a:t>Every customer organization gets a minimum of 2 instances</a:t>
            </a:r>
          </a:p>
          <a:p>
            <a:pPr lvl="1"/>
            <a:r>
              <a:rPr lang="en-US" dirty="0"/>
              <a:t>Production</a:t>
            </a:r>
          </a:p>
          <a:p>
            <a:pPr lvl="1"/>
            <a:r>
              <a:rPr lang="en-US" dirty="0"/>
              <a:t>Sub-production</a:t>
            </a:r>
          </a:p>
          <a:p>
            <a:r>
              <a:rPr lang="en-US" dirty="0"/>
              <a:t>To access your instance, your organization will have a unique URL: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https://&lt;instance-name-here&gt;.service-now.com</a:t>
            </a:r>
          </a:p>
          <a:p>
            <a:r>
              <a:rPr lang="en-US" dirty="0">
                <a:solidFill>
                  <a:schemeClr val="tx1"/>
                </a:solidFill>
              </a:rPr>
              <a:t>Definition: A </a:t>
            </a:r>
            <a:r>
              <a:rPr lang="en-US" dirty="0">
                <a:solidFill>
                  <a:schemeClr val="accent2"/>
                </a:solidFill>
              </a:rPr>
              <a:t>Baseline implementation </a:t>
            </a:r>
            <a:r>
              <a:rPr lang="en-US" dirty="0">
                <a:solidFill>
                  <a:schemeClr val="tx1"/>
                </a:solidFill>
              </a:rPr>
              <a:t>is a set of installed applications on a ServiceNow instance before any configuration or customization has been done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6C18FD-B296-7102-44AC-E849E121C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268" y="2275114"/>
            <a:ext cx="3165275" cy="37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56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B617-5DCD-C3C6-FB0A-58B280CAD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D0A88-6032-2740-E35B-E6E99CE74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10007" cy="3678303"/>
          </a:xfrm>
        </p:spPr>
        <p:txBody>
          <a:bodyPr/>
          <a:lstStyle/>
          <a:p>
            <a:r>
              <a:rPr lang="en-US" dirty="0"/>
              <a:t>Every six months there is a new SNOW release</a:t>
            </a:r>
          </a:p>
          <a:p>
            <a:pPr lvl="1"/>
            <a:r>
              <a:rPr lang="en-US" dirty="0"/>
              <a:t>Vancouver, Washington DC, Xanadu</a:t>
            </a:r>
          </a:p>
          <a:p>
            <a:r>
              <a:rPr lang="en-US" dirty="0"/>
              <a:t>Updates are made on a per instance basis</a:t>
            </a:r>
          </a:p>
          <a:p>
            <a:pPr lvl="1"/>
            <a:r>
              <a:rPr lang="en-US" dirty="0"/>
              <a:t>You must update your dev instances to match production, build features, then ship to production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46B64-906E-03D5-351F-39C33A906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941" y="2813217"/>
            <a:ext cx="5631866" cy="21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66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2938-5570-B0CB-CD8E-3E25ED52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Users Interact with ServiceNow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4585D-9F2D-D6CE-D83F-1FA9E3B1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50236" cy="4139622"/>
          </a:xfrm>
        </p:spPr>
        <p:txBody>
          <a:bodyPr/>
          <a:lstStyle/>
          <a:p>
            <a:r>
              <a:rPr lang="en-US" dirty="0">
                <a:solidFill>
                  <a:srgbClr val="92D050"/>
                </a:solidFill>
              </a:rPr>
              <a:t>The Next Experience Unified Navigation </a:t>
            </a:r>
            <a:r>
              <a:rPr lang="en-US" dirty="0"/>
              <a:t>– is the primary way to interact with apps and records within ServiceNow</a:t>
            </a:r>
          </a:p>
          <a:p>
            <a:r>
              <a:rPr lang="en-US" dirty="0">
                <a:solidFill>
                  <a:srgbClr val="92D050"/>
                </a:solidFill>
              </a:rPr>
              <a:t>The Now Mobile App </a:t>
            </a:r>
            <a:r>
              <a:rPr lang="en-US" dirty="0"/>
              <a:t>– allows users to submit incidents, sign documents, take surveys, and more</a:t>
            </a:r>
          </a:p>
          <a:p>
            <a:r>
              <a:rPr lang="en-US" dirty="0">
                <a:solidFill>
                  <a:srgbClr val="92D050"/>
                </a:solidFill>
              </a:rPr>
              <a:t>The Service Portal </a:t>
            </a:r>
            <a:r>
              <a:rPr lang="en-US" dirty="0"/>
              <a:t>– is a user-friendly UI for external customers to use the platform and view its data</a:t>
            </a:r>
          </a:p>
          <a:p>
            <a:pPr lvl="1"/>
            <a:r>
              <a:rPr lang="en-US" b="1" i="1" dirty="0"/>
              <a:t>https//&lt;instance-name-here&gt;.service-now.com/</a:t>
            </a:r>
            <a:r>
              <a:rPr lang="en-US" b="1" i="1" dirty="0" err="1"/>
              <a:t>sp</a:t>
            </a:r>
            <a:endParaRPr lang="en-US" dirty="0"/>
          </a:p>
          <a:p>
            <a:r>
              <a:rPr lang="en-US" dirty="0">
                <a:solidFill>
                  <a:srgbClr val="92D050"/>
                </a:solidFill>
              </a:rPr>
              <a:t>The Employee Center </a:t>
            </a:r>
            <a:r>
              <a:rPr lang="en-US" dirty="0"/>
              <a:t>– is a dynamic portal for internal employees for communication, engagement, and shared content, free for all ServiceNow customers </a:t>
            </a:r>
          </a:p>
          <a:p>
            <a:pPr lvl="1"/>
            <a:r>
              <a:rPr lang="en-US" b="1" i="1" dirty="0"/>
              <a:t>https//&lt;instance-name-here&gt;.service-now.com/esc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9F00F1-5DE1-DCFD-0945-27521FC90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057" y="2646913"/>
            <a:ext cx="4732317" cy="249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28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C1B69-7037-9D6D-7185-A07D15C2B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Engine Studio &amp; Creator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A1962-10AD-7633-9786-6340ED5FE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3412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 Engine Studio </a:t>
            </a:r>
            <a:r>
              <a:rPr lang="en-US" dirty="0"/>
              <a:t>is a tool for citizen developers to implement basic scripting or workflow customization using low-code tools</a:t>
            </a:r>
          </a:p>
          <a:p>
            <a:pPr lvl="1"/>
            <a:r>
              <a:rPr lang="en-US" dirty="0"/>
              <a:t>Design data tables, build flows, build forms, and more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Creator Studio </a:t>
            </a:r>
            <a:r>
              <a:rPr lang="en-US" dirty="0"/>
              <a:t>is a tool for citizen developers that simplifies app creation even further, using no code at all</a:t>
            </a:r>
          </a:p>
          <a:p>
            <a:pPr lvl="1"/>
            <a:r>
              <a:rPr lang="en-US" dirty="0"/>
              <a:t>Prebuilt templates, no access to scripting or custom tables, governed by App Engine Management Center (AEMC)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0D12D-897E-A050-D811-B5EF1474D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1" y="2282596"/>
            <a:ext cx="5010910" cy="409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4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F8173-8F81-7307-522B-FDA4545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Further Complicate Matters…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62C0-644B-DDA3-9127-D79A2E5CF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41067" cy="3678303"/>
          </a:xfrm>
        </p:spPr>
        <p:txBody>
          <a:bodyPr/>
          <a:lstStyle/>
          <a:p>
            <a:r>
              <a:rPr lang="en-US" dirty="0"/>
              <a:t>Creator Studio Shouldn’t be confused with ServiceNow Studio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Studio </a:t>
            </a:r>
            <a:r>
              <a:rPr lang="en-US" dirty="0"/>
              <a:t>is a powerful application that runs on the platform to build complex applications and integrations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IDE </a:t>
            </a:r>
            <a:r>
              <a:rPr lang="en-US" dirty="0"/>
              <a:t>is a way for us to render our instance changes as metadata and back up to source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5A4B3-1AB7-6761-B9D3-06F81EF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743" y="2266802"/>
            <a:ext cx="4353533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598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CEDA-9D88-CB56-F458-CE3CA12E1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Experience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97C72-E313-56E8-4A24-130077399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796989"/>
            <a:ext cx="11029615" cy="35589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is how most users interact with the applications and data within a ServiceNow instance</a:t>
            </a:r>
          </a:p>
          <a:p>
            <a:r>
              <a:rPr lang="en-US" dirty="0"/>
              <a:t>All – lists our applications and modules</a:t>
            </a:r>
          </a:p>
          <a:p>
            <a:r>
              <a:rPr lang="en-US" dirty="0"/>
              <a:t>Favorites – displays our favorited items</a:t>
            </a:r>
          </a:p>
          <a:p>
            <a:r>
              <a:rPr lang="en-US" dirty="0"/>
              <a:t>History – displays recently viewed forms, lists, catalog items, and more </a:t>
            </a:r>
          </a:p>
          <a:p>
            <a:r>
              <a:rPr lang="en-US" dirty="0"/>
              <a:t>Workspaces – the list of workspaces we have access to (such as Service Operations Workspace)</a:t>
            </a:r>
          </a:p>
          <a:p>
            <a:r>
              <a:rPr lang="en-US" dirty="0"/>
              <a:t>Contextual App Pill – where we are in the instance (click the start to favorite an item)</a:t>
            </a:r>
          </a:p>
          <a:p>
            <a:r>
              <a:rPr lang="en-US" dirty="0"/>
              <a:t>Global Search – search for information across applications and records </a:t>
            </a:r>
          </a:p>
          <a:p>
            <a:r>
              <a:rPr lang="en-US" dirty="0"/>
              <a:t>Notifications – user notifications</a:t>
            </a:r>
          </a:p>
          <a:p>
            <a:r>
              <a:rPr lang="en-US" dirty="0"/>
              <a:t>User Menu – change personalization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A41FE-D35A-B198-FAF9-98BC27E63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3" y="2168809"/>
            <a:ext cx="11029617" cy="38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694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99D-F585-9960-1FA4-FA4F433D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00C7E-871A-08C4-C13C-8DFFC7D5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84721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workspace</a:t>
            </a:r>
            <a:r>
              <a:rPr lang="en-US" dirty="0"/>
              <a:t> is a role-based, task-focused user interface designed to streamline the experience for end-users or agents performing specific tasks</a:t>
            </a:r>
          </a:p>
          <a:p>
            <a:pPr lvl="1"/>
            <a:r>
              <a:rPr lang="en-US" dirty="0"/>
              <a:t>Customer Service reps, HR agents, field techs, 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E9B50C-0FDE-80E1-2754-BB06635F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428" y="2326514"/>
            <a:ext cx="6270171" cy="338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3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44C3C-AA7C-3A57-75BE-4BD81A705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63060-8335-4801-EAFC-2C4A1756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Lists</a:t>
            </a:r>
          </a:p>
          <a:p>
            <a:r>
              <a:rPr lang="en-US" dirty="0"/>
              <a:t>Forms</a:t>
            </a:r>
          </a:p>
          <a:p>
            <a:r>
              <a:rPr lang="en-US" dirty="0"/>
              <a:t>Dashboards</a:t>
            </a:r>
          </a:p>
          <a:p>
            <a:r>
              <a:rPr lang="en-US" dirty="0"/>
              <a:t>Knowledge Articles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8CC2-A937-CCFF-7E1A-864E606C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413" y="2128886"/>
            <a:ext cx="6322651" cy="18907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1BA668-71C0-325B-7244-E32151B4F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907" y="4432577"/>
            <a:ext cx="6207157" cy="175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269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E8F9-1C6C-15E8-34BC-E703C9CA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D3135-8175-0904-F924-24B3E4D1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044" y="2007021"/>
            <a:ext cx="8709912" cy="437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277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8D7A0-6790-8ACC-4FE3-E2DBA404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CEEF-DB1B-DDC2-7E56-A7C11E693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143" y="2318698"/>
            <a:ext cx="7478486" cy="36506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17D06C-C1BC-868B-7DF8-FBA2070CE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61465" cy="4535990"/>
          </a:xfrm>
        </p:spPr>
        <p:txBody>
          <a:bodyPr>
            <a:normAutofit/>
          </a:bodyPr>
          <a:lstStyle/>
          <a:p>
            <a:r>
              <a:rPr lang="en-US" dirty="0"/>
              <a:t>Admins – that’s us</a:t>
            </a:r>
          </a:p>
          <a:p>
            <a:r>
              <a:rPr lang="en-US" dirty="0"/>
              <a:t>Specialized Admin - Report Administrator, Form Administrator, etc. </a:t>
            </a:r>
          </a:p>
          <a:p>
            <a:r>
              <a:rPr lang="en-US" dirty="0"/>
              <a:t>Process User – a customer service rep with the </a:t>
            </a:r>
            <a:r>
              <a:rPr lang="en-US" dirty="0" err="1"/>
              <a:t>itil</a:t>
            </a:r>
            <a:r>
              <a:rPr lang="en-US" dirty="0"/>
              <a:t> user role</a:t>
            </a:r>
          </a:p>
          <a:p>
            <a:r>
              <a:rPr lang="en-US" dirty="0"/>
              <a:t>Approver – a user listed as an approver for change requests</a:t>
            </a:r>
          </a:p>
          <a:p>
            <a:r>
              <a:rPr lang="en-US" dirty="0"/>
              <a:t>Requester – Users that may make use of the ESS portal to ask for IT services such as requesting a new work laptop</a:t>
            </a:r>
          </a:p>
        </p:txBody>
      </p:sp>
    </p:spTree>
    <p:extLst>
      <p:ext uri="{BB962C8B-B14F-4D97-AF65-F5344CB8AC3E}">
        <p14:creationId xmlns:p14="http://schemas.microsoft.com/office/powerpoint/2010/main" val="378408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87298-A34D-9873-BCD8-06A3F4C9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&amp;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1D270-0881-393E-1CB1-83CA29347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56855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</a:t>
            </a:r>
            <a:r>
              <a:rPr lang="en-US" dirty="0"/>
              <a:t> is a container for related functionality within the ServiceNow platform</a:t>
            </a:r>
          </a:p>
          <a:p>
            <a:pPr lvl="1"/>
            <a:r>
              <a:rPr lang="en-US" dirty="0"/>
              <a:t>Groups together tables, forms, workflows, business rules, scripts, and modules </a:t>
            </a:r>
          </a:p>
          <a:p>
            <a:pPr lvl="1"/>
            <a:r>
              <a:rPr lang="en-US" dirty="0"/>
              <a:t>Applications have scope, which controls access to app data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 menu </a:t>
            </a:r>
            <a:r>
              <a:rPr lang="en-US" dirty="0"/>
              <a:t>is a navigation element that structures modules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module</a:t>
            </a:r>
            <a:r>
              <a:rPr lang="en-US" dirty="0"/>
              <a:t> is a navigation item inside an app</a:t>
            </a:r>
          </a:p>
          <a:p>
            <a:pPr lvl="1"/>
            <a:r>
              <a:rPr lang="en-US" dirty="0"/>
              <a:t>Can point to a form, a list of records, reports, dashboards, UI pages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B25D6-2252-2969-14C0-EDECBDB7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05" y="2180496"/>
            <a:ext cx="3691362" cy="430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0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ED76-8675-3930-B35F-9724D0F7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Users &amp;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1E00-2895-A189-4181-83C1CEF9E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Users are represented by a record on the User [</a:t>
            </a:r>
            <a:r>
              <a:rPr lang="en-US" dirty="0" err="1"/>
              <a:t>sys_user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Update Records</a:t>
            </a:r>
          </a:p>
          <a:p>
            <a:pPr lvl="1"/>
            <a:r>
              <a:rPr lang="en-US" dirty="0"/>
              <a:t>Import Data</a:t>
            </a:r>
          </a:p>
          <a:p>
            <a:pPr lvl="1"/>
            <a:r>
              <a:rPr lang="en-US" dirty="0"/>
              <a:t>Request Items</a:t>
            </a:r>
          </a:p>
          <a:p>
            <a:pPr lvl="1"/>
            <a:r>
              <a:rPr lang="en-US" dirty="0"/>
              <a:t>Implement Flows</a:t>
            </a:r>
          </a:p>
          <a:p>
            <a:pPr lvl="1"/>
            <a:r>
              <a:rPr lang="en-US" dirty="0"/>
              <a:t>Approve Knowledge Content</a:t>
            </a:r>
          </a:p>
          <a:p>
            <a:pPr lvl="1"/>
            <a:r>
              <a:rPr lang="en-US" dirty="0"/>
              <a:t>Run Reports</a:t>
            </a:r>
          </a:p>
          <a:p>
            <a:pPr lvl="1"/>
            <a:r>
              <a:rPr lang="en-US" dirty="0"/>
              <a:t>Develop Applications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63D491-F9E0-62A3-3810-438F821FF8C2}"/>
              </a:ext>
            </a:extLst>
          </p:cNvPr>
          <p:cNvSpPr txBox="1">
            <a:spLocks/>
          </p:cNvSpPr>
          <p:nvPr/>
        </p:nvSpPr>
        <p:spPr>
          <a:xfrm>
            <a:off x="6096000" y="2355615"/>
            <a:ext cx="5514808" cy="2146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group is represented by a record on the Group [</a:t>
            </a:r>
            <a:r>
              <a:rPr lang="en-US" dirty="0" err="1"/>
              <a:t>sys_user_group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Groups share a common purpose, such as users approving change requests or users receiving email notifications</a:t>
            </a:r>
          </a:p>
          <a:p>
            <a:pPr lvl="1"/>
            <a:r>
              <a:rPr lang="en-US" dirty="0"/>
              <a:t>Examples: service desk, knowledge base authors, HR admins</a:t>
            </a:r>
          </a:p>
        </p:txBody>
      </p:sp>
    </p:spTree>
    <p:extLst>
      <p:ext uri="{BB962C8B-B14F-4D97-AF65-F5344CB8AC3E}">
        <p14:creationId xmlns:p14="http://schemas.microsoft.com/office/powerpoint/2010/main" val="34623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27E4-DB95-4780-E802-4CAD78B8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1FC1-C1DA-607B-BA8C-7D32383E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E752-E27D-2093-BB42-9E78B3ADC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68329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fictional character to your instance as a user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group called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your new user to the user group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DDEBD-5048-9FD9-C579-A632B9A5450F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and add them to a new group</a:t>
            </a:r>
          </a:p>
        </p:txBody>
      </p:sp>
    </p:spTree>
    <p:extLst>
      <p:ext uri="{BB962C8B-B14F-4D97-AF65-F5344CB8AC3E}">
        <p14:creationId xmlns:p14="http://schemas.microsoft.com/office/powerpoint/2010/main" val="113585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F851-B851-9E34-6DD9-8204B1CA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Impersonation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22056-6B03-FD01-7F6E-0EB2CC94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408" y="1925094"/>
            <a:ext cx="8549184" cy="423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49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0D3F-C3FC-D12E-175F-39886C49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6F78-CE26-FBCB-2174-F4E5E057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role</a:t>
            </a:r>
            <a:r>
              <a:rPr lang="en-US" dirty="0"/>
              <a:t> is used to define access at the application, module, and/or Access Control List (ACL)</a:t>
            </a:r>
          </a:p>
          <a:p>
            <a:r>
              <a:rPr lang="en-US" dirty="0"/>
              <a:t>Roles can be:</a:t>
            </a:r>
          </a:p>
          <a:p>
            <a:pPr lvl="1"/>
            <a:r>
              <a:rPr lang="en-US" dirty="0"/>
              <a:t>Assigned to groups or to individuals</a:t>
            </a:r>
          </a:p>
          <a:p>
            <a:pPr lvl="1"/>
            <a:r>
              <a:rPr lang="en-US" dirty="0"/>
              <a:t>Nested inside other roles</a:t>
            </a:r>
          </a:p>
          <a:p>
            <a:r>
              <a:rPr lang="en-US" dirty="0"/>
              <a:t>A user can have more than one role</a:t>
            </a:r>
          </a:p>
          <a:p>
            <a:r>
              <a:rPr lang="en-US" dirty="0"/>
              <a:t>Roles are represented as records on [</a:t>
            </a:r>
            <a:r>
              <a:rPr lang="en-US" dirty="0" err="1"/>
              <a:t>sys_user_role</a:t>
            </a:r>
            <a:r>
              <a:rPr lang="en-US" dirty="0"/>
              <a:t>]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Rather than adding roles to individual users, add the user to a group and assign the role to the group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01198-FB2E-CA9A-DADC-A3E39954E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14" y="2180496"/>
            <a:ext cx="4610477" cy="357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408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2B71-7AEF-7FF5-4511-1CD374C0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1F37-7268-EB8A-A661-3A1007D56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9D3AC-D647-0077-101F-1F9B62665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386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character. Do they have access to the Service Operations Workspace? Do they have access to Problem records?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End impersonation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‘ITIL’ role to the ‘ITSM Agents’ user group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 once more. How about now?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5E7EB9-5E79-609B-D63B-64AB2C41C3F8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ITIL role</a:t>
            </a:r>
          </a:p>
        </p:txBody>
      </p:sp>
    </p:spTree>
    <p:extLst>
      <p:ext uri="{BB962C8B-B14F-4D97-AF65-F5344CB8AC3E}">
        <p14:creationId xmlns:p14="http://schemas.microsoft.com/office/powerpoint/2010/main" val="24400413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914BB-FD0C-6475-E570-566D29654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the Logo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2E77-6EFF-448D-91C3-B0FEC368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94220" cy="3678303"/>
          </a:xfrm>
        </p:spPr>
        <p:txBody>
          <a:bodyPr/>
          <a:lstStyle/>
          <a:p>
            <a:r>
              <a:rPr lang="en-US" dirty="0"/>
              <a:t>Navigate to All &gt; System Properties &gt; My Company to change your logo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61D209-C1C4-F909-BEFF-91ACB0532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515" y="2603599"/>
            <a:ext cx="6608224" cy="283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886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907D3-93A4-FDD8-EB68-3677A435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Customizations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17A5-6383-E686-13F6-4F57F4C78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69037" cy="4089674"/>
          </a:xfrm>
        </p:spPr>
        <p:txBody>
          <a:bodyPr/>
          <a:lstStyle/>
          <a:p>
            <a:r>
              <a:rPr lang="en-US" dirty="0"/>
              <a:t>Navigate to All &gt; System Properties &gt; Basic Configuration UI16 to find more:</a:t>
            </a:r>
          </a:p>
          <a:p>
            <a:pPr lvl="1"/>
            <a:r>
              <a:rPr lang="en-US" dirty="0"/>
              <a:t>Set instance time zone</a:t>
            </a:r>
          </a:p>
          <a:p>
            <a:pPr lvl="1"/>
            <a:r>
              <a:rPr lang="en-US" dirty="0"/>
              <a:t>Set browser tab title</a:t>
            </a:r>
          </a:p>
          <a:p>
            <a:pPr lvl="1"/>
            <a:r>
              <a:rPr lang="en-US" dirty="0"/>
              <a:t>Color scheme</a:t>
            </a:r>
          </a:p>
          <a:p>
            <a:r>
              <a:rPr lang="en-US" dirty="0"/>
              <a:t>UI16 was the last user interface version before the Next Experience, the system property changes still work</a:t>
            </a:r>
          </a:p>
          <a:p>
            <a:r>
              <a:rPr lang="en-US" dirty="0"/>
              <a:t>‘Basic Configuration’ is a set of even older system properties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CC160-C7D3-8214-F90D-1AC1B1A5B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229" y="2173568"/>
            <a:ext cx="6911052" cy="403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81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Change your organization logo within your instance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your browser tab to display ‘YourCompanyName’ while in your instance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your instance</a:t>
            </a: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186-5B6C-DA5F-3164-549ABD3C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Lists, Records, &amp;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3B381-E347-8684-4D4F-7509F2ACF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5" y="1910534"/>
            <a:ext cx="10804463" cy="46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9791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D8B91-E70B-9DAB-7203-525BCEF8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17809-A780-1B59-91BD-771DFD5A5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121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list view </a:t>
            </a:r>
            <a:r>
              <a:rPr lang="en-US" dirty="0"/>
              <a:t>is a customizable display of records from a table</a:t>
            </a:r>
          </a:p>
          <a:p>
            <a:pPr lvl="1"/>
            <a:r>
              <a:rPr lang="en-US" dirty="0"/>
              <a:t>We may create different views for different user roles</a:t>
            </a:r>
          </a:p>
          <a:p>
            <a:pPr lvl="1"/>
            <a:r>
              <a:rPr lang="en-US" dirty="0"/>
              <a:t>Each view may display different fields, or the order of displayed fields may be different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63F771-F793-376D-829C-85B1156F3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28" y="2689989"/>
            <a:ext cx="6291423" cy="265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922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F497-BFE8-C344-ECCD-2AABCDA5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E11D71-C8D9-A413-79D4-9E8FC9AD6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618" y="2122354"/>
            <a:ext cx="9336764" cy="422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907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2270</TotalTime>
  <Words>1125</Words>
  <Application>Microsoft Office PowerPoint</Application>
  <PresentationFormat>Widescreen</PresentationFormat>
  <Paragraphs>128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Gill Sans MT</vt:lpstr>
      <vt:lpstr>Wingdings 2</vt:lpstr>
      <vt:lpstr>Dividend</vt:lpstr>
      <vt:lpstr>Basics</vt:lpstr>
      <vt:lpstr>CSA</vt:lpstr>
      <vt:lpstr>Instance</vt:lpstr>
      <vt:lpstr>Updates</vt:lpstr>
      <vt:lpstr>How Users Interact with ServiceNow</vt:lpstr>
      <vt:lpstr>App Engine Studio &amp; Creator Studio</vt:lpstr>
      <vt:lpstr>To Further Complicate Matters…</vt:lpstr>
      <vt:lpstr>The Next Experience UI</vt:lpstr>
      <vt:lpstr>Common User Interfaces</vt:lpstr>
      <vt:lpstr>Common User Interfaces</vt:lpstr>
      <vt:lpstr>ServiceNow Architecture</vt:lpstr>
      <vt:lpstr>Personas</vt:lpstr>
      <vt:lpstr>Applications &amp; Modules</vt:lpstr>
      <vt:lpstr>Users &amp; Groups</vt:lpstr>
      <vt:lpstr>Challenge</vt:lpstr>
      <vt:lpstr>User Impersonation</vt:lpstr>
      <vt:lpstr>Roles</vt:lpstr>
      <vt:lpstr>Challenge</vt:lpstr>
      <vt:lpstr>Customize the Logo</vt:lpstr>
      <vt:lpstr>More Customizations</vt:lpstr>
      <vt:lpstr>Challenge</vt:lpstr>
      <vt:lpstr>Lists, Records, &amp; Fields</vt:lpstr>
      <vt:lpstr>List Views</vt:lpstr>
      <vt:lpstr>Context Menus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593</cp:revision>
  <dcterms:created xsi:type="dcterms:W3CDTF">2025-02-12T19:53:45Z</dcterms:created>
  <dcterms:modified xsi:type="dcterms:W3CDTF">2025-10-07T17:33:43Z</dcterms:modified>
</cp:coreProperties>
</file>