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75" r:id="rId3"/>
    <p:sldId id="277" r:id="rId4"/>
    <p:sldId id="274" r:id="rId5"/>
    <p:sldId id="312" r:id="rId6"/>
    <p:sldId id="273" r:id="rId7"/>
    <p:sldId id="276" r:id="rId8"/>
    <p:sldId id="278" r:id="rId9"/>
    <p:sldId id="279" r:id="rId10"/>
    <p:sldId id="280" r:id="rId11"/>
    <p:sldId id="281" r:id="rId12"/>
    <p:sldId id="282" r:id="rId13"/>
    <p:sldId id="284" r:id="rId14"/>
    <p:sldId id="283" r:id="rId15"/>
    <p:sldId id="285" r:id="rId16"/>
    <p:sldId id="295" r:id="rId17"/>
    <p:sldId id="290" r:id="rId18"/>
    <p:sldId id="287" r:id="rId19"/>
    <p:sldId id="286" r:id="rId20"/>
    <p:sldId id="291" r:id="rId21"/>
    <p:sldId id="288" r:id="rId22"/>
    <p:sldId id="289" r:id="rId23"/>
    <p:sldId id="272" r:id="rId24"/>
    <p:sldId id="292" r:id="rId25"/>
    <p:sldId id="294" r:id="rId26"/>
    <p:sldId id="293" r:id="rId27"/>
    <p:sldId id="313" r:id="rId28"/>
    <p:sldId id="299" r:id="rId29"/>
    <p:sldId id="314" r:id="rId30"/>
    <p:sldId id="296" r:id="rId31"/>
    <p:sldId id="303" r:id="rId32"/>
    <p:sldId id="325" r:id="rId33"/>
    <p:sldId id="298" r:id="rId34"/>
    <p:sldId id="297" r:id="rId35"/>
    <p:sldId id="300" r:id="rId36"/>
    <p:sldId id="301" r:id="rId37"/>
    <p:sldId id="304" r:id="rId38"/>
    <p:sldId id="305" r:id="rId39"/>
    <p:sldId id="306" r:id="rId40"/>
    <p:sldId id="307" r:id="rId41"/>
    <p:sldId id="326" r:id="rId42"/>
    <p:sldId id="308" r:id="rId43"/>
    <p:sldId id="309" r:id="rId44"/>
    <p:sldId id="310" r:id="rId45"/>
    <p:sldId id="311" r:id="rId46"/>
    <p:sldId id="302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4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Basics</a:t>
            </a:r>
          </a:p>
        </p:txBody>
      </p:sp>
      <p:pic>
        <p:nvPicPr>
          <p:cNvPr id="4" name="Picture 3" descr="ServiceNow logo transparent PNG - StickPNG">
            <a:extLst>
              <a:ext uri="{FF2B5EF4-FFF2-40B4-BE49-F238E27FC236}">
                <a16:creationId xmlns:a16="http://schemas.microsoft.com/office/drawing/2014/main" id="{D7622E4E-6271-FAF7-80FD-0DAEECDB6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07" y="895417"/>
            <a:ext cx="5427258" cy="92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A009E-7C47-DDDC-C0B2-37FD489AD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70C8E-B609-0EC7-FFCE-19B3D4ACC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course is geared towards the </a:t>
            </a:r>
            <a:r>
              <a:rPr lang="en-US" dirty="0">
                <a:solidFill>
                  <a:srgbClr val="92D050"/>
                </a:solidFill>
              </a:rPr>
              <a:t>Certified System Administrator (CSA) </a:t>
            </a:r>
            <a:r>
              <a:rPr lang="en-US" dirty="0"/>
              <a:t>credential</a:t>
            </a:r>
          </a:p>
          <a:p>
            <a:r>
              <a:rPr lang="en-US" dirty="0"/>
              <a:t>There are 6 major sections to the 90-minute, 60-question exam:</a:t>
            </a:r>
          </a:p>
          <a:p>
            <a:pPr lvl="1"/>
            <a:r>
              <a:rPr lang="en-US" dirty="0"/>
              <a:t>Platform Overview &amp; Navigation – 6%</a:t>
            </a:r>
          </a:p>
          <a:p>
            <a:pPr lvl="1"/>
            <a:r>
              <a:rPr lang="en-US" dirty="0"/>
              <a:t>Instance Configuration – 10%</a:t>
            </a:r>
          </a:p>
          <a:p>
            <a:pPr lvl="1"/>
            <a:r>
              <a:rPr lang="en-US" dirty="0"/>
              <a:t>Configuring Applications for Collaboration – 19.5%</a:t>
            </a:r>
          </a:p>
          <a:p>
            <a:pPr lvl="1"/>
            <a:r>
              <a:rPr lang="en-US" dirty="0"/>
              <a:t>Self-Service &amp; Automation – 19.5%</a:t>
            </a:r>
          </a:p>
          <a:p>
            <a:pPr lvl="1"/>
            <a:r>
              <a:rPr lang="en-US" dirty="0"/>
              <a:t>Database Management and Platform Security – 30%</a:t>
            </a:r>
          </a:p>
          <a:p>
            <a:pPr lvl="1"/>
            <a:r>
              <a:rPr lang="en-US" dirty="0"/>
              <a:t>Data Migration and Integration – 15%</a:t>
            </a:r>
          </a:p>
        </p:txBody>
      </p:sp>
    </p:spTree>
    <p:extLst>
      <p:ext uri="{BB962C8B-B14F-4D97-AF65-F5344CB8AC3E}">
        <p14:creationId xmlns:p14="http://schemas.microsoft.com/office/powerpoint/2010/main" val="3031980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CE00B-3D29-E39D-94BC-98A3B220F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73528-1251-720D-933D-018E2DA92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106479" cy="3678303"/>
          </a:xfrm>
        </p:spPr>
        <p:txBody>
          <a:bodyPr/>
          <a:lstStyle/>
          <a:p>
            <a:r>
              <a:rPr lang="en-US" dirty="0"/>
              <a:t>Definition: An </a:t>
            </a:r>
            <a:r>
              <a:rPr lang="en-US" dirty="0">
                <a:solidFill>
                  <a:schemeClr val="accent2"/>
                </a:solidFill>
              </a:rPr>
              <a:t>instance</a:t>
            </a:r>
            <a:r>
              <a:rPr lang="en-US" dirty="0"/>
              <a:t> is a singular implementation of the ServiceNow platform</a:t>
            </a:r>
          </a:p>
          <a:p>
            <a:r>
              <a:rPr lang="en-US" dirty="0"/>
              <a:t>Every customer organization gets a minimum of 2 instances</a:t>
            </a:r>
          </a:p>
          <a:p>
            <a:pPr lvl="1"/>
            <a:r>
              <a:rPr lang="en-US" dirty="0"/>
              <a:t>Production</a:t>
            </a:r>
          </a:p>
          <a:p>
            <a:pPr lvl="1"/>
            <a:r>
              <a:rPr lang="en-US" dirty="0"/>
              <a:t>Sub-production</a:t>
            </a:r>
          </a:p>
          <a:p>
            <a:r>
              <a:rPr lang="en-US" dirty="0"/>
              <a:t>To access your instance, your organization will have a unique URL: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https://&lt;instance-name-here&gt;.service-now.com</a:t>
            </a:r>
          </a:p>
          <a:p>
            <a:r>
              <a:rPr lang="en-US" dirty="0">
                <a:solidFill>
                  <a:schemeClr val="tx1"/>
                </a:solidFill>
              </a:rPr>
              <a:t>Definition: A </a:t>
            </a:r>
            <a:r>
              <a:rPr lang="en-US" dirty="0">
                <a:solidFill>
                  <a:schemeClr val="accent2"/>
                </a:solidFill>
              </a:rPr>
              <a:t>Baseline implementation </a:t>
            </a:r>
            <a:r>
              <a:rPr lang="en-US" dirty="0">
                <a:solidFill>
                  <a:schemeClr val="tx1"/>
                </a:solidFill>
              </a:rPr>
              <a:t>is a set of installed applications on a ServiceNow instance before any configuration or customization has been done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6C18FD-B296-7102-44AC-E849E121C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268" y="2275114"/>
            <a:ext cx="3165275" cy="376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567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7B617-5DCD-C3C6-FB0A-58B280CAD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D0A88-6032-2740-E35B-E6E99CE74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210007" cy="3678303"/>
          </a:xfrm>
        </p:spPr>
        <p:txBody>
          <a:bodyPr/>
          <a:lstStyle/>
          <a:p>
            <a:r>
              <a:rPr lang="en-US" dirty="0"/>
              <a:t>Every six months there is a new SNOW release</a:t>
            </a:r>
          </a:p>
          <a:p>
            <a:pPr lvl="1"/>
            <a:r>
              <a:rPr lang="en-US" dirty="0"/>
              <a:t>Vancouver, Washington DC, Xanadu</a:t>
            </a:r>
          </a:p>
          <a:p>
            <a:r>
              <a:rPr lang="en-US" dirty="0"/>
              <a:t>Updates are made on a per instance basis</a:t>
            </a:r>
          </a:p>
          <a:p>
            <a:pPr lvl="1"/>
            <a:r>
              <a:rPr lang="en-US" dirty="0"/>
              <a:t>You must update your dev instances to match production, build features, then ship to production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46B64-906E-03D5-351F-39C33A906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941" y="2813217"/>
            <a:ext cx="5631866" cy="212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662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375C-BB1C-A3B9-C678-69075FF59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vs Customization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CDEBC-6A23-A6B1-4796-897DA9C86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299" y="2486695"/>
            <a:ext cx="5224185" cy="2655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11BDB7-BE42-EC40-5EE4-6C13BA435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526" y="3668114"/>
            <a:ext cx="5690175" cy="217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72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2938-5570-B0CB-CD8E-3E25ED52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Users Interact with ServiceNow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4585D-9F2D-D6CE-D83F-1FA9E3B1B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950236" cy="4139622"/>
          </a:xfrm>
        </p:spPr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The Next Experience Unified Navigation </a:t>
            </a:r>
            <a:r>
              <a:rPr lang="en-US" dirty="0"/>
              <a:t>– is the primary way to interact with apps and records within ServiceNow</a:t>
            </a:r>
          </a:p>
          <a:p>
            <a:r>
              <a:rPr lang="en-US" dirty="0">
                <a:solidFill>
                  <a:srgbClr val="92D050"/>
                </a:solidFill>
              </a:rPr>
              <a:t>The Now Mobile App </a:t>
            </a:r>
            <a:r>
              <a:rPr lang="en-US" dirty="0"/>
              <a:t>– allows users to submit incidents, sign documents, take surveys, and more</a:t>
            </a:r>
          </a:p>
          <a:p>
            <a:r>
              <a:rPr lang="en-US" dirty="0">
                <a:solidFill>
                  <a:srgbClr val="92D050"/>
                </a:solidFill>
              </a:rPr>
              <a:t>The Service Portal </a:t>
            </a:r>
            <a:r>
              <a:rPr lang="en-US" dirty="0"/>
              <a:t>– is a user-friendly UI for external customers to use the platform and view its data</a:t>
            </a:r>
          </a:p>
          <a:p>
            <a:pPr lvl="1"/>
            <a:r>
              <a:rPr lang="en-US" b="1" i="1" dirty="0"/>
              <a:t>https//&lt;instance-name-here&gt;.service-now.com/</a:t>
            </a:r>
            <a:r>
              <a:rPr lang="en-US" b="1" i="1" dirty="0" err="1"/>
              <a:t>sp</a:t>
            </a:r>
            <a:endParaRPr lang="en-US" dirty="0"/>
          </a:p>
          <a:p>
            <a:r>
              <a:rPr lang="en-US" dirty="0">
                <a:solidFill>
                  <a:srgbClr val="92D050"/>
                </a:solidFill>
              </a:rPr>
              <a:t>The Employee Center </a:t>
            </a:r>
            <a:r>
              <a:rPr lang="en-US" dirty="0"/>
              <a:t>– is a dynamic portal for internal employees for communication, engagement, and shared content, free for all ServiceNow customers </a:t>
            </a:r>
          </a:p>
          <a:p>
            <a:pPr lvl="1"/>
            <a:r>
              <a:rPr lang="en-US" b="1" i="1" dirty="0"/>
              <a:t>https//&lt;instance-name-here&gt;.service-now.com/esc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9F00F1-5DE1-DCFD-0945-27521FC90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057" y="2646913"/>
            <a:ext cx="4732317" cy="249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428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C1B69-7037-9D6D-7185-A07D15C2B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Engine Studio &amp; Creator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A1962-10AD-7633-9786-6340ED5FE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434125" cy="3678303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App Engine Studio </a:t>
            </a:r>
            <a:r>
              <a:rPr lang="en-US" dirty="0"/>
              <a:t>is a tool for citizen developers to implement basic scripting or workflow customization using low-code tools</a:t>
            </a:r>
          </a:p>
          <a:p>
            <a:pPr lvl="1"/>
            <a:r>
              <a:rPr lang="en-US" dirty="0"/>
              <a:t>Design data tables, build flows, build forms, and more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Creator Studio </a:t>
            </a:r>
            <a:r>
              <a:rPr lang="en-US" dirty="0"/>
              <a:t>is a tool for citizen developers that simplifies app creation even further, using no code at all</a:t>
            </a:r>
          </a:p>
          <a:p>
            <a:pPr lvl="1"/>
            <a:r>
              <a:rPr lang="en-US" dirty="0"/>
              <a:t>Prebuilt templates, no access to scripting or custom tables, governed by App Engine Management Center (AEMC)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50D12D-897E-A050-D811-B5EF1474D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1" y="2282596"/>
            <a:ext cx="5010910" cy="409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04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F8173-8F81-7307-522B-FDA45451B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Further Complicate Matters…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62C0-644B-DDA3-9127-D79A2E5CF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941067" cy="3678303"/>
          </a:xfrm>
        </p:spPr>
        <p:txBody>
          <a:bodyPr/>
          <a:lstStyle/>
          <a:p>
            <a:r>
              <a:rPr lang="en-US" dirty="0"/>
              <a:t>Creator Studio Shouldn’t be confused with ServiceNow Studio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ServiceNow Studio </a:t>
            </a:r>
            <a:r>
              <a:rPr lang="en-US" dirty="0"/>
              <a:t>is a powerful application that runs on the platform to build complex applications and integrations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ServiceNow IDE </a:t>
            </a:r>
            <a:r>
              <a:rPr lang="en-US" dirty="0"/>
              <a:t>is a way for us to render our instance changes as metadata and back up to source control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D5A4B3-1AB7-6761-B9D3-06F81EF57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743" y="2266802"/>
            <a:ext cx="4353533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9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8CEDA-9D88-CB56-F458-CE3CA12E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Next Experience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97C72-E313-56E8-4A24-130077399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796989"/>
            <a:ext cx="11029615" cy="35589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is how most users interact with the applications and data within a ServiceNow instance</a:t>
            </a:r>
          </a:p>
          <a:p>
            <a:r>
              <a:rPr lang="en-US" dirty="0"/>
              <a:t>All – lists our applications and modules</a:t>
            </a:r>
          </a:p>
          <a:p>
            <a:r>
              <a:rPr lang="en-US" dirty="0"/>
              <a:t>Favorites – displays our favorited items</a:t>
            </a:r>
          </a:p>
          <a:p>
            <a:r>
              <a:rPr lang="en-US" dirty="0"/>
              <a:t>History – displays recently viewed forms, lists, catalog items, and more </a:t>
            </a:r>
          </a:p>
          <a:p>
            <a:r>
              <a:rPr lang="en-US" dirty="0"/>
              <a:t>Workspaces – the list of workspaces we have access to (such as Service Operations Workspace)</a:t>
            </a:r>
          </a:p>
          <a:p>
            <a:r>
              <a:rPr lang="en-US" dirty="0"/>
              <a:t>Contextual App Pill – where we are in the instance (click the start to favorite an item)</a:t>
            </a:r>
          </a:p>
          <a:p>
            <a:r>
              <a:rPr lang="en-US" dirty="0"/>
              <a:t>Global Search – search for information across applications and records </a:t>
            </a:r>
          </a:p>
          <a:p>
            <a:r>
              <a:rPr lang="en-US" dirty="0"/>
              <a:t>Notifications – user notifications</a:t>
            </a:r>
          </a:p>
          <a:p>
            <a:r>
              <a:rPr lang="en-US" dirty="0"/>
              <a:t>User Menu – change personalization settings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A41FE-D35A-B198-FAF9-98BC27E63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23" y="2168809"/>
            <a:ext cx="11029617" cy="38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94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199D-F585-9960-1FA4-FA4F433DA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User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00C7E-871A-08C4-C13C-8DFFC7D5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284721" cy="3678303"/>
          </a:xfrm>
        </p:spPr>
        <p:txBody>
          <a:bodyPr/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workspace</a:t>
            </a:r>
            <a:r>
              <a:rPr lang="en-US" dirty="0"/>
              <a:t> is a role-based, task-focused user interface designed to streamline the experience for end-users or agents performing specific tasks</a:t>
            </a:r>
          </a:p>
          <a:p>
            <a:pPr lvl="1"/>
            <a:r>
              <a:rPr lang="en-US" dirty="0"/>
              <a:t>Customer Service reps, HR agents, field techs, etc.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E9B50C-0FDE-80E1-2754-BB06635F0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428" y="2326514"/>
            <a:ext cx="6270171" cy="338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230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4C3C-AA7C-3A57-75BE-4BD81A705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User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63060-8335-4801-EAFC-2C4A1756C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3678303"/>
          </a:xfrm>
        </p:spPr>
        <p:txBody>
          <a:bodyPr/>
          <a:lstStyle/>
          <a:p>
            <a:r>
              <a:rPr lang="en-US" dirty="0"/>
              <a:t>Lists</a:t>
            </a:r>
          </a:p>
          <a:p>
            <a:r>
              <a:rPr lang="en-US" dirty="0"/>
              <a:t>Forms</a:t>
            </a:r>
          </a:p>
          <a:p>
            <a:r>
              <a:rPr lang="en-US" dirty="0"/>
              <a:t>Dashboards</a:t>
            </a:r>
          </a:p>
          <a:p>
            <a:r>
              <a:rPr lang="en-US" dirty="0"/>
              <a:t>Knowledge 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ED8CC2-A937-CCFF-7E1A-864E606CB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413" y="2128886"/>
            <a:ext cx="6322651" cy="18907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1BA668-71C0-325B-7244-E32151B4F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907" y="4432577"/>
            <a:ext cx="6207157" cy="175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26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1E8F9-1C6C-15E8-34BC-E703C9CA2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ServiceNow Architecture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1D3135-8175-0904-F924-24B3E4D1A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044" y="2007021"/>
            <a:ext cx="8709912" cy="437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77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D7A0-6790-8ACC-4FE3-E2DBA404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1CEEF-DB1B-DDC2-7E56-A7C11E693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143" y="2318698"/>
            <a:ext cx="7478486" cy="365069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17D06C-C1BC-868B-7DF8-FBA2070CE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261465" cy="4535990"/>
          </a:xfrm>
        </p:spPr>
        <p:txBody>
          <a:bodyPr>
            <a:normAutofit/>
          </a:bodyPr>
          <a:lstStyle/>
          <a:p>
            <a:r>
              <a:rPr lang="en-US" dirty="0"/>
              <a:t>Admins – that’s us</a:t>
            </a:r>
          </a:p>
          <a:p>
            <a:r>
              <a:rPr lang="en-US" dirty="0"/>
              <a:t>Specialized Admin - Report Administrator, Form Administrator, etc. </a:t>
            </a:r>
          </a:p>
          <a:p>
            <a:r>
              <a:rPr lang="en-US" dirty="0"/>
              <a:t>Process User – a customer service rep with the </a:t>
            </a:r>
            <a:r>
              <a:rPr lang="en-US" dirty="0" err="1"/>
              <a:t>itil</a:t>
            </a:r>
            <a:r>
              <a:rPr lang="en-US" dirty="0"/>
              <a:t> user role</a:t>
            </a:r>
          </a:p>
          <a:p>
            <a:r>
              <a:rPr lang="en-US" dirty="0"/>
              <a:t>Approver – a user listed as an approver for change requests</a:t>
            </a:r>
          </a:p>
          <a:p>
            <a:r>
              <a:rPr lang="en-US" dirty="0"/>
              <a:t>Requester – Users that may make use of the ESS portal to ask for IT services such as requesting a new work laptop</a:t>
            </a:r>
          </a:p>
        </p:txBody>
      </p:sp>
    </p:spTree>
    <p:extLst>
      <p:ext uri="{BB962C8B-B14F-4D97-AF65-F5344CB8AC3E}">
        <p14:creationId xmlns:p14="http://schemas.microsoft.com/office/powerpoint/2010/main" val="378408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87298-A34D-9873-BCD8-06A3F4C95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&amp;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1D270-0881-393E-1CB1-83CA29347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756855" cy="3678303"/>
          </a:xfrm>
        </p:spPr>
        <p:txBody>
          <a:bodyPr/>
          <a:lstStyle/>
          <a:p>
            <a:r>
              <a:rPr lang="en-US" dirty="0"/>
              <a:t>Definition: An </a:t>
            </a:r>
            <a:r>
              <a:rPr lang="en-US" dirty="0">
                <a:solidFill>
                  <a:schemeClr val="accent2"/>
                </a:solidFill>
              </a:rPr>
              <a:t>application</a:t>
            </a:r>
            <a:r>
              <a:rPr lang="en-US" dirty="0"/>
              <a:t> is a container for related functionality within the ServiceNow platform</a:t>
            </a:r>
          </a:p>
          <a:p>
            <a:pPr lvl="1"/>
            <a:r>
              <a:rPr lang="en-US" dirty="0"/>
              <a:t>Groups together tables, forms, workflows, business rules, scripts, and modules </a:t>
            </a:r>
          </a:p>
          <a:p>
            <a:pPr lvl="1"/>
            <a:r>
              <a:rPr lang="en-US" dirty="0"/>
              <a:t>Applications have scope, which controls access to app data</a:t>
            </a:r>
          </a:p>
          <a:p>
            <a:r>
              <a:rPr lang="en-US" dirty="0"/>
              <a:t>Definition: An </a:t>
            </a:r>
            <a:r>
              <a:rPr lang="en-US" dirty="0">
                <a:solidFill>
                  <a:schemeClr val="accent2"/>
                </a:solidFill>
              </a:rPr>
              <a:t>application menu </a:t>
            </a:r>
            <a:r>
              <a:rPr lang="en-US" dirty="0"/>
              <a:t>is a navigation element that structures modules</a:t>
            </a:r>
          </a:p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module</a:t>
            </a:r>
            <a:r>
              <a:rPr lang="en-US" dirty="0"/>
              <a:t> is a navigation item inside an app</a:t>
            </a:r>
          </a:p>
          <a:p>
            <a:pPr lvl="1"/>
            <a:r>
              <a:rPr lang="en-US" dirty="0"/>
              <a:t>Can point to a form, a list of records, reports, dashboards, UI pages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B25D6-2252-2969-14C0-EDECBDB7E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505" y="2180496"/>
            <a:ext cx="3691362" cy="430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00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7ED76-8675-3930-B35F-9724D0F72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&amp;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11E00-2895-A189-4181-83C1CEF9E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4292022"/>
          </a:xfrm>
        </p:spPr>
        <p:txBody>
          <a:bodyPr>
            <a:normAutofit/>
          </a:bodyPr>
          <a:lstStyle/>
          <a:p>
            <a:r>
              <a:rPr lang="en-US" dirty="0"/>
              <a:t>Users are represented by a record on the User [</a:t>
            </a:r>
            <a:r>
              <a:rPr lang="en-US" dirty="0" err="1"/>
              <a:t>sys_user</a:t>
            </a:r>
            <a:r>
              <a:rPr lang="en-US" dirty="0"/>
              <a:t>] table.</a:t>
            </a:r>
          </a:p>
          <a:p>
            <a:pPr lvl="1"/>
            <a:r>
              <a:rPr lang="en-US" dirty="0"/>
              <a:t>Update Records</a:t>
            </a:r>
          </a:p>
          <a:p>
            <a:pPr lvl="1"/>
            <a:r>
              <a:rPr lang="en-US" dirty="0"/>
              <a:t>Import Data</a:t>
            </a:r>
          </a:p>
          <a:p>
            <a:pPr lvl="1"/>
            <a:r>
              <a:rPr lang="en-US" dirty="0"/>
              <a:t>Request Items</a:t>
            </a:r>
          </a:p>
          <a:p>
            <a:pPr lvl="1"/>
            <a:r>
              <a:rPr lang="en-US" dirty="0"/>
              <a:t>Implement Flows</a:t>
            </a:r>
          </a:p>
          <a:p>
            <a:pPr lvl="1"/>
            <a:r>
              <a:rPr lang="en-US" dirty="0"/>
              <a:t>Approve Knowledge Content</a:t>
            </a:r>
          </a:p>
          <a:p>
            <a:pPr lvl="1"/>
            <a:r>
              <a:rPr lang="en-US" dirty="0"/>
              <a:t>Run Reports</a:t>
            </a:r>
          </a:p>
          <a:p>
            <a:pPr lvl="1"/>
            <a:r>
              <a:rPr lang="en-US" dirty="0"/>
              <a:t>Develop Applications</a:t>
            </a:r>
          </a:p>
          <a:p>
            <a:r>
              <a:rPr lang="en-US" dirty="0">
                <a:solidFill>
                  <a:schemeClr val="accent2"/>
                </a:solidFill>
              </a:rPr>
              <a:t>BEST PRACTICE</a:t>
            </a:r>
            <a:r>
              <a:rPr lang="en-US" dirty="0"/>
              <a:t>: Never delete user records, we just mark as inactive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63D491-F9E0-62A3-3810-438F821FF8C2}"/>
              </a:ext>
            </a:extLst>
          </p:cNvPr>
          <p:cNvSpPr txBox="1">
            <a:spLocks/>
          </p:cNvSpPr>
          <p:nvPr/>
        </p:nvSpPr>
        <p:spPr>
          <a:xfrm>
            <a:off x="6096000" y="2355615"/>
            <a:ext cx="5514808" cy="2146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group is represented by a record on the Group [</a:t>
            </a:r>
            <a:r>
              <a:rPr lang="en-US" dirty="0" err="1"/>
              <a:t>sys_user_group</a:t>
            </a:r>
            <a:r>
              <a:rPr lang="en-US" dirty="0"/>
              <a:t>] table.</a:t>
            </a:r>
          </a:p>
          <a:p>
            <a:pPr lvl="1"/>
            <a:r>
              <a:rPr lang="en-US" dirty="0"/>
              <a:t>Groups share a common purpose, such as users approving change requests or users receiving email notifications</a:t>
            </a:r>
          </a:p>
          <a:p>
            <a:pPr lvl="1"/>
            <a:r>
              <a:rPr lang="en-US" dirty="0"/>
              <a:t>Examples: service desk, knowledge base authors, HR admins</a:t>
            </a:r>
          </a:p>
        </p:txBody>
      </p:sp>
    </p:spTree>
    <p:extLst>
      <p:ext uri="{BB962C8B-B14F-4D97-AF65-F5344CB8AC3E}">
        <p14:creationId xmlns:p14="http://schemas.microsoft.com/office/powerpoint/2010/main" val="3462356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2E031-B3D1-5F27-47F9-0BEC85003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Saving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2DD08-BCDF-04F3-7959-02A2F3E9D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47" y="2189460"/>
            <a:ext cx="4222377" cy="3678303"/>
          </a:xfrm>
        </p:spPr>
        <p:txBody>
          <a:bodyPr/>
          <a:lstStyle/>
          <a:p>
            <a:r>
              <a:rPr lang="en-US" dirty="0"/>
              <a:t>Right click + Save = save record but stay on record page</a:t>
            </a:r>
          </a:p>
          <a:p>
            <a:r>
              <a:rPr lang="en-US" dirty="0"/>
              <a:t>Submit/Update = save record and return to list 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C482FF-A2D9-B9AA-0A8A-71F54113D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397" y="2758482"/>
            <a:ext cx="5936836" cy="238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87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527E4-DB95-4780-E802-4CAD78B8A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B1FC1-C1DA-607B-BA8C-7D32383E4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E752-E27D-2093-BB42-9E78B3ADC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691484"/>
            <a:ext cx="5192079" cy="168329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Add a fictional character to your instance as a user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group called ‘ITSM Agents’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Add your new user to the user group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0DDEBD-5048-9FD9-C579-A632B9A5450F}"/>
              </a:ext>
            </a:extLst>
          </p:cNvPr>
          <p:cNvSpPr txBox="1">
            <a:spLocks/>
          </p:cNvSpPr>
          <p:nvPr/>
        </p:nvSpPr>
        <p:spPr>
          <a:xfrm>
            <a:off x="903921" y="2610801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user and add them to a new group</a:t>
            </a:r>
          </a:p>
        </p:txBody>
      </p:sp>
    </p:spTree>
    <p:extLst>
      <p:ext uri="{BB962C8B-B14F-4D97-AF65-F5344CB8AC3E}">
        <p14:creationId xmlns:p14="http://schemas.microsoft.com/office/powerpoint/2010/main" val="113585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F851-B851-9E34-6DD9-8204B1CAA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Impersonation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B22056-6B03-FD01-7F6E-0EB2CC946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408" y="1925094"/>
            <a:ext cx="8549184" cy="423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849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0D3F-C3FC-D12E-175F-39886C495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36F78-CE26-FBCB-2174-F4E5E057A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36783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role</a:t>
            </a:r>
            <a:r>
              <a:rPr lang="en-US" dirty="0"/>
              <a:t> is used to define access at the application, module, and/or Access Control List (ACL)</a:t>
            </a:r>
          </a:p>
          <a:p>
            <a:r>
              <a:rPr lang="en-US" dirty="0"/>
              <a:t>Roles can be:</a:t>
            </a:r>
          </a:p>
          <a:p>
            <a:pPr lvl="1"/>
            <a:r>
              <a:rPr lang="en-US" dirty="0"/>
              <a:t>Assigned to groups or to individuals</a:t>
            </a:r>
          </a:p>
          <a:p>
            <a:pPr lvl="1"/>
            <a:r>
              <a:rPr lang="en-US" dirty="0"/>
              <a:t>Nested inside other roles</a:t>
            </a:r>
          </a:p>
          <a:p>
            <a:r>
              <a:rPr lang="en-US" dirty="0"/>
              <a:t>A user can have more than one role</a:t>
            </a:r>
          </a:p>
          <a:p>
            <a:r>
              <a:rPr lang="en-US" dirty="0"/>
              <a:t>Roles are represented as records on [</a:t>
            </a:r>
            <a:r>
              <a:rPr lang="en-US" dirty="0" err="1"/>
              <a:t>sys_user_role</a:t>
            </a:r>
            <a:r>
              <a:rPr lang="en-US" dirty="0"/>
              <a:t>]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BEST PRACTICE</a:t>
            </a:r>
            <a:r>
              <a:rPr lang="en-US" dirty="0"/>
              <a:t>: Rather than adding roles to individual users, add the user to a group and assign the role to the group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401198-FB2E-CA9A-DADC-A3E39954E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114" y="2180496"/>
            <a:ext cx="4610477" cy="357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408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42B71-7AEF-7FF5-4511-1CD374C03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21F37-7268-EB8A-A661-3A1007D5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D3AC-D647-0077-101F-1F9B62665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691484"/>
            <a:ext cx="5192079" cy="3386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Impersonate your fictional character. Do they have access to the Service Operations Workspace? Do they have access to Problem records?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End impersonation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Assign the ‘ITIL’ role to the ‘ITSM Agents’ user group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Impersonate your fictional character once more. How about now?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35E7EB9-5E79-609B-D63B-64AB2C41C3F8}"/>
              </a:ext>
            </a:extLst>
          </p:cNvPr>
          <p:cNvSpPr txBox="1">
            <a:spLocks/>
          </p:cNvSpPr>
          <p:nvPr/>
        </p:nvSpPr>
        <p:spPr>
          <a:xfrm>
            <a:off x="903921" y="2691484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Assign the ITIL role</a:t>
            </a:r>
          </a:p>
        </p:txBody>
      </p:sp>
    </p:spTree>
    <p:extLst>
      <p:ext uri="{BB962C8B-B14F-4D97-AF65-F5344CB8AC3E}">
        <p14:creationId xmlns:p14="http://schemas.microsoft.com/office/powerpoint/2010/main" val="2440041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914BB-FD0C-6475-E570-566D29654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Customize the Logo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22E77-6EFF-448D-91C3-B0FEC368A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394220" cy="3678303"/>
          </a:xfrm>
        </p:spPr>
        <p:txBody>
          <a:bodyPr/>
          <a:lstStyle/>
          <a:p>
            <a:r>
              <a:rPr lang="en-US" dirty="0"/>
              <a:t>Navigate to All &gt; System Properties &gt; My Company to change your logo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61D209-C1C4-F909-BEFF-91ACB0532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515" y="2603599"/>
            <a:ext cx="6608224" cy="283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88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907D3-93A4-FDD8-EB68-3677A435C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Customizations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17A5-6383-E686-13F6-4F57F4C78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969037" cy="4089674"/>
          </a:xfrm>
        </p:spPr>
        <p:txBody>
          <a:bodyPr/>
          <a:lstStyle/>
          <a:p>
            <a:r>
              <a:rPr lang="en-US" dirty="0"/>
              <a:t>Navigate to All &gt; System Properties &gt; Basic Configuration UI16 to find more:</a:t>
            </a:r>
          </a:p>
          <a:p>
            <a:pPr lvl="1"/>
            <a:r>
              <a:rPr lang="en-US" dirty="0"/>
              <a:t>Set instance time zone</a:t>
            </a:r>
          </a:p>
          <a:p>
            <a:pPr lvl="1"/>
            <a:r>
              <a:rPr lang="en-US" dirty="0"/>
              <a:t>Set browser tab title</a:t>
            </a:r>
          </a:p>
          <a:p>
            <a:pPr lvl="1"/>
            <a:r>
              <a:rPr lang="en-US" dirty="0"/>
              <a:t>Color scheme</a:t>
            </a:r>
          </a:p>
          <a:p>
            <a:r>
              <a:rPr lang="en-US" dirty="0"/>
              <a:t>UI16 was the last user interface version before the Next Experience, the system property changes still work</a:t>
            </a:r>
          </a:p>
          <a:p>
            <a:r>
              <a:rPr lang="en-US" dirty="0"/>
              <a:t>‘Basic Configuration’ is a set of even older system properties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0CC160-C7D3-8214-F90D-1AC1B1A5B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229" y="2173568"/>
            <a:ext cx="6911052" cy="403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581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5E9B-CBC3-2AD1-26DC-9B76C7531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83F7F-C6C9-0375-B05F-96B34B1FC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691484"/>
            <a:ext cx="5192079" cy="214945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Change your organization logo within your instance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Set your browser tab to display ‘YourCompanyName’ while in your instance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633C40-FD34-2977-76D0-B8C79D866012}"/>
              </a:ext>
            </a:extLst>
          </p:cNvPr>
          <p:cNvSpPr txBox="1">
            <a:spLocks/>
          </p:cNvSpPr>
          <p:nvPr/>
        </p:nvSpPr>
        <p:spPr>
          <a:xfrm>
            <a:off x="903921" y="2691484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Customize your instance</a:t>
            </a:r>
          </a:p>
        </p:txBody>
      </p:sp>
    </p:spTree>
    <p:extLst>
      <p:ext uri="{BB962C8B-B14F-4D97-AF65-F5344CB8AC3E}">
        <p14:creationId xmlns:p14="http://schemas.microsoft.com/office/powerpoint/2010/main" val="3585048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58186-5B6C-DA5F-3164-549ABD3C3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Lists, Records, &amp; Fields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3B381-E347-8684-4D4F-7509F2ACF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45" y="1910534"/>
            <a:ext cx="10804463" cy="463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979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EF497-BFE8-C344-ECCD-2AABCDA5C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Menus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11D71-C8D9-A413-79D4-9E8FC9AD6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618" y="2122354"/>
            <a:ext cx="9336764" cy="422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49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D8B91-E70B-9DAB-7203-525BCEF8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17809-A780-1B59-91BD-771DFD5A5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412149" cy="3678303"/>
          </a:xfrm>
        </p:spPr>
        <p:txBody>
          <a:bodyPr/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list view </a:t>
            </a:r>
            <a:r>
              <a:rPr lang="en-US" dirty="0"/>
              <a:t>is a customizable display of records from a table</a:t>
            </a:r>
          </a:p>
          <a:p>
            <a:pPr lvl="1"/>
            <a:r>
              <a:rPr lang="en-US" dirty="0"/>
              <a:t>We may create different views for different user roles</a:t>
            </a:r>
          </a:p>
          <a:p>
            <a:pPr lvl="1"/>
            <a:r>
              <a:rPr lang="en-US" dirty="0"/>
              <a:t>Each view may display different fields, or the order of displayed fields may be different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63F771-F793-376D-829C-85B1156F3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828" y="2689989"/>
            <a:ext cx="6291423" cy="265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22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128F8-DA01-4E64-55BD-8C60039E8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C2D319-B0FD-7BB1-01A9-8A5317C8A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014" y="2000672"/>
            <a:ext cx="6189971" cy="461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950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64797-EB88-07F1-22DF-28024617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Dot-Walking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D24C04-1B05-A36F-3B27-2D0032FC9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61" y="1836428"/>
            <a:ext cx="10036478" cy="482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63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1F41-2BE0-9D0F-09A5-501A4D2C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1AAA-D9C8-DA3A-B0A1-48474741D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74B60-0611-9018-2CBE-0C1E79B5E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691485"/>
            <a:ext cx="5192079" cy="117230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Ensure that the company name of the caller is displayed as a column next to the caller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8CE7EA8-99DA-F2A9-F75C-5158D9AA290C}"/>
              </a:ext>
            </a:extLst>
          </p:cNvPr>
          <p:cNvSpPr txBox="1">
            <a:spLocks/>
          </p:cNvSpPr>
          <p:nvPr/>
        </p:nvSpPr>
        <p:spPr>
          <a:xfrm>
            <a:off x="903921" y="2691484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Customize the default incident list view</a:t>
            </a:r>
          </a:p>
        </p:txBody>
      </p:sp>
    </p:spTree>
    <p:extLst>
      <p:ext uri="{BB962C8B-B14F-4D97-AF65-F5344CB8AC3E}">
        <p14:creationId xmlns:p14="http://schemas.microsoft.com/office/powerpoint/2010/main" val="10348681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C341C-C82A-B3C0-492E-44AA0AD5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Layout &amp; Form Builder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ABA7E4-9DF0-FA00-E7EF-059F6E108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200" y="2212843"/>
            <a:ext cx="8043600" cy="1302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7B6712-1D3E-CC36-B7C4-98346DDA7955}"/>
              </a:ext>
            </a:extLst>
          </p:cNvPr>
          <p:cNvSpPr txBox="1"/>
          <p:nvPr/>
        </p:nvSpPr>
        <p:spPr>
          <a:xfrm>
            <a:off x="1680849" y="3647301"/>
            <a:ext cx="883030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Form Layout </a:t>
            </a:r>
            <a:r>
              <a:rPr lang="en-US" dirty="0"/>
              <a:t>is the older, traditional tool for configuring forms, fields, and sections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As of the Zurich release, you rarely need to use this</a:t>
            </a:r>
          </a:p>
          <a:p>
            <a:pPr>
              <a:buClr>
                <a:schemeClr val="accent2"/>
              </a:buClr>
            </a:pPr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Form Design </a:t>
            </a:r>
            <a:r>
              <a:rPr lang="en-US" dirty="0"/>
              <a:t>is a slightly less old tool for configuring forms, fields, and sections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This has a drag-and-drop interface like Form Builder, but is lacking modern features 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Form Builder </a:t>
            </a:r>
            <a:r>
              <a:rPr lang="en-US" dirty="0"/>
              <a:t>is the newer tool for configuring forms, fields, sections, and more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Add and remove fields from forms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Create sections and reorder content in one or two columns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Conditionally show or hide fields 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 lvl="1" algn="ctr">
              <a:buClr>
                <a:schemeClr val="accent2"/>
              </a:buClr>
            </a:pPr>
            <a:r>
              <a:rPr lang="en-US" dirty="0">
                <a:solidFill>
                  <a:schemeClr val="accent2"/>
                </a:solidFill>
              </a:rPr>
              <a:t>BEST PRACTICE</a:t>
            </a:r>
            <a:r>
              <a:rPr lang="en-US" dirty="0"/>
              <a:t>: Never place the same editable field in multiple sections.</a:t>
            </a:r>
          </a:p>
        </p:txBody>
      </p:sp>
    </p:spTree>
    <p:extLst>
      <p:ext uri="{BB962C8B-B14F-4D97-AF65-F5344CB8AC3E}">
        <p14:creationId xmlns:p14="http://schemas.microsoft.com/office/powerpoint/2010/main" val="3091247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4F88-F0B1-CD09-E733-EAA4B54B8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4463F-F998-16BC-6579-2ED37C9F9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714" y="1988105"/>
            <a:ext cx="6188708" cy="4568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A002DA-2265-2749-BD5A-D4384B37EC37}"/>
              </a:ext>
            </a:extLst>
          </p:cNvPr>
          <p:cNvSpPr txBox="1"/>
          <p:nvPr/>
        </p:nvSpPr>
        <p:spPr>
          <a:xfrm>
            <a:off x="581192" y="2344365"/>
            <a:ext cx="40491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Sections group up content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Formatters can structure and aggregate data in an organized way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UI Actions run scripts 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Related lists display records from related tables </a:t>
            </a:r>
          </a:p>
        </p:txBody>
      </p:sp>
    </p:spTree>
    <p:extLst>
      <p:ext uri="{BB962C8B-B14F-4D97-AF65-F5344CB8AC3E}">
        <p14:creationId xmlns:p14="http://schemas.microsoft.com/office/powerpoint/2010/main" val="33004614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664ED-22BC-BBBE-CDFD-941264814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7E1071-3BCD-6965-3568-6ECCA9305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86" y="2069518"/>
            <a:ext cx="4824526" cy="2169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E961B2-AE83-5D73-16B2-027DE5552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86" y="4338918"/>
            <a:ext cx="5553932" cy="20887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BE0374-6330-8D60-E634-4132A2A11D2F}"/>
              </a:ext>
            </a:extLst>
          </p:cNvPr>
          <p:cNvSpPr txBox="1"/>
          <p:nvPr/>
        </p:nvSpPr>
        <p:spPr>
          <a:xfrm>
            <a:off x="6716078" y="2069518"/>
            <a:ext cx="489473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2"/>
                </a:solidFill>
              </a:rPr>
              <a:t>Activity formatter</a:t>
            </a:r>
            <a:r>
              <a:rPr lang="en-US" sz="1600" dirty="0"/>
              <a:t>: Displays the list of activities, or history, on a task form. It provides an easy way to track items not saved with a field in the record, for example, journal fields like comments and work notes.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2"/>
                </a:solidFill>
              </a:rPr>
              <a:t>Process flow formatter</a:t>
            </a:r>
            <a:r>
              <a:rPr lang="en-US" sz="1600" dirty="0"/>
              <a:t>: Displays the different stages in a linear process flow across the top of a record (ex: problem records)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2"/>
                </a:solidFill>
              </a:rPr>
              <a:t>Parent breadcrumbs formatter</a:t>
            </a:r>
            <a:r>
              <a:rPr lang="en-US" sz="1600" dirty="0"/>
              <a:t>: Provides breadcrumbs to show the parent or parents of the current task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2"/>
                </a:solidFill>
              </a:rPr>
              <a:t>Approval summarizer formatter</a:t>
            </a:r>
            <a:r>
              <a:rPr lang="en-US" sz="1600" dirty="0"/>
              <a:t>: Displays dynamic summary information about the request being approved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2"/>
                </a:solidFill>
              </a:rPr>
              <a:t>CI relations formatter</a:t>
            </a:r>
            <a:r>
              <a:rPr lang="en-US" sz="1600" dirty="0"/>
              <a:t>: Displays on the CI form and allows for the viewing of relationships between the current CI and related CIs</a:t>
            </a:r>
          </a:p>
        </p:txBody>
      </p:sp>
    </p:spTree>
    <p:extLst>
      <p:ext uri="{BB962C8B-B14F-4D97-AF65-F5344CB8AC3E}">
        <p14:creationId xmlns:p14="http://schemas.microsoft.com/office/powerpoint/2010/main" val="40007150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DA4AE-FFAD-4900-B151-CB57B2EC7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7D9D9-6621-A295-90DA-4A67A418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33B436-30CE-BDAA-38AB-FB8A28971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242" y="2039051"/>
            <a:ext cx="9297515" cy="437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006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2D31B-617A-F970-5CDB-E9F66AE85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6E999-48F6-A000-AEBE-F919CC06A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844805"/>
          </a:xfrm>
        </p:spPr>
        <p:txBody>
          <a:bodyPr/>
          <a:lstStyle/>
          <a:p>
            <a:r>
              <a:rPr lang="en-US" dirty="0"/>
              <a:t>With Form Builder we can create new fields, edit fields,  and remove fields</a:t>
            </a:r>
          </a:p>
          <a:p>
            <a:r>
              <a:rPr lang="en-US" dirty="0"/>
              <a:t>We can conditionally hide fields with a UI Policy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6E5A31-CAF1-D8B0-CE17-98E46C99E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250" y="3142031"/>
            <a:ext cx="9477497" cy="349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245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C80E2-626B-671B-B5EC-1A4DD3ECE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Conditionally Render a Field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A9AC0A-3AF5-5F0D-4288-21DF57442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106" y="2245209"/>
            <a:ext cx="6546777" cy="1546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65C839-7A4E-64D6-AC18-960EE4373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106" y="4320988"/>
            <a:ext cx="6290896" cy="21296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D3D860-999B-8CC6-6EF1-E64DBAA50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61" y="3550025"/>
            <a:ext cx="3742769" cy="119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382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A9835-C13D-CA04-F29A-7C633A50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7B966-0F0F-3802-7C0D-AC72148E3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0DA5E-ADFE-AF78-4F9E-A375F8BEC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691484"/>
            <a:ext cx="5192079" cy="214945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 caller of an incident refers to the one who submitted it. Display the name of the company the caller works for on the incident form.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 field should display under the ‘Caller’ field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 field should only display if the ‘State’ of the incident is ‘New’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52E06F-A640-9686-9EEE-47DF7AE40625}"/>
              </a:ext>
            </a:extLst>
          </p:cNvPr>
          <p:cNvSpPr txBox="1">
            <a:spLocks/>
          </p:cNvSpPr>
          <p:nvPr/>
        </p:nvSpPr>
        <p:spPr>
          <a:xfrm>
            <a:off x="903921" y="2628731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Conditionally render a field</a:t>
            </a:r>
          </a:p>
        </p:txBody>
      </p:sp>
    </p:spTree>
    <p:extLst>
      <p:ext uri="{BB962C8B-B14F-4D97-AF65-F5344CB8AC3E}">
        <p14:creationId xmlns:p14="http://schemas.microsoft.com/office/powerpoint/2010/main" val="3616956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21072-7AD4-F93E-B814-740214C97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Related Lists From Context Menu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E5DC65-5973-D6CD-21F0-736724B6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813" y="2826406"/>
            <a:ext cx="6278374" cy="193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932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90DF5-5AB9-EB21-D3C3-92CB75AE4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E57DF-E6B4-AF43-F893-9CE0E2BD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CE763-D8B1-1EA6-F2C5-DA1C30F37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691485"/>
            <a:ext cx="5192079" cy="10828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For the ‘Major Incident’ view, add the Affected CIs related list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BBD45A-27BC-06F3-11B0-0D3F755DB1F7}"/>
              </a:ext>
            </a:extLst>
          </p:cNvPr>
          <p:cNvSpPr txBox="1">
            <a:spLocks/>
          </p:cNvSpPr>
          <p:nvPr/>
        </p:nvSpPr>
        <p:spPr>
          <a:xfrm>
            <a:off x="903921" y="2628731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Add a related list</a:t>
            </a:r>
          </a:p>
        </p:txBody>
      </p:sp>
    </p:spTree>
    <p:extLst>
      <p:ext uri="{BB962C8B-B14F-4D97-AF65-F5344CB8AC3E}">
        <p14:creationId xmlns:p14="http://schemas.microsoft.com/office/powerpoint/2010/main" val="19359290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67A3B-24B8-0E36-CABE-BBE58537F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A8B63-0CEA-D958-AEF4-9D8E66B9B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247" y="5467171"/>
            <a:ext cx="9353817" cy="1124692"/>
          </a:xfrm>
        </p:spPr>
        <p:txBody>
          <a:bodyPr>
            <a:noAutofit/>
          </a:bodyPr>
          <a:lstStyle/>
          <a:p>
            <a:r>
              <a:rPr lang="en-US" dirty="0"/>
              <a:t>Fields are stored as ‘Dictionary Entries’ on the [</a:t>
            </a:r>
            <a:r>
              <a:rPr lang="en-US" dirty="0" err="1"/>
              <a:t>sys_dictionary</a:t>
            </a:r>
            <a:r>
              <a:rPr lang="en-US" dirty="0"/>
              <a:t>] table</a:t>
            </a:r>
          </a:p>
          <a:p>
            <a:r>
              <a:rPr lang="en-US" dirty="0"/>
              <a:t>There are over 30 field types </a:t>
            </a:r>
          </a:p>
          <a:p>
            <a:r>
              <a:rPr lang="en-US" dirty="0"/>
              <a:t>https://www.servicenow.com/docs/bundle/zurich-platform-administration/page/administer/reference-pages/reference/r_FieldTypes.html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3483D8-FEFA-AE5F-1D34-AC8249F3C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32" y="2017199"/>
            <a:ext cx="10716735" cy="333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266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29A01-D4CD-E772-65EB-5CFF5C89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New Fields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081133-718E-6A69-070F-B4AEB0795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371" y="2095875"/>
            <a:ext cx="7960359" cy="43687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139C00-3884-1EA2-72A7-40DCB26C97A0}"/>
              </a:ext>
            </a:extLst>
          </p:cNvPr>
          <p:cNvSpPr txBox="1"/>
          <p:nvPr/>
        </p:nvSpPr>
        <p:spPr>
          <a:xfrm>
            <a:off x="414558" y="2217279"/>
            <a:ext cx="34698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Custom fields we add will have a column name that starts with ‘u_’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Column Name: </a:t>
            </a:r>
            <a:r>
              <a:rPr lang="en-US" dirty="0" err="1"/>
              <a:t>u_root_cause_analysis</a:t>
            </a:r>
            <a:r>
              <a:rPr lang="en-US" dirty="0"/>
              <a:t> 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Column Field: Root Cause Analysis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Clr>
                <a:schemeClr val="accent2"/>
              </a:buClr>
            </a:pPr>
            <a:r>
              <a:rPr lang="en-US" dirty="0">
                <a:solidFill>
                  <a:schemeClr val="accent2"/>
                </a:solidFill>
              </a:rPr>
              <a:t>BEST PRACTICE</a:t>
            </a:r>
            <a:r>
              <a:rPr lang="en-US" dirty="0"/>
              <a:t>: Remember to never place the same field in multiple sections on a form.</a:t>
            </a:r>
          </a:p>
        </p:txBody>
      </p:sp>
    </p:spTree>
    <p:extLst>
      <p:ext uri="{BB962C8B-B14F-4D97-AF65-F5344CB8AC3E}">
        <p14:creationId xmlns:p14="http://schemas.microsoft.com/office/powerpoint/2010/main" val="8799056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EE0C9-16E6-0337-37BB-20DB2B5D0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Journal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A930B-7A71-409D-CBED-07E65FD16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192" y="2266700"/>
            <a:ext cx="8799616" cy="13874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journal input data type doesn’t store a permanent value to its input field. Instead, each saved value gets saved to the [</a:t>
            </a:r>
            <a:r>
              <a:rPr lang="en-US" dirty="0" err="1"/>
              <a:t>sys_journal_field</a:t>
            </a:r>
            <a:r>
              <a:rPr lang="en-US" dirty="0"/>
              <a:t>] table</a:t>
            </a:r>
          </a:p>
          <a:p>
            <a:r>
              <a:rPr lang="en-US" dirty="0"/>
              <a:t>The is how work notes and comments work </a:t>
            </a:r>
          </a:p>
          <a:p>
            <a:r>
              <a:rPr lang="en-US" dirty="0"/>
              <a:t>Items display in the activity stream, but you may need to update the filter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E1C6F9-FA77-8911-3F1F-4F9F383D8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34" y="4204902"/>
            <a:ext cx="10936941" cy="154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0534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608EB-4BEB-39EE-D453-24FF381D1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0ACC9-BAC7-0635-1EFC-B05D2B24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B4F14-1F59-FD72-D800-224837EF4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691484"/>
            <a:ext cx="5192079" cy="21994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Add a new field called: ‘Root Cause Analysis’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Make sure it appears in the ‘Default’ incident view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 field type should be ‘Journal Input’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Place it next to your ‘Work Notes’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4FB733-C471-FFAF-523E-0B97E7B47D3E}"/>
              </a:ext>
            </a:extLst>
          </p:cNvPr>
          <p:cNvSpPr txBox="1">
            <a:spLocks/>
          </p:cNvSpPr>
          <p:nvPr/>
        </p:nvSpPr>
        <p:spPr>
          <a:xfrm>
            <a:off x="903921" y="2628731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field</a:t>
            </a:r>
          </a:p>
        </p:txBody>
      </p:sp>
    </p:spTree>
    <p:extLst>
      <p:ext uri="{BB962C8B-B14F-4D97-AF65-F5344CB8AC3E}">
        <p14:creationId xmlns:p14="http://schemas.microsoft.com/office/powerpoint/2010/main" val="10160034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6352-E67C-418B-7CAA-8978D166E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Personalize Forms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B020A-A386-7B86-6ECB-0CC28130C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18" y="2048270"/>
            <a:ext cx="10416363" cy="391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420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A78F0-A340-7604-6694-0C38D3867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Templates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2C06F-7403-FF7F-87CC-D8BB65435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82" y="2239611"/>
            <a:ext cx="9269507" cy="43699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3B4778-593B-9349-75EE-7670185389B8}"/>
              </a:ext>
            </a:extLst>
          </p:cNvPr>
          <p:cNvSpPr txBox="1"/>
          <p:nvPr/>
        </p:nvSpPr>
        <p:spPr>
          <a:xfrm>
            <a:off x="168349" y="1901057"/>
            <a:ext cx="11663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BEST PRACTICE</a:t>
            </a:r>
            <a:r>
              <a:rPr lang="en-US" sz="1600" dirty="0"/>
              <a:t>:  Take care with templates and who has access to create them. They can set fields that users may not have access to. </a:t>
            </a:r>
          </a:p>
        </p:txBody>
      </p:sp>
    </p:spTree>
    <p:extLst>
      <p:ext uri="{BB962C8B-B14F-4D97-AF65-F5344CB8AC3E}">
        <p14:creationId xmlns:p14="http://schemas.microsoft.com/office/powerpoint/2010/main" val="21296430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24D97-BC29-28ED-5FFC-18526C34E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C009-59AB-931D-CDCE-205AC5835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140DA-6E39-34F5-26F3-DC77A7401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691485"/>
            <a:ext cx="5192079" cy="1200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Edit the ‘Major Incident’ form template so that the Assignment Group field is set to ‘ITSM Agents’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40749B-7410-805F-46CF-6EE8628D34B2}"/>
              </a:ext>
            </a:extLst>
          </p:cNvPr>
          <p:cNvSpPr txBox="1">
            <a:spLocks/>
          </p:cNvSpPr>
          <p:nvPr/>
        </p:nvSpPr>
        <p:spPr>
          <a:xfrm>
            <a:off x="903921" y="2628731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Edit a form template</a:t>
            </a:r>
          </a:p>
        </p:txBody>
      </p:sp>
    </p:spTree>
    <p:extLst>
      <p:ext uri="{BB962C8B-B14F-4D97-AF65-F5344CB8AC3E}">
        <p14:creationId xmlns:p14="http://schemas.microsoft.com/office/powerpoint/2010/main" val="25387457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8EDF-4091-B382-B43A-5226B70C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36E5D5-F7B9-BB92-DB68-0BB92ACA4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428" y="2572067"/>
            <a:ext cx="9045144" cy="38428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D38997-C869-281A-9537-B49CB739D771}"/>
              </a:ext>
            </a:extLst>
          </p:cNvPr>
          <p:cNvSpPr txBox="1"/>
          <p:nvPr/>
        </p:nvSpPr>
        <p:spPr>
          <a:xfrm>
            <a:off x="2197497" y="2034988"/>
            <a:ext cx="7797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Anyone with the ‘admin’ or ‘</a:t>
            </a:r>
            <a:r>
              <a:rPr lang="en-US" dirty="0" err="1"/>
              <a:t>personalize_list</a:t>
            </a:r>
            <a:r>
              <a:rPr lang="en-US" dirty="0"/>
              <a:t>’ role may create list filters used by all</a:t>
            </a:r>
          </a:p>
        </p:txBody>
      </p:sp>
    </p:spTree>
    <p:extLst>
      <p:ext uri="{BB962C8B-B14F-4D97-AF65-F5344CB8AC3E}">
        <p14:creationId xmlns:p14="http://schemas.microsoft.com/office/powerpoint/2010/main" val="33399156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6590D-8D49-138B-1E1A-0759A58E6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Edit Lists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657ACF-1DDD-D3F1-3439-C03CE84B9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33" y="3443232"/>
            <a:ext cx="5765820" cy="2433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97680D-0809-701E-160C-D9B491387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576" y="3566685"/>
            <a:ext cx="5102009" cy="21865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F00515-CBFD-4A5C-E62D-9E643247AB9B}"/>
              </a:ext>
            </a:extLst>
          </p:cNvPr>
          <p:cNvSpPr txBox="1"/>
          <p:nvPr/>
        </p:nvSpPr>
        <p:spPr>
          <a:xfrm>
            <a:off x="2762780" y="2394928"/>
            <a:ext cx="6666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list editor is the quickest way to edit a field on multiple records</a:t>
            </a:r>
          </a:p>
        </p:txBody>
      </p:sp>
    </p:spTree>
    <p:extLst>
      <p:ext uri="{BB962C8B-B14F-4D97-AF65-F5344CB8AC3E}">
        <p14:creationId xmlns:p14="http://schemas.microsoft.com/office/powerpoint/2010/main" val="2626795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80B8A-4113-F8EB-056B-B5D5CBD9B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Personalize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A4C91-B166-408D-A6ED-3BA2EAA9A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062526" cy="3678303"/>
          </a:xfrm>
        </p:spPr>
        <p:txBody>
          <a:bodyPr/>
          <a:lstStyle/>
          <a:p>
            <a:r>
              <a:rPr lang="en-US" dirty="0"/>
              <a:t>When you personalize a list, it is only active for you</a:t>
            </a:r>
          </a:p>
          <a:p>
            <a:r>
              <a:rPr lang="en-US" dirty="0"/>
              <a:t>If changes are made to the global list layout, then you wouldn’t see it unless you revert to default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3700B-68B9-1F44-448C-108C21058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211" y="2014169"/>
            <a:ext cx="7253541" cy="374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6424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242F3-B723-C63E-AF91-C831C9840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A0C9A-DB69-F506-EC5C-4F84BA4D3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3605325" cy="3678303"/>
          </a:xfrm>
        </p:spPr>
        <p:txBody>
          <a:bodyPr/>
          <a:lstStyle/>
          <a:p>
            <a:r>
              <a:rPr lang="en-US" dirty="0"/>
              <a:t>Anyone with the ‘admin’ or ‘</a:t>
            </a:r>
            <a:r>
              <a:rPr lang="en-US" dirty="0" err="1"/>
              <a:t>tags_admin</a:t>
            </a:r>
            <a:r>
              <a:rPr lang="en-US" dirty="0"/>
              <a:t>’ role can make tags that everyone can see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2178B6-6E70-BD2B-4CA5-30C8FA27A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882" y="2180496"/>
            <a:ext cx="7097230" cy="370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7925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C6D82-8427-28C3-69BD-4D8520B37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2D0A2-3B91-4B01-BB52-4D68881D1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01A36-EDDF-FD85-71D1-1598A1617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754237"/>
            <a:ext cx="5192079" cy="19432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tag for incident records called ‘Needs Follow-Up’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filter usable by all that filters incident records to only show incidents that need a follow-up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47B38B-1AE2-C012-547C-903B6E7729F6}"/>
              </a:ext>
            </a:extLst>
          </p:cNvPr>
          <p:cNvSpPr txBox="1">
            <a:spLocks/>
          </p:cNvSpPr>
          <p:nvPr/>
        </p:nvSpPr>
        <p:spPr>
          <a:xfrm>
            <a:off x="903921" y="2628731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tag and filter</a:t>
            </a:r>
          </a:p>
        </p:txBody>
      </p:sp>
    </p:spTree>
    <p:extLst>
      <p:ext uri="{BB962C8B-B14F-4D97-AF65-F5344CB8AC3E}">
        <p14:creationId xmlns:p14="http://schemas.microsoft.com/office/powerpoint/2010/main" val="30375176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23B80-FDD7-6A72-7593-B3EF0AD56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Application Menus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26470-103E-7B74-EBAD-2DF28A8B3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54" y="2452195"/>
            <a:ext cx="5068007" cy="3029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774CC4-1A84-E3C7-3453-00AE9B537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461" y="2659036"/>
            <a:ext cx="6580094" cy="261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9611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9971-8CD7-B550-D7A2-E612930D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Modules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72F059-B3BF-1166-AFCF-CBA75F466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469314"/>
            <a:ext cx="5495277" cy="3686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041182-83FD-5108-4ABD-EFC6E32E6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956" y="1950543"/>
            <a:ext cx="6633852" cy="348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109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EC25A-502C-74BD-0AB9-8654006AD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0978A-D54D-D338-AEBE-9CE834119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AA4C8-3023-FA73-18A3-76B93AB79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754237"/>
            <a:ext cx="5192079" cy="19432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an application menu called ‘ITSM Agent Center’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module in the ‘ITSM Agen Center’ that displays all incidents that have a critical priority and high impact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0753B7-87FD-E083-C175-E922499C05CE}"/>
              </a:ext>
            </a:extLst>
          </p:cNvPr>
          <p:cNvSpPr txBox="1">
            <a:spLocks/>
          </p:cNvSpPr>
          <p:nvPr/>
        </p:nvSpPr>
        <p:spPr>
          <a:xfrm>
            <a:off x="903921" y="2628731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an application menu and module</a:t>
            </a:r>
          </a:p>
        </p:txBody>
      </p:sp>
    </p:spTree>
    <p:extLst>
      <p:ext uri="{BB962C8B-B14F-4D97-AF65-F5344CB8AC3E}">
        <p14:creationId xmlns:p14="http://schemas.microsoft.com/office/powerpoint/2010/main" val="2499169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7E63B-06AE-4E94-F54D-02C34784A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Choice lists &amp; Choice List Dependency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877FD-9A86-ACFA-69DE-023B753A2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073" y="1874586"/>
            <a:ext cx="7725853" cy="22482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13F7A0-CA1E-FFFF-CFA0-177921B63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664" y="4281430"/>
            <a:ext cx="4015360" cy="23218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EB5E8F-05D3-21E8-CF6E-DDBC6FA26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967" y="4432568"/>
            <a:ext cx="5039428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257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2F07C-D75B-0EBE-861F-DF6C1BA2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F5F09-F50F-7EF9-F468-F7CD8EF6B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475" y="2341860"/>
            <a:ext cx="4707984" cy="3678303"/>
          </a:xfrm>
        </p:spPr>
        <p:txBody>
          <a:bodyPr/>
          <a:lstStyle/>
          <a:p>
            <a:r>
              <a:rPr lang="en-US" dirty="0"/>
              <a:t>Choices are on the [</a:t>
            </a:r>
            <a:r>
              <a:rPr lang="en-US" dirty="0" err="1"/>
              <a:t>sys_choice</a:t>
            </a:r>
            <a:r>
              <a:rPr lang="en-US" dirty="0"/>
              <a:t>] table</a:t>
            </a:r>
          </a:p>
          <a:p>
            <a:r>
              <a:rPr lang="en-US" dirty="0"/>
              <a:t>You can manage choices there or right click on a choice list from a form to ‘Show Choice List’ or ‘Configure Choices’</a:t>
            </a:r>
          </a:p>
          <a:p>
            <a:r>
              <a:rPr lang="en-US" dirty="0"/>
              <a:t>Show – takes you to the list of choice records</a:t>
            </a:r>
          </a:p>
          <a:p>
            <a:r>
              <a:rPr lang="en-US" dirty="0"/>
              <a:t>Configure – takes you to edit the options directly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CD8251-E1EF-936E-D92B-C38582954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529" y="2254389"/>
            <a:ext cx="3781953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9933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B3255-C99A-83E6-3DB3-D8AB25D2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D2310-43E6-0A91-A553-E740D7EC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2610D-A881-9B25-8DF3-2EF526878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754237"/>
            <a:ext cx="5192079" cy="19432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choice for the subcategory field called ‘General Question’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 new choice should be dependent on ‘Category’ and only display if ‘Category’ is set to ‘Inquiry’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08F2F3-1661-4535-49E6-32DF7C831118}"/>
              </a:ext>
            </a:extLst>
          </p:cNvPr>
          <p:cNvSpPr txBox="1">
            <a:spLocks/>
          </p:cNvSpPr>
          <p:nvPr/>
        </p:nvSpPr>
        <p:spPr>
          <a:xfrm>
            <a:off x="903921" y="2628731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Add a new choice</a:t>
            </a:r>
          </a:p>
        </p:txBody>
      </p:sp>
    </p:spTree>
    <p:extLst>
      <p:ext uri="{BB962C8B-B14F-4D97-AF65-F5344CB8AC3E}">
        <p14:creationId xmlns:p14="http://schemas.microsoft.com/office/powerpoint/2010/main" val="11937314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3485</TotalTime>
  <Words>2151</Words>
  <Application>Microsoft Office PowerPoint</Application>
  <PresentationFormat>Widescreen</PresentationFormat>
  <Paragraphs>246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Gill Sans MT</vt:lpstr>
      <vt:lpstr>Wingdings</vt:lpstr>
      <vt:lpstr>Wingdings 2</vt:lpstr>
      <vt:lpstr>Dividend</vt:lpstr>
      <vt:lpstr>Basics</vt:lpstr>
      <vt:lpstr>CSA</vt:lpstr>
      <vt:lpstr>Instance</vt:lpstr>
      <vt:lpstr>Updates</vt:lpstr>
      <vt:lpstr>Configuration vs Customization</vt:lpstr>
      <vt:lpstr>How Users Interact with ServiceNow</vt:lpstr>
      <vt:lpstr>App Engine Studio &amp; Creator Studio</vt:lpstr>
      <vt:lpstr>To Further Complicate Matters…</vt:lpstr>
      <vt:lpstr>The Next Experience UI</vt:lpstr>
      <vt:lpstr>Common User Interfaces</vt:lpstr>
      <vt:lpstr>Common User Interfaces</vt:lpstr>
      <vt:lpstr>ServiceNow Architecture</vt:lpstr>
      <vt:lpstr>Personas</vt:lpstr>
      <vt:lpstr>Applications &amp; Modules</vt:lpstr>
      <vt:lpstr>Users &amp; Groups</vt:lpstr>
      <vt:lpstr>When Saving Records</vt:lpstr>
      <vt:lpstr>Challenge</vt:lpstr>
      <vt:lpstr>User Impersonation</vt:lpstr>
      <vt:lpstr>Roles</vt:lpstr>
      <vt:lpstr>Challenge</vt:lpstr>
      <vt:lpstr>Customize the Logo</vt:lpstr>
      <vt:lpstr>More Customizations</vt:lpstr>
      <vt:lpstr>Challenge</vt:lpstr>
      <vt:lpstr>Lists, Records, &amp; Fields</vt:lpstr>
      <vt:lpstr>Context Menus</vt:lpstr>
      <vt:lpstr>List Views</vt:lpstr>
      <vt:lpstr>List Layout</vt:lpstr>
      <vt:lpstr>Dot-Walking</vt:lpstr>
      <vt:lpstr>Challenge</vt:lpstr>
      <vt:lpstr>Form Layout &amp; Form Builder</vt:lpstr>
      <vt:lpstr>Anatomy Of a Form</vt:lpstr>
      <vt:lpstr>Formatters</vt:lpstr>
      <vt:lpstr>Form Layout</vt:lpstr>
      <vt:lpstr>Form Builder</vt:lpstr>
      <vt:lpstr>Conditionally Render a Field</vt:lpstr>
      <vt:lpstr>Challenge</vt:lpstr>
      <vt:lpstr>Configure Related Lists From Context Menu</vt:lpstr>
      <vt:lpstr>Challenge</vt:lpstr>
      <vt:lpstr>Field Types</vt:lpstr>
      <vt:lpstr>Adding New Fields</vt:lpstr>
      <vt:lpstr>Journal Input</vt:lpstr>
      <vt:lpstr>Challenge</vt:lpstr>
      <vt:lpstr>Personalize Forms</vt:lpstr>
      <vt:lpstr>Form Templates</vt:lpstr>
      <vt:lpstr>Challenge</vt:lpstr>
      <vt:lpstr>Filters</vt:lpstr>
      <vt:lpstr>Inline Edit Lists</vt:lpstr>
      <vt:lpstr>Personalize Lists</vt:lpstr>
      <vt:lpstr>Tags</vt:lpstr>
      <vt:lpstr>Challenge</vt:lpstr>
      <vt:lpstr>Create Application Menus</vt:lpstr>
      <vt:lpstr>Create Modules</vt:lpstr>
      <vt:lpstr>Challenge</vt:lpstr>
      <vt:lpstr>Choice lists &amp; Choice List Dependency</vt:lpstr>
      <vt:lpstr>Adding Choices</vt:lpstr>
      <vt:lpstr>Challenge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598</cp:revision>
  <dcterms:created xsi:type="dcterms:W3CDTF">2025-02-12T19:53:45Z</dcterms:created>
  <dcterms:modified xsi:type="dcterms:W3CDTF">2025-10-08T15:48:50Z</dcterms:modified>
</cp:coreProperties>
</file>