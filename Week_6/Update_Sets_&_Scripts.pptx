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3"/>
  </p:notesMasterIdLst>
  <p:sldIdLst>
    <p:sldId id="256" r:id="rId2"/>
    <p:sldId id="381" r:id="rId3"/>
    <p:sldId id="382" r:id="rId4"/>
    <p:sldId id="383" r:id="rId5"/>
    <p:sldId id="384" r:id="rId6"/>
    <p:sldId id="388" r:id="rId7"/>
    <p:sldId id="390" r:id="rId8"/>
    <p:sldId id="385" r:id="rId9"/>
    <p:sldId id="389" r:id="rId10"/>
    <p:sldId id="392" r:id="rId11"/>
    <p:sldId id="386" r:id="rId12"/>
    <p:sldId id="391" r:id="rId13"/>
    <p:sldId id="387" r:id="rId14"/>
    <p:sldId id="378" r:id="rId15"/>
    <p:sldId id="393" r:id="rId16"/>
    <p:sldId id="379" r:id="rId17"/>
    <p:sldId id="396" r:id="rId18"/>
    <p:sldId id="394" r:id="rId19"/>
    <p:sldId id="395" r:id="rId20"/>
    <p:sldId id="397" r:id="rId21"/>
    <p:sldId id="403" r:id="rId22"/>
    <p:sldId id="400" r:id="rId23"/>
    <p:sldId id="398" r:id="rId24"/>
    <p:sldId id="404" r:id="rId25"/>
    <p:sldId id="401" r:id="rId26"/>
    <p:sldId id="405" r:id="rId27"/>
    <p:sldId id="399" r:id="rId28"/>
    <p:sldId id="406" r:id="rId29"/>
    <p:sldId id="402" r:id="rId30"/>
    <p:sldId id="407" r:id="rId31"/>
    <p:sldId id="408" r:id="rId32"/>
    <p:sldId id="409" r:id="rId33"/>
    <p:sldId id="411" r:id="rId34"/>
    <p:sldId id="410" r:id="rId35"/>
    <p:sldId id="415" r:id="rId36"/>
    <p:sldId id="412" r:id="rId37"/>
    <p:sldId id="413" r:id="rId38"/>
    <p:sldId id="414" r:id="rId39"/>
    <p:sldId id="416" r:id="rId40"/>
    <p:sldId id="418" r:id="rId41"/>
    <p:sldId id="41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98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98E6B-5512-4D00-9EFB-A374F8285899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40E7-12E1-4E9C-B024-3505840C3D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06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Policy = because the tool’s main purpose is to make fields required, read-only, or mandatory, and it does that job well without needing any code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51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3A9C-A605-C8F9-0217-60C1FF3C3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45A4F-3B01-EE47-A9CB-783E2BF58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C79AB-349A-964F-0018-453CE14D7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rule = we can do this without scripts at all using a business rule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13AED-923D-8947-ECED-07CA2DCAD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C040E7-12E1-4E9C-B024-3505840C3DA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82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rvicenow.com/docs/bundle/zurich-api-reference/page/script/general-scripting/reference/r_ExecutionOrderScriptsAndEngines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Migration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F734-654C-7112-40EE-78606FBC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Scopes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4CF730-AADF-4C91-7E14-7BD4BEC5D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211" y="1944590"/>
            <a:ext cx="8797577" cy="461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6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FADB-004E-B097-0D7F-DC386A51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Update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F0CE3-0C60-F119-BB11-306885229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37" y="1963271"/>
            <a:ext cx="10704525" cy="4545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749947-387D-1779-209C-AA246134F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899" y="2289873"/>
            <a:ext cx="167663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1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CB13-E80A-C40B-B536-7F2352F1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Captured in an update Set?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97E4E-D83F-C116-847D-4D9A95B55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27507"/>
            <a:ext cx="9143999" cy="496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64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9C6C-3C16-CB57-1E17-38D742948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&amp; Select an Update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BA2AE-45A7-8EB2-44ED-19158D97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19" y="2582072"/>
            <a:ext cx="9539961" cy="4111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F5B194-2C6F-0BF8-00DD-F54F6399383B}"/>
              </a:ext>
            </a:extLst>
          </p:cNvPr>
          <p:cNvSpPr txBox="1"/>
          <p:nvPr/>
        </p:nvSpPr>
        <p:spPr>
          <a:xfrm>
            <a:off x="663388" y="1864660"/>
            <a:ext cx="63720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BEST PRACTICE: </a:t>
            </a:r>
            <a:r>
              <a:rPr lang="en-US" dirty="0"/>
              <a:t>Follow your organizations naming convention! </a:t>
            </a:r>
          </a:p>
          <a:p>
            <a:pPr algn="ctr"/>
            <a:r>
              <a:rPr lang="en-US" dirty="0"/>
              <a:t>One common example: Story Number + Description + Username</a:t>
            </a:r>
            <a:br>
              <a:rPr lang="en-US" dirty="0"/>
            </a:br>
            <a:r>
              <a:rPr lang="en-US" dirty="0"/>
              <a:t>STRY00123_IncidentNewFIelds_EWIL</a:t>
            </a:r>
          </a:p>
        </p:txBody>
      </p:sp>
    </p:spTree>
    <p:extLst>
      <p:ext uri="{BB962C8B-B14F-4D97-AF65-F5344CB8AC3E}">
        <p14:creationId xmlns:p14="http://schemas.microsoft.com/office/powerpoint/2010/main" val="326127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EC0C-C2D1-1471-8882-4BD8A6B76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Set Picker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1A35-E203-3EC1-6ABA-E29384776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181114" cy="3678303"/>
          </a:xfrm>
        </p:spPr>
        <p:txBody>
          <a:bodyPr/>
          <a:lstStyle/>
          <a:p>
            <a:r>
              <a:rPr lang="en-US" dirty="0"/>
              <a:t>We can also use the update set picker to:</a:t>
            </a:r>
          </a:p>
          <a:p>
            <a:pPr lvl="1"/>
            <a:r>
              <a:rPr lang="en-US" dirty="0"/>
              <a:t>Create a new update set quickly</a:t>
            </a:r>
          </a:p>
          <a:p>
            <a:pPr lvl="1"/>
            <a:r>
              <a:rPr lang="en-US" dirty="0"/>
              <a:t>View the current update set record</a:t>
            </a:r>
          </a:p>
          <a:p>
            <a:pPr lvl="1"/>
            <a:r>
              <a:rPr lang="en-US" dirty="0"/>
              <a:t>Or view the list of all local update sets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9175DE-8141-9867-FADC-0F994458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027" y="3047961"/>
            <a:ext cx="3096057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6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1DE0-2327-E9D0-D11C-1481A271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1E87-4202-994E-4C59-6F4CA19F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697D-DC84-0276-8913-8F4F7F53E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3599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new Update Set on the global app scope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Name it: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STRY001_IncidentNewFIeld_YOURNAME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Ensure you are on the global app scope and have your update set selected, then create a new True/False field on Incident forms called ‘Partner Customer’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42E3E4-0F59-B891-04DE-D0A6BCAFB1DC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Update Set</a:t>
            </a:r>
          </a:p>
        </p:txBody>
      </p:sp>
    </p:spTree>
    <p:extLst>
      <p:ext uri="{BB962C8B-B14F-4D97-AF65-F5344CB8AC3E}">
        <p14:creationId xmlns:p14="http://schemas.microsoft.com/office/powerpoint/2010/main" val="99958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48C5-5F54-0ECF-4E1A-A8891494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 an Update Set Complete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DDCEDF-ECC5-E437-99C1-755F67E4D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65" y="2058205"/>
            <a:ext cx="10472069" cy="441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4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5DC7-061C-4790-06B9-9C35CC26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9F04C-0A80-327B-27A8-1D6A0928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623664" cy="3975348"/>
          </a:xfrm>
        </p:spPr>
        <p:txBody>
          <a:bodyPr>
            <a:normAutofit/>
          </a:bodyPr>
          <a:lstStyle/>
          <a:p>
            <a:r>
              <a:rPr lang="en-US" dirty="0"/>
              <a:t>NEVER mark the ‘Default’ Update Set as complete</a:t>
            </a:r>
          </a:p>
          <a:p>
            <a:pPr lvl="1"/>
            <a:r>
              <a:rPr lang="en-US" dirty="0"/>
              <a:t>This Update Set is a ‘catch-all’ that collects stray updates</a:t>
            </a:r>
          </a:p>
          <a:p>
            <a:r>
              <a:rPr lang="en-US" dirty="0"/>
              <a:t>We should ALWAYS use a NAMED Update Set to catch configuration changes </a:t>
            </a:r>
          </a:p>
          <a:p>
            <a:pPr lvl="1"/>
            <a:r>
              <a:rPr lang="en-US" dirty="0"/>
              <a:t>If some configurations are in ‘Default’ by mistake, we can manually move ‘Customer Updates’ to a new Update Set</a:t>
            </a:r>
          </a:p>
          <a:p>
            <a:r>
              <a:rPr lang="en-US" dirty="0"/>
              <a:t>NEVER revert an Update Set from ‘Complete’ back to ‘In Progress’</a:t>
            </a:r>
          </a:p>
          <a:p>
            <a:pPr lvl="1"/>
            <a:r>
              <a:rPr lang="en-US" dirty="0"/>
              <a:t>If more customizations are required, we should create a new Update Set, make our changes there, and then commit them in the order they were created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F780B4-A8A6-B7CE-19C5-4A758D793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273" y="2180496"/>
            <a:ext cx="5373919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61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2049-7798-F0AD-CD6B-24D5AEFE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 as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5683-5131-9C90-6311-4B6ACC806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678303"/>
          </a:xfrm>
        </p:spPr>
        <p:txBody>
          <a:bodyPr/>
          <a:lstStyle/>
          <a:p>
            <a:r>
              <a:rPr lang="en-US" dirty="0"/>
              <a:t>Once an Update Set is complete:</a:t>
            </a:r>
          </a:p>
          <a:p>
            <a:pPr lvl="1"/>
            <a:r>
              <a:rPr lang="en-US" dirty="0"/>
              <a:t>We can export our set as an XML file</a:t>
            </a:r>
          </a:p>
          <a:p>
            <a:pPr lvl="1"/>
            <a:r>
              <a:rPr lang="en-US" dirty="0"/>
              <a:t>This allows us to manually use the file to bring our customizations into another instance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09CF61-D8B8-0F94-0964-69EBD5267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356" y="3147141"/>
            <a:ext cx="2732914" cy="109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9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3B46-1E91-3B34-1ADB-69E0EAF2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 an Update 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79D0E0-C749-6332-175B-BB7562F15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030" y="1862372"/>
            <a:ext cx="8695940" cy="42934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CA1E90-AEE8-1BA4-6FB4-B4474CDA12FB}"/>
              </a:ext>
            </a:extLst>
          </p:cNvPr>
          <p:cNvSpPr txBox="1"/>
          <p:nvPr/>
        </p:nvSpPr>
        <p:spPr>
          <a:xfrm>
            <a:off x="902430" y="6481481"/>
            <a:ext cx="103871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NOTE: </a:t>
            </a:r>
            <a:r>
              <a:rPr lang="en-US" sz="1400" dirty="0"/>
              <a:t>We can load older release update sets into newer releases, but loading newer sets into older releases needs testing for compatibility!</a:t>
            </a:r>
          </a:p>
        </p:txBody>
      </p:sp>
    </p:spTree>
    <p:extLst>
      <p:ext uri="{BB962C8B-B14F-4D97-AF65-F5344CB8AC3E}">
        <p14:creationId xmlns:p14="http://schemas.microsoft.com/office/powerpoint/2010/main" val="1877308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051D-F465-23D7-2A23-B679584E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E068-A777-A7E0-9114-85E56AD9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59B3D-377A-A0A7-86AD-4B8A1EE2B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700"/>
            <a:ext cx="5192079" cy="2102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Mark your Update Set created earlier as complete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Export your Update set as XML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Import your Update Set from XML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Preview your Update Set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D66C45-A2C1-5988-92D4-212E5640B75D}"/>
              </a:ext>
            </a:extLst>
          </p:cNvPr>
          <p:cNvSpPr txBox="1">
            <a:spLocks/>
          </p:cNvSpPr>
          <p:nvPr/>
        </p:nvSpPr>
        <p:spPr>
          <a:xfrm>
            <a:off x="903921" y="2289693"/>
            <a:ext cx="4869350" cy="1439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Practice applying Update Sets from XML</a:t>
            </a:r>
          </a:p>
          <a:p>
            <a:pPr marL="305435" indent="-305435"/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4528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B6BC3-D4AA-8B32-2346-F287673FB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from a Remote Instance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27690-E288-32AE-610A-DF483B3F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39" y="1912287"/>
            <a:ext cx="11716722" cy="447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7D0CA-F9AE-B516-2C0A-2E32C66D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A3AC-F63D-52E2-BB9C-6ACFF627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6976-544E-D66E-5CE1-3C91D93E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443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Pair up into groups of two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One of you choose to ‘send’ the Update Set and the other will ‘Retrieve’ it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Practice testing the remote connection and applying the update set between the two instances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78BB07-8A9D-0F81-F7D8-908F197B3356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Team up with a partner and remotely apply your update set</a:t>
            </a:r>
          </a:p>
        </p:txBody>
      </p:sp>
    </p:spTree>
    <p:extLst>
      <p:ext uri="{BB962C8B-B14F-4D97-AF65-F5344CB8AC3E}">
        <p14:creationId xmlns:p14="http://schemas.microsoft.com/office/powerpoint/2010/main" val="3144947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7F8EB-E5BD-9176-F1A9-1907743D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Update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96165-36DE-AA63-C878-0A3B88842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259749" cy="3678303"/>
          </a:xfrm>
        </p:spPr>
        <p:txBody>
          <a:bodyPr/>
          <a:lstStyle/>
          <a:p>
            <a:r>
              <a:rPr lang="en-US" dirty="0"/>
              <a:t>Merge two or more Update Sets into a third, brand-new set</a:t>
            </a:r>
          </a:p>
          <a:p>
            <a:r>
              <a:rPr lang="en-US" dirty="0"/>
              <a:t>All the ‘Customer Updates’ in merged sets are moved to the new merged set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63EAA-7D85-0B33-B822-5BBEB665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598" y="2047650"/>
            <a:ext cx="6471447" cy="436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2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ADF8-9237-D59E-A611-CD45B1380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9A77-41B9-3CA2-B3A7-575A53890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Scripts</a:t>
            </a:r>
          </a:p>
        </p:txBody>
      </p:sp>
    </p:spTree>
    <p:extLst>
      <p:ext uri="{BB962C8B-B14F-4D97-AF65-F5344CB8AC3E}">
        <p14:creationId xmlns:p14="http://schemas.microsoft.com/office/powerpoint/2010/main" val="2733756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E67C7-A556-09D7-328B-E99FF80A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scripting?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BDB41-6D42-D923-802A-AE6A4858B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94" y="1829307"/>
            <a:ext cx="10614212" cy="489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1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FC3F-7A9D-FB4D-7CC0-1BBB0053B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Scripts in ServiceNow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861267-DA7C-D525-1951-9326F198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06" y="1925872"/>
            <a:ext cx="10874188" cy="47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1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3CB6-26B1-DCDF-0383-8052F578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FE673-8CD6-F7B1-1B8C-6F81B4D29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55" y="1846671"/>
            <a:ext cx="10472290" cy="492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31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0F38-FBC5-3C3A-88B7-E0E19304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C51AC-EFC9-40C4-4865-2719C28F0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65" y="1803091"/>
            <a:ext cx="10192870" cy="491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35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3C76-C1BF-0979-E8F8-90E283C9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606F6-6186-E71D-F50D-7C770942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876" y="2335035"/>
            <a:ext cx="3868152" cy="20666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&gt; System UI &gt; UI Policies</a:t>
            </a:r>
          </a:p>
          <a:p>
            <a:r>
              <a:rPr lang="en-US" dirty="0"/>
              <a:t>Actions appear as a related list </a:t>
            </a:r>
          </a:p>
          <a:p>
            <a:r>
              <a:rPr lang="en-US" dirty="0"/>
              <a:t>Note we can also conditionally hide related lists</a:t>
            </a:r>
          </a:p>
          <a:p>
            <a:r>
              <a:rPr lang="en-US" dirty="0"/>
              <a:t>UI Policies are supported in Form Builder (everything except scripts/related list functionality)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4C79F3-6DBC-2D17-84C7-B17172049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473" y="2098858"/>
            <a:ext cx="7186335" cy="4392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BF2083-4027-C26C-2E38-9CECD17A7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33" y="4576409"/>
            <a:ext cx="2404060" cy="197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40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B16A8-45C4-F406-EFFC-4C872B22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95E8-091B-6613-21CE-3708A5BD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DF32-97B6-6F57-CD9D-FAE92B4AB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237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On the Capability form: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If the ‘Type’ field is set to ‘Full Stack’, then the string ‘Description’ field should be marked as mandatory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B81100-5B23-42E8-68B0-F086CF727A72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UI Policy</a:t>
            </a:r>
          </a:p>
        </p:txBody>
      </p:sp>
    </p:spTree>
    <p:extLst>
      <p:ext uri="{BB962C8B-B14F-4D97-AF65-F5344CB8AC3E}">
        <p14:creationId xmlns:p14="http://schemas.microsoft.com/office/powerpoint/2010/main" val="2917266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05A1-8D7E-82AA-D13D-20B980A5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BB0C5-A055-A459-72C4-788491271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23" y="1826199"/>
            <a:ext cx="10883153" cy="503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0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A628-EE7C-36F9-9683-063A4CF4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A6295-4089-6EBE-DD11-4C82E7290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8164"/>
            <a:ext cx="6651712" cy="1970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Note the option to force Data Policies to also behave as a UI Policy </a:t>
            </a:r>
          </a:p>
          <a:p>
            <a:r>
              <a:rPr lang="en-US" dirty="0"/>
              <a:t>If this box isn’t checked, then the user wouldn’t get any error until after they try and save the record</a:t>
            </a:r>
          </a:p>
          <a:p>
            <a:r>
              <a:rPr lang="en-US" dirty="0"/>
              <a:t>Once a Data Policy is saved, you add Data Policy Rules to determine which fields should be mandatory/read-only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34DCE1-05DD-FADC-3B27-E312662A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4004433"/>
            <a:ext cx="9039570" cy="192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F71ACD-6942-5A51-ED57-5CF0404C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89" y="2769242"/>
            <a:ext cx="3002099" cy="5280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5CA51-3207-E72D-6E5B-ACB15994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760" y="5585727"/>
            <a:ext cx="8449657" cy="111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89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8AB40-C67D-5B72-6C1D-3A1EDF2AB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E6EA-CF76-0AC3-FB47-90C114CB1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52FDB-635A-ADA5-4485-FAE284227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3196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If a user record ‘Department’ field is not empty, then make the following fields mandatory: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Zip code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Business Phone</a:t>
            </a:r>
          </a:p>
          <a:p>
            <a:pPr marL="629435" lvl="1" indent="-305435"/>
            <a:r>
              <a:rPr lang="en-US" dirty="0">
                <a:ea typeface="+mn-lt"/>
                <a:cs typeface="+mn-lt"/>
              </a:rPr>
              <a:t>Email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Does making a field mandatory through a data policy automatically put the field on the form?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1EEF6D-D20D-7510-2A37-61D042DC1D2A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Data Policy</a:t>
            </a:r>
          </a:p>
        </p:txBody>
      </p:sp>
    </p:spTree>
    <p:extLst>
      <p:ext uri="{BB962C8B-B14F-4D97-AF65-F5344CB8AC3E}">
        <p14:creationId xmlns:p14="http://schemas.microsoft.com/office/powerpoint/2010/main" val="1113254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29A6-69AA-8FDD-8560-AD45D91E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Glide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34DB9-D031-C236-AD08-8DB3C3F1C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817" y="2062965"/>
            <a:ext cx="6444772" cy="2732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7FCEB-F6B9-1487-98A0-E47054C10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838" y="4202395"/>
            <a:ext cx="5168324" cy="23275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4A1F39-8797-4D79-F809-871B9749E5E5}"/>
              </a:ext>
            </a:extLst>
          </p:cNvPr>
          <p:cNvSpPr txBox="1"/>
          <p:nvPr/>
        </p:nvSpPr>
        <p:spPr>
          <a:xfrm>
            <a:off x="234530" y="2384611"/>
            <a:ext cx="51092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out-of-the-box classes that expose underlying ServiceNow functionality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Client-Side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 err="1"/>
              <a:t>GlideForm</a:t>
            </a:r>
            <a:r>
              <a:rPr lang="en-US" dirty="0"/>
              <a:t>) </a:t>
            </a:r>
            <a:r>
              <a:rPr lang="en-US" dirty="0" err="1"/>
              <a:t>g_form</a:t>
            </a:r>
            <a:r>
              <a:rPr lang="en-US" dirty="0"/>
              <a:t> – provides methods to work with 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g_form.addErrorMessage</a:t>
            </a:r>
            <a:r>
              <a:rPr lang="en-US" dirty="0"/>
              <a:t>('This is an error');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Server-Side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en-US" dirty="0" err="1"/>
              <a:t>GlideSystem</a:t>
            </a:r>
            <a:r>
              <a:rPr lang="en-US" dirty="0"/>
              <a:t>) </a:t>
            </a:r>
            <a:r>
              <a:rPr lang="en-US" dirty="0" err="1"/>
              <a:t>gs</a:t>
            </a:r>
            <a:r>
              <a:rPr lang="en-US" dirty="0"/>
              <a:t> – provides methods to work with the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gs.getUserId</a:t>
            </a:r>
            <a:r>
              <a:rPr lang="en-US" dirty="0"/>
              <a:t>(), </a:t>
            </a:r>
            <a:r>
              <a:rPr lang="en-US" dirty="0" err="1"/>
              <a:t>gs.getUserName</a:t>
            </a:r>
            <a:r>
              <a:rPr lang="en-US" dirty="0"/>
              <a:t>(), etc. </a:t>
            </a:r>
          </a:p>
        </p:txBody>
      </p:sp>
    </p:spTree>
    <p:extLst>
      <p:ext uri="{BB962C8B-B14F-4D97-AF65-F5344CB8AC3E}">
        <p14:creationId xmlns:p14="http://schemas.microsoft.com/office/powerpoint/2010/main" val="229936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BB24-BB3D-B62A-7E4A-A8F3AF3E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Actions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BA70F7-D068-A806-DC4A-14FDAC68A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92" y="1885561"/>
            <a:ext cx="9465215" cy="48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51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C497-4C0D-B4BC-D2CE-0562B6A31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EA26-1BFA-DC7F-5D11-3255110A1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0296" y="1911178"/>
            <a:ext cx="8791408" cy="1013800"/>
          </a:xfrm>
        </p:spPr>
        <p:txBody>
          <a:bodyPr/>
          <a:lstStyle/>
          <a:p>
            <a:r>
              <a:rPr lang="en-US" dirty="0"/>
              <a:t>We have many UI elements we can create actions for</a:t>
            </a:r>
          </a:p>
          <a:p>
            <a:r>
              <a:rPr lang="en-US" dirty="0"/>
              <a:t>We then use scripts to set our UI Action into motion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9C266-2F19-5D9C-B43E-35091086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13" y="3261716"/>
            <a:ext cx="3225671" cy="31461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5639B2-D20D-F89A-DED3-6F266C9C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721" y="3647374"/>
            <a:ext cx="5579378" cy="250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3388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D1A3-EB14-96AF-11BD-8AE32DC0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7C7B5-4378-A287-ECF8-E3C99931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E537-8B47-250C-21CA-32EE7CB12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183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an incident form button called ‘Create Problem’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button should create a problem record and link the current incident to the problem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EB3971-D328-5AFC-C17F-7FB7EFEF3CE6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UI Action</a:t>
            </a:r>
          </a:p>
        </p:txBody>
      </p:sp>
    </p:spTree>
    <p:extLst>
      <p:ext uri="{BB962C8B-B14F-4D97-AF65-F5344CB8AC3E}">
        <p14:creationId xmlns:p14="http://schemas.microsoft.com/office/powerpoint/2010/main" val="6829655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7AF9-592E-7436-5FAC-F82C1715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 Includes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31E6-7F84-0EBB-3D82-2804CEE4B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041" y="2081883"/>
            <a:ext cx="4117644" cy="4453387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Script Include </a:t>
            </a:r>
            <a:r>
              <a:rPr lang="en-US" dirty="0"/>
              <a:t>is a JavaScript class or function that runs server-side </a:t>
            </a:r>
          </a:p>
          <a:p>
            <a:pPr lvl="1"/>
            <a:r>
              <a:rPr lang="en-US" dirty="0"/>
              <a:t>Helps us organize logic </a:t>
            </a:r>
          </a:p>
          <a:p>
            <a:pPr lvl="1"/>
            <a:r>
              <a:rPr lang="en-US" dirty="0"/>
              <a:t>Promotes DRY principles </a:t>
            </a:r>
          </a:p>
          <a:p>
            <a:pPr lvl="1"/>
            <a:r>
              <a:rPr lang="en-US" dirty="0"/>
              <a:t>Triggered by other scripts on the server or client </a:t>
            </a:r>
          </a:p>
          <a:p>
            <a:pPr lvl="1"/>
            <a:r>
              <a:rPr lang="en-US" dirty="0"/>
              <a:t>Can take in parameters to be used in the 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4CABF-E222-A7CD-B20E-223119D29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85" y="2329987"/>
            <a:ext cx="7197327" cy="389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67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61C9B-1CDE-A4AF-8CFF-45F752A7E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8044-64A6-7B30-62BB-D634F7497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9CF2-9FBD-B54F-FDCC-AFC43D3C3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102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Script Include that takes in the string value of a </a:t>
            </a:r>
            <a:r>
              <a:rPr lang="en-US" dirty="0" err="1">
                <a:ea typeface="+mn-lt"/>
                <a:cs typeface="+mn-lt"/>
              </a:rPr>
              <a:t>sys_user_group</a:t>
            </a:r>
            <a:r>
              <a:rPr lang="en-US" dirty="0">
                <a:ea typeface="+mn-lt"/>
                <a:cs typeface="+mn-lt"/>
              </a:rPr>
              <a:t> ‘name’ field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script should query for and then return the </a:t>
            </a:r>
            <a:r>
              <a:rPr lang="en-US" dirty="0" err="1">
                <a:ea typeface="+mn-lt"/>
                <a:cs typeface="+mn-lt"/>
              </a:rPr>
              <a:t>sys_id</a:t>
            </a:r>
            <a:r>
              <a:rPr lang="en-US" dirty="0">
                <a:ea typeface="+mn-lt"/>
                <a:cs typeface="+mn-lt"/>
              </a:rPr>
              <a:t> of the record that matches our query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941E9AD-58A8-883B-AF0D-7FEDA4FF6B46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Script Include</a:t>
            </a:r>
          </a:p>
        </p:txBody>
      </p:sp>
    </p:spTree>
    <p:extLst>
      <p:ext uri="{BB962C8B-B14F-4D97-AF65-F5344CB8AC3E}">
        <p14:creationId xmlns:p14="http://schemas.microsoft.com/office/powerpoint/2010/main" val="112116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4122-0944-FBEA-8151-7CEF26F1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16D1-EBEE-3457-D05F-A713E4AC1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506714" cy="4345810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Client Script </a:t>
            </a:r>
            <a:r>
              <a:rPr lang="en-US" dirty="0"/>
              <a:t>is used to make real-time changes to the appearance and behavior of UI elements, usually forms </a:t>
            </a:r>
          </a:p>
          <a:p>
            <a:pPr lvl="1"/>
            <a:r>
              <a:rPr lang="en-US" dirty="0"/>
              <a:t>Runs client-side</a:t>
            </a:r>
          </a:p>
          <a:p>
            <a:pPr lvl="1"/>
            <a:r>
              <a:rPr lang="en-US" dirty="0"/>
              <a:t>Make fields visible based on conditions </a:t>
            </a:r>
          </a:p>
          <a:p>
            <a:pPr lvl="1"/>
            <a:r>
              <a:rPr lang="en-US" dirty="0"/>
              <a:t>Auto-populate fields based on conditions </a:t>
            </a:r>
          </a:p>
          <a:p>
            <a:pPr lvl="1"/>
            <a:r>
              <a:rPr lang="en-US" dirty="0"/>
              <a:t>4 types: </a:t>
            </a:r>
            <a:r>
              <a:rPr lang="en-US" dirty="0" err="1"/>
              <a:t>onCellEdit</a:t>
            </a:r>
            <a:r>
              <a:rPr lang="en-US" dirty="0"/>
              <a:t>, </a:t>
            </a:r>
            <a:r>
              <a:rPr lang="en-US" dirty="0" err="1"/>
              <a:t>onChange</a:t>
            </a:r>
            <a:r>
              <a:rPr lang="en-US" dirty="0"/>
              <a:t>, onload, </a:t>
            </a:r>
            <a:r>
              <a:rPr lang="en-US" dirty="0" err="1"/>
              <a:t>onSubmit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454FB-637A-3E54-3572-40ACBBA59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88" y="1930787"/>
            <a:ext cx="7709872" cy="468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77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9DF9-31AA-9CD8-8E55-85E24884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GLideAjax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F2AD-5D68-B770-65EE-CC602BBEF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6075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GlideAjax</a:t>
            </a:r>
            <a:r>
              <a:rPr lang="en-US" dirty="0"/>
              <a:t> is used to call server-side script includes from client-side scripts</a:t>
            </a:r>
          </a:p>
          <a:p>
            <a:pPr lvl="1"/>
            <a:r>
              <a:rPr lang="en-US" dirty="0"/>
              <a:t>Notice how we pass parameters – ‘</a:t>
            </a:r>
            <a:r>
              <a:rPr lang="en-US" dirty="0" err="1"/>
              <a:t>sysparm_name</a:t>
            </a:r>
            <a:r>
              <a:rPr lang="en-US" dirty="0"/>
              <a:t>’ represents the function in the script include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778735-F117-9736-1A19-B0077071A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423" y="3540094"/>
            <a:ext cx="5401429" cy="2905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59CEAB-2FCB-AE36-E1FC-64C0FE97A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77" y="3485406"/>
            <a:ext cx="5195099" cy="29256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DAF6D9-6E78-A493-BE27-45FAA8B1CBD0}"/>
              </a:ext>
            </a:extLst>
          </p:cNvPr>
          <p:cNvSpPr txBox="1"/>
          <p:nvPr/>
        </p:nvSpPr>
        <p:spPr>
          <a:xfrm>
            <a:off x="572227" y="3116074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Script Include: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283E3-1217-B9AA-E234-75CDB69B0554}"/>
              </a:ext>
            </a:extLst>
          </p:cNvPr>
          <p:cNvSpPr txBox="1"/>
          <p:nvPr/>
        </p:nvSpPr>
        <p:spPr>
          <a:xfrm>
            <a:off x="6044977" y="3116074"/>
            <a:ext cx="14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 Script:</a:t>
            </a:r>
          </a:p>
        </p:txBody>
      </p:sp>
    </p:spTree>
    <p:extLst>
      <p:ext uri="{BB962C8B-B14F-4D97-AF65-F5344CB8AC3E}">
        <p14:creationId xmlns:p14="http://schemas.microsoft.com/office/powerpoint/2010/main" val="209364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A8C2-1923-A32A-356E-512C3A30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B010-5399-A440-41BA-86D4519D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12730-ED26-898E-0B36-4A80B17D0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9"/>
            <a:ext cx="5192079" cy="25687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Client Script that runs when incident ‘Category’ is ‘Inquiry/Help’ and ‘Subcategory’ is ‘Email’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Assignment Group should be set to ‘Help Desk’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C62365-8838-FB1F-8C7F-BC52DE49AA17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Client Script</a:t>
            </a:r>
          </a:p>
        </p:txBody>
      </p:sp>
    </p:spTree>
    <p:extLst>
      <p:ext uri="{BB962C8B-B14F-4D97-AF65-F5344CB8AC3E}">
        <p14:creationId xmlns:p14="http://schemas.microsoft.com/office/powerpoint/2010/main" val="3385331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9F74-27B1-BD68-5883-240A9F72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22CF-0CFE-FF80-6C22-4901B64EB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302" y="2252213"/>
            <a:ext cx="7397395" cy="36783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DOCS Reference</a:t>
            </a:r>
            <a:endParaRPr lang="en-US" dirty="0"/>
          </a:p>
          <a:p>
            <a:r>
              <a:rPr lang="en-US" dirty="0"/>
              <a:t>Before Business Rules (with order less than 1000)</a:t>
            </a:r>
          </a:p>
          <a:p>
            <a:r>
              <a:rPr lang="en-US" dirty="0"/>
              <a:t>Before Engines: i.e. assignment rules, escalations, role assignments</a:t>
            </a:r>
          </a:p>
          <a:p>
            <a:r>
              <a:rPr lang="en-US" dirty="0"/>
              <a:t>Before Business Rules (with order over 1000)</a:t>
            </a:r>
          </a:p>
          <a:p>
            <a:r>
              <a:rPr lang="en-US" dirty="0"/>
              <a:t>The database operation (insert, update, delete)</a:t>
            </a:r>
          </a:p>
          <a:p>
            <a:r>
              <a:rPr lang="en-US" dirty="0"/>
              <a:t>After Business Rules (with order less than 1000)</a:t>
            </a:r>
          </a:p>
          <a:p>
            <a:r>
              <a:rPr lang="en-US" dirty="0"/>
              <a:t>After Engines: i.e. role check again here, Flow triggers</a:t>
            </a:r>
          </a:p>
          <a:p>
            <a:r>
              <a:rPr lang="en-US" dirty="0"/>
              <a:t>Email Notifications &amp; Events</a:t>
            </a:r>
          </a:p>
          <a:p>
            <a:r>
              <a:rPr lang="en-US" dirty="0"/>
              <a:t>After Business Rules (with order greater than 1000)</a:t>
            </a:r>
          </a:p>
        </p:txBody>
      </p:sp>
    </p:spTree>
    <p:extLst>
      <p:ext uri="{BB962C8B-B14F-4D97-AF65-F5344CB8AC3E}">
        <p14:creationId xmlns:p14="http://schemas.microsoft.com/office/powerpoint/2010/main" val="3355444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43C3-AEEC-F186-0161-3966855A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B6D83-0AF7-FEA8-11D4-3CD89D832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556916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Business Rule </a:t>
            </a:r>
            <a:r>
              <a:rPr lang="en-US" dirty="0"/>
              <a:t>runs when a CRUD trigger occurs, it will then set a field value</a:t>
            </a:r>
          </a:p>
          <a:p>
            <a:pPr lvl="1"/>
            <a:r>
              <a:rPr lang="en-US" dirty="0"/>
              <a:t>Can be configured to trigger when a record is viewed, inserted, updated, deleted, or when a table is queried</a:t>
            </a:r>
          </a:p>
          <a:p>
            <a:pPr lvl="1"/>
            <a:r>
              <a:rPr lang="en-US" dirty="0"/>
              <a:t>Sets field values based on criteria provided </a:t>
            </a:r>
          </a:p>
          <a:p>
            <a:pPr lvl="1"/>
            <a:r>
              <a:rPr lang="en-US" dirty="0"/>
              <a:t>Runs server-side </a:t>
            </a:r>
          </a:p>
          <a:p>
            <a:r>
              <a:rPr lang="en-US" dirty="0"/>
              <a:t>There are 4 types of Business Rules:</a:t>
            </a:r>
          </a:p>
          <a:p>
            <a:pPr lvl="1"/>
            <a:r>
              <a:rPr lang="en-US" dirty="0"/>
              <a:t>Before – executes before a record is inserted, updated, etc.</a:t>
            </a:r>
          </a:p>
          <a:p>
            <a:pPr lvl="1"/>
            <a:r>
              <a:rPr lang="en-US" dirty="0"/>
              <a:t>After – executes after a record is inserted, updated, etc. </a:t>
            </a:r>
          </a:p>
          <a:p>
            <a:pPr lvl="1"/>
            <a:r>
              <a:rPr lang="en-US" dirty="0"/>
              <a:t>Async – executes when resources become available, so the client isn’t waiting on the server</a:t>
            </a:r>
          </a:p>
          <a:p>
            <a:pPr lvl="1"/>
            <a:r>
              <a:rPr lang="en-US" dirty="0"/>
              <a:t>Display – executes before the record is displayed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9D4D98-D721-27F7-C579-F95721D01ECB}"/>
              </a:ext>
            </a:extLst>
          </p:cNvPr>
          <p:cNvSpPr txBox="1"/>
          <p:nvPr/>
        </p:nvSpPr>
        <p:spPr>
          <a:xfrm>
            <a:off x="2585551" y="5855921"/>
            <a:ext cx="70208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BEST PRACTICES: </a:t>
            </a:r>
          </a:p>
          <a:p>
            <a:pPr marL="342900" indent="-342900">
              <a:buAutoNum type="arabicPeriod"/>
            </a:pPr>
            <a:r>
              <a:rPr lang="en-US" dirty="0"/>
              <a:t>Consider if you can use a Flow instead!</a:t>
            </a:r>
          </a:p>
          <a:p>
            <a:pPr marL="342900" indent="-342900">
              <a:buAutoNum type="arabicPeriod"/>
            </a:pPr>
            <a:r>
              <a:rPr lang="en-US" dirty="0"/>
              <a:t>If using scripts, avoid </a:t>
            </a:r>
            <a:r>
              <a:rPr lang="en-US" dirty="0" err="1"/>
              <a:t>current.update</a:t>
            </a:r>
            <a:r>
              <a:rPr lang="en-US" dirty="0"/>
              <a:t>() to avoid recursive business rule!</a:t>
            </a:r>
          </a:p>
        </p:txBody>
      </p:sp>
    </p:spTree>
    <p:extLst>
      <p:ext uri="{BB962C8B-B14F-4D97-AF65-F5344CB8AC3E}">
        <p14:creationId xmlns:p14="http://schemas.microsoft.com/office/powerpoint/2010/main" val="2556651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13EC-12C4-55A6-0BB2-723A67B4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16A2-A522-D5B2-B2CD-2FD7FD4DF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2807466" cy="4318916"/>
          </a:xfrm>
        </p:spPr>
        <p:txBody>
          <a:bodyPr/>
          <a:lstStyle/>
          <a:p>
            <a:r>
              <a:rPr lang="en-US" dirty="0"/>
              <a:t>If no roles are set it will run for everyone </a:t>
            </a:r>
          </a:p>
          <a:p>
            <a:r>
              <a:rPr lang="en-US" dirty="0"/>
              <a:t>Set fields on the ‘Actions’ tab</a:t>
            </a:r>
          </a:p>
          <a:p>
            <a:r>
              <a:rPr lang="en-US" dirty="0"/>
              <a:t>Create scripts on the ‘Advanced’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53F82-75E8-E187-E0C2-3E817253D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953" y="1962060"/>
            <a:ext cx="8355106" cy="46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92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078FA-8D27-B319-8635-61AE426E1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F257-90AE-4A55-06AF-52F248DE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9F76-D2C9-55A0-E37A-9691AC4FF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3994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Business Rule that runs when incident ‘Category’ is ‘Inquiry/Help’ and ‘Subcategory’ is ‘Email’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Assignment Group should be set to ‘Help Desk’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What’s the difference between this and the client script + script include?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Impersonate a user with the ITIL role. Do both the client script &amp; business rule work? Why or why not?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5236AE-8F52-7DFE-5B7C-AF5EF5F331C1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Create a Business Rule</a:t>
            </a:r>
          </a:p>
        </p:txBody>
      </p:sp>
    </p:spTree>
    <p:extLst>
      <p:ext uri="{BB962C8B-B14F-4D97-AF65-F5344CB8AC3E}">
        <p14:creationId xmlns:p14="http://schemas.microsoft.com/office/powerpoint/2010/main" val="1920483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5A89F-990D-5D9C-3C54-487C1DDE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Practice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C5EC-00AE-F036-C30B-92BEC3815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6303702" cy="45468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Assignment Rules for core, reusable “who should own this ticket” logic (but other tools may be better suited because assignment rules don’t work unless assignment fields are empty)</a:t>
            </a:r>
          </a:p>
          <a:p>
            <a:r>
              <a:rPr lang="en-US" dirty="0"/>
              <a:t>Use Client Scripts for form-level interactivity only (don’t rely on them for actual record data integrity)</a:t>
            </a:r>
          </a:p>
          <a:p>
            <a:r>
              <a:rPr lang="en-US" dirty="0"/>
              <a:t>Use Flows when logic depends on record inserts or updates, advanced workflow conditions, or integrations</a:t>
            </a:r>
          </a:p>
          <a:p>
            <a:r>
              <a:rPr lang="en-US" dirty="0"/>
              <a:t>Use Business Rules when logic depends on record inserts, updates, deletions, advanced workflow conditions, or integrations (we can just call a flow from the business rule via script as a workaround)</a:t>
            </a:r>
          </a:p>
          <a:p>
            <a:r>
              <a:rPr lang="en-US" dirty="0"/>
              <a:t>Never mix ‘</a:t>
            </a:r>
            <a:r>
              <a:rPr lang="en-US" dirty="0" err="1"/>
              <a:t>assigned_to</a:t>
            </a:r>
            <a:r>
              <a:rPr lang="en-US" dirty="0"/>
              <a:t>’ or ‘</a:t>
            </a:r>
            <a:r>
              <a:rPr lang="en-US" dirty="0" err="1"/>
              <a:t>assignment_group</a:t>
            </a:r>
            <a:r>
              <a:rPr lang="en-US" dirty="0"/>
              <a:t>’ setting logic in multiple places for the same condition — pick one place to avoid confusion.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1FCC6-5DC7-0CDE-824A-5B919CEBF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854" y="2491617"/>
            <a:ext cx="3784006" cy="1700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15EED9-8DED-649B-D939-8FA07A5DC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369" y="4935794"/>
            <a:ext cx="1171739" cy="1648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729E31-BBFA-F0E3-7599-6E16E81D557A}"/>
              </a:ext>
            </a:extLst>
          </p:cNvPr>
          <p:cNvSpPr txBox="1"/>
          <p:nvPr/>
        </p:nvSpPr>
        <p:spPr>
          <a:xfrm>
            <a:off x="7630886" y="2180496"/>
            <a:ext cx="687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87F5C-D3EF-7E09-196B-E1B6B1C8C012}"/>
              </a:ext>
            </a:extLst>
          </p:cNvPr>
          <p:cNvSpPr txBox="1"/>
          <p:nvPr/>
        </p:nvSpPr>
        <p:spPr>
          <a:xfrm>
            <a:off x="7566285" y="4503332"/>
            <a:ext cx="1503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Business Rule:</a:t>
            </a:r>
          </a:p>
        </p:txBody>
      </p:sp>
    </p:spTree>
    <p:extLst>
      <p:ext uri="{BB962C8B-B14F-4D97-AF65-F5344CB8AC3E}">
        <p14:creationId xmlns:p14="http://schemas.microsoft.com/office/powerpoint/2010/main" val="1543451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25E2-0D66-2345-9408-2C06F797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AB52-DA2F-14B0-D7A8-F8ED8E26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546FF-96DA-4677-92DB-C605A907E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8"/>
            <a:ext cx="5192079" cy="2215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CAB team wants to ensure that high-risk changes require a documented backout plan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What tool should we use? Why?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Hint: The change table is [</a:t>
            </a:r>
            <a:r>
              <a:rPr lang="en-US" dirty="0" err="1">
                <a:ea typeface="+mn-lt"/>
                <a:cs typeface="+mn-lt"/>
              </a:rPr>
              <a:t>change_request</a:t>
            </a:r>
            <a:r>
              <a:rPr lang="en-US" dirty="0">
                <a:ea typeface="+mn-lt"/>
                <a:cs typeface="+mn-lt"/>
              </a:rPr>
              <a:t>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F2FE94-915A-4466-5C65-483F298C77B5}"/>
              </a:ext>
            </a:extLst>
          </p:cNvPr>
          <p:cNvSpPr txBox="1">
            <a:spLocks/>
          </p:cNvSpPr>
          <p:nvPr/>
        </p:nvSpPr>
        <p:spPr>
          <a:xfrm>
            <a:off x="903921" y="22627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Solve a business case</a:t>
            </a:r>
          </a:p>
        </p:txBody>
      </p:sp>
    </p:spTree>
    <p:extLst>
      <p:ext uri="{BB962C8B-B14F-4D97-AF65-F5344CB8AC3E}">
        <p14:creationId xmlns:p14="http://schemas.microsoft.com/office/powerpoint/2010/main" val="27449475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84662-891B-D34F-00E5-903A5C2A4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7D2B-2495-155A-A8BF-A9D59766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09613-5C76-EB8E-821A-A0213CED0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8730" y="2388697"/>
            <a:ext cx="5192079" cy="4262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The Service Operations team wants the department of an incident caller to populate on the incident record when the caller is selected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Not just the text value of the department, this should be a reference field that directly links to the department record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Hint: We should NOT use a dot-walked field via Form Builder, that would break a best practice of having 2 of the same referenced record in a form. i.e. having both </a:t>
            </a:r>
            <a:r>
              <a:rPr lang="en-US" dirty="0" err="1">
                <a:ea typeface="+mn-lt"/>
                <a:cs typeface="+mn-lt"/>
              </a:rPr>
              <a:t>caller_id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dirty="0" err="1">
                <a:ea typeface="+mn-lt"/>
                <a:cs typeface="+mn-lt"/>
              </a:rPr>
              <a:t>caller_id.department</a:t>
            </a:r>
            <a:r>
              <a:rPr lang="en-US" dirty="0">
                <a:ea typeface="+mn-lt"/>
                <a:cs typeface="+mn-lt"/>
              </a:rPr>
              <a:t> on the form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What tool should we use? Why?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5E98AA-23E7-339C-3C0F-042C76240A11}"/>
              </a:ext>
            </a:extLst>
          </p:cNvPr>
          <p:cNvSpPr txBox="1">
            <a:spLocks/>
          </p:cNvSpPr>
          <p:nvPr/>
        </p:nvSpPr>
        <p:spPr>
          <a:xfrm>
            <a:off x="903921" y="2110399"/>
            <a:ext cx="4869350" cy="14844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n-US" b="1" dirty="0"/>
              <a:t>Goal: 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Solve a business case</a:t>
            </a:r>
          </a:p>
        </p:txBody>
      </p:sp>
    </p:spTree>
    <p:extLst>
      <p:ext uri="{BB962C8B-B14F-4D97-AF65-F5344CB8AC3E}">
        <p14:creationId xmlns:p14="http://schemas.microsoft.com/office/powerpoint/2010/main" val="87563325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26814</TotalTime>
  <Words>1653</Words>
  <Application>Microsoft Office PowerPoint</Application>
  <PresentationFormat>Widescreen</PresentationFormat>
  <Paragraphs>192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Arial</vt:lpstr>
      <vt:lpstr>Gill Sans MT</vt:lpstr>
      <vt:lpstr>Wingdings 2</vt:lpstr>
      <vt:lpstr>Dividend</vt:lpstr>
      <vt:lpstr>Data Migration</vt:lpstr>
      <vt:lpstr>Application Scopes</vt:lpstr>
      <vt:lpstr>System Update Sets</vt:lpstr>
      <vt:lpstr>What is Captured in an update Set?</vt:lpstr>
      <vt:lpstr>Create &amp; Select an Update Set</vt:lpstr>
      <vt:lpstr>Update Set Picker</vt:lpstr>
      <vt:lpstr>Challenge</vt:lpstr>
      <vt:lpstr>Mark an Update Set Complete</vt:lpstr>
      <vt:lpstr>BEST Practices</vt:lpstr>
      <vt:lpstr>Export as XML</vt:lpstr>
      <vt:lpstr>Apply an Update Set</vt:lpstr>
      <vt:lpstr>Challenge</vt:lpstr>
      <vt:lpstr>Retrieve from a Remote Instance</vt:lpstr>
      <vt:lpstr>Challenge</vt:lpstr>
      <vt:lpstr>Merge Update Sets</vt:lpstr>
      <vt:lpstr>Scripts</vt:lpstr>
      <vt:lpstr>What is scripting? </vt:lpstr>
      <vt:lpstr>Scripts in ServiceNow</vt:lpstr>
      <vt:lpstr>Samples</vt:lpstr>
      <vt:lpstr>UI Policies</vt:lpstr>
      <vt:lpstr>UI Policies</vt:lpstr>
      <vt:lpstr>Challenge</vt:lpstr>
      <vt:lpstr>Data Policies</vt:lpstr>
      <vt:lpstr>Data Policies</vt:lpstr>
      <vt:lpstr>Challenge</vt:lpstr>
      <vt:lpstr>Intro To Glide Classes</vt:lpstr>
      <vt:lpstr>UI Actions</vt:lpstr>
      <vt:lpstr>UI Actions</vt:lpstr>
      <vt:lpstr>Challenge</vt:lpstr>
      <vt:lpstr>Script Includes</vt:lpstr>
      <vt:lpstr>Challenge</vt:lpstr>
      <vt:lpstr>Client Scripts</vt:lpstr>
      <vt:lpstr>GLideAjax</vt:lpstr>
      <vt:lpstr>Challenge</vt:lpstr>
      <vt:lpstr>Execution Order</vt:lpstr>
      <vt:lpstr>Business Rules</vt:lpstr>
      <vt:lpstr>Business Rules</vt:lpstr>
      <vt:lpstr>Challenge</vt:lpstr>
      <vt:lpstr>Best Practice Review</vt:lpstr>
      <vt:lpstr>Challenge</vt:lpstr>
      <vt:lpstr>Challenge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626</cp:revision>
  <dcterms:created xsi:type="dcterms:W3CDTF">2025-02-12T19:53:45Z</dcterms:created>
  <dcterms:modified xsi:type="dcterms:W3CDTF">2025-11-06T16:08:20Z</dcterms:modified>
</cp:coreProperties>
</file>