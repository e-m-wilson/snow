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notesMasterIdLst>
    <p:notesMasterId r:id="rId57"/>
  </p:notesMasterIdLst>
  <p:sldIdLst>
    <p:sldId id="256" r:id="rId2"/>
    <p:sldId id="381" r:id="rId3"/>
    <p:sldId id="382" r:id="rId4"/>
    <p:sldId id="383" r:id="rId5"/>
    <p:sldId id="384" r:id="rId6"/>
    <p:sldId id="388" r:id="rId7"/>
    <p:sldId id="390" r:id="rId8"/>
    <p:sldId id="385" r:id="rId9"/>
    <p:sldId id="389" r:id="rId10"/>
    <p:sldId id="392" r:id="rId11"/>
    <p:sldId id="386" r:id="rId12"/>
    <p:sldId id="391" r:id="rId13"/>
    <p:sldId id="387" r:id="rId14"/>
    <p:sldId id="378" r:id="rId15"/>
    <p:sldId id="393" r:id="rId16"/>
    <p:sldId id="379" r:id="rId17"/>
    <p:sldId id="396" r:id="rId18"/>
    <p:sldId id="394" r:id="rId19"/>
    <p:sldId id="395" r:id="rId20"/>
    <p:sldId id="397" r:id="rId21"/>
    <p:sldId id="403" r:id="rId22"/>
    <p:sldId id="400" r:id="rId23"/>
    <p:sldId id="398" r:id="rId24"/>
    <p:sldId id="404" r:id="rId25"/>
    <p:sldId id="401" r:id="rId26"/>
    <p:sldId id="405" r:id="rId27"/>
    <p:sldId id="399" r:id="rId28"/>
    <p:sldId id="406" r:id="rId29"/>
    <p:sldId id="402" r:id="rId30"/>
    <p:sldId id="407" r:id="rId31"/>
    <p:sldId id="408" r:id="rId32"/>
    <p:sldId id="409" r:id="rId33"/>
    <p:sldId id="411" r:id="rId34"/>
    <p:sldId id="410" r:id="rId35"/>
    <p:sldId id="415" r:id="rId36"/>
    <p:sldId id="412" r:id="rId37"/>
    <p:sldId id="413" r:id="rId38"/>
    <p:sldId id="414" r:id="rId39"/>
    <p:sldId id="416" r:id="rId40"/>
    <p:sldId id="418" r:id="rId41"/>
    <p:sldId id="419" r:id="rId42"/>
    <p:sldId id="380" r:id="rId43"/>
    <p:sldId id="420" r:id="rId44"/>
    <p:sldId id="421" r:id="rId45"/>
    <p:sldId id="423" r:id="rId46"/>
    <p:sldId id="425" r:id="rId47"/>
    <p:sldId id="424" r:id="rId48"/>
    <p:sldId id="422" r:id="rId49"/>
    <p:sldId id="426" r:id="rId50"/>
    <p:sldId id="428" r:id="rId51"/>
    <p:sldId id="429" r:id="rId52"/>
    <p:sldId id="430" r:id="rId53"/>
    <p:sldId id="431" r:id="rId54"/>
    <p:sldId id="427" r:id="rId55"/>
    <p:sldId id="432" r:id="rId5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D3D3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C8EF453-3095-AE8A-2F6D-B0378CA79EC1}" v="28" dt="2025-06-02T16:07:27.587"/>
    <p1510:client id="{DEF17522-F9FC-8578-697D-16CF15692E13}" v="5" dt="2025-06-03T14:51:56.486"/>
  </p1510:revLst>
</p1510:revInfo>
</file>

<file path=ppt/tableStyles.xml><?xml version="1.0" encoding="utf-8"?>
<a:tblStyleLst xmlns:a="http://schemas.openxmlformats.org/drawingml/2006/main" def="{5C22544A-7EE6-4342-B048-85BDC9FD1C3A}"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6698" autoAdjust="0"/>
    <p:restoredTop sz="96247" autoAdjust="0"/>
  </p:normalViewPr>
  <p:slideViewPr>
    <p:cSldViewPr snapToGrid="0">
      <p:cViewPr varScale="1">
        <p:scale>
          <a:sx n="103" d="100"/>
          <a:sy n="103" d="100"/>
        </p:scale>
        <p:origin x="15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tableStyles" Target="tableStyle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8798E6B-5512-4D00-9EFB-A374F8285899}" type="datetimeFigureOut">
              <a:rPr lang="en-US" smtClean="0"/>
              <a:t>10/31/2025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6C040E7-12E1-4E9C-B024-3505840C3DA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42060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UI Policy = because the tool’s main purpose is to make fields required, read-only, or mandatory, and it does that job well without needing any code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C040E7-12E1-4E9C-B024-3505840C3DA3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075135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483A9C-A605-C8F9-0217-60C1FF3C3B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C45A4F-3B01-EE47-A9CB-783E2BF582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A3C79AB-349A-964F-0018-453CE14D7C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Business rule = we can do this without scripts at all using a business rule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713AED-923D-8947-ECED-07CA2DCAD8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6C040E7-12E1-4E9C-B024-3505840C3DA3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538273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10/28/2025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81139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10/28/2025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58775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10/28/2025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73755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3"/>
            <a:ext cx="5422392" cy="3633047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10/28/2025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65091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5" y="2250892"/>
            <a:ext cx="5087073" cy="553373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09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10/28/2025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22488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10/28/2025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99881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10/28/2025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82994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40823" y="5262296"/>
            <a:ext cx="586998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10/28/2025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37106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10/28/2025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97160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10/28/2025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90617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896279" cy="5183073"/>
          </a:xfrm>
        </p:spPr>
        <p:txBody>
          <a:bodyPr vert="eaVert" anchor="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10/28/2025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8553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</a:t>
            </a:r>
          </a:p>
          <a:p>
            <a:pPr lvl="6"/>
            <a:r>
              <a:rPr lang="en-US" dirty="0"/>
              <a:t>Seven</a:t>
            </a:r>
          </a:p>
          <a:p>
            <a:pPr lvl="7"/>
            <a:r>
              <a:rPr lang="en-US" dirty="0"/>
              <a:t>Eight</a:t>
            </a:r>
          </a:p>
          <a:p>
            <a:pPr lvl="8"/>
            <a:r>
              <a:rPr lang="en-US" dirty="0"/>
              <a:t>ni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10/28/2025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66156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servicenow.com/docs/bundle/zurich-api-reference/page/script/general-scripting/reference/r_ExecutionOrderScriptsAndEngines.html" TargetMode="Externa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3.png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Data Migration</a:t>
            </a:r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69F734-654C-7112-40EE-78606FBC14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Application Scopes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B4CF730-AADF-4C91-7E14-7BD4BEC5DA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7211" y="1944590"/>
            <a:ext cx="8797577" cy="46191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11622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28FADB-004E-B097-0D7F-DC386A51AC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Update Sets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81F0CE3-0C60-F119-BB11-3068852294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737" y="1963271"/>
            <a:ext cx="10704525" cy="454510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8749947-387D-1779-209C-AA246134F3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94899" y="2289873"/>
            <a:ext cx="1676634" cy="5525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47170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D3CB13-E80A-C40B-B536-7F2352F1B1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Captured in an update Set?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F497E4E-D83F-C116-847D-4D9A95B55E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1827507"/>
            <a:ext cx="9143999" cy="49658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68641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EB9C6C-3C16-CB57-1E17-38D7429486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&amp; Select an Update Set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43BA2AE-45A7-8EB2-44ED-19158D97E6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6019" y="2582072"/>
            <a:ext cx="9539961" cy="411134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5F5B194-2C6F-0BF8-00DD-F54F6399383B}"/>
              </a:ext>
            </a:extLst>
          </p:cNvPr>
          <p:cNvSpPr txBox="1"/>
          <p:nvPr/>
        </p:nvSpPr>
        <p:spPr>
          <a:xfrm>
            <a:off x="663388" y="1864660"/>
            <a:ext cx="63720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2"/>
                </a:solidFill>
              </a:rPr>
              <a:t>BEST PRACTICE: </a:t>
            </a:r>
            <a:r>
              <a:rPr lang="en-US" dirty="0"/>
              <a:t>Follow your organizations naming convention! </a:t>
            </a:r>
          </a:p>
          <a:p>
            <a:pPr algn="ctr"/>
            <a:r>
              <a:rPr lang="en-US" dirty="0"/>
              <a:t>One common example: Story Number + Description + Username</a:t>
            </a:r>
            <a:br>
              <a:rPr lang="en-US" dirty="0"/>
            </a:br>
            <a:r>
              <a:rPr lang="en-US" dirty="0"/>
              <a:t>STRY00123_IncidentNewFIelds_EWIL</a:t>
            </a:r>
          </a:p>
        </p:txBody>
      </p:sp>
    </p:spTree>
    <p:extLst>
      <p:ext uri="{BB962C8B-B14F-4D97-AF65-F5344CB8AC3E}">
        <p14:creationId xmlns:p14="http://schemas.microsoft.com/office/powerpoint/2010/main" val="32612768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18EC0C-C2D1-1471-8882-4BD8A6B76E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 Set Picker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051A35-E203-3EC1-6ABA-E29384776F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6181114" cy="3678303"/>
          </a:xfrm>
        </p:spPr>
        <p:txBody>
          <a:bodyPr/>
          <a:lstStyle/>
          <a:p>
            <a:r>
              <a:rPr lang="en-US" dirty="0"/>
              <a:t>We can also use the update set picker to:</a:t>
            </a:r>
          </a:p>
          <a:p>
            <a:pPr lvl="1"/>
            <a:r>
              <a:rPr lang="en-US" dirty="0"/>
              <a:t>Create a new update set quickly</a:t>
            </a:r>
          </a:p>
          <a:p>
            <a:pPr lvl="1"/>
            <a:r>
              <a:rPr lang="en-US" dirty="0"/>
              <a:t>View the current update set record</a:t>
            </a:r>
          </a:p>
          <a:p>
            <a:pPr lvl="1"/>
            <a:r>
              <a:rPr lang="en-US" dirty="0"/>
              <a:t>Or view the list of all local update sets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79175DE-8141-9867-FADC-0F99445846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0027" y="3047961"/>
            <a:ext cx="3096057" cy="19433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15623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9E1DE0-2327-E9D0-D11C-1481A27144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EC1E87-4202-994E-4C59-6F4CA19FA3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91697D-DC84-0276-8913-8F4F7F53EC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8730" y="2388699"/>
            <a:ext cx="5192079" cy="359972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Scenario: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 new Update Set on the global app scope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Name it: </a:t>
            </a:r>
            <a:br>
              <a:rPr lang="en-US" dirty="0">
                <a:ea typeface="+mn-lt"/>
                <a:cs typeface="+mn-lt"/>
              </a:rPr>
            </a:br>
            <a:r>
              <a:rPr lang="en-US" dirty="0">
                <a:ea typeface="+mn-lt"/>
                <a:cs typeface="+mn-lt"/>
              </a:rPr>
              <a:t>STRY001_IncidentNewFIeld_YOURNAME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Ensure you are on the global app scope and have your update set selected, then create a new True/False field on Incident forms called ‘Partner Customer’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E42E3E4-0F59-B891-04DE-D0A6BCAFB1DC}"/>
              </a:ext>
            </a:extLst>
          </p:cNvPr>
          <p:cNvSpPr txBox="1">
            <a:spLocks/>
          </p:cNvSpPr>
          <p:nvPr/>
        </p:nvSpPr>
        <p:spPr>
          <a:xfrm>
            <a:off x="903921" y="2262799"/>
            <a:ext cx="4869350" cy="14844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r>
              <a:rPr lang="en-US" b="1" dirty="0"/>
              <a:t>Goal: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an Update Set</a:t>
            </a:r>
          </a:p>
        </p:txBody>
      </p:sp>
    </p:spTree>
    <p:extLst>
      <p:ext uri="{BB962C8B-B14F-4D97-AF65-F5344CB8AC3E}">
        <p14:creationId xmlns:p14="http://schemas.microsoft.com/office/powerpoint/2010/main" val="9995874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A548C5-5F54-0ECF-4E1A-A88914945F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Mark an Update Set Complete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3DDCEDF-ECC5-E437-99C1-755F67E4D9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965" y="2058205"/>
            <a:ext cx="10472069" cy="44143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93481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905DC7-061C-4790-06B9-9C35CC2602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BEST Practices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49F04C-0A80-327B-27A8-1D6A092808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5623664" cy="3975348"/>
          </a:xfrm>
        </p:spPr>
        <p:txBody>
          <a:bodyPr>
            <a:normAutofit/>
          </a:bodyPr>
          <a:lstStyle/>
          <a:p>
            <a:r>
              <a:rPr lang="en-US" dirty="0"/>
              <a:t>NEVER mark the ‘Default’ Update Set as complete</a:t>
            </a:r>
          </a:p>
          <a:p>
            <a:pPr lvl="1"/>
            <a:r>
              <a:rPr lang="en-US" dirty="0"/>
              <a:t>This Update Set is a ‘catch-all’ that collects stray updates</a:t>
            </a:r>
          </a:p>
          <a:p>
            <a:r>
              <a:rPr lang="en-US" dirty="0"/>
              <a:t>We should ALWAYS use a NAMED Update Set to catch configuration changes </a:t>
            </a:r>
          </a:p>
          <a:p>
            <a:pPr lvl="1"/>
            <a:r>
              <a:rPr lang="en-US" dirty="0"/>
              <a:t>If some configurations are in ‘Default’ by mistake, we can manually move ‘Customer Updates’ to a new Update Set</a:t>
            </a:r>
          </a:p>
          <a:p>
            <a:r>
              <a:rPr lang="en-US" dirty="0"/>
              <a:t>NEVER revert an Update Set from ‘Complete’ back to ‘In Progress’</a:t>
            </a:r>
          </a:p>
          <a:p>
            <a:pPr lvl="1"/>
            <a:r>
              <a:rPr lang="en-US" dirty="0"/>
              <a:t>If more customizations are required, we should create a new Update Set, make our changes there, and then commit them in the order they were created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CF780B4-A8A6-B7CE-19C5-4A758D7937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4273" y="2180496"/>
            <a:ext cx="5373919" cy="426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2614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4E2049-7798-F0AD-CD6B-24D5AEFE37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Export as XML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EC5683-5131-9C90-6311-4B6ACC8068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5514807" cy="3678303"/>
          </a:xfrm>
        </p:spPr>
        <p:txBody>
          <a:bodyPr/>
          <a:lstStyle/>
          <a:p>
            <a:r>
              <a:rPr lang="en-US" dirty="0"/>
              <a:t>Once an Update Set is complete:</a:t>
            </a:r>
          </a:p>
          <a:p>
            <a:pPr lvl="1"/>
            <a:r>
              <a:rPr lang="en-US" dirty="0"/>
              <a:t>We can export our set as an XML file</a:t>
            </a:r>
          </a:p>
          <a:p>
            <a:pPr lvl="1"/>
            <a:r>
              <a:rPr lang="en-US" dirty="0"/>
              <a:t>This allows us to manually use the file to bring our customizations into another instance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409CF61-D8B8-0F94-0964-69EBD5267E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4356" y="3147141"/>
            <a:ext cx="2732914" cy="1093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599467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383B46-1E91-3B34-1ADB-69E0EAF231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Apply an Update Set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279D0E0-C749-6332-175B-BB7562F151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8030" y="1862372"/>
            <a:ext cx="8695940" cy="429347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ACA1E90-AEE8-1BA4-6FB4-B4474CDA12FB}"/>
              </a:ext>
            </a:extLst>
          </p:cNvPr>
          <p:cNvSpPr txBox="1"/>
          <p:nvPr/>
        </p:nvSpPr>
        <p:spPr>
          <a:xfrm>
            <a:off x="902430" y="6481481"/>
            <a:ext cx="103871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accent2"/>
                </a:solidFill>
              </a:rPr>
              <a:t>NOTE: </a:t>
            </a:r>
            <a:r>
              <a:rPr lang="en-US" sz="1400" dirty="0"/>
              <a:t>We can load older release update sets into newer releases, but loading newer sets into older releases needs testing for compatibility!</a:t>
            </a:r>
          </a:p>
        </p:txBody>
      </p:sp>
    </p:spTree>
    <p:extLst>
      <p:ext uri="{BB962C8B-B14F-4D97-AF65-F5344CB8AC3E}">
        <p14:creationId xmlns:p14="http://schemas.microsoft.com/office/powerpoint/2010/main" val="187730803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B1051D-F465-23D7-2A23-B679584ECF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2E068-A777-A7E0-9114-85E56AD93E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C59B3D-377A-A0A7-86AD-4B8A1EE2B6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8730" y="2388700"/>
            <a:ext cx="5192079" cy="210261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Scenario: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Mark your Update Set created earlier as complete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Export your Update set as XML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Import your Update Set from XML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Preview your Update Set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2D66C45-A2C1-5988-92D4-212E5640B75D}"/>
              </a:ext>
            </a:extLst>
          </p:cNvPr>
          <p:cNvSpPr txBox="1">
            <a:spLocks/>
          </p:cNvSpPr>
          <p:nvPr/>
        </p:nvSpPr>
        <p:spPr>
          <a:xfrm>
            <a:off x="903921" y="2289693"/>
            <a:ext cx="4869350" cy="14396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r>
              <a:rPr lang="en-US" b="1" dirty="0"/>
              <a:t>Goal: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Practice applying Update Sets from XML</a:t>
            </a:r>
          </a:p>
          <a:p>
            <a:pPr marL="305435" indent="-305435"/>
            <a:endParaRPr lang="en-US" dirty="0"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58452831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6B6BC3-D4AA-8B32-2346-F287673FBE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Retrieve from a Remote Instance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7327690-E288-32AE-610A-DF483B3F3B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639" y="1912287"/>
            <a:ext cx="11716722" cy="44795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5716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67D0CA-F9AE-B516-2C0A-2E32C66DC8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1FA3AC-F63D-52E2-BB9C-6ACFF627BE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576976-544E-D66E-5CE1-3C91D93ED6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8730" y="2388699"/>
            <a:ext cx="5192079" cy="24432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Scenario: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Pair up into groups of two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One of you choose to ‘send’ the Update Set and the other will ‘Retrieve’ it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Practice testing the remote connection and applying the update set between the two instances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278BB07-8A9D-0F81-F7D8-908F197B3356}"/>
              </a:ext>
            </a:extLst>
          </p:cNvPr>
          <p:cNvSpPr txBox="1">
            <a:spLocks/>
          </p:cNvSpPr>
          <p:nvPr/>
        </p:nvSpPr>
        <p:spPr>
          <a:xfrm>
            <a:off x="903921" y="2262799"/>
            <a:ext cx="4869350" cy="14844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r>
              <a:rPr lang="en-US" b="1" dirty="0"/>
              <a:t>Goal: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Team up with a partner and remotely apply your update set</a:t>
            </a:r>
          </a:p>
        </p:txBody>
      </p:sp>
    </p:spTree>
    <p:extLst>
      <p:ext uri="{BB962C8B-B14F-4D97-AF65-F5344CB8AC3E}">
        <p14:creationId xmlns:p14="http://schemas.microsoft.com/office/powerpoint/2010/main" val="314494705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B7F8EB-E5BD-9176-F1A9-1907743DC1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Merge Update Sets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496165-36DE-AA63-C878-0A3B88842F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4259749" cy="3678303"/>
          </a:xfrm>
        </p:spPr>
        <p:txBody>
          <a:bodyPr/>
          <a:lstStyle/>
          <a:p>
            <a:r>
              <a:rPr lang="en-US" dirty="0"/>
              <a:t>Merge two or more Update Sets into a third, brand-new set</a:t>
            </a:r>
          </a:p>
          <a:p>
            <a:r>
              <a:rPr lang="en-US" dirty="0"/>
              <a:t>All the ‘Customer Updates’ in merged sets are moved to the new merged set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C963EAA-7D85-0B33-B822-5BBEB66570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1598" y="2047650"/>
            <a:ext cx="6471447" cy="43613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842712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26ADF8-9237-D59E-A611-CD45B1380B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BC9A77-41B9-3CA2-B3A7-575A538900F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Scripts</a:t>
            </a:r>
          </a:p>
        </p:txBody>
      </p:sp>
    </p:spTree>
    <p:extLst>
      <p:ext uri="{BB962C8B-B14F-4D97-AF65-F5344CB8AC3E}">
        <p14:creationId xmlns:p14="http://schemas.microsoft.com/office/powerpoint/2010/main" val="273375624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AE67C7-A556-09D7-328B-E99FF80AF3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scripting?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2FBDB41-6D42-D923-802A-AE6A4858B2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894" y="1829307"/>
            <a:ext cx="10614212" cy="48952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741931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10FC3F-7A9D-FB4D-7CC0-1BBB0053B6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Scripts in ServiceNow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861267-DA7C-D525-1951-9326F1987F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906" y="1925872"/>
            <a:ext cx="10874188" cy="47061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181160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A33CB6-26B1-DCDF-0383-8052F578E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Samples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99FE673-8CD6-F7B1-1B8C-6F81B4D29F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855" y="1846671"/>
            <a:ext cx="10472290" cy="49234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203148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670F38-FBC5-3C3A-88B7-E0E193049D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UI Policies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6C51AC-EFC9-40C4-4865-2719C28F0A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565" y="1803091"/>
            <a:ext cx="10192870" cy="49114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333551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093C76-C1BF-0979-E8F8-90E283C98A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UI Policies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7606F6-6186-E71D-F50D-7C770942A6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3876" y="2335035"/>
            <a:ext cx="3868152" cy="2066636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All &gt; System UI &gt; UI Policies</a:t>
            </a:r>
          </a:p>
          <a:p>
            <a:r>
              <a:rPr lang="en-US" dirty="0"/>
              <a:t>Actions appear as a related list </a:t>
            </a:r>
          </a:p>
          <a:p>
            <a:r>
              <a:rPr lang="en-US" dirty="0"/>
              <a:t>Note we can also conditionally hide related lists</a:t>
            </a:r>
          </a:p>
          <a:p>
            <a:r>
              <a:rPr lang="en-US" dirty="0"/>
              <a:t>UI Policies are supported in Form Builder (everything except scripts/related list functionality)</a:t>
            </a:r>
          </a:p>
          <a:p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64C79F3-6DBC-2D17-84C7-B17172049B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4473" y="2098858"/>
            <a:ext cx="7186335" cy="439299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2BF2083-4027-C26C-2E38-9CECD17A71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333" y="4576409"/>
            <a:ext cx="2404060" cy="19781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724048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DB16A8-45C4-F406-EFFC-4C872B22FE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E495E8-091B-6613-21CE-3708A5BD99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6FDF32-97B6-6F57-CD9D-FAE92B4AB5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8730" y="2388699"/>
            <a:ext cx="5192079" cy="223708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Scenario: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On the Capability form: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If the ‘Type’ field is set to ‘Full Stack’, then the string ‘Description’ field should be marked as mandatory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BB81100-5B23-42E8-68B0-F086CF727A72}"/>
              </a:ext>
            </a:extLst>
          </p:cNvPr>
          <p:cNvSpPr txBox="1">
            <a:spLocks/>
          </p:cNvSpPr>
          <p:nvPr/>
        </p:nvSpPr>
        <p:spPr>
          <a:xfrm>
            <a:off x="903921" y="2262799"/>
            <a:ext cx="4869350" cy="14844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r>
              <a:rPr lang="en-US" b="1" dirty="0"/>
              <a:t>Goal: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 UI Policy</a:t>
            </a:r>
          </a:p>
        </p:txBody>
      </p:sp>
    </p:spTree>
    <p:extLst>
      <p:ext uri="{BB962C8B-B14F-4D97-AF65-F5344CB8AC3E}">
        <p14:creationId xmlns:p14="http://schemas.microsoft.com/office/powerpoint/2010/main" val="291726670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C505A1-8D7E-82AA-D13D-20B980A5AC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Policies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B0BB0C5-A055-A459-72C4-78849127191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423" y="1826199"/>
            <a:ext cx="10883153" cy="50318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103048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57A628-EE7C-36F9-9683-063A4CF4B4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Policies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CA6295-4089-6EBE-DD11-4C82E72901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048164"/>
            <a:ext cx="6651712" cy="1970163"/>
          </a:xfrm>
        </p:spPr>
        <p:txBody>
          <a:bodyPr>
            <a:normAutofit lnSpcReduction="10000"/>
          </a:bodyPr>
          <a:lstStyle/>
          <a:p>
            <a:r>
              <a:rPr lang="en-US" dirty="0"/>
              <a:t>Note the option to force Data Policies to also behave as a UI Policy </a:t>
            </a:r>
          </a:p>
          <a:p>
            <a:r>
              <a:rPr lang="en-US" dirty="0"/>
              <a:t>If this box isn’t checked, then the user wouldn’t get any error until after they try and save the record</a:t>
            </a:r>
          </a:p>
          <a:p>
            <a:r>
              <a:rPr lang="en-US" dirty="0"/>
              <a:t>Once a Data Policy is saved, you add Data Policy Rules to determine which fields should be mandatory/read-only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534DCE1-05DD-FADC-3B27-E312662A3A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36" y="4004433"/>
            <a:ext cx="9039570" cy="192935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FF71ACD-6942-5A51-ED57-5CF0404CA4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48589" y="2769242"/>
            <a:ext cx="3002099" cy="52800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C45CA51-3207-E72D-6E5B-ACB159949E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3760" y="5585727"/>
            <a:ext cx="8449657" cy="11138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298969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D8AB40-C67D-5B72-6C1D-3A1EDF2ABD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A8E6EA-CF76-0AC3-FB47-90C114CB13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C52FDB-635A-ADA5-4485-FAE284227D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8730" y="2388698"/>
            <a:ext cx="5192079" cy="319631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Scenario: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If a user record ‘Department’ field is not empty, then make the following fields mandatory:</a:t>
            </a:r>
          </a:p>
          <a:p>
            <a:pPr marL="629435" lvl="1" indent="-305435"/>
            <a:r>
              <a:rPr lang="en-US" dirty="0">
                <a:ea typeface="+mn-lt"/>
                <a:cs typeface="+mn-lt"/>
              </a:rPr>
              <a:t>Zip code</a:t>
            </a:r>
          </a:p>
          <a:p>
            <a:pPr marL="629435" lvl="1" indent="-305435"/>
            <a:r>
              <a:rPr lang="en-US" dirty="0">
                <a:ea typeface="+mn-lt"/>
                <a:cs typeface="+mn-lt"/>
              </a:rPr>
              <a:t>Business Phone</a:t>
            </a:r>
          </a:p>
          <a:p>
            <a:pPr marL="629435" lvl="1" indent="-305435"/>
            <a:r>
              <a:rPr lang="en-US" dirty="0">
                <a:ea typeface="+mn-lt"/>
                <a:cs typeface="+mn-lt"/>
              </a:rPr>
              <a:t>Email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Does making a field mandatory through a data policy automatically put the field on the form?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61EEF6D-D20D-7510-2A37-61D042DC1D2A}"/>
              </a:ext>
            </a:extLst>
          </p:cNvPr>
          <p:cNvSpPr txBox="1">
            <a:spLocks/>
          </p:cNvSpPr>
          <p:nvPr/>
        </p:nvSpPr>
        <p:spPr>
          <a:xfrm>
            <a:off x="903921" y="2262799"/>
            <a:ext cx="4869350" cy="14844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r>
              <a:rPr lang="en-US" b="1" dirty="0"/>
              <a:t>Goal: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 Data Policy</a:t>
            </a:r>
          </a:p>
        </p:txBody>
      </p:sp>
    </p:spTree>
    <p:extLst>
      <p:ext uri="{BB962C8B-B14F-4D97-AF65-F5344CB8AC3E}">
        <p14:creationId xmlns:p14="http://schemas.microsoft.com/office/powerpoint/2010/main" val="111325471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B529A6-69AA-8FDD-8560-AD45D91E3E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 To Glide Classes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3134DB9-D031-C236-AD08-8DB3C3F1C0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3817" y="2062965"/>
            <a:ext cx="6444772" cy="273207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D27FCEB-F6B9-1487-98A0-E47054C103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18838" y="4202395"/>
            <a:ext cx="5168324" cy="2327536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0000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64A1F39-8797-4D79-F809-871B9749E5E5}"/>
              </a:ext>
            </a:extLst>
          </p:cNvPr>
          <p:cNvSpPr txBox="1"/>
          <p:nvPr/>
        </p:nvSpPr>
        <p:spPr>
          <a:xfrm>
            <a:off x="234530" y="2384611"/>
            <a:ext cx="5109287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We have out-of-the-box classes that expose underlying ServiceNow functionality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Client-Side Classes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(</a:t>
            </a:r>
            <a:r>
              <a:rPr lang="en-US" dirty="0" err="1"/>
              <a:t>GlideForm</a:t>
            </a:r>
            <a:r>
              <a:rPr lang="en-US" dirty="0"/>
              <a:t>) </a:t>
            </a:r>
            <a:r>
              <a:rPr lang="en-US" dirty="0" err="1"/>
              <a:t>g_form</a:t>
            </a:r>
            <a:r>
              <a:rPr lang="en-US" dirty="0"/>
              <a:t> – provides methods to work with forms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 err="1"/>
              <a:t>g_form.addErrorMessage</a:t>
            </a:r>
            <a:r>
              <a:rPr lang="en-US" dirty="0"/>
              <a:t>('This is an error');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Server-Side Classes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(</a:t>
            </a:r>
            <a:r>
              <a:rPr lang="en-US" dirty="0" err="1"/>
              <a:t>GlideSystem</a:t>
            </a:r>
            <a:r>
              <a:rPr lang="en-US" dirty="0"/>
              <a:t>) </a:t>
            </a:r>
            <a:r>
              <a:rPr lang="en-US" dirty="0" err="1"/>
              <a:t>gs</a:t>
            </a:r>
            <a:r>
              <a:rPr lang="en-US" dirty="0"/>
              <a:t> – provides methods to work with the system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 err="1"/>
              <a:t>gs.getUserId</a:t>
            </a:r>
            <a:r>
              <a:rPr lang="en-US" dirty="0"/>
              <a:t>(), </a:t>
            </a:r>
            <a:r>
              <a:rPr lang="en-US" dirty="0" err="1"/>
              <a:t>gs.getUserName</a:t>
            </a:r>
            <a:r>
              <a:rPr lang="en-US" dirty="0"/>
              <a:t>(), etc. </a:t>
            </a:r>
          </a:p>
        </p:txBody>
      </p:sp>
    </p:spTree>
    <p:extLst>
      <p:ext uri="{BB962C8B-B14F-4D97-AF65-F5344CB8AC3E}">
        <p14:creationId xmlns:p14="http://schemas.microsoft.com/office/powerpoint/2010/main" val="22993655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22BB24-BB3D-B62A-7E4A-A8F3AF3EB7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UI Actions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6BA70F7-D068-A806-DC4A-14FDAC68AA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3392" y="1885561"/>
            <a:ext cx="9465215" cy="48282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915150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38C497-4C0D-B4BC-D2CE-0562B6A31C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UI Actions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CFEA26-1BFA-DC7F-5D11-3255110A13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00296" y="1911178"/>
            <a:ext cx="8791408" cy="1013800"/>
          </a:xfrm>
        </p:spPr>
        <p:txBody>
          <a:bodyPr/>
          <a:lstStyle/>
          <a:p>
            <a:r>
              <a:rPr lang="en-US" dirty="0"/>
              <a:t>We have many UI elements we can create actions for</a:t>
            </a:r>
          </a:p>
          <a:p>
            <a:r>
              <a:rPr lang="en-US" dirty="0"/>
              <a:t>We then use scripts to set our UI Action into motion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669C266-2F19-5D9C-B43E-350910869E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8713" y="3261716"/>
            <a:ext cx="3225671" cy="314611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E5639B2-D20D-F89A-DED3-6F266C9CBF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00721" y="3647374"/>
            <a:ext cx="5579378" cy="25084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233888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65D1A3-EB14-96AF-11BD-8AE32DC07D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57C7B5-4378-A287-ECF8-E3C99931AC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76E537-8B47-250C-21CA-32EE7CB128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8730" y="2388699"/>
            <a:ext cx="5192079" cy="218330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Scenario: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an incident form button called ‘Create Problem’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The button should create a problem record and link the current incident to the problem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FEB3971-D328-5AFC-C17F-7FB7EFEF3CE6}"/>
              </a:ext>
            </a:extLst>
          </p:cNvPr>
          <p:cNvSpPr txBox="1">
            <a:spLocks/>
          </p:cNvSpPr>
          <p:nvPr/>
        </p:nvSpPr>
        <p:spPr>
          <a:xfrm>
            <a:off x="903921" y="2262799"/>
            <a:ext cx="4869350" cy="14844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r>
              <a:rPr lang="en-US" b="1" dirty="0"/>
              <a:t>Goal: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 UI Action</a:t>
            </a:r>
          </a:p>
        </p:txBody>
      </p:sp>
    </p:spTree>
    <p:extLst>
      <p:ext uri="{BB962C8B-B14F-4D97-AF65-F5344CB8AC3E}">
        <p14:creationId xmlns:p14="http://schemas.microsoft.com/office/powerpoint/2010/main" val="68296552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1F7AF9-592E-7436-5FAC-F82C171543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Script Includes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F831E6-7F84-0EBB-3D82-2804CEE4BA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6041" y="2081883"/>
            <a:ext cx="4117644" cy="4453387"/>
          </a:xfrm>
        </p:spPr>
        <p:txBody>
          <a:bodyPr/>
          <a:lstStyle/>
          <a:p>
            <a:r>
              <a:rPr lang="en-US" dirty="0"/>
              <a:t>Definition: A </a:t>
            </a:r>
            <a:r>
              <a:rPr lang="en-US" dirty="0">
                <a:solidFill>
                  <a:schemeClr val="accent2"/>
                </a:solidFill>
              </a:rPr>
              <a:t>Script Include </a:t>
            </a:r>
            <a:r>
              <a:rPr lang="en-US" dirty="0"/>
              <a:t>is a JavaScript class or function that runs server-side </a:t>
            </a:r>
          </a:p>
          <a:p>
            <a:pPr lvl="1"/>
            <a:r>
              <a:rPr lang="en-US" dirty="0"/>
              <a:t>Helps us organize logic </a:t>
            </a:r>
          </a:p>
          <a:p>
            <a:pPr lvl="1"/>
            <a:r>
              <a:rPr lang="en-US" dirty="0"/>
              <a:t>Promotes DRY principles </a:t>
            </a:r>
          </a:p>
          <a:p>
            <a:pPr lvl="1"/>
            <a:r>
              <a:rPr lang="en-US" dirty="0"/>
              <a:t>Triggered by other scripts on the server or client </a:t>
            </a:r>
          </a:p>
          <a:p>
            <a:pPr lvl="1"/>
            <a:r>
              <a:rPr lang="en-US" dirty="0"/>
              <a:t>Can take in parameters to be used in the script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384CABF-E222-A7CD-B20E-223119D294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3685" y="2329987"/>
            <a:ext cx="7197327" cy="3897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736760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A61C9B-1CDE-A4AF-8CFF-45F752A7EC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148044-64A6-7B30-62BB-D634F74976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1A9CF2-9FBD-B54F-FDCC-AFC43D3C33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8730" y="2388699"/>
            <a:ext cx="5192079" cy="210261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Scenario: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 Script Include that takes in the string value of a </a:t>
            </a:r>
            <a:r>
              <a:rPr lang="en-US" dirty="0" err="1">
                <a:ea typeface="+mn-lt"/>
                <a:cs typeface="+mn-lt"/>
              </a:rPr>
              <a:t>sys_user_group</a:t>
            </a:r>
            <a:r>
              <a:rPr lang="en-US" dirty="0">
                <a:ea typeface="+mn-lt"/>
                <a:cs typeface="+mn-lt"/>
              </a:rPr>
              <a:t> ‘name’ field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The script should query for and then return the </a:t>
            </a:r>
            <a:r>
              <a:rPr lang="en-US" dirty="0" err="1">
                <a:ea typeface="+mn-lt"/>
                <a:cs typeface="+mn-lt"/>
              </a:rPr>
              <a:t>sys_id</a:t>
            </a:r>
            <a:r>
              <a:rPr lang="en-US" dirty="0">
                <a:ea typeface="+mn-lt"/>
                <a:cs typeface="+mn-lt"/>
              </a:rPr>
              <a:t> of the record that matches our query 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0941E9AD-58A8-883B-AF0D-7FEDA4FF6B46}"/>
              </a:ext>
            </a:extLst>
          </p:cNvPr>
          <p:cNvSpPr txBox="1">
            <a:spLocks/>
          </p:cNvSpPr>
          <p:nvPr/>
        </p:nvSpPr>
        <p:spPr>
          <a:xfrm>
            <a:off x="903921" y="2262799"/>
            <a:ext cx="4869350" cy="14844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r>
              <a:rPr lang="en-US" b="1" dirty="0"/>
              <a:t>Goal: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 Script Include</a:t>
            </a:r>
          </a:p>
        </p:txBody>
      </p:sp>
    </p:spTree>
    <p:extLst>
      <p:ext uri="{BB962C8B-B14F-4D97-AF65-F5344CB8AC3E}">
        <p14:creationId xmlns:p14="http://schemas.microsoft.com/office/powerpoint/2010/main" val="11211624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334122-0944-FBEA-8151-7CEF26F10E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Client Scripts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6F16D1-EBEE-3457-D05F-A713E4AC17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3506714" cy="4345810"/>
          </a:xfrm>
        </p:spPr>
        <p:txBody>
          <a:bodyPr/>
          <a:lstStyle/>
          <a:p>
            <a:r>
              <a:rPr lang="en-US" dirty="0"/>
              <a:t>Definition: A </a:t>
            </a:r>
            <a:r>
              <a:rPr lang="en-US" dirty="0">
                <a:solidFill>
                  <a:schemeClr val="accent2"/>
                </a:solidFill>
              </a:rPr>
              <a:t>Client Script </a:t>
            </a:r>
            <a:r>
              <a:rPr lang="en-US" dirty="0"/>
              <a:t>is used to make real-time changes to the appearance and behavior of UI elements, usually forms </a:t>
            </a:r>
          </a:p>
          <a:p>
            <a:pPr lvl="1"/>
            <a:r>
              <a:rPr lang="en-US" dirty="0"/>
              <a:t>Runs client-side</a:t>
            </a:r>
          </a:p>
          <a:p>
            <a:pPr lvl="1"/>
            <a:r>
              <a:rPr lang="en-US" dirty="0"/>
              <a:t>Make fields visible based on conditions </a:t>
            </a:r>
          </a:p>
          <a:p>
            <a:pPr lvl="1"/>
            <a:r>
              <a:rPr lang="en-US" dirty="0"/>
              <a:t>Auto-populate fields based on conditions </a:t>
            </a:r>
          </a:p>
          <a:p>
            <a:pPr lvl="1"/>
            <a:r>
              <a:rPr lang="en-US" dirty="0"/>
              <a:t>4 types: </a:t>
            </a:r>
            <a:r>
              <a:rPr lang="en-US" dirty="0" err="1"/>
              <a:t>onCellEdit</a:t>
            </a:r>
            <a:r>
              <a:rPr lang="en-US" dirty="0"/>
              <a:t>, </a:t>
            </a:r>
            <a:r>
              <a:rPr lang="en-US" dirty="0" err="1"/>
              <a:t>onChange</a:t>
            </a:r>
            <a:r>
              <a:rPr lang="en-US" dirty="0"/>
              <a:t>, onload, </a:t>
            </a:r>
            <a:r>
              <a:rPr lang="en-US" dirty="0" err="1"/>
              <a:t>onSubmit</a:t>
            </a:r>
            <a:r>
              <a:rPr lang="en-US" dirty="0"/>
              <a:t>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15454FB-637A-3E54-3572-40ACBBA59D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68588" y="1930787"/>
            <a:ext cx="7709872" cy="46898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707739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369DF9-31AA-9CD8-8E55-85E24884EB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GLideAjax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66F2AD-5D68-B770-65EE-CC602BBEFF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607528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Definition: </a:t>
            </a:r>
            <a:r>
              <a:rPr lang="en-US" dirty="0" err="1">
                <a:solidFill>
                  <a:schemeClr val="accent2"/>
                </a:solidFill>
              </a:rPr>
              <a:t>GlideAjax</a:t>
            </a:r>
            <a:r>
              <a:rPr lang="en-US" dirty="0"/>
              <a:t> is used to call server-side script includes from client-side scripts</a:t>
            </a:r>
          </a:p>
          <a:p>
            <a:pPr lvl="1"/>
            <a:r>
              <a:rPr lang="en-US" dirty="0"/>
              <a:t>Notice how we pass parameters – ‘</a:t>
            </a:r>
            <a:r>
              <a:rPr lang="en-US" dirty="0" err="1"/>
              <a:t>sysparm_name</a:t>
            </a:r>
            <a:r>
              <a:rPr lang="en-US" dirty="0"/>
              <a:t>’ represents the function in the script include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7778735-F117-9736-1A19-B0077071AB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8423" y="3540094"/>
            <a:ext cx="5401429" cy="290553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A59CEAB-2FCB-AE36-E1FC-64C0FE97AA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277" y="3485406"/>
            <a:ext cx="5195099" cy="292566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DDAF6D9-6E78-A493-BE27-45FAA8B1CBD0}"/>
              </a:ext>
            </a:extLst>
          </p:cNvPr>
          <p:cNvSpPr txBox="1"/>
          <p:nvPr/>
        </p:nvSpPr>
        <p:spPr>
          <a:xfrm>
            <a:off x="572227" y="3116074"/>
            <a:ext cx="15103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Script Include: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86283E3-1217-B9AA-E234-75CDB69B0554}"/>
              </a:ext>
            </a:extLst>
          </p:cNvPr>
          <p:cNvSpPr txBox="1"/>
          <p:nvPr/>
        </p:nvSpPr>
        <p:spPr>
          <a:xfrm>
            <a:off x="6044977" y="3116074"/>
            <a:ext cx="14520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Client Script:</a:t>
            </a:r>
          </a:p>
        </p:txBody>
      </p:sp>
    </p:spTree>
    <p:extLst>
      <p:ext uri="{BB962C8B-B14F-4D97-AF65-F5344CB8AC3E}">
        <p14:creationId xmlns:p14="http://schemas.microsoft.com/office/powerpoint/2010/main" val="20936471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3FA8C2-1923-A32A-356E-512C3A30F2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FCB010-5399-A440-41BA-86D4519D10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A12730-ED26-898E-0B36-4A80B17D00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8730" y="2388699"/>
            <a:ext cx="5192079" cy="256878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Scenario: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 Client Script that runs when incident ‘Category’ is ‘Inquiry/Help’ and ‘Subcategory’ is ‘Email’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The Assignment Group should be set to ‘Help Desk’ 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BBC62365-8838-FB1F-8C7F-BC52DE49AA17}"/>
              </a:ext>
            </a:extLst>
          </p:cNvPr>
          <p:cNvSpPr txBox="1">
            <a:spLocks/>
          </p:cNvSpPr>
          <p:nvPr/>
        </p:nvSpPr>
        <p:spPr>
          <a:xfrm>
            <a:off x="903921" y="2262799"/>
            <a:ext cx="4869350" cy="14844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r>
              <a:rPr lang="en-US" b="1" dirty="0"/>
              <a:t>Goal: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 Client Script</a:t>
            </a:r>
          </a:p>
        </p:txBody>
      </p:sp>
    </p:spTree>
    <p:extLst>
      <p:ext uri="{BB962C8B-B14F-4D97-AF65-F5344CB8AC3E}">
        <p14:creationId xmlns:p14="http://schemas.microsoft.com/office/powerpoint/2010/main" val="338533166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999F74-27B1-BD68-5883-240A9F7238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Execution Order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8422CF-0CFE-FF80-6C22-4901B64EB19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97302" y="2252213"/>
            <a:ext cx="7397395" cy="367830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dirty="0">
                <a:hlinkClick r:id="rId2"/>
              </a:rPr>
              <a:t>DOCS Reference</a:t>
            </a:r>
            <a:endParaRPr lang="en-US" dirty="0"/>
          </a:p>
          <a:p>
            <a:r>
              <a:rPr lang="en-US" dirty="0"/>
              <a:t>Before Business Rules (with order less than 1000)</a:t>
            </a:r>
          </a:p>
          <a:p>
            <a:r>
              <a:rPr lang="en-US" dirty="0"/>
              <a:t>Before Engines: i.e. assignment rules, escalations, role assignments</a:t>
            </a:r>
          </a:p>
          <a:p>
            <a:r>
              <a:rPr lang="en-US" dirty="0"/>
              <a:t>Before Business Rules (with order over 1000)</a:t>
            </a:r>
          </a:p>
          <a:p>
            <a:r>
              <a:rPr lang="en-US" dirty="0"/>
              <a:t>The database operation (insert, update, delete)</a:t>
            </a:r>
          </a:p>
          <a:p>
            <a:r>
              <a:rPr lang="en-US" dirty="0"/>
              <a:t>After Business Rules (with order less than 1000)</a:t>
            </a:r>
          </a:p>
          <a:p>
            <a:r>
              <a:rPr lang="en-US" dirty="0"/>
              <a:t>After Engines: i.e. role check again here, Flow triggers</a:t>
            </a:r>
          </a:p>
          <a:p>
            <a:r>
              <a:rPr lang="en-US" dirty="0"/>
              <a:t>Email Notifications &amp; Events</a:t>
            </a:r>
          </a:p>
          <a:p>
            <a:r>
              <a:rPr lang="en-US" dirty="0"/>
              <a:t>After Business Rules (with order greater than 1000)</a:t>
            </a:r>
          </a:p>
        </p:txBody>
      </p:sp>
    </p:spTree>
    <p:extLst>
      <p:ext uri="{BB962C8B-B14F-4D97-AF65-F5344CB8AC3E}">
        <p14:creationId xmlns:p14="http://schemas.microsoft.com/office/powerpoint/2010/main" val="335544415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2143C3-AEEC-F186-0161-3966855A63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Business Rules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5B6D83-0AF7-FEA8-11D4-3CD89D832D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556916"/>
          </a:xfrm>
        </p:spPr>
        <p:txBody>
          <a:bodyPr/>
          <a:lstStyle/>
          <a:p>
            <a:r>
              <a:rPr lang="en-US" dirty="0"/>
              <a:t>Definition: A </a:t>
            </a:r>
            <a:r>
              <a:rPr lang="en-US" dirty="0">
                <a:solidFill>
                  <a:schemeClr val="accent2"/>
                </a:solidFill>
              </a:rPr>
              <a:t>Business Rule </a:t>
            </a:r>
            <a:r>
              <a:rPr lang="en-US" dirty="0"/>
              <a:t>runs when a CRUD trigger occurs, it will then set a field value</a:t>
            </a:r>
          </a:p>
          <a:p>
            <a:pPr lvl="1"/>
            <a:r>
              <a:rPr lang="en-US" dirty="0"/>
              <a:t>Can be configured to trigger when a record is viewed, inserted, updated, deleted, or when a table is queried</a:t>
            </a:r>
          </a:p>
          <a:p>
            <a:pPr lvl="1"/>
            <a:r>
              <a:rPr lang="en-US" dirty="0"/>
              <a:t>Sets field values based on criteria provided </a:t>
            </a:r>
          </a:p>
          <a:p>
            <a:pPr lvl="1"/>
            <a:r>
              <a:rPr lang="en-US" dirty="0"/>
              <a:t>Runs server-side </a:t>
            </a:r>
          </a:p>
          <a:p>
            <a:r>
              <a:rPr lang="en-US" dirty="0"/>
              <a:t>There are 4 types of Business Rules:</a:t>
            </a:r>
          </a:p>
          <a:p>
            <a:pPr lvl="1"/>
            <a:r>
              <a:rPr lang="en-US" dirty="0"/>
              <a:t>Before – executes before a record is inserted, updated, etc.</a:t>
            </a:r>
          </a:p>
          <a:p>
            <a:pPr lvl="1"/>
            <a:r>
              <a:rPr lang="en-US" dirty="0"/>
              <a:t>After – executes after a record is inserted, updated, etc. </a:t>
            </a:r>
          </a:p>
          <a:p>
            <a:pPr lvl="1"/>
            <a:r>
              <a:rPr lang="en-US" dirty="0"/>
              <a:t>Async – executes when resources become available, so the client isn’t waiting on the server</a:t>
            </a:r>
          </a:p>
          <a:p>
            <a:pPr lvl="1"/>
            <a:r>
              <a:rPr lang="en-US" dirty="0"/>
              <a:t>Display – executes before the record is displayed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D9D4D98-D721-27F7-C579-F95721D01ECB}"/>
              </a:ext>
            </a:extLst>
          </p:cNvPr>
          <p:cNvSpPr txBox="1"/>
          <p:nvPr/>
        </p:nvSpPr>
        <p:spPr>
          <a:xfrm>
            <a:off x="2585551" y="5855921"/>
            <a:ext cx="702089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2"/>
                </a:solidFill>
              </a:rPr>
              <a:t>BEST PRACTICES: </a:t>
            </a:r>
          </a:p>
          <a:p>
            <a:pPr marL="342900" indent="-342900">
              <a:buAutoNum type="arabicPeriod"/>
            </a:pPr>
            <a:r>
              <a:rPr lang="en-US" dirty="0"/>
              <a:t>Consider if you can use a Flow instead!</a:t>
            </a:r>
          </a:p>
          <a:p>
            <a:pPr marL="342900" indent="-342900">
              <a:buAutoNum type="arabicPeriod"/>
            </a:pPr>
            <a:r>
              <a:rPr lang="en-US" dirty="0"/>
              <a:t>If using scripts, avoid </a:t>
            </a:r>
            <a:r>
              <a:rPr lang="en-US" dirty="0" err="1"/>
              <a:t>current.update</a:t>
            </a:r>
            <a:r>
              <a:rPr lang="en-US" dirty="0"/>
              <a:t>() to avoid recursive business rule!</a:t>
            </a:r>
          </a:p>
        </p:txBody>
      </p:sp>
    </p:spTree>
    <p:extLst>
      <p:ext uri="{BB962C8B-B14F-4D97-AF65-F5344CB8AC3E}">
        <p14:creationId xmlns:p14="http://schemas.microsoft.com/office/powerpoint/2010/main" val="255665116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FC13EC-12C4-55A6-0BB2-723A67B418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Business Rules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5D16A2-A522-D5B2-B2CD-2FD7FD4DFB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2807466" cy="4318916"/>
          </a:xfrm>
        </p:spPr>
        <p:txBody>
          <a:bodyPr/>
          <a:lstStyle/>
          <a:p>
            <a:r>
              <a:rPr lang="en-US" dirty="0"/>
              <a:t>If no roles are set it will run for everyone </a:t>
            </a:r>
          </a:p>
          <a:p>
            <a:r>
              <a:rPr lang="en-US" dirty="0"/>
              <a:t>Set fields on the ‘Actions’ tab</a:t>
            </a:r>
          </a:p>
          <a:p>
            <a:r>
              <a:rPr lang="en-US" dirty="0"/>
              <a:t>Create scripts on the ‘Advanced’ tab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E953F82-75E8-E187-E0C2-3E817253D9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7953" y="1962060"/>
            <a:ext cx="8355106" cy="46959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739242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1078FA-8D27-B319-8635-61AE426E10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F1F257-90AE-4A55-06AF-52F248DE14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4E9F76-D2C9-55A0-E37A-9691AC4FFB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8730" y="2388698"/>
            <a:ext cx="5192079" cy="39941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Scenario: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 Business Rule that runs when incident ‘Category’ is ‘Inquiry/Help’ and ‘Subcategory’ is ‘Email’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The Assignment Group should be set to ‘Help Desk’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What’s the difference between this and the client script + script include?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Impersonate a user with the ITIL role. Do both the client script &amp; business rule work? Why or why not?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0D5236AE-8F52-7DFE-5B7C-AF5EF5F331C1}"/>
              </a:ext>
            </a:extLst>
          </p:cNvPr>
          <p:cNvSpPr txBox="1">
            <a:spLocks/>
          </p:cNvSpPr>
          <p:nvPr/>
        </p:nvSpPr>
        <p:spPr>
          <a:xfrm>
            <a:off x="903921" y="2262799"/>
            <a:ext cx="4869350" cy="14844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r>
              <a:rPr lang="en-US" b="1" dirty="0"/>
              <a:t>Goal: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 Business Rule</a:t>
            </a:r>
          </a:p>
        </p:txBody>
      </p:sp>
    </p:spTree>
    <p:extLst>
      <p:ext uri="{BB962C8B-B14F-4D97-AF65-F5344CB8AC3E}">
        <p14:creationId xmlns:p14="http://schemas.microsoft.com/office/powerpoint/2010/main" val="192048330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D5A89F-990D-5D9C-3C54-487C1DDEFD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Best Practice Review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A1C5EC-00AE-F036-C30B-92BEC3815D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6303702" cy="4546875"/>
          </a:xfrm>
        </p:spPr>
        <p:txBody>
          <a:bodyPr>
            <a:normAutofit lnSpcReduction="10000"/>
          </a:bodyPr>
          <a:lstStyle/>
          <a:p>
            <a:r>
              <a:rPr lang="en-US" dirty="0"/>
              <a:t>Use Assignment Rules for core, reusable “who should own this ticket” logic (but other tools may be better suited because assignment rules don’t work unless assignment fields are empty)</a:t>
            </a:r>
          </a:p>
          <a:p>
            <a:r>
              <a:rPr lang="en-US" dirty="0"/>
              <a:t>Use Client Scripts for form-level interactivity only (don’t rely on them for actual record data integrity)</a:t>
            </a:r>
          </a:p>
          <a:p>
            <a:r>
              <a:rPr lang="en-US" dirty="0"/>
              <a:t>Use Flows when logic depends on record inserts or updates, advanced workflow conditions, or integrations</a:t>
            </a:r>
          </a:p>
          <a:p>
            <a:r>
              <a:rPr lang="en-US" dirty="0"/>
              <a:t>Use Business Rules when logic depends on record inserts, updates, deletions, advanced workflow conditions, or integrations (we can just call a flow from the business rule via script as a workaround)</a:t>
            </a:r>
          </a:p>
          <a:p>
            <a:r>
              <a:rPr lang="en-US" dirty="0"/>
              <a:t>Never mix ‘</a:t>
            </a:r>
            <a:r>
              <a:rPr lang="en-US" dirty="0" err="1"/>
              <a:t>assigned_to</a:t>
            </a:r>
            <a:r>
              <a:rPr lang="en-US" dirty="0"/>
              <a:t>’ or ‘</a:t>
            </a:r>
            <a:r>
              <a:rPr lang="en-US" dirty="0" err="1"/>
              <a:t>assignment_group</a:t>
            </a:r>
            <a:r>
              <a:rPr lang="en-US" dirty="0"/>
              <a:t>’ setting logic in multiple places for the same condition — pick one place to avoid confusion.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451FCC6-5DC7-0CDE-824A-5B919CEBF0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7854" y="2491617"/>
            <a:ext cx="3784006" cy="170059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415EED9-8DED-649B-D939-8FA07A5DC7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36369" y="4935794"/>
            <a:ext cx="1171739" cy="164805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1729E31-BBFA-F0E3-7599-6E16E81D557A}"/>
              </a:ext>
            </a:extLst>
          </p:cNvPr>
          <p:cNvSpPr txBox="1"/>
          <p:nvPr/>
        </p:nvSpPr>
        <p:spPr>
          <a:xfrm>
            <a:off x="7630886" y="2180496"/>
            <a:ext cx="6873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Flow: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5C87F5C-D3EF-7E09-196B-E1B6B1C8C012}"/>
              </a:ext>
            </a:extLst>
          </p:cNvPr>
          <p:cNvSpPr txBox="1"/>
          <p:nvPr/>
        </p:nvSpPr>
        <p:spPr>
          <a:xfrm>
            <a:off x="7566285" y="4503332"/>
            <a:ext cx="1503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Business Rule:</a:t>
            </a:r>
          </a:p>
        </p:txBody>
      </p:sp>
    </p:spTree>
    <p:extLst>
      <p:ext uri="{BB962C8B-B14F-4D97-AF65-F5344CB8AC3E}">
        <p14:creationId xmlns:p14="http://schemas.microsoft.com/office/powerpoint/2010/main" val="154345155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1E25E2-0D66-2345-9408-2C06F797BC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10AB52-DA2F-14B0-D7A8-F8ED8E2616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9546FF-96DA-4677-92DB-C605A907EC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8730" y="2388698"/>
            <a:ext cx="5192079" cy="221595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Scenario: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The CAB team wants to ensure that high-risk changes require a documented backout plan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What tool should we use? Why?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Hint: The change table is [</a:t>
            </a:r>
            <a:r>
              <a:rPr lang="en-US" dirty="0" err="1">
                <a:ea typeface="+mn-lt"/>
                <a:cs typeface="+mn-lt"/>
              </a:rPr>
              <a:t>change_request</a:t>
            </a:r>
            <a:r>
              <a:rPr lang="en-US" dirty="0">
                <a:ea typeface="+mn-lt"/>
                <a:cs typeface="+mn-lt"/>
              </a:rPr>
              <a:t>]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8F2FE94-915A-4466-5C65-483F298C77B5}"/>
              </a:ext>
            </a:extLst>
          </p:cNvPr>
          <p:cNvSpPr txBox="1">
            <a:spLocks/>
          </p:cNvSpPr>
          <p:nvPr/>
        </p:nvSpPr>
        <p:spPr>
          <a:xfrm>
            <a:off x="903921" y="2262799"/>
            <a:ext cx="4869350" cy="14844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r>
              <a:rPr lang="en-US" b="1" dirty="0"/>
              <a:t>Goal: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Solve a business case</a:t>
            </a:r>
          </a:p>
        </p:txBody>
      </p:sp>
    </p:spTree>
    <p:extLst>
      <p:ext uri="{BB962C8B-B14F-4D97-AF65-F5344CB8AC3E}">
        <p14:creationId xmlns:p14="http://schemas.microsoft.com/office/powerpoint/2010/main" val="274494753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084662-891B-D34F-00E5-903A5C2A42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A17D2B-2495-155A-A8BF-A9D59766B3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C09613-5C76-EB8E-821A-A0213CED08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8730" y="2388697"/>
            <a:ext cx="5192079" cy="426247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Scenario: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The Service Operations team wants the department of an incident caller to populate on the incident record when the caller is selected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Not just the text value of the department, this should be a reference field that directly links to the department record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Hint: We should NOT use a dot-walked field via Form Builder, that would break a best practice of having 2 of the same referenced record in a form. i.e. having both </a:t>
            </a:r>
            <a:r>
              <a:rPr lang="en-US" dirty="0" err="1">
                <a:ea typeface="+mn-lt"/>
                <a:cs typeface="+mn-lt"/>
              </a:rPr>
              <a:t>caller_id</a:t>
            </a:r>
            <a:r>
              <a:rPr lang="en-US" dirty="0">
                <a:ea typeface="+mn-lt"/>
                <a:cs typeface="+mn-lt"/>
              </a:rPr>
              <a:t> AND </a:t>
            </a:r>
            <a:r>
              <a:rPr lang="en-US" dirty="0" err="1">
                <a:ea typeface="+mn-lt"/>
                <a:cs typeface="+mn-lt"/>
              </a:rPr>
              <a:t>caller_id.department</a:t>
            </a:r>
            <a:r>
              <a:rPr lang="en-US" dirty="0">
                <a:ea typeface="+mn-lt"/>
                <a:cs typeface="+mn-lt"/>
              </a:rPr>
              <a:t> on the form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What tool should we use? Why?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405E98AA-23E7-339C-3C0F-042C76240A11}"/>
              </a:ext>
            </a:extLst>
          </p:cNvPr>
          <p:cNvSpPr txBox="1">
            <a:spLocks/>
          </p:cNvSpPr>
          <p:nvPr/>
        </p:nvSpPr>
        <p:spPr>
          <a:xfrm>
            <a:off x="903921" y="2110399"/>
            <a:ext cx="4869350" cy="14844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r>
              <a:rPr lang="en-US" b="1" dirty="0"/>
              <a:t>Goal: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Solve a business case</a:t>
            </a:r>
          </a:p>
        </p:txBody>
      </p:sp>
    </p:spTree>
    <p:extLst>
      <p:ext uri="{BB962C8B-B14F-4D97-AF65-F5344CB8AC3E}">
        <p14:creationId xmlns:p14="http://schemas.microsoft.com/office/powerpoint/2010/main" val="87563325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7DD06B-53A3-E5E7-85A0-2254D838DD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C7DF27-6ADD-2279-3E7C-3EA980E642C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Integrations</a:t>
            </a:r>
          </a:p>
        </p:txBody>
      </p:sp>
    </p:spTree>
    <p:extLst>
      <p:ext uri="{BB962C8B-B14F-4D97-AF65-F5344CB8AC3E}">
        <p14:creationId xmlns:p14="http://schemas.microsoft.com/office/powerpoint/2010/main" val="156502957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481D4A-8496-6011-6AAB-EBD40B6A46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Integration Options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494A98-907C-88E9-EA6C-EFED52E95A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Definition: </a:t>
            </a:r>
            <a:r>
              <a:rPr lang="en-US" dirty="0">
                <a:solidFill>
                  <a:schemeClr val="accent2"/>
                </a:solidFill>
              </a:rPr>
              <a:t>Inbound integrations </a:t>
            </a:r>
            <a:r>
              <a:rPr lang="en-US" dirty="0"/>
              <a:t>are when our ServiceNow instance accepts requests from external systems</a:t>
            </a:r>
          </a:p>
          <a:p>
            <a:r>
              <a:rPr lang="en-US" dirty="0"/>
              <a:t>Definition: </a:t>
            </a:r>
            <a:r>
              <a:rPr lang="en-US" dirty="0">
                <a:solidFill>
                  <a:schemeClr val="accent2"/>
                </a:solidFill>
              </a:rPr>
              <a:t>Outbound integrations </a:t>
            </a:r>
            <a:r>
              <a:rPr lang="en-US" dirty="0"/>
              <a:t>are when our ServiceNow instance makes requests to external systems </a:t>
            </a:r>
          </a:p>
        </p:txBody>
      </p:sp>
    </p:spTree>
    <p:extLst>
      <p:ext uri="{BB962C8B-B14F-4D97-AF65-F5344CB8AC3E}">
        <p14:creationId xmlns:p14="http://schemas.microsoft.com/office/powerpoint/2010/main" val="214251777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DCA843-AABC-E7C6-10E8-2FA4533448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Inbound Options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7FBFBF-6605-B2E4-F7A7-CD5E5ED580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1" y="1995439"/>
            <a:ext cx="11029615" cy="4481561"/>
          </a:xfrm>
        </p:spPr>
        <p:txBody>
          <a:bodyPr>
            <a:normAutofit lnSpcReduction="10000"/>
          </a:bodyPr>
          <a:lstStyle/>
          <a:p>
            <a:r>
              <a:rPr lang="en-US" dirty="0"/>
              <a:t>REST APIs</a:t>
            </a:r>
          </a:p>
          <a:p>
            <a:pPr lvl="1"/>
            <a:r>
              <a:rPr lang="en-US" dirty="0"/>
              <a:t>REST API Explorer – discover and test ServiceNow’s REST APIs</a:t>
            </a:r>
          </a:p>
          <a:p>
            <a:pPr lvl="1"/>
            <a:r>
              <a:rPr lang="en-US" dirty="0"/>
              <a:t>Scripted REST APIs – build your own endpoints with custom logic </a:t>
            </a:r>
          </a:p>
          <a:p>
            <a:r>
              <a:rPr lang="en-US" dirty="0"/>
              <a:t>SOAP APIs</a:t>
            </a:r>
          </a:p>
          <a:p>
            <a:pPr lvl="1"/>
            <a:r>
              <a:rPr lang="en-US" dirty="0"/>
              <a:t> Scripted SOAP APIs – build your own SOAP endpoints with custom logic</a:t>
            </a:r>
          </a:p>
          <a:p>
            <a:r>
              <a:rPr lang="en-US" dirty="0"/>
              <a:t>Import Sets – batch or schedule data imports into ServiceNow tables (REST – </a:t>
            </a:r>
            <a:r>
              <a:rPr lang="en-US" dirty="0" err="1"/>
              <a:t>IntegrationHub</a:t>
            </a:r>
            <a:r>
              <a:rPr lang="en-US" dirty="0"/>
              <a:t> option available)</a:t>
            </a:r>
          </a:p>
          <a:p>
            <a:r>
              <a:rPr lang="en-US" dirty="0"/>
              <a:t>Email Inbound Actions – use scripts to interpret received email and then create or update records </a:t>
            </a:r>
          </a:p>
          <a:p>
            <a:r>
              <a:rPr lang="en-US" dirty="0" err="1"/>
              <a:t>IntegrationHub</a:t>
            </a:r>
            <a:r>
              <a:rPr lang="en-US" dirty="0"/>
              <a:t> (Flow Designer) – use REST triggers to launch a flow from a REST request</a:t>
            </a:r>
          </a:p>
          <a:p>
            <a:r>
              <a:rPr lang="en-US" dirty="0" err="1"/>
              <a:t>IntegrationHub</a:t>
            </a:r>
            <a:r>
              <a:rPr lang="en-US" dirty="0"/>
              <a:t> (Import Tool) – schedule batched record imports from files or external systems</a:t>
            </a:r>
          </a:p>
          <a:p>
            <a:r>
              <a:rPr lang="en-US" dirty="0"/>
              <a:t>MID Server – bridge ServiceNow and on-premises systems</a:t>
            </a:r>
          </a:p>
          <a:p>
            <a:r>
              <a:rPr lang="en-US" dirty="0"/>
              <a:t>Application Registry – these records define our authentication scheme for OAuth 2.0 </a:t>
            </a:r>
          </a:p>
          <a:p>
            <a:pPr lvl="1"/>
            <a:r>
              <a:rPr lang="en-US" dirty="0"/>
              <a:t>Any external system will need to pass through our Application Registry to get an authorization token and an access token</a:t>
            </a:r>
          </a:p>
        </p:txBody>
      </p:sp>
    </p:spTree>
    <p:extLst>
      <p:ext uri="{BB962C8B-B14F-4D97-AF65-F5344CB8AC3E}">
        <p14:creationId xmlns:p14="http://schemas.microsoft.com/office/powerpoint/2010/main" val="74296917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A295F1-E4E6-083B-7D0E-9272288127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REST API Explorer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1F083F-F75B-F5B3-B8EC-6D960AA50E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69124" y="1982560"/>
            <a:ext cx="6853750" cy="796652"/>
          </a:xfrm>
        </p:spPr>
        <p:txBody>
          <a:bodyPr>
            <a:normAutofit/>
          </a:bodyPr>
          <a:lstStyle/>
          <a:p>
            <a:r>
              <a:rPr lang="en-US" dirty="0"/>
              <a:t>Use the REST API Explorer to test REST endpoints on your instance</a:t>
            </a:r>
          </a:p>
          <a:p>
            <a:r>
              <a:rPr lang="en-US" dirty="0"/>
              <a:t>Offers guidance on how to construct requests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0B879BD-A38A-FD87-0C93-BF42548DE5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916" y="2855412"/>
            <a:ext cx="10340167" cy="37659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269013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E18500-8E01-950C-1C41-3654DE8125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Scripted Web Services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4CADFF-1DE0-6028-B289-B55F1732EF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4653281" cy="3678303"/>
          </a:xfrm>
        </p:spPr>
        <p:txBody>
          <a:bodyPr/>
          <a:lstStyle/>
          <a:p>
            <a:r>
              <a:rPr lang="en-US" dirty="0"/>
              <a:t>Scripted REST APIs &amp; Scripted SOAP Services both contain logic to handle custom requests</a:t>
            </a:r>
          </a:p>
          <a:p>
            <a:r>
              <a:rPr lang="en-US" dirty="0"/>
              <a:t>These are endpoints that developers define, and we use scripts to determine how to handle the request and what we send back as the response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1836E03-FB0C-C509-25A4-B728BE1224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0889" y="1938977"/>
            <a:ext cx="2191056" cy="126700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6AE2CE7-955C-4910-08E5-4A34077C12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51713" y="3429000"/>
            <a:ext cx="5598343" cy="30518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152624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A3B712-7B9A-FC09-C8C1-F468C2F354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IntegrationHub</a:t>
            </a:r>
            <a:r>
              <a:rPr lang="en-US" dirty="0"/>
              <a:t> Enterprise License - REST API Trigger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A9C53E6-7E2C-620C-C11D-DDE603E1E5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6967" y="2111829"/>
            <a:ext cx="8221118" cy="43063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0726007-289D-54DD-7CCD-1B23C8EB48D5}"/>
              </a:ext>
            </a:extLst>
          </p:cNvPr>
          <p:cNvSpPr txBox="1"/>
          <p:nvPr/>
        </p:nvSpPr>
        <p:spPr>
          <a:xfrm>
            <a:off x="457200" y="2778501"/>
            <a:ext cx="2950029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Requires </a:t>
            </a:r>
            <a:r>
              <a:rPr lang="en-US" dirty="0" err="1"/>
              <a:t>IntegrationHub</a:t>
            </a:r>
            <a:r>
              <a:rPr lang="en-US" dirty="0"/>
              <a:t> Enterprise License</a:t>
            </a:r>
          </a:p>
          <a:p>
            <a:pPr marL="742950" lvl="1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Install from developer site for PDIs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Launch Flows from a REST request</a:t>
            </a:r>
          </a:p>
        </p:txBody>
      </p:sp>
    </p:spTree>
    <p:extLst>
      <p:ext uri="{BB962C8B-B14F-4D97-AF65-F5344CB8AC3E}">
        <p14:creationId xmlns:p14="http://schemas.microsoft.com/office/powerpoint/2010/main" val="148695736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BEB77B-A818-7F51-9CB5-27E0A1227F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IntegrationHub</a:t>
            </a:r>
            <a:r>
              <a:rPr lang="en-US" dirty="0"/>
              <a:t> Import Tool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560CF04-DF2F-1950-6EAE-EEAA5152CD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64427" y="2100046"/>
            <a:ext cx="7965155" cy="371485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98D4C4C-D8D5-4642-0510-E07C57E53D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61998" y="4393590"/>
            <a:ext cx="3467584" cy="222916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9DBB781-50B8-0579-2C23-55E3AA795A34}"/>
              </a:ext>
            </a:extLst>
          </p:cNvPr>
          <p:cNvSpPr txBox="1"/>
          <p:nvPr/>
        </p:nvSpPr>
        <p:spPr>
          <a:xfrm>
            <a:off x="362418" y="2830286"/>
            <a:ext cx="3088353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Map external data to tables via transform mapping, just like Import Sets 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We can use Spokes to import record data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Uses the underlying Import Set features but has a more modern UI 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Executes scripts before or after imports</a:t>
            </a:r>
          </a:p>
        </p:txBody>
      </p:sp>
    </p:spTree>
    <p:extLst>
      <p:ext uri="{BB962C8B-B14F-4D97-AF65-F5344CB8AC3E}">
        <p14:creationId xmlns:p14="http://schemas.microsoft.com/office/powerpoint/2010/main" val="120334361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F8E140-D467-0DB7-75DB-C3E40DC8BA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Application Registry &amp; </a:t>
            </a:r>
            <a:r>
              <a:rPr lang="en-US" dirty="0" err="1"/>
              <a:t>Oauth</a:t>
            </a:r>
            <a:r>
              <a:rPr lang="en-US" dirty="0"/>
              <a:t> Grant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E78EDF-D99E-D251-5865-64C152DA4B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61111" y="2584719"/>
            <a:ext cx="3881951" cy="3678303"/>
          </a:xfrm>
        </p:spPr>
        <p:txBody>
          <a:bodyPr/>
          <a:lstStyle/>
          <a:p>
            <a:r>
              <a:rPr lang="en-US" dirty="0"/>
              <a:t>Application Registries define how external system may authenticate with our instance</a:t>
            </a:r>
          </a:p>
          <a:p>
            <a:r>
              <a:rPr lang="en-US" dirty="0"/>
              <a:t>Authorization – directs user to instance for login; respects user ACLs</a:t>
            </a:r>
          </a:p>
          <a:p>
            <a:r>
              <a:rPr lang="en-US" dirty="0"/>
              <a:t>Client credentials – allows us to get an access token with only the client secret and ID; usually used for machine-to-machine communication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7CCA791-75EA-373D-0E12-7A4DE628E3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3819" y="1965508"/>
            <a:ext cx="1867161" cy="61921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C499323-160E-BA1B-49C2-2D637E56AD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0442" y="2075060"/>
            <a:ext cx="1562318" cy="40010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D3A0AD7-2CD8-4236-BAC4-36B5654935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2993583"/>
            <a:ext cx="3774731" cy="34511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718831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84DD7-AD9C-351C-4447-0A988085BD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Proof Key for Code Exchange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44D709-2C72-6A43-3074-B6BAC4F4A2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Definition: </a:t>
            </a:r>
            <a:r>
              <a:rPr lang="en-US" dirty="0">
                <a:solidFill>
                  <a:schemeClr val="accent2"/>
                </a:solidFill>
              </a:rPr>
              <a:t>Proof Key for Code Exchange (PKCE) </a:t>
            </a:r>
            <a:r>
              <a:rPr lang="en-US" dirty="0"/>
              <a:t>is an extension to the OAuth 2.0 flow that makes it more secure</a:t>
            </a:r>
          </a:p>
          <a:p>
            <a:pPr lvl="1"/>
            <a:r>
              <a:rPr lang="en-US" dirty="0"/>
              <a:t>Pronounced as ‘pixie’</a:t>
            </a:r>
          </a:p>
          <a:p>
            <a:pPr lvl="1"/>
            <a:r>
              <a:rPr lang="en-US" dirty="0"/>
              <a:t>Used on SPAs or mobile apps where we can’t safely store a client secret</a:t>
            </a:r>
          </a:p>
          <a:p>
            <a:pPr lvl="1"/>
            <a:r>
              <a:rPr lang="en-US" dirty="0"/>
              <a:t>Required in OAuth 2.1</a:t>
            </a:r>
          </a:p>
          <a:p>
            <a:pPr lvl="1"/>
            <a:r>
              <a:rPr lang="en-US" dirty="0"/>
              <a:t>Not a language or specific code – it’s a standard to be implemented in our code</a:t>
            </a:r>
          </a:p>
        </p:txBody>
      </p:sp>
    </p:spTree>
    <p:extLst>
      <p:ext uri="{BB962C8B-B14F-4D97-AF65-F5344CB8AC3E}">
        <p14:creationId xmlns:p14="http://schemas.microsoft.com/office/powerpoint/2010/main" val="381362714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E813ED-D113-1AC0-341C-D4B330E9DA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When Not Using PKCE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BFDF51B-0269-199F-8F46-B9DCA297BA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9290" y="2259430"/>
            <a:ext cx="7953420" cy="459857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22EAAD0-917E-DC25-B332-F84DF2883003}"/>
              </a:ext>
            </a:extLst>
          </p:cNvPr>
          <p:cNvSpPr txBox="1"/>
          <p:nvPr/>
        </p:nvSpPr>
        <p:spPr>
          <a:xfrm>
            <a:off x="3716502" y="1803027"/>
            <a:ext cx="47589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User is susceptible to a man-in-the-middle attack</a:t>
            </a:r>
          </a:p>
        </p:txBody>
      </p:sp>
    </p:spTree>
    <p:extLst>
      <p:ext uri="{BB962C8B-B14F-4D97-AF65-F5344CB8AC3E}">
        <p14:creationId xmlns:p14="http://schemas.microsoft.com/office/powerpoint/2010/main" val="239739141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5C068A-F609-2C75-FDFC-784289DED4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PKCE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8B542B2-F639-47A4-D72E-90F23F9582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2457" y="1945338"/>
            <a:ext cx="8287085" cy="410540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BC0E693-DEB9-6C10-D463-D2ED571F3FB5}"/>
              </a:ext>
            </a:extLst>
          </p:cNvPr>
          <p:cNvSpPr txBox="1"/>
          <p:nvPr/>
        </p:nvSpPr>
        <p:spPr>
          <a:xfrm>
            <a:off x="1239509" y="6050739"/>
            <a:ext cx="971298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Even if attackers get the authorization code, they won’t have the </a:t>
            </a:r>
            <a:r>
              <a:rPr lang="en-US" dirty="0" err="1"/>
              <a:t>code_verifier</a:t>
            </a:r>
            <a:r>
              <a:rPr lang="en-US" dirty="0"/>
              <a:t> = no access!</a:t>
            </a:r>
          </a:p>
          <a:p>
            <a:r>
              <a:rPr lang="en-US" dirty="0"/>
              <a:t>The access token will be shorter lived, but it is still not 100% safe to store in the client (XSS attacks)…</a:t>
            </a:r>
          </a:p>
        </p:txBody>
      </p:sp>
    </p:spTree>
    <p:extLst>
      <p:ext uri="{BB962C8B-B14F-4D97-AF65-F5344CB8AC3E}">
        <p14:creationId xmlns:p14="http://schemas.microsoft.com/office/powerpoint/2010/main" val="1935696903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44B89B-91AE-EAF5-748D-02615820C6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Want a BFF?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8EE97C-8EB9-8682-3BB5-8DD233C574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3319004" cy="4223160"/>
          </a:xfrm>
        </p:spPr>
        <p:txBody>
          <a:bodyPr>
            <a:normAutofit lnSpcReduction="10000"/>
          </a:bodyPr>
          <a:lstStyle/>
          <a:p>
            <a:r>
              <a:rPr lang="en-US" dirty="0"/>
              <a:t>Definition: A </a:t>
            </a:r>
            <a:r>
              <a:rPr lang="en-US" dirty="0">
                <a:solidFill>
                  <a:schemeClr val="accent2"/>
                </a:solidFill>
              </a:rPr>
              <a:t>Backend for Frontend </a:t>
            </a:r>
            <a:r>
              <a:rPr lang="en-US" dirty="0"/>
              <a:t>design pattern provides a tailored backend interface for different types of clients</a:t>
            </a:r>
          </a:p>
          <a:p>
            <a:pPr lvl="1"/>
            <a:r>
              <a:rPr lang="en-US" dirty="0"/>
              <a:t>Could have one for web and another for mobile apps</a:t>
            </a:r>
          </a:p>
          <a:p>
            <a:pPr lvl="1"/>
            <a:r>
              <a:rPr lang="en-US" dirty="0"/>
              <a:t>Acts as a proxy layer in between the client and backend</a:t>
            </a:r>
          </a:p>
          <a:p>
            <a:pPr lvl="1"/>
            <a:r>
              <a:rPr lang="en-US" dirty="0"/>
              <a:t>Auth tokens are stored on the BFF so no chance of XSS attacks, the client only ever see what we return in the BFF (likely record data)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1F11239-5A34-9A0C-B1B7-5373CFE527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1181" y="2089983"/>
            <a:ext cx="7409626" cy="4223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65087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55A263-5610-8325-1962-01E9C5E4BC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Application Registry - </a:t>
            </a:r>
            <a:r>
              <a:rPr lang="en-US" dirty="0" err="1"/>
              <a:t>Oauth</a:t>
            </a:r>
            <a:r>
              <a:rPr lang="en-US" dirty="0"/>
              <a:t> Client Setup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DFD3CB-B2C4-1F4F-6910-84500C0E85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5"/>
            <a:ext cx="3620694" cy="3975349"/>
          </a:xfrm>
        </p:spPr>
        <p:txBody>
          <a:bodyPr/>
          <a:lstStyle/>
          <a:p>
            <a:r>
              <a:rPr lang="en-US" dirty="0" err="1"/>
              <a:t>RedirectURL</a:t>
            </a:r>
            <a:r>
              <a:rPr lang="en-US" dirty="0"/>
              <a:t> – the URL that ServiceNow will direct the client to while sending the authorization token (Part 2 of the PKCE Auth Flow)</a:t>
            </a:r>
          </a:p>
          <a:p>
            <a:r>
              <a:rPr lang="en-US" dirty="0"/>
              <a:t>Client ID/Secret – used in authentication steps </a:t>
            </a:r>
          </a:p>
          <a:p>
            <a:r>
              <a:rPr lang="en-US" dirty="0"/>
              <a:t>This is a public client – required to use the PKCE flow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3BB9DA1-79C1-75EB-2BB2-8930874159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9598" y="2278467"/>
            <a:ext cx="7506893" cy="37114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789942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9A786F-5148-A236-421B-72DEEA4F42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ServiceNow PKCE Login Flow with BFF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D7D4D9-B190-7F13-CD9C-89F4C611D9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94929" y="2639025"/>
            <a:ext cx="3207555" cy="3678303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BFF: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INSTANCEURL/oauth_auth.do</a:t>
            </a:r>
          </a:p>
          <a:p>
            <a:pPr marL="0" indent="0">
              <a:buNone/>
            </a:pPr>
            <a:r>
              <a:rPr lang="en-US" dirty="0" err="1"/>
              <a:t>response_type</a:t>
            </a:r>
            <a:endParaRPr lang="en-US" dirty="0"/>
          </a:p>
          <a:p>
            <a:pPr marL="0" indent="0">
              <a:buNone/>
            </a:pPr>
            <a:r>
              <a:rPr lang="en-US" dirty="0" err="1"/>
              <a:t>client_id</a:t>
            </a:r>
            <a:endParaRPr lang="en-US" dirty="0"/>
          </a:p>
          <a:p>
            <a:pPr marL="0" indent="0">
              <a:buNone/>
            </a:pPr>
            <a:r>
              <a:rPr lang="en-US" dirty="0" err="1"/>
              <a:t>redirect_uri</a:t>
            </a:r>
            <a:endParaRPr lang="en-US" dirty="0"/>
          </a:p>
          <a:p>
            <a:pPr marL="0" indent="0">
              <a:buNone/>
            </a:pPr>
            <a:r>
              <a:rPr lang="en-US" dirty="0" err="1"/>
              <a:t>code_challenge</a:t>
            </a:r>
            <a:endParaRPr lang="en-US" dirty="0"/>
          </a:p>
          <a:p>
            <a:pPr marL="0" indent="0">
              <a:buNone/>
            </a:pPr>
            <a:r>
              <a:rPr lang="en-US" dirty="0" err="1"/>
              <a:t>code_challenge_method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state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9672EB9-AFF8-6424-C64A-AA44E439F10B}"/>
              </a:ext>
            </a:extLst>
          </p:cNvPr>
          <p:cNvSpPr txBox="1"/>
          <p:nvPr/>
        </p:nvSpPr>
        <p:spPr>
          <a:xfrm>
            <a:off x="4184155" y="2513019"/>
            <a:ext cx="206178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ServiceNow:</a:t>
            </a:r>
          </a:p>
          <a:p>
            <a:r>
              <a:rPr lang="en-US" dirty="0"/>
              <a:t>Authorization Code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B26D700-CFA0-A488-D04A-30E2EB75B46E}"/>
              </a:ext>
            </a:extLst>
          </p:cNvPr>
          <p:cNvSpPr txBox="1"/>
          <p:nvPr/>
        </p:nvSpPr>
        <p:spPr>
          <a:xfrm>
            <a:off x="7224346" y="2690465"/>
            <a:ext cx="3224472" cy="258532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BFF:</a:t>
            </a:r>
          </a:p>
          <a:p>
            <a:endParaRPr lang="en-US" dirty="0"/>
          </a:p>
          <a:p>
            <a:r>
              <a:rPr lang="en-US" dirty="0"/>
              <a:t>INSTANCEURL/oauth_token.do</a:t>
            </a:r>
          </a:p>
          <a:p>
            <a:r>
              <a:rPr lang="en-US" dirty="0" err="1"/>
              <a:t>grant_type</a:t>
            </a:r>
            <a:endParaRPr lang="en-US" dirty="0"/>
          </a:p>
          <a:p>
            <a:r>
              <a:rPr lang="en-US" dirty="0"/>
              <a:t>Authorization Code</a:t>
            </a:r>
          </a:p>
          <a:p>
            <a:r>
              <a:rPr lang="en-US" dirty="0" err="1"/>
              <a:t>redirect_uri</a:t>
            </a:r>
            <a:endParaRPr lang="en-US" dirty="0"/>
          </a:p>
          <a:p>
            <a:r>
              <a:rPr lang="en-US" dirty="0" err="1"/>
              <a:t>client_id</a:t>
            </a:r>
            <a:endParaRPr lang="en-US" dirty="0"/>
          </a:p>
          <a:p>
            <a:r>
              <a:rPr lang="en-US" dirty="0" err="1"/>
              <a:t>code_verifier</a:t>
            </a:r>
            <a:endParaRPr lang="en-US" dirty="0"/>
          </a:p>
          <a:p>
            <a:r>
              <a:rPr lang="en-US" dirty="0" err="1"/>
              <a:t>client_secret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56E7BA0-3C92-8230-593F-35E5437DA81E}"/>
              </a:ext>
            </a:extLst>
          </p:cNvPr>
          <p:cNvSpPr txBox="1"/>
          <p:nvPr/>
        </p:nvSpPr>
        <p:spPr>
          <a:xfrm>
            <a:off x="366895" y="2374519"/>
            <a:ext cx="97840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Client Login Request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079DDC9-DB23-6AE6-E953-E251A6DFED82}"/>
              </a:ext>
            </a:extLst>
          </p:cNvPr>
          <p:cNvSpPr txBox="1"/>
          <p:nvPr/>
        </p:nvSpPr>
        <p:spPr>
          <a:xfrm>
            <a:off x="8846208" y="2513019"/>
            <a:ext cx="32244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ServiceNow receives request and sends access token to BFF</a:t>
            </a:r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2BF72C6D-7068-D998-C981-C66ECAFA9769}"/>
              </a:ext>
            </a:extLst>
          </p:cNvPr>
          <p:cNvSpPr/>
          <p:nvPr/>
        </p:nvSpPr>
        <p:spPr>
          <a:xfrm>
            <a:off x="6245938" y="2584389"/>
            <a:ext cx="978408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9B86E10E-29F6-ED7D-344D-B962296FBA44}"/>
              </a:ext>
            </a:extLst>
          </p:cNvPr>
          <p:cNvSpPr/>
          <p:nvPr/>
        </p:nvSpPr>
        <p:spPr>
          <a:xfrm>
            <a:off x="3142425" y="2587927"/>
            <a:ext cx="978408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Arrow: Right 10">
            <a:extLst>
              <a:ext uri="{FF2B5EF4-FFF2-40B4-BE49-F238E27FC236}">
                <a16:creationId xmlns:a16="http://schemas.microsoft.com/office/drawing/2014/main" id="{665D34F2-664D-05FC-4508-EC9611DB2741}"/>
              </a:ext>
            </a:extLst>
          </p:cNvPr>
          <p:cNvSpPr/>
          <p:nvPr/>
        </p:nvSpPr>
        <p:spPr>
          <a:xfrm>
            <a:off x="1297117" y="2584389"/>
            <a:ext cx="978408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Arrow: Right 11">
            <a:extLst>
              <a:ext uri="{FF2B5EF4-FFF2-40B4-BE49-F238E27FC236}">
                <a16:creationId xmlns:a16="http://schemas.microsoft.com/office/drawing/2014/main" id="{A45F0EC6-D75B-892E-7074-80948455DB55}"/>
              </a:ext>
            </a:extLst>
          </p:cNvPr>
          <p:cNvSpPr/>
          <p:nvPr/>
        </p:nvSpPr>
        <p:spPr>
          <a:xfrm>
            <a:off x="7818517" y="2593868"/>
            <a:ext cx="978408" cy="48463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1757480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">
  <a:themeElements>
    <a:clrScheme name="Dividend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366658"/>
      </a:accent1>
      <a:accent2>
        <a:srgbClr val="8CB64A"/>
      </a:accent2>
      <a:accent3>
        <a:srgbClr val="88D5A9"/>
      </a:accent3>
      <a:accent4>
        <a:srgbClr val="969FA7"/>
      </a:accent4>
      <a:accent5>
        <a:srgbClr val="E8A844"/>
      </a:accent5>
      <a:accent6>
        <a:srgbClr val="A1561F"/>
      </a:accent6>
      <a:hlink>
        <a:srgbClr val="828282"/>
      </a:hlink>
      <a:folHlink>
        <a:srgbClr val="A5A5A5"/>
      </a:folHlink>
    </a:clrScheme>
    <a:fontScheme name="Dividend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4BEC0EAF-CF86-4D49-B83B-56CC62D3CFF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6b63e28a-a8f9-47b5-aa40-97e231215164}" enabled="0" method="" siteId="{6b63e28a-a8f9-47b5-aa40-97e231215164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24887</TotalTime>
  <Words>2336</Words>
  <Application>Microsoft Office PowerPoint</Application>
  <PresentationFormat>Widescreen</PresentationFormat>
  <Paragraphs>271</Paragraphs>
  <Slides>55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55</vt:i4>
      </vt:variant>
    </vt:vector>
  </HeadingPairs>
  <TitlesOfParts>
    <vt:vector size="61" baseType="lpstr">
      <vt:lpstr>Aptos</vt:lpstr>
      <vt:lpstr>Arial</vt:lpstr>
      <vt:lpstr>Gill Sans MT</vt:lpstr>
      <vt:lpstr>Wingdings</vt:lpstr>
      <vt:lpstr>Wingdings 2</vt:lpstr>
      <vt:lpstr>Dividend</vt:lpstr>
      <vt:lpstr>Data Migration</vt:lpstr>
      <vt:lpstr>Application Scopes</vt:lpstr>
      <vt:lpstr>System Update Sets</vt:lpstr>
      <vt:lpstr>What is Captured in an update Set?</vt:lpstr>
      <vt:lpstr>Create &amp; Select an Update Set</vt:lpstr>
      <vt:lpstr>Update Set Picker</vt:lpstr>
      <vt:lpstr>Challenge</vt:lpstr>
      <vt:lpstr>Mark an Update Set Complete</vt:lpstr>
      <vt:lpstr>BEST Practices</vt:lpstr>
      <vt:lpstr>Export as XML</vt:lpstr>
      <vt:lpstr>Apply an Update Set</vt:lpstr>
      <vt:lpstr>Challenge</vt:lpstr>
      <vt:lpstr>Retrieve from a Remote Instance</vt:lpstr>
      <vt:lpstr>Challenge</vt:lpstr>
      <vt:lpstr>Merge Update Sets</vt:lpstr>
      <vt:lpstr>Scripts</vt:lpstr>
      <vt:lpstr>What is scripting? </vt:lpstr>
      <vt:lpstr>Scripts in ServiceNow</vt:lpstr>
      <vt:lpstr>Samples</vt:lpstr>
      <vt:lpstr>UI Policies</vt:lpstr>
      <vt:lpstr>UI Policies</vt:lpstr>
      <vt:lpstr>Challenge</vt:lpstr>
      <vt:lpstr>Data Policies</vt:lpstr>
      <vt:lpstr>Data Policies</vt:lpstr>
      <vt:lpstr>Challenge</vt:lpstr>
      <vt:lpstr>Intro To Glide Classes</vt:lpstr>
      <vt:lpstr>UI Actions</vt:lpstr>
      <vt:lpstr>UI Actions</vt:lpstr>
      <vt:lpstr>Challenge</vt:lpstr>
      <vt:lpstr>Script Includes</vt:lpstr>
      <vt:lpstr>Challenge</vt:lpstr>
      <vt:lpstr>Client Scripts</vt:lpstr>
      <vt:lpstr>GLideAjax</vt:lpstr>
      <vt:lpstr>Challenge</vt:lpstr>
      <vt:lpstr>Execution Order</vt:lpstr>
      <vt:lpstr>Business Rules</vt:lpstr>
      <vt:lpstr>Business Rules</vt:lpstr>
      <vt:lpstr>Challenge</vt:lpstr>
      <vt:lpstr>Best Practice Review</vt:lpstr>
      <vt:lpstr>Challenge</vt:lpstr>
      <vt:lpstr>Challenge</vt:lpstr>
      <vt:lpstr>Integrations</vt:lpstr>
      <vt:lpstr>Integration Options</vt:lpstr>
      <vt:lpstr>Inbound Options</vt:lpstr>
      <vt:lpstr>REST API Explorer</vt:lpstr>
      <vt:lpstr>Scripted Web Services</vt:lpstr>
      <vt:lpstr>IntegrationHub Enterprise License - REST API Trigger</vt:lpstr>
      <vt:lpstr>IntegrationHub Import Tool</vt:lpstr>
      <vt:lpstr>Application Registry &amp; Oauth Grant Types</vt:lpstr>
      <vt:lpstr>Proof Key for Code Exchange</vt:lpstr>
      <vt:lpstr>When Not Using PKCE</vt:lpstr>
      <vt:lpstr>Using PKCE</vt:lpstr>
      <vt:lpstr>Want a BFF?</vt:lpstr>
      <vt:lpstr>Application Registry - Oauth Client Setup</vt:lpstr>
      <vt:lpstr>ServiceNow PKCE Login Flow with BFF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Ethan Wilson</dc:creator>
  <cp:lastModifiedBy>Ethan Wilson</cp:lastModifiedBy>
  <cp:revision>622</cp:revision>
  <dcterms:created xsi:type="dcterms:W3CDTF">2025-02-12T19:53:45Z</dcterms:created>
  <dcterms:modified xsi:type="dcterms:W3CDTF">2025-11-04T05:05:25Z</dcterms:modified>
</cp:coreProperties>
</file>