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381" r:id="rId3"/>
    <p:sldId id="382" r:id="rId4"/>
    <p:sldId id="383" r:id="rId5"/>
    <p:sldId id="384" r:id="rId6"/>
    <p:sldId id="388" r:id="rId7"/>
    <p:sldId id="390" r:id="rId8"/>
    <p:sldId id="385" r:id="rId9"/>
    <p:sldId id="389" r:id="rId10"/>
    <p:sldId id="392" r:id="rId11"/>
    <p:sldId id="386" r:id="rId12"/>
    <p:sldId id="391" r:id="rId13"/>
    <p:sldId id="387" r:id="rId14"/>
    <p:sldId id="378" r:id="rId15"/>
    <p:sldId id="393" r:id="rId16"/>
    <p:sldId id="379" r:id="rId17"/>
    <p:sldId id="380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250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10/28/2025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Data Migration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9F734-654C-7112-40EE-78606FBC1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Application Scopes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B4CF730-AADF-4C91-7E14-7BD4BEC5DA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7211" y="1944590"/>
            <a:ext cx="8797577" cy="4619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11622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28FADB-004E-B097-0D7F-DC386A51AC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System Update 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81F0CE3-0C60-F119-BB11-3068852294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3737" y="1963271"/>
            <a:ext cx="10704525" cy="4545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8749947-387D-1779-209C-AA246134F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4899" y="2289873"/>
            <a:ext cx="1676634" cy="552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47170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3CB13-E80A-C40B-B536-7F2352F1B1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Captured in an update Set?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97E4E-D83F-C116-847D-4D9A95B55E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827507"/>
            <a:ext cx="9143999" cy="49658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8641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B9C6C-3C16-CB57-1E17-38D742948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&amp; Select an Update 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43BA2AE-45A7-8EB2-44ED-19158D97E6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6019" y="2582072"/>
            <a:ext cx="9539961" cy="41113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5F5B194-2C6F-0BF8-00DD-F54F6399383B}"/>
              </a:ext>
            </a:extLst>
          </p:cNvPr>
          <p:cNvSpPr txBox="1"/>
          <p:nvPr/>
        </p:nvSpPr>
        <p:spPr>
          <a:xfrm>
            <a:off x="663388" y="1864660"/>
            <a:ext cx="6372065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accent2"/>
                </a:solidFill>
              </a:rPr>
              <a:t>BEST PRACTICE: </a:t>
            </a:r>
            <a:r>
              <a:rPr lang="en-US" dirty="0"/>
              <a:t>Follow your organizations naming convention! </a:t>
            </a:r>
          </a:p>
          <a:p>
            <a:pPr algn="ctr"/>
            <a:r>
              <a:rPr lang="en-US" dirty="0"/>
              <a:t>One common example: Story Number + Description + Username</a:t>
            </a:r>
            <a:br>
              <a:rPr lang="en-US" dirty="0"/>
            </a:br>
            <a:r>
              <a:rPr lang="en-US" dirty="0"/>
              <a:t>STRY00123_IncidentNewFIelds_EWIL</a:t>
            </a:r>
          </a:p>
        </p:txBody>
      </p:sp>
    </p:spTree>
    <p:extLst>
      <p:ext uri="{BB962C8B-B14F-4D97-AF65-F5344CB8AC3E}">
        <p14:creationId xmlns:p14="http://schemas.microsoft.com/office/powerpoint/2010/main" val="32612768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8EC0C-C2D1-1471-8882-4BD8A6B76E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Update Set Picker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051A35-E203-3EC1-6ABA-E29384776F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181114" cy="3678303"/>
          </a:xfrm>
        </p:spPr>
        <p:txBody>
          <a:bodyPr/>
          <a:lstStyle/>
          <a:p>
            <a:r>
              <a:rPr lang="en-US" dirty="0"/>
              <a:t>We can also use the update set picker to:</a:t>
            </a:r>
          </a:p>
          <a:p>
            <a:pPr lvl="1"/>
            <a:r>
              <a:rPr lang="en-US" dirty="0"/>
              <a:t>Create a new update set quickly</a:t>
            </a:r>
          </a:p>
          <a:p>
            <a:pPr lvl="1"/>
            <a:r>
              <a:rPr lang="en-US" dirty="0"/>
              <a:t>View the current update set record</a:t>
            </a:r>
          </a:p>
          <a:p>
            <a:pPr lvl="1"/>
            <a:r>
              <a:rPr lang="en-US" dirty="0"/>
              <a:t>Or view the list of all local update sets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79175DE-8141-9867-FADC-0F9944584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0027" y="3047961"/>
            <a:ext cx="3096057" cy="1943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56232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9E1DE0-2327-E9D0-D11C-1481A2714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EC1E87-4202-994E-4C59-6F4CA19FA3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91697D-DC84-0276-8913-8F4F7F53EC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359972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 new Update Set on the global app scope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Name it: </a:t>
            </a:r>
            <a:br>
              <a:rPr lang="en-US" dirty="0">
                <a:ea typeface="+mn-lt"/>
                <a:cs typeface="+mn-lt"/>
              </a:rPr>
            </a:br>
            <a:r>
              <a:rPr lang="en-US" dirty="0">
                <a:ea typeface="+mn-lt"/>
                <a:cs typeface="+mn-lt"/>
              </a:rPr>
              <a:t>STRY001_IncidentNewFIeld_YOURNAME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Ensure you are on the global app scope and have your update set selected, then create a new True/False field on Incident forms called ‘Partner Customer’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42E3E4-0F59-B891-04DE-D0A6BCAFB1DC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Create an Update Set</a:t>
            </a:r>
          </a:p>
        </p:txBody>
      </p:sp>
    </p:spTree>
    <p:extLst>
      <p:ext uri="{BB962C8B-B14F-4D97-AF65-F5344CB8AC3E}">
        <p14:creationId xmlns:p14="http://schemas.microsoft.com/office/powerpoint/2010/main" val="9995874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548C5-5F54-0ECF-4E1A-A88914945F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Mark an Update Set Complete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DDCEDF-ECC5-E437-99C1-755F67E4D9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65" y="2058205"/>
            <a:ext cx="10472069" cy="44143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34818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05DC7-061C-4790-06B9-9C35CC2602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49F04C-0A80-327B-27A8-1D6A092808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23664" cy="3975348"/>
          </a:xfrm>
        </p:spPr>
        <p:txBody>
          <a:bodyPr>
            <a:normAutofit/>
          </a:bodyPr>
          <a:lstStyle/>
          <a:p>
            <a:r>
              <a:rPr lang="en-US" dirty="0"/>
              <a:t>NEVER mark the ‘Default’ Update Set as complete</a:t>
            </a:r>
          </a:p>
          <a:p>
            <a:pPr lvl="1"/>
            <a:r>
              <a:rPr lang="en-US" dirty="0"/>
              <a:t>This Update Set is a ‘catch-all’ that collects stray updates</a:t>
            </a:r>
          </a:p>
          <a:p>
            <a:pPr lvl="1"/>
            <a:r>
              <a:rPr lang="en-US" dirty="0"/>
              <a:t>We should ALWAYS use a NAMED Update Set to catch configuration changes </a:t>
            </a:r>
          </a:p>
          <a:p>
            <a:pPr lvl="1"/>
            <a:r>
              <a:rPr lang="en-US" dirty="0"/>
              <a:t>If some configurations are in ‘Default’ by mistake, we can manually move ‘Customer Updates’ to a new Update Set</a:t>
            </a:r>
          </a:p>
          <a:p>
            <a:r>
              <a:rPr lang="en-US" dirty="0"/>
              <a:t>NEVER revert an Update Set from ‘Complete’ back to ‘In Progress’</a:t>
            </a:r>
          </a:p>
          <a:p>
            <a:pPr lvl="1"/>
            <a:r>
              <a:rPr lang="en-US" dirty="0"/>
              <a:t>If more customizations are required, we should create a new Update Set, make our changes there, and then commit them in the order they were created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F780B4-A8A6-B7CE-19C5-4A758D7937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4273" y="2180496"/>
            <a:ext cx="5373919" cy="4267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2614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E2049-7798-F0AD-CD6B-24D5AEFE37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Export as XML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EC5683-5131-9C90-6311-4B6ACC806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7" cy="3678303"/>
          </a:xfrm>
        </p:spPr>
        <p:txBody>
          <a:bodyPr/>
          <a:lstStyle/>
          <a:p>
            <a:r>
              <a:rPr lang="en-US" dirty="0"/>
              <a:t>Once an Update Set is complete:</a:t>
            </a:r>
          </a:p>
          <a:p>
            <a:pPr lvl="1"/>
            <a:r>
              <a:rPr lang="en-US" dirty="0"/>
              <a:t>We can export our set as an XML file</a:t>
            </a:r>
          </a:p>
          <a:p>
            <a:pPr lvl="1"/>
            <a:r>
              <a:rPr lang="en-US" dirty="0"/>
              <a:t>This allows us to manually use the file to bring our customizations into another instance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409CF61-D8B8-0F94-0964-69EBD5267E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4356" y="3147141"/>
            <a:ext cx="2732914" cy="1093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9946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83B46-1E91-3B34-1ADB-69E0EAF23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Apply an Update Set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279D0E0-C749-6332-175B-BB7562F151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8030" y="1862372"/>
            <a:ext cx="8695940" cy="429347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ACA1E90-AEE8-1BA4-6FB4-B4474CDA12FB}"/>
              </a:ext>
            </a:extLst>
          </p:cNvPr>
          <p:cNvSpPr txBox="1"/>
          <p:nvPr/>
        </p:nvSpPr>
        <p:spPr>
          <a:xfrm>
            <a:off x="902430" y="6481481"/>
            <a:ext cx="103871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solidFill>
                  <a:schemeClr val="accent2"/>
                </a:solidFill>
              </a:rPr>
              <a:t>NOTE: </a:t>
            </a:r>
            <a:r>
              <a:rPr lang="en-US" sz="1400" dirty="0"/>
              <a:t>We can load older release update sets into newer releases, but loading newer sets into older releases needs testing for compatibility!</a:t>
            </a:r>
          </a:p>
        </p:txBody>
      </p:sp>
    </p:spTree>
    <p:extLst>
      <p:ext uri="{BB962C8B-B14F-4D97-AF65-F5344CB8AC3E}">
        <p14:creationId xmlns:p14="http://schemas.microsoft.com/office/powerpoint/2010/main" val="18773080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1051D-F465-23D7-2A23-B679584EC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2E068-A777-A7E0-9114-85E56AD93E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C59B3D-377A-A0A7-86AD-4B8A1EE2B6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700"/>
            <a:ext cx="5192079" cy="210261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Mark your Update Set created earlier as complete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Export your Update set as XML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Import your Update Set from XML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Preview your Update Set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F2D66C45-A2C1-5988-92D4-212E5640B75D}"/>
              </a:ext>
            </a:extLst>
          </p:cNvPr>
          <p:cNvSpPr txBox="1">
            <a:spLocks/>
          </p:cNvSpPr>
          <p:nvPr/>
        </p:nvSpPr>
        <p:spPr>
          <a:xfrm>
            <a:off x="903921" y="2289693"/>
            <a:ext cx="4869350" cy="1439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Practice applying Update Sets from XML</a:t>
            </a:r>
          </a:p>
          <a:p>
            <a:pPr marL="305435" indent="-305435"/>
            <a:endParaRPr lang="en-US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5845283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B6BC3-D4AA-8B32-2346-F287673FBE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Retrieve from a Remote Instance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327690-E288-32AE-610A-DF483B3F3B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639" y="1912287"/>
            <a:ext cx="11716722" cy="4479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571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67D0CA-F9AE-B516-2C0A-2E32C66DC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FA3AC-F63D-52E2-BB9C-6ACFF627B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576976-544E-D66E-5CE1-3C91D93ED6A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8730" y="2388699"/>
            <a:ext cx="5192079" cy="2443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Scenario: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Pair up into groups of two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One of you choose to ‘send’ the Update Set and the other will ‘Retrieve’ it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Practice testing the remote connection and applying the update set between the two instances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5278BB07-8A9D-0F81-F7D8-908F197B3356}"/>
              </a:ext>
            </a:extLst>
          </p:cNvPr>
          <p:cNvSpPr txBox="1">
            <a:spLocks/>
          </p:cNvSpPr>
          <p:nvPr/>
        </p:nvSpPr>
        <p:spPr>
          <a:xfrm>
            <a:off x="903921" y="2262799"/>
            <a:ext cx="4869350" cy="14844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2" panose="05020102010507070707" pitchFamily="18" charset="2"/>
              <a:buNone/>
            </a:pPr>
            <a:r>
              <a:rPr lang="en-US" b="1" dirty="0"/>
              <a:t>Goal: </a:t>
            </a:r>
          </a:p>
          <a:p>
            <a:pPr marL="305435" indent="-305435"/>
            <a:r>
              <a:rPr lang="en-US" dirty="0">
                <a:ea typeface="+mn-lt"/>
                <a:cs typeface="+mn-lt"/>
              </a:rPr>
              <a:t>Team up with a partner and remotely apply your update set</a:t>
            </a:r>
          </a:p>
        </p:txBody>
      </p:sp>
    </p:spTree>
    <p:extLst>
      <p:ext uri="{BB962C8B-B14F-4D97-AF65-F5344CB8AC3E}">
        <p14:creationId xmlns:p14="http://schemas.microsoft.com/office/powerpoint/2010/main" val="314494705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B7F8EB-E5BD-9176-F1A9-1907743DC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Merge Update 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496165-36DE-AA63-C878-0A3B88842F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259749" cy="3678303"/>
          </a:xfrm>
        </p:spPr>
        <p:txBody>
          <a:bodyPr/>
          <a:lstStyle/>
          <a:p>
            <a:r>
              <a:rPr lang="en-US" dirty="0"/>
              <a:t>Merge two or more Update Sets into a third, brand-new set</a:t>
            </a:r>
          </a:p>
          <a:p>
            <a:r>
              <a:rPr lang="en-US" dirty="0"/>
              <a:t>All the ‘Customer Updates’ in merged sets are moved to the new merged set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C963EAA-7D85-0B33-B822-5BBEB66570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21598" y="2047650"/>
            <a:ext cx="6471447" cy="4361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84271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6ADF8-9237-D59E-A611-CD45B1380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C9A77-41B9-3CA2-B3A7-575A538900F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Scripts</a:t>
            </a:r>
          </a:p>
        </p:txBody>
      </p:sp>
    </p:spTree>
    <p:extLst>
      <p:ext uri="{BB962C8B-B14F-4D97-AF65-F5344CB8AC3E}">
        <p14:creationId xmlns:p14="http://schemas.microsoft.com/office/powerpoint/2010/main" val="2733756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7DD06B-53A3-E5E7-85A0-2254D838DD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C7DF27-6ADD-2279-3E7C-3EA980E642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Integrations</a:t>
            </a:r>
          </a:p>
        </p:txBody>
      </p:sp>
    </p:spTree>
    <p:extLst>
      <p:ext uri="{BB962C8B-B14F-4D97-AF65-F5344CB8AC3E}">
        <p14:creationId xmlns:p14="http://schemas.microsoft.com/office/powerpoint/2010/main" val="156502957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15429</TotalTime>
  <Words>439</Words>
  <Application>Microsoft Office PowerPoint</Application>
  <PresentationFormat>Widescreen</PresentationFormat>
  <Paragraphs>54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Gill Sans MT</vt:lpstr>
      <vt:lpstr>Wingdings 2</vt:lpstr>
      <vt:lpstr>Dividend</vt:lpstr>
      <vt:lpstr>Data Migration</vt:lpstr>
      <vt:lpstr>Application Scopes</vt:lpstr>
      <vt:lpstr>System Update Sets</vt:lpstr>
      <vt:lpstr>What is Captured in an update Set?</vt:lpstr>
      <vt:lpstr>Create &amp; Select an Update Set</vt:lpstr>
      <vt:lpstr>Update Set Picker</vt:lpstr>
      <vt:lpstr>Challenge</vt:lpstr>
      <vt:lpstr>Mark an Update Set Complete</vt:lpstr>
      <vt:lpstr>BEST Practices</vt:lpstr>
      <vt:lpstr>Export as XML</vt:lpstr>
      <vt:lpstr>Apply an Update Set</vt:lpstr>
      <vt:lpstr>Challenge</vt:lpstr>
      <vt:lpstr>Retrieve from a Remote Instance</vt:lpstr>
      <vt:lpstr>Challenge</vt:lpstr>
      <vt:lpstr>Merge Update Sets</vt:lpstr>
      <vt:lpstr>Scripts</vt:lpstr>
      <vt:lpstr>Integrations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618</cp:revision>
  <dcterms:created xsi:type="dcterms:W3CDTF">2025-02-12T19:53:45Z</dcterms:created>
  <dcterms:modified xsi:type="dcterms:W3CDTF">2025-10-28T15:26:58Z</dcterms:modified>
</cp:coreProperties>
</file>