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  <p:sldId id="266" r:id="rId7"/>
    <p:sldId id="267" r:id="rId8"/>
    <p:sldId id="269" r:id="rId9"/>
    <p:sldId id="268" r:id="rId10"/>
    <p:sldId id="270" r:id="rId11"/>
    <p:sldId id="273" r:id="rId12"/>
    <p:sldId id="274" r:id="rId13"/>
    <p:sldId id="275" r:id="rId14"/>
    <p:sldId id="272" r:id="rId15"/>
    <p:sldId id="271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5" r:id="rId25"/>
    <p:sldId id="284" r:id="rId26"/>
    <p:sldId id="286" r:id="rId27"/>
    <p:sldId id="287" r:id="rId28"/>
    <p:sldId id="288" r:id="rId29"/>
    <p:sldId id="289" r:id="rId30"/>
    <p:sldId id="290" r:id="rId31"/>
    <p:sldId id="292" r:id="rId32"/>
    <p:sldId id="291" r:id="rId33"/>
    <p:sldId id="293" r:id="rId34"/>
    <p:sldId id="294" r:id="rId35"/>
    <p:sldId id="295" r:id="rId36"/>
    <p:sldId id="297" r:id="rId37"/>
    <p:sldId id="296" r:id="rId38"/>
    <p:sldId id="303" r:id="rId39"/>
    <p:sldId id="298" r:id="rId40"/>
    <p:sldId id="299" r:id="rId41"/>
    <p:sldId id="300" r:id="rId42"/>
    <p:sldId id="301" r:id="rId43"/>
    <p:sldId id="302" r:id="rId44"/>
    <p:sldId id="304" r:id="rId45"/>
    <p:sldId id="305" r:id="rId46"/>
    <p:sldId id="306" r:id="rId47"/>
    <p:sldId id="308" r:id="rId48"/>
    <p:sldId id="307" r:id="rId49"/>
    <p:sldId id="310" r:id="rId50"/>
    <p:sldId id="309" r:id="rId51"/>
    <p:sldId id="312" r:id="rId52"/>
    <p:sldId id="311" r:id="rId53"/>
    <p:sldId id="313" r:id="rId54"/>
    <p:sldId id="314" r:id="rId55"/>
    <p:sldId id="315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4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3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267" y="3116671"/>
            <a:ext cx="3905795" cy="3429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Pascal-case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‘Home’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010AB9-39DC-41AF-70C6-986685BA6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6" y="3766215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Delete app.css &amp; remove its reference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&lt;body&gt; &amp; &lt;p&gt; elements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create a header using semantic html.</a:t>
            </a:r>
          </a:p>
          <a:p>
            <a:r>
              <a:rPr lang="en-US" dirty="0"/>
              <a:t>Within the header element, include a welcome message that reads: “Welcome {</a:t>
            </a:r>
            <a:r>
              <a:rPr lang="en-US" dirty="0" err="1"/>
              <a:t>user.Prefix</a:t>
            </a:r>
            <a:r>
              <a:rPr lang="en-US" dirty="0"/>
              <a:t>} {</a:t>
            </a:r>
            <a:r>
              <a:rPr lang="en-US" dirty="0" err="1"/>
              <a:t>user.LastName</a:t>
            </a:r>
            <a:r>
              <a:rPr lang="en-US" dirty="0"/>
              <a:t>}! Time since last incident: {</a:t>
            </a:r>
            <a:r>
              <a:rPr lang="en-US" dirty="0" err="1"/>
              <a:t>dummyTimeValue</a:t>
            </a:r>
            <a:r>
              <a:rPr lang="en-US" dirty="0"/>
              <a:t>}” </a:t>
            </a:r>
          </a:p>
          <a:p>
            <a:r>
              <a:rPr lang="en-US" dirty="0"/>
              <a:t>The data should come from an object in your component that stores your own name, the time value may be faked or left empty for now</a:t>
            </a:r>
          </a:p>
          <a:p>
            <a:r>
              <a:rPr lang="en-US" dirty="0"/>
              <a:t>Also include two links for ‘Home’ and ‘Incidents’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68433" y="3072518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under the header, nest a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provided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‘Incident’ component</a:t>
            </a:r>
          </a:p>
          <a:p>
            <a:r>
              <a:rPr lang="en-US" dirty="0"/>
              <a:t>Style the Incident component into a card that displays the incident id, priority, severity, and status fields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165F0-AC1B-F1D0-07B9-660B830EB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220" y="4401670"/>
            <a:ext cx="2289077" cy="19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used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F7FB4-FEC9-EBDC-B712-18913980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76" y="4301422"/>
            <a:ext cx="4474772" cy="168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DE725-1CDE-DC05-9B0B-F6EF7E4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8832B-2AB9-5271-6004-609F75E54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108581" cy="448404"/>
          </a:xfrm>
        </p:spPr>
        <p:txBody>
          <a:bodyPr/>
          <a:lstStyle/>
          <a:p>
            <a:r>
              <a:rPr lang="en-US" dirty="0"/>
              <a:t>Conditional rendering makes it easy to show or hide any elements/components as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97494E-B764-C56A-B45C-780AD052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46" y="2763983"/>
            <a:ext cx="3277057" cy="3915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EAD4A-B0C9-69B3-484D-D8BB8E43A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94" y="3300230"/>
            <a:ext cx="2286319" cy="26578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B0A2E2-2983-C975-AD39-5E8088C2F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485" y="4009941"/>
            <a:ext cx="395342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6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7853-9938-39C7-9AB6-BE869162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Firing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EFA18-6278-EC01-BBBC-42D2EFE3F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611" y="2256136"/>
            <a:ext cx="4707780" cy="3678303"/>
          </a:xfrm>
        </p:spPr>
        <p:txBody>
          <a:bodyPr/>
          <a:lstStyle/>
          <a:p>
            <a:r>
              <a:rPr lang="en-US" dirty="0"/>
              <a:t>Define an event handler function inside the component</a:t>
            </a:r>
          </a:p>
          <a:p>
            <a:r>
              <a:rPr lang="en-US" dirty="0"/>
              <a:t>Notice ‘</a:t>
            </a:r>
            <a:r>
              <a:rPr lang="en-US" dirty="0" err="1"/>
              <a:t>onClick</a:t>
            </a:r>
            <a:r>
              <a:rPr lang="en-US" dirty="0"/>
              <a:t>’ vs ‘onclick’ in JavaScript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19D4A-2C9A-BA32-D701-058544F5B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518" y="2180496"/>
            <a:ext cx="4248743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61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30CA0-0E39-E6CD-D106-B6E26FF5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8026D-834F-4536-EFAC-FEDE7A88F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203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State</a:t>
            </a:r>
            <a:r>
              <a:rPr lang="en-US" dirty="0"/>
              <a:t> is an object that holds data or information about a component that may change over time.</a:t>
            </a:r>
          </a:p>
          <a:p>
            <a:pPr lvl="1"/>
            <a:r>
              <a:rPr lang="en-US" dirty="0"/>
              <a:t>The ‘memory’ of a component</a:t>
            </a:r>
          </a:p>
          <a:p>
            <a:pPr lvl="1"/>
            <a:r>
              <a:rPr lang="en-US" dirty="0"/>
              <a:t>It allows the component to keep track of values between renders</a:t>
            </a:r>
          </a:p>
          <a:p>
            <a:r>
              <a:rPr lang="en-US" dirty="0"/>
              <a:t>When state changes, React automatically re-renders the component (and any children that depend on the state) so the UI stays in sync with data</a:t>
            </a:r>
          </a:p>
          <a:p>
            <a:r>
              <a:rPr lang="en-US" dirty="0"/>
              <a:t>State should always be declared at the top of the component function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D9F3C8-0DB5-1735-A0C6-EC72B1247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170" y="2534191"/>
            <a:ext cx="3894059" cy="3255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EA66AB-35B6-3102-808F-73E54BDA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415" y="3121836"/>
            <a:ext cx="5576694" cy="25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49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8A92-7CA6-98CE-1F12-F07DFA28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46BB-545C-3087-6716-AA96A449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Basic App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266E-CDAD-72D0-3711-9B0D0655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to conditionally render components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A335E-334A-2B86-AA57-B869D6AB62E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F6C0E-A730-E9D7-0FA0-3052BCB4A91B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E06756-F910-4AFC-390A-72B04540CFFD}"/>
              </a:ext>
            </a:extLst>
          </p:cNvPr>
          <p:cNvSpPr txBox="1">
            <a:spLocks/>
          </p:cNvSpPr>
          <p:nvPr/>
        </p:nvSpPr>
        <p:spPr>
          <a:xfrm>
            <a:off x="6031417" y="3099411"/>
            <a:ext cx="5740756" cy="23152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‘Home’ component so that under the header, it will conditionally render either your ‘</a:t>
            </a:r>
            <a:r>
              <a:rPr lang="en-US" dirty="0" err="1"/>
              <a:t>IncidentList</a:t>
            </a:r>
            <a:r>
              <a:rPr lang="en-US" dirty="0"/>
              <a:t>’ component or a ‘Welcome’ component. </a:t>
            </a:r>
          </a:p>
          <a:p>
            <a:pPr lvl="1"/>
            <a:r>
              <a:rPr lang="en-US" dirty="0"/>
              <a:t>It should conditionally render via navigation links in the header</a:t>
            </a:r>
          </a:p>
          <a:p>
            <a:pPr lvl="1"/>
            <a:r>
              <a:rPr lang="en-US" dirty="0"/>
              <a:t>The ‘Welcome’ component may be a very simple dummy component that simply returns text ‘Welcome’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042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8627-39B0-81E8-E217-8D36A536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Deleting Items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971B3-1B53-48ED-3CA2-468B766DC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422" y="2343081"/>
            <a:ext cx="10911153" cy="853649"/>
          </a:xfrm>
        </p:spPr>
        <p:txBody>
          <a:bodyPr>
            <a:normAutofit fontScale="92500"/>
          </a:bodyPr>
          <a:lstStyle/>
          <a:p>
            <a:r>
              <a:rPr lang="en-US" dirty="0"/>
              <a:t>The JavaScript filter() function will return a new array where all items meet the criteria </a:t>
            </a:r>
          </a:p>
          <a:p>
            <a:r>
              <a:rPr lang="en-US" dirty="0"/>
              <a:t>In this example, we are getting a copy of the array will all items except for the incident where its ID was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773C1-3F1D-6574-7846-6C0CAE4E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9" y="4080578"/>
            <a:ext cx="9714477" cy="13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26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4C51-BF7C-0C7E-8B22-346123C1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Callback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DA8C7-B5EB-70ED-13C9-5641B989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22502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callback prop is when we use a prop to pass down a function to a child component</a:t>
            </a:r>
          </a:p>
          <a:p>
            <a:r>
              <a:rPr lang="en-US" dirty="0"/>
              <a:t>Notice how we pass in a callback function into the Incident component called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r>
              <a:rPr lang="en-US" dirty="0"/>
              <a:t>Then in our parent component, we can set the callback that will be performed for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In this case, ‘</a:t>
            </a:r>
            <a:r>
              <a:rPr lang="en-US" dirty="0" err="1"/>
              <a:t>handleClick</a:t>
            </a:r>
            <a:r>
              <a:rPr lang="en-US" dirty="0"/>
              <a:t>’ will fire off another function local to the parent component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3FB8CD-A14C-08A4-55AF-08B5A5A3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69" y="5142043"/>
            <a:ext cx="5172797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A5988-DF64-D8AE-8ECA-42BD8942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74" y="2061971"/>
            <a:ext cx="63350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757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E161-F4BA-66C1-5793-AA217ACA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A353E-7723-F682-AD14-6250128A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Delete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1666D-E78D-4A35-BEB2-F43A5BD9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button on the incident component to delete the incident from the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A4F7A-2C15-E272-C77B-423CB2B7DD51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F47EC-97AB-22DC-3530-9B65E5C79CE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AE7A51-3F2A-03CF-A82D-343A11028C57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1536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The button should remove the Incident from the Incident list component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79B7EB-1D52-33DB-E2EA-E2B4F934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85" y="42303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07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1766-6676-B1B0-2EE9-CA962A0C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1379-3FD8-126B-7875-4935837A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3644" cy="1809613"/>
          </a:xfrm>
        </p:spPr>
        <p:txBody>
          <a:bodyPr/>
          <a:lstStyle/>
          <a:p>
            <a:r>
              <a:rPr lang="en-US" dirty="0"/>
              <a:t>Where we use state matters</a:t>
            </a:r>
          </a:p>
          <a:p>
            <a:r>
              <a:rPr lang="en-US" dirty="0"/>
              <a:t>Lifting State – refers to moving state from one component to a common parent so that multiple child components can share and update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F90BB-931D-1296-F8BA-E8E8A54C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895661"/>
            <a:ext cx="5801042" cy="3515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BC935-5316-94D2-DC66-956B102CE455}"/>
              </a:ext>
            </a:extLst>
          </p:cNvPr>
          <p:cNvSpPr/>
          <p:nvPr/>
        </p:nvSpPr>
        <p:spPr>
          <a:xfrm>
            <a:off x="8006355" y="2408412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74722-6334-B5C1-4D96-6D397FB410E8}"/>
              </a:ext>
            </a:extLst>
          </p:cNvPr>
          <p:cNvSpPr/>
          <p:nvPr/>
        </p:nvSpPr>
        <p:spPr>
          <a:xfrm>
            <a:off x="9117979" y="3592848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27F19-0997-032F-707B-081DEACA4C01}"/>
              </a:ext>
            </a:extLst>
          </p:cNvPr>
          <p:cNvSpPr/>
          <p:nvPr/>
        </p:nvSpPr>
        <p:spPr>
          <a:xfrm>
            <a:off x="6975414" y="5071450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A160-FB17-1B45-DBED-AFA672DFCC40}"/>
              </a:ext>
            </a:extLst>
          </p:cNvPr>
          <p:cNvSpPr/>
          <p:nvPr/>
        </p:nvSpPr>
        <p:spPr>
          <a:xfrm>
            <a:off x="6975414" y="3592849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F25FD60-3ADA-AD65-DAE5-9AB5E7B1D2A4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7676975" y="2850025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5DA25C1-9805-F6D0-7AEA-377B7B840A1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09477" y="2850026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C96D39-AFA0-6B1E-D6E6-71982AE13C3B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7676975" y="4476076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D9D018-B6C6-3C0A-B86D-1E6E8236059B}"/>
              </a:ext>
            </a:extLst>
          </p:cNvPr>
          <p:cNvSpPr txBox="1"/>
          <p:nvPr/>
        </p:nvSpPr>
        <p:spPr>
          <a:xfrm>
            <a:off x="8639356" y="4816013"/>
            <a:ext cx="3185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state is at the </a:t>
            </a:r>
            <a:r>
              <a:rPr lang="en-US" dirty="0" err="1"/>
              <a:t>IncidentList</a:t>
            </a:r>
            <a:r>
              <a:rPr lang="en-US" dirty="0"/>
              <a:t> component, then it will be reset each time the component unloads from the virtual DOM</a:t>
            </a:r>
          </a:p>
        </p:txBody>
      </p:sp>
    </p:spTree>
    <p:extLst>
      <p:ext uri="{BB962C8B-B14F-4D97-AF65-F5344CB8AC3E}">
        <p14:creationId xmlns:p14="http://schemas.microsoft.com/office/powerpoint/2010/main" val="23423005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D9E68-1C6C-E13E-CE0E-8C509701E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9AE-1BC4-1DEB-1D5C-8E1A4180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D1BE-9773-AE65-B2E8-7F34F9869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120" y="2479007"/>
            <a:ext cx="4537291" cy="1815087"/>
          </a:xfrm>
        </p:spPr>
        <p:txBody>
          <a:bodyPr/>
          <a:lstStyle/>
          <a:p>
            <a:r>
              <a:rPr lang="en-US" dirty="0"/>
              <a:t>If state is instead placed at ‘Home’, then if we modify the incident list, then that change will persist even as the ‘</a:t>
            </a:r>
            <a:r>
              <a:rPr lang="en-US" dirty="0" err="1"/>
              <a:t>IncidentList</a:t>
            </a:r>
            <a:r>
              <a:rPr lang="en-US" dirty="0"/>
              <a:t>’ component may reload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299E5A-2595-F19C-2872-45CDD0BDC220}"/>
              </a:ext>
            </a:extLst>
          </p:cNvPr>
          <p:cNvSpPr/>
          <p:nvPr/>
        </p:nvSpPr>
        <p:spPr>
          <a:xfrm>
            <a:off x="3317814" y="2479007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56EBA-408B-F237-F878-49327D2A58A2}"/>
              </a:ext>
            </a:extLst>
          </p:cNvPr>
          <p:cNvSpPr/>
          <p:nvPr/>
        </p:nvSpPr>
        <p:spPr>
          <a:xfrm>
            <a:off x="4429438" y="3663443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C7DE7-825D-B9F3-F981-8F1EEE651804}"/>
              </a:ext>
            </a:extLst>
          </p:cNvPr>
          <p:cNvSpPr/>
          <p:nvPr/>
        </p:nvSpPr>
        <p:spPr>
          <a:xfrm>
            <a:off x="2286873" y="5142045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0526C-5A7D-29F2-8759-C9030965C369}"/>
              </a:ext>
            </a:extLst>
          </p:cNvPr>
          <p:cNvSpPr/>
          <p:nvPr/>
        </p:nvSpPr>
        <p:spPr>
          <a:xfrm>
            <a:off x="2286873" y="3663444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7EAD238-9878-270B-E359-4CA536DE9AAE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2988434" y="2920620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5AB5CB-B895-4C4E-ABB1-32CC50521AC4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4720936" y="2920621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615FB2-2CF4-96E1-19CA-86D09CD447E1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2988434" y="4546671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446EA24-23AA-97ED-2C8B-D9326CD5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649" y="4294094"/>
            <a:ext cx="4266232" cy="215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934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F5A0B-0EEA-6B4B-06CB-49A8EB87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51E1-36AF-1C25-B81A-794FDF3B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Lift Up Incident List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0645-0665-83EF-BD6E-39F27F41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Lift the state of the Incident list so that changes are persisted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649EF-E600-4EED-A8C1-7DDCA92B190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A1F33-BE64-6ABA-C3BB-7D62A15D95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967E04-EE72-1F98-CF06-82015E95405E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1884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and Incident list components:</a:t>
            </a:r>
          </a:p>
          <a:p>
            <a:pPr lvl="1"/>
            <a:r>
              <a:rPr lang="en-US" dirty="0"/>
              <a:t>Move state and ‘delete’ function to ‘Home’ component</a:t>
            </a:r>
          </a:p>
          <a:p>
            <a:pPr lvl="1"/>
            <a:r>
              <a:rPr lang="en-US" dirty="0"/>
              <a:t>Chain a callback prop function from Incident list component to the Home component – this wires up the delete function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B8FD-4C62-7E2A-9BAB-EADC46509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167" y="40447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271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C54EE-6EE6-8706-74C4-5E0D6F86D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onCHange</a:t>
            </a:r>
            <a:r>
              <a:rPr lang="en-US" dirty="0"/>
              <a:t> &amp; Object State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C1A02-F6DB-AEC7-331A-10E6587F4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753" y="2477541"/>
            <a:ext cx="4483867" cy="367830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onChange</a:t>
            </a:r>
            <a:r>
              <a:rPr lang="en-US" dirty="0"/>
              <a:t> allows us to call a JavaScript function on each keystroke for text input elements, or on each selection for dropdowns</a:t>
            </a:r>
          </a:p>
          <a:p>
            <a:r>
              <a:rPr lang="en-US" dirty="0"/>
              <a:t>We can use the event object to help us update state</a:t>
            </a:r>
          </a:p>
          <a:p>
            <a:pPr lvl="1"/>
            <a:r>
              <a:rPr lang="en-US" dirty="0"/>
              <a:t>Notice that form is an object, so we use “{“ and “}” when updating the entry in the object:</a:t>
            </a:r>
          </a:p>
          <a:p>
            <a:pPr lvl="1"/>
            <a:r>
              <a:rPr lang="en-US" dirty="0"/>
              <a:t> {…</a:t>
            </a:r>
            <a:r>
              <a:rPr lang="en-US" dirty="0" err="1"/>
              <a:t>prev</a:t>
            </a:r>
            <a:r>
              <a:rPr lang="en-US" dirty="0"/>
              <a:t>, [name]:value}</a:t>
            </a:r>
          </a:p>
          <a:p>
            <a:pPr lvl="1"/>
            <a:r>
              <a:rPr lang="en-US" dirty="0"/>
              <a:t>If it was an array:</a:t>
            </a:r>
          </a:p>
          <a:p>
            <a:pPr lvl="2"/>
            <a:r>
              <a:rPr lang="en-US" dirty="0"/>
              <a:t>[…</a:t>
            </a:r>
            <a:r>
              <a:rPr lang="en-US" dirty="0" err="1"/>
              <a:t>stateOfArray</a:t>
            </a:r>
            <a:r>
              <a:rPr lang="en-US" dirty="0"/>
              <a:t>, incident]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67906-49CB-33E1-06FD-4BD255B13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901" y="2180496"/>
            <a:ext cx="8287907" cy="219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0B96F5-007B-333A-40DA-59D0EC00C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81" y="4369470"/>
            <a:ext cx="4496427" cy="952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1926F2-6F20-EC29-2FE0-1E2C7AA3D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784" y="5412521"/>
            <a:ext cx="3105583" cy="1343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AC9B52-9A78-8440-C16C-8F96C61C4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8028" y="2722456"/>
            <a:ext cx="6230219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15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4F4-0E19-AB75-C3CA-4701BC6C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C5A6A-19FD-D4F3-3BEC-C4C41EEC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Incident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9E0EF-1F62-CE90-C562-7FFC375E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add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F79173-8D1D-10D2-FED7-AA8C956FC95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839857-33C8-7325-8290-16B1EDBA5B5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FC556C-5069-1F07-0B7E-A81B7E8C31E7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and Incident list components:</a:t>
            </a:r>
          </a:p>
          <a:p>
            <a:pPr lvl="1"/>
            <a:r>
              <a:rPr lang="en-US" dirty="0"/>
              <a:t>Create a form on the ‘</a:t>
            </a:r>
            <a:r>
              <a:rPr lang="en-US" dirty="0" err="1"/>
              <a:t>IncidentList</a:t>
            </a:r>
            <a:r>
              <a:rPr lang="en-US" dirty="0"/>
              <a:t>’ component. Use state to store the values of the form</a:t>
            </a:r>
          </a:p>
          <a:p>
            <a:pPr lvl="1"/>
            <a:r>
              <a:rPr lang="en-US" dirty="0"/>
              <a:t>Chain a callback prop function from Incident list component to the Home component – this callback function should save the new incident to the state that holds the list within the ‘Home’ component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0A9C59-E6E2-547A-5BB1-5467DEED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28" y="3775011"/>
            <a:ext cx="5966911" cy="228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79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95863-3E73-CE84-4375-6F61B3AB6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Are Hooks?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593F9-D61B-5814-8009-51A7C925D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React </a:t>
            </a:r>
            <a:r>
              <a:rPr lang="en-US" dirty="0">
                <a:solidFill>
                  <a:schemeClr val="accent2"/>
                </a:solidFill>
              </a:rPr>
              <a:t>Hooks</a:t>
            </a:r>
            <a:r>
              <a:rPr lang="en-US" dirty="0">
                <a:solidFill>
                  <a:schemeClr val="bg1"/>
                </a:solidFill>
              </a:rPr>
              <a:t> are a special types of functions that let us ‘hook into’ React features like state, lifecycle, and context from functional components.</a:t>
            </a:r>
          </a:p>
          <a:p>
            <a:r>
              <a:rPr lang="en-US" dirty="0">
                <a:solidFill>
                  <a:schemeClr val="bg1"/>
                </a:solidFill>
              </a:rPr>
              <a:t>Before hooks, class components were the only way to alter state or hook into the lifecycle of a component. </a:t>
            </a:r>
          </a:p>
          <a:p>
            <a:r>
              <a:rPr lang="en-US" dirty="0">
                <a:solidFill>
                  <a:schemeClr val="bg1"/>
                </a:solidFill>
              </a:rPr>
              <a:t>Always called at the top level of a component.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F637A1-3C49-1993-E516-A3AD94BE2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780275"/>
              </p:ext>
            </p:extLst>
          </p:nvPr>
        </p:nvGraphicFramePr>
        <p:xfrm>
          <a:off x="4446758" y="853739"/>
          <a:ext cx="6998514" cy="5133108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890321">
                  <a:extLst>
                    <a:ext uri="{9D8B030D-6E8A-4147-A177-3AD203B41FA5}">
                      <a16:colId xmlns:a16="http://schemas.microsoft.com/office/drawing/2014/main" val="1736950255"/>
                    </a:ext>
                  </a:extLst>
                </a:gridCol>
                <a:gridCol w="5108193">
                  <a:extLst>
                    <a:ext uri="{9D8B030D-6E8A-4147-A177-3AD203B41FA5}">
                      <a16:colId xmlns:a16="http://schemas.microsoft.com/office/drawing/2014/main" val="1154258762"/>
                    </a:ext>
                  </a:extLst>
                </a:gridCol>
              </a:tblGrid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Hook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Purpose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44947544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useState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Adds state to a functional component.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97599265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useEffect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Handles side effects like data fetching or subscriptions (replaces lifecycle methods).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29065879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useReducer</a:t>
                      </a:r>
                      <a:endParaRPr lang="en-US" sz="16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Manages complex state logic with a reducer function.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887480763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useContext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Accesses context values without wrapping in a Consumer.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2665596874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useRef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Stores mutable values or references to DOM elements.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1358057560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useMemo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results of expensive calculations.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864241328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useCallback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functions to prevent unnecessary re-renders.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7206992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1B7909A-3E8C-6E4E-D049-6E4FB7BEB83D}"/>
              </a:ext>
            </a:extLst>
          </p:cNvPr>
          <p:cNvSpPr txBox="1"/>
          <p:nvPr/>
        </p:nvSpPr>
        <p:spPr>
          <a:xfrm>
            <a:off x="5474822" y="6053091"/>
            <a:ext cx="4577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Memoize</a:t>
            </a:r>
            <a:r>
              <a:rPr lang="en-US" dirty="0"/>
              <a:t> – caching the result of a computation</a:t>
            </a:r>
          </a:p>
        </p:txBody>
      </p:sp>
    </p:spTree>
    <p:extLst>
      <p:ext uri="{BB962C8B-B14F-4D97-AF65-F5344CB8AC3E}">
        <p14:creationId xmlns:p14="http://schemas.microsoft.com/office/powerpoint/2010/main" val="1279509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36A2-C4F9-4EEC-49BD-36E04271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3735C-5C68-57F9-A7BC-5F57B4040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68714" cy="3975348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Reducers</a:t>
            </a:r>
            <a:r>
              <a:rPr lang="en-US" dirty="0"/>
              <a:t> are a hook that allow us to centralize state management logic </a:t>
            </a:r>
          </a:p>
          <a:p>
            <a:pPr lvl="1"/>
            <a:r>
              <a:rPr lang="en-US" dirty="0"/>
              <a:t>In more complex applications, this helps avoid bugs and is easier to maintain</a:t>
            </a:r>
          </a:p>
          <a:p>
            <a:pPr lvl="1"/>
            <a:r>
              <a:rPr lang="en-US" dirty="0"/>
              <a:t>Scalable </a:t>
            </a:r>
          </a:p>
          <a:p>
            <a:pPr lvl="1"/>
            <a:r>
              <a:rPr lang="en-US" dirty="0"/>
              <a:t>Reducers should be placed under imports, but before the component function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179113-6C9B-EEE8-DE91-6006974C9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363" y="5553268"/>
            <a:ext cx="3341551" cy="12051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E8D81F2-090B-5077-C12E-E517AA0E1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324" y="1984896"/>
            <a:ext cx="5983628" cy="348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85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77ADF-D27F-33BE-5743-EE5EF2C7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4D9A9-30D5-B4F2-AACD-2B5D1B01D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Refactor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EC6BF-02D0-0105-3E31-6F4CABDA4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Refactor your code to use a reducer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50ECD-28EE-4EFA-4A24-E44B28C3C6B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D0E0D-5434-0B36-82C9-5502986F3E34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03A15F-4170-F5BE-4CA7-AFA1DD7114EF}"/>
              </a:ext>
            </a:extLst>
          </p:cNvPr>
          <p:cNvSpPr txBox="1">
            <a:spLocks/>
          </p:cNvSpPr>
          <p:nvPr/>
        </p:nvSpPr>
        <p:spPr>
          <a:xfrm>
            <a:off x="6033247" y="2982510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component:</a:t>
            </a:r>
          </a:p>
          <a:p>
            <a:pPr lvl="1"/>
            <a:r>
              <a:rPr lang="en-US" dirty="0"/>
              <a:t>Make the reducer function</a:t>
            </a:r>
          </a:p>
          <a:p>
            <a:pPr lvl="1"/>
            <a:r>
              <a:rPr lang="en-US" dirty="0"/>
              <a:t>Swap out </a:t>
            </a:r>
            <a:r>
              <a:rPr lang="en-US" dirty="0" err="1"/>
              <a:t>useState</a:t>
            </a:r>
            <a:r>
              <a:rPr lang="en-US" dirty="0"/>
              <a:t> for </a:t>
            </a:r>
            <a:r>
              <a:rPr lang="en-US" dirty="0" err="1"/>
              <a:t>useReducer</a:t>
            </a:r>
            <a:r>
              <a:rPr lang="en-US" dirty="0"/>
              <a:t> when working with the incident list</a:t>
            </a:r>
          </a:p>
          <a:p>
            <a:pPr lvl="1"/>
            <a:r>
              <a:rPr lang="en-US" dirty="0"/>
              <a:t>Edit your functions to call the dispatch method rather than ‘</a:t>
            </a:r>
            <a:r>
              <a:rPr lang="en-US" dirty="0" err="1"/>
              <a:t>setIncidents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984384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3004E-0643-3754-9DF2-B190310C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A913-4839-C8B4-CA21-8068CFB65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8778"/>
            <a:ext cx="5210007" cy="4265128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useEffect</a:t>
            </a:r>
            <a:r>
              <a:rPr lang="en-US" dirty="0"/>
              <a:t> is a hook that lets us perform ‘side effects’ in functional components.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Side Effect </a:t>
            </a:r>
            <a:r>
              <a:rPr lang="en-US" dirty="0"/>
              <a:t>is any action that happens outside the normal flow of rendering:</a:t>
            </a:r>
          </a:p>
          <a:p>
            <a:pPr lvl="1"/>
            <a:r>
              <a:rPr lang="en-US" dirty="0"/>
              <a:t>Fetching data from an API</a:t>
            </a:r>
          </a:p>
          <a:p>
            <a:pPr lvl="1"/>
            <a:r>
              <a:rPr lang="en-US" dirty="0"/>
              <a:t>Setting up subscriptions or event listeners</a:t>
            </a:r>
          </a:p>
          <a:p>
            <a:pPr lvl="1"/>
            <a:r>
              <a:rPr lang="en-US" dirty="0"/>
              <a:t>Updating the DOM manually</a:t>
            </a:r>
          </a:p>
          <a:p>
            <a:pPr lvl="1"/>
            <a:r>
              <a:rPr lang="en-US" dirty="0"/>
              <a:t>Stating/stopping timers</a:t>
            </a:r>
          </a:p>
          <a:p>
            <a:r>
              <a:rPr lang="en-US" dirty="0" err="1"/>
              <a:t>useEffect</a:t>
            </a:r>
            <a:r>
              <a:rPr lang="en-US" dirty="0"/>
              <a:t> accepts two arguments: </a:t>
            </a:r>
          </a:p>
          <a:p>
            <a:pPr lvl="1"/>
            <a:r>
              <a:rPr lang="en-US" dirty="0"/>
              <a:t>1. A function to run when it is triggered</a:t>
            </a:r>
          </a:p>
          <a:p>
            <a:pPr lvl="1"/>
            <a:r>
              <a:rPr lang="en-US" dirty="0"/>
              <a:t>2. An array of dependencies that when changed, cause the </a:t>
            </a:r>
            <a:r>
              <a:rPr lang="en-US" dirty="0" err="1"/>
              <a:t>useEffect</a:t>
            </a:r>
            <a:r>
              <a:rPr lang="en-US" dirty="0"/>
              <a:t> to run again (props or states)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68C0BE-BA78-0B90-7970-877028044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652" y="2265703"/>
            <a:ext cx="3124636" cy="1124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01EDAC-53DA-DEB1-64D2-70464338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93937"/>
            <a:ext cx="4410691" cy="1105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B5DD2-E3F2-10E8-AE9A-5DB198411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9018" y="4791813"/>
            <a:ext cx="5782482" cy="1486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77517B-4485-896C-CA16-BCA0EFA86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341874"/>
            <a:ext cx="441069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028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30F8-10E3-A01A-881C-13DFAE1F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Code with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FD915-80FF-438F-E697-AAB538C9F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1684" y="2159714"/>
            <a:ext cx="4528690" cy="3678303"/>
          </a:xfrm>
        </p:spPr>
        <p:txBody>
          <a:bodyPr/>
          <a:lstStyle/>
          <a:p>
            <a:r>
              <a:rPr lang="en-US" dirty="0"/>
              <a:t>The callback function provided to </a:t>
            </a:r>
            <a:r>
              <a:rPr lang="en-US" dirty="0" err="1"/>
              <a:t>useEffect</a:t>
            </a:r>
            <a:r>
              <a:rPr lang="en-US" dirty="0"/>
              <a:t> can NOT be asynchronous</a:t>
            </a:r>
          </a:p>
          <a:p>
            <a:r>
              <a:rPr lang="en-US" dirty="0"/>
              <a:t>Instead, we place an </a:t>
            </a:r>
            <a:r>
              <a:rPr lang="en-US" dirty="0" err="1"/>
              <a:t>asnyc</a:t>
            </a:r>
            <a:r>
              <a:rPr lang="en-US" dirty="0"/>
              <a:t> inner function inside of the callback, and then call that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F9C06-D984-9B77-C9D6-9A1130E7A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190" y="1993496"/>
            <a:ext cx="3715268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0250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92F4B-D717-36D4-A066-CB87EC32B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67DA9-FA34-EA4E-1623-6A8980E6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379115" cy="3934374"/>
          </a:xfrm>
        </p:spPr>
        <p:txBody>
          <a:bodyPr/>
          <a:lstStyle/>
          <a:p>
            <a:r>
              <a:rPr lang="en-US" dirty="0"/>
              <a:t>Certain effects should be ‘cleaned up’ after they are no longer needed</a:t>
            </a:r>
          </a:p>
          <a:p>
            <a:r>
              <a:rPr lang="en-US" dirty="0"/>
              <a:t>This reduces the chance we will have a memory leak</a:t>
            </a:r>
          </a:p>
          <a:p>
            <a:r>
              <a:rPr lang="en-US" dirty="0"/>
              <a:t>Timeouts, subscriptions, event listeners, and any effect that doesn’t need to continuously be available to the application should be disposed </a:t>
            </a:r>
          </a:p>
          <a:p>
            <a:r>
              <a:rPr lang="en-US" dirty="0"/>
              <a:t>Use the </a:t>
            </a:r>
            <a:r>
              <a:rPr lang="en-US" dirty="0" err="1"/>
              <a:t>AbortContoller</a:t>
            </a:r>
            <a:r>
              <a:rPr lang="en-US" dirty="0"/>
              <a:t> browser API to cancel fetch requests no longer needed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EEFB4-1786-AD32-2F49-3806926DE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655" y="2180496"/>
            <a:ext cx="625879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40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70E6-9458-968A-8D5F-62CDA3BD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Storing Api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E2D75-270C-A30F-89BD-131056F78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895115" cy="3678303"/>
          </a:xfrm>
        </p:spPr>
        <p:txBody>
          <a:bodyPr/>
          <a:lstStyle/>
          <a:p>
            <a:r>
              <a:rPr lang="en-US" dirty="0"/>
              <a:t>Create a file that is only the file extension ‘.env’</a:t>
            </a:r>
          </a:p>
          <a:p>
            <a:r>
              <a:rPr lang="en-US" dirty="0"/>
              <a:t>In the file define your data</a:t>
            </a:r>
          </a:p>
          <a:p>
            <a:r>
              <a:rPr lang="en-US" dirty="0"/>
              <a:t>Import it where you need it</a:t>
            </a:r>
          </a:p>
          <a:p>
            <a:r>
              <a:rPr lang="en-US" dirty="0"/>
              <a:t>Don’t forget to add environment variables to your </a:t>
            </a:r>
            <a:r>
              <a:rPr lang="en-US" dirty="0" err="1"/>
              <a:t>gitignore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75CF2-26C3-57F9-A8B1-477BFC527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693" y="2177381"/>
            <a:ext cx="2172003" cy="1076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DD13B4-5950-EB06-4483-78CD5A7AA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414" y="3513263"/>
            <a:ext cx="3804560" cy="6087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76590B-1872-FF39-0817-8A017CFD3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987" y="4608897"/>
            <a:ext cx="5733075" cy="442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F91883-3EAF-DA95-3DC6-AE2603D0E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324" y="5328735"/>
            <a:ext cx="4960740" cy="11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158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D061-04CE-FD0C-CB7D-2D37A96D0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A829-C52B-2FF5-C5F4-0397DD8F6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an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3EC5-1348-83E0-5715-4FEDE5A62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an Effect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C923F-4A73-49B8-5C29-ACC71E40114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0D2F0-D27B-EA3E-4C97-BCF8A751AC28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013C81-6BB3-B8C1-76CF-AB318556C875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Welcome component:</a:t>
            </a:r>
          </a:p>
          <a:p>
            <a:pPr lvl="1"/>
            <a:r>
              <a:rPr lang="en-US" dirty="0"/>
              <a:t>Utilize </a:t>
            </a:r>
            <a:r>
              <a:rPr lang="en-US" dirty="0" err="1"/>
              <a:t>useEffect</a:t>
            </a:r>
            <a:r>
              <a:rPr lang="en-US" dirty="0"/>
              <a:t> to display a joke under the text ‘Welcome’ </a:t>
            </a:r>
          </a:p>
        </p:txBody>
      </p:sp>
    </p:spTree>
    <p:extLst>
      <p:ext uri="{BB962C8B-B14F-4D97-AF65-F5344CB8AC3E}">
        <p14:creationId xmlns:p14="http://schemas.microsoft.com/office/powerpoint/2010/main" val="26185460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63E94-7C05-46D5-B6AF-0F7A62283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AB53-8347-A7A3-3122-EA5786675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useContext</a:t>
            </a:r>
            <a:r>
              <a:rPr lang="en-US" dirty="0"/>
              <a:t> hook allows a component to access the current value of a context without having to receive it through props</a:t>
            </a:r>
          </a:p>
          <a:p>
            <a:pPr lvl="1"/>
            <a:r>
              <a:rPr lang="en-US" dirty="0"/>
              <a:t>This avoids ‘prop-drilling’ </a:t>
            </a:r>
          </a:p>
          <a:p>
            <a:r>
              <a:rPr lang="en-US" dirty="0"/>
              <a:t>The value of a context may be any JavaScript datatype</a:t>
            </a:r>
          </a:p>
          <a:p>
            <a:r>
              <a:rPr lang="en-US" dirty="0"/>
              <a:t>This is a separate file from your components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396A3-C691-6CD3-3422-FBB4F567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615" y="3851639"/>
            <a:ext cx="3848637" cy="6382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FBEFC0-A802-44AB-2F39-A71E0BE43A40}"/>
              </a:ext>
            </a:extLst>
          </p:cNvPr>
          <p:cNvSpPr txBox="1"/>
          <p:nvPr/>
        </p:nvSpPr>
        <p:spPr>
          <a:xfrm>
            <a:off x="6893615" y="3429000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ThemeContext.js</a:t>
            </a:r>
          </a:p>
        </p:txBody>
      </p:sp>
    </p:spTree>
    <p:extLst>
      <p:ext uri="{BB962C8B-B14F-4D97-AF65-F5344CB8AC3E}">
        <p14:creationId xmlns:p14="http://schemas.microsoft.com/office/powerpoint/2010/main" val="28581589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BC3E1-1D5F-BDFB-779B-B37C9463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9BA8-A81B-1079-5762-1FE18F6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Publishing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1065F-C066-ACC8-1CEC-C083442A0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We apply our context as a provider</a:t>
            </a:r>
          </a:p>
          <a:p>
            <a:r>
              <a:rPr lang="en-US" dirty="0"/>
              <a:t>The mandatory ‘value’ attribute will pass our context data down to any subscribing components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BEBD2-9339-1981-DFCE-01DF51BD1049}"/>
              </a:ext>
            </a:extLst>
          </p:cNvPr>
          <p:cNvSpPr txBox="1"/>
          <p:nvPr/>
        </p:nvSpPr>
        <p:spPr>
          <a:xfrm>
            <a:off x="5560456" y="1995830"/>
            <a:ext cx="86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App.jsx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DB72C-2416-6F7C-3808-B33E0A73E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935" y="2017669"/>
            <a:ext cx="4167787" cy="459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4393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97DBA-223E-2B1E-CA94-A65EFE0E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Subscribing To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841B8-6E52-11A3-844C-AD6814D71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90538" cy="3678303"/>
          </a:xfrm>
        </p:spPr>
        <p:txBody>
          <a:bodyPr/>
          <a:lstStyle/>
          <a:p>
            <a:r>
              <a:rPr lang="en-US" dirty="0"/>
              <a:t>We import </a:t>
            </a:r>
            <a:r>
              <a:rPr lang="en-US" dirty="0" err="1"/>
              <a:t>useContext</a:t>
            </a:r>
            <a:r>
              <a:rPr lang="en-US" dirty="0"/>
              <a:t> along with our context ‘.</a:t>
            </a:r>
            <a:r>
              <a:rPr lang="en-US" dirty="0" err="1"/>
              <a:t>js’</a:t>
            </a:r>
            <a:r>
              <a:rPr lang="en-US" dirty="0"/>
              <a:t> file</a:t>
            </a:r>
          </a:p>
          <a:p>
            <a:r>
              <a:rPr lang="en-US" dirty="0"/>
              <a:t>We call </a:t>
            </a:r>
            <a:r>
              <a:rPr lang="en-US" dirty="0" err="1"/>
              <a:t>useContext</a:t>
            </a:r>
            <a:r>
              <a:rPr lang="en-US" dirty="0"/>
              <a:t> using our imported </a:t>
            </a:r>
            <a:r>
              <a:rPr lang="en-US" dirty="0" err="1"/>
              <a:t>ThemeContext</a:t>
            </a:r>
            <a:r>
              <a:rPr lang="en-US" dirty="0"/>
              <a:t> reference to get our theme</a:t>
            </a:r>
          </a:p>
          <a:p>
            <a:r>
              <a:rPr lang="en-US" dirty="0"/>
              <a:t>We could use that data in many ways, such as dynamically building class lists on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9CB6B-4571-19DC-C0F2-B5E0B6CB5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35" y="2180496"/>
            <a:ext cx="6233372" cy="645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C1E504-E9E2-2316-940D-E6FD8770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326" y="3195605"/>
            <a:ext cx="6725589" cy="466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EF1DA1-A8F4-3620-D427-02E29445D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814" y="4019647"/>
            <a:ext cx="4124901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6550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B54B-0B04-6A31-FFEB-138BA02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80B92-43A0-71C9-E4F1-F99B9CCF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Dark Mode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80F05-7243-C409-3024-BECC96F12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3269"/>
            <a:ext cx="5317584" cy="1681246"/>
          </a:xfrm>
        </p:spPr>
        <p:txBody>
          <a:bodyPr/>
          <a:lstStyle/>
          <a:p>
            <a:r>
              <a:rPr lang="en-US" dirty="0"/>
              <a:t>Implement a </a:t>
            </a:r>
            <a:r>
              <a:rPr lang="en-US" dirty="0" err="1"/>
              <a:t>darkmode</a:t>
            </a:r>
            <a:r>
              <a:rPr lang="en-US" dirty="0"/>
              <a:t> feature using </a:t>
            </a:r>
            <a:r>
              <a:rPr lang="en-US" dirty="0" err="1"/>
              <a:t>useContext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4BDF25-4283-E54F-6FDA-60057A6BB539}"/>
              </a:ext>
            </a:extLst>
          </p:cNvPr>
          <p:cNvSpPr txBox="1"/>
          <p:nvPr/>
        </p:nvSpPr>
        <p:spPr>
          <a:xfrm>
            <a:off x="1228165" y="1890091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95A56-F9AD-400C-9999-AE124E65AED3}"/>
              </a:ext>
            </a:extLst>
          </p:cNvPr>
          <p:cNvSpPr txBox="1"/>
          <p:nvPr/>
        </p:nvSpPr>
        <p:spPr>
          <a:xfrm>
            <a:off x="6676991" y="1890091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A1BDEE-BA0A-757B-724F-4ADED0862BFD}"/>
              </a:ext>
            </a:extLst>
          </p:cNvPr>
          <p:cNvSpPr txBox="1">
            <a:spLocks/>
          </p:cNvSpPr>
          <p:nvPr/>
        </p:nvSpPr>
        <p:spPr>
          <a:xfrm>
            <a:off x="5898776" y="1709549"/>
            <a:ext cx="5875227" cy="3678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App, Home, Welcome, and </a:t>
            </a:r>
            <a:r>
              <a:rPr lang="en-US" dirty="0" err="1"/>
              <a:t>IncidentList</a:t>
            </a:r>
            <a:r>
              <a:rPr lang="en-US" dirty="0"/>
              <a:t> </a:t>
            </a:r>
          </a:p>
          <a:p>
            <a:r>
              <a:rPr lang="en-US" dirty="0"/>
              <a:t>You should ‘publish’ your command to toggle dark mode from your ‘Home’ component </a:t>
            </a:r>
          </a:p>
          <a:p>
            <a:r>
              <a:rPr lang="en-US" dirty="0"/>
              <a:t>Both the Welcome &amp; </a:t>
            </a:r>
            <a:r>
              <a:rPr lang="en-US" dirty="0" err="1"/>
              <a:t>IncidentList</a:t>
            </a:r>
            <a:r>
              <a:rPr lang="en-US" dirty="0"/>
              <a:t> components should change their style to reflect </a:t>
            </a:r>
            <a:r>
              <a:rPr lang="en-US" dirty="0" err="1"/>
              <a:t>darkmode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6353-03FF-5595-6E37-4247F78C1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8" y="4598578"/>
            <a:ext cx="7286488" cy="10684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201E34-E2BA-5A40-378B-CEF890C456F1}"/>
              </a:ext>
            </a:extLst>
          </p:cNvPr>
          <p:cNvSpPr txBox="1"/>
          <p:nvPr/>
        </p:nvSpPr>
        <p:spPr>
          <a:xfrm rot="19946307">
            <a:off x="15408" y="4256629"/>
            <a:ext cx="3386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forget about callback props!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BC57B57-F363-FCE8-64C0-6566BED27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634" y="5719840"/>
            <a:ext cx="7664957" cy="108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569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3597-F820-CE15-CF46-E9C4E2C9A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779465-8321-A3A5-379A-9BEA713DCBB4}"/>
              </a:ext>
            </a:extLst>
          </p:cNvPr>
          <p:cNvSpPr txBox="1">
            <a:spLocks/>
          </p:cNvSpPr>
          <p:nvPr/>
        </p:nvSpPr>
        <p:spPr>
          <a:xfrm>
            <a:off x="914400" y="2243248"/>
            <a:ext cx="10696408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Model View Controller (MVC) </a:t>
            </a:r>
            <a:r>
              <a:rPr lang="en-US" dirty="0">
                <a:solidFill>
                  <a:schemeClr val="tx1"/>
                </a:solidFill>
              </a:rPr>
              <a:t>is a classic architectural design pattern used to structure applications. 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Model</a:t>
            </a:r>
            <a:r>
              <a:rPr lang="en-US" dirty="0">
                <a:solidFill>
                  <a:schemeClr val="tx1"/>
                </a:solidFill>
              </a:rPr>
              <a:t> – The data and business logic of an application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View</a:t>
            </a:r>
            <a:r>
              <a:rPr lang="en-US" dirty="0">
                <a:solidFill>
                  <a:schemeClr val="tx1"/>
                </a:solidFill>
              </a:rPr>
              <a:t> – The UI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Controller</a:t>
            </a:r>
            <a:r>
              <a:rPr lang="en-US" dirty="0">
                <a:solidFill>
                  <a:schemeClr val="tx1"/>
                </a:solidFill>
              </a:rPr>
              <a:t> – The middleman between the model and view, often handling user input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51444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7E6B-545C-B91E-1784-1B8AE8B37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React Router? What is Deep linking?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7F7FAB-49DF-A039-C8FE-2835C650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94353"/>
            <a:ext cx="5389302" cy="3974619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 Router </a:t>
            </a:r>
            <a:r>
              <a:rPr lang="en-US" dirty="0"/>
              <a:t>is a library that provides easy navigation between different views.</a:t>
            </a:r>
          </a:p>
          <a:p>
            <a:pPr lvl="1"/>
            <a:r>
              <a:rPr lang="en-US" dirty="0"/>
              <a:t>This enabled deep linking</a:t>
            </a:r>
          </a:p>
          <a:p>
            <a:pPr lvl="1"/>
            <a:r>
              <a:rPr lang="en-US" dirty="0"/>
              <a:t>Handle URL parameters and query strings</a:t>
            </a:r>
          </a:p>
          <a:p>
            <a:pPr lvl="1"/>
            <a:r>
              <a:rPr lang="en-US" dirty="0"/>
              <a:t>Manage browser history &amp; navigation</a:t>
            </a:r>
          </a:p>
          <a:p>
            <a:pPr lvl="1"/>
            <a:r>
              <a:rPr lang="en-US" dirty="0"/>
              <a:t>Create nested routes and layouts</a:t>
            </a:r>
          </a:p>
          <a:p>
            <a:pPr lvl="1"/>
            <a:r>
              <a:rPr lang="en-US" dirty="0"/>
              <a:t>Implement protected routes for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3D5F76-B2C3-5605-B374-F0F18426EE53}"/>
              </a:ext>
            </a:extLst>
          </p:cNvPr>
          <p:cNvSpPr txBox="1">
            <a:spLocks/>
          </p:cNvSpPr>
          <p:nvPr/>
        </p:nvSpPr>
        <p:spPr>
          <a:xfrm>
            <a:off x="6096000" y="2763866"/>
            <a:ext cx="5389300" cy="3391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Deep Linking </a:t>
            </a:r>
            <a:r>
              <a:rPr lang="en-US" dirty="0">
                <a:solidFill>
                  <a:schemeClr val="tx1"/>
                </a:solidFill>
              </a:rPr>
              <a:t>is the practice of using hyperlinks to send users directly to specific content within our applications </a:t>
            </a:r>
          </a:p>
          <a:p>
            <a:r>
              <a:rPr lang="en-US" dirty="0"/>
              <a:t>1-2 levels deep: most apps</a:t>
            </a:r>
          </a:p>
          <a:p>
            <a:pPr lvl="1"/>
            <a:r>
              <a:rPr lang="en-US" dirty="0"/>
              <a:t>/dashboard</a:t>
            </a:r>
          </a:p>
          <a:p>
            <a:pPr lvl="1"/>
            <a:r>
              <a:rPr lang="en-US" dirty="0"/>
              <a:t>/products/45</a:t>
            </a:r>
          </a:p>
          <a:p>
            <a:r>
              <a:rPr lang="en-US" dirty="0"/>
              <a:t>3-4 levels deeps: common for structured apps</a:t>
            </a:r>
          </a:p>
          <a:p>
            <a:pPr lvl="1"/>
            <a:r>
              <a:rPr lang="en-US" dirty="0"/>
              <a:t>/dashboard/reports/weekly</a:t>
            </a:r>
          </a:p>
          <a:p>
            <a:pPr lvl="1"/>
            <a:r>
              <a:rPr lang="en-US" dirty="0"/>
              <a:t>/shop/products/46/reviews</a:t>
            </a:r>
          </a:p>
          <a:p>
            <a:r>
              <a:rPr lang="en-US" dirty="0"/>
              <a:t>5+ levels deep: Rare but possible, usually in enterprise </a:t>
            </a:r>
          </a:p>
          <a:p>
            <a:pPr lvl="1"/>
            <a:r>
              <a:rPr lang="en-US" dirty="0"/>
              <a:t>/orgs/12/projects/55/tasks/34/comments/2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4552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841C7-3DB6-ABB3-3C68-3EA22A56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F25AE-D113-976C-0902-660AA3FD7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27952"/>
            <a:ext cx="4806596" cy="5089793"/>
          </a:xfrm>
        </p:spPr>
        <p:txBody>
          <a:bodyPr/>
          <a:lstStyle/>
          <a:p>
            <a:r>
              <a:rPr lang="en-US" dirty="0"/>
              <a:t>Install the router package</a:t>
            </a:r>
          </a:p>
          <a:p>
            <a:r>
              <a:rPr lang="en-US" dirty="0"/>
              <a:t>Wrap your &lt;App/&gt; in &lt;</a:t>
            </a:r>
            <a:r>
              <a:rPr lang="en-US" dirty="0" err="1"/>
              <a:t>BrowserRouter</a:t>
            </a:r>
            <a:r>
              <a:rPr lang="en-US" dirty="0"/>
              <a:t>/&gt;</a:t>
            </a:r>
          </a:p>
          <a:p>
            <a:r>
              <a:rPr lang="en-US" dirty="0"/>
              <a:t>Import Routes, Route, &amp; Link</a:t>
            </a:r>
          </a:p>
          <a:p>
            <a:r>
              <a:rPr lang="en-US" dirty="0"/>
              <a:t>Your content will render where you place your routes</a:t>
            </a:r>
          </a:p>
          <a:p>
            <a:r>
              <a:rPr lang="en-US" dirty="0"/>
              <a:t>Then any Link tags may navigate the user to that content</a:t>
            </a:r>
          </a:p>
          <a:p>
            <a:pPr lvl="1"/>
            <a:r>
              <a:rPr lang="en-US" dirty="0"/>
              <a:t>Never use &lt;a&gt; tags with React Router</a:t>
            </a:r>
          </a:p>
          <a:p>
            <a:pPr lvl="1"/>
            <a:r>
              <a:rPr lang="en-US" dirty="0"/>
              <a:t>Only use &lt;a&gt; for external URL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5DB1E1-436E-0845-AF52-3C522075F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7947" y="2180496"/>
            <a:ext cx="5420481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B9FDE8-89E1-94BD-0FA9-E6927F16F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650" y="2841813"/>
            <a:ext cx="3079073" cy="17880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DB3FDE-D213-F69C-D895-73AD9EDC4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697" y="5264103"/>
            <a:ext cx="6596977" cy="5946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BDC00A-0FF1-2D37-18CB-070B1D2DD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392" y="6052538"/>
            <a:ext cx="4553585" cy="4191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0487C3-E2B2-321F-49A6-F1B86AE42F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806" y="4732659"/>
            <a:ext cx="6096851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449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5E66-3851-CE53-0C47-FB2BC466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61005-ABA7-81DC-0B20-C5481BBE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A8956-71EA-D81A-6FCA-5FA89737B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Implement Routing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1BBFB-9B25-A368-614A-E7A2B0F7D75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988B4F-DFDE-1BDB-884B-B8788208264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8300895-8C56-970D-ADCF-3B6D8F6E1DF3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Implement routing so that:</a:t>
            </a:r>
          </a:p>
          <a:p>
            <a:pPr lvl="1"/>
            <a:r>
              <a:rPr lang="en-US" dirty="0"/>
              <a:t>‘Welcome’ component is on this route: ‘/’</a:t>
            </a:r>
          </a:p>
          <a:p>
            <a:pPr lvl="1"/>
            <a:r>
              <a:rPr lang="en-US" dirty="0"/>
              <a:t>‘</a:t>
            </a:r>
            <a:r>
              <a:rPr lang="en-US" dirty="0" err="1"/>
              <a:t>IncidentList</a:t>
            </a:r>
            <a:r>
              <a:rPr lang="en-US" dirty="0"/>
              <a:t>’ component is on this route: ‘/incidents’</a:t>
            </a:r>
          </a:p>
        </p:txBody>
      </p:sp>
    </p:spTree>
    <p:extLst>
      <p:ext uri="{BB962C8B-B14F-4D97-AF65-F5344CB8AC3E}">
        <p14:creationId xmlns:p14="http://schemas.microsoft.com/office/powerpoint/2010/main" val="29562766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34431-12AE-6693-E026-E847B55F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A9632-C212-3BA7-DD8F-1AFC48FF1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90630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Axios</a:t>
            </a:r>
            <a:r>
              <a:rPr lang="en-US" dirty="0"/>
              <a:t> is a popular JavaScript library for making HTTP requests from the browser or Node.js</a:t>
            </a:r>
          </a:p>
          <a:p>
            <a:pPr lvl="1"/>
            <a:r>
              <a:rPr lang="en-US" dirty="0"/>
              <a:t>Promise based</a:t>
            </a:r>
          </a:p>
          <a:p>
            <a:pPr lvl="1"/>
            <a:r>
              <a:rPr lang="en-US" dirty="0"/>
              <a:t>Automatic JSON parsing (no need for .</a:t>
            </a:r>
            <a:r>
              <a:rPr lang="en-US" dirty="0" err="1"/>
              <a:t>json</a:t>
            </a:r>
            <a:r>
              <a:rPr lang="en-US" dirty="0"/>
              <a:t>() )</a:t>
            </a:r>
          </a:p>
          <a:p>
            <a:pPr lvl="1"/>
            <a:r>
              <a:rPr lang="en-US" dirty="0"/>
              <a:t>GET, POST, PUT, DELETE, PATCH, etc. </a:t>
            </a:r>
          </a:p>
          <a:p>
            <a:pPr lvl="1"/>
            <a:r>
              <a:rPr lang="en-US" dirty="0"/>
              <a:t>Works with our </a:t>
            </a:r>
            <a:r>
              <a:rPr lang="en-US" dirty="0" err="1"/>
              <a:t>AbortController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5492-7DC1-8FD0-B71E-5EEE8C509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358" y="2296019"/>
            <a:ext cx="4734586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B31E7C-854A-90E5-0C1B-F0944CFE4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736" y="3029594"/>
            <a:ext cx="4417829" cy="5048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FF32F-DCC9-F7AC-FD75-856B8DC25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6489" y="3763169"/>
            <a:ext cx="5310322" cy="300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522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798D0-FE94-C673-31C6-100324A7F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Types of Requests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3AEC33-E2F6-D18F-7979-3271ABF15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732" y="2266402"/>
            <a:ext cx="6344535" cy="790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63A4F-B225-635A-20C6-58203251B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732" y="3424150"/>
            <a:ext cx="6439799" cy="771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DCDE3A-9858-357E-E153-42DCC1536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620" y="4562847"/>
            <a:ext cx="5552021" cy="69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375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5622E-E18D-F1DA-7722-2F15C199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C7610-8F33-DB21-9D87-DDD2C88F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AADE0-0C0B-08B0-2D58-37A82901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Update your fetch request to Axios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07600-6EE3-DDF2-E66B-1076710269DE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B7E63-9807-65A7-A84F-F45EC09C89A9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5210A9D-14C1-F4AE-9673-AEC14615266C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the NPM package</a:t>
            </a:r>
          </a:p>
          <a:p>
            <a:r>
              <a:rPr lang="en-US" dirty="0"/>
              <a:t>Import it into your .</a:t>
            </a:r>
            <a:r>
              <a:rPr lang="en-US" dirty="0" err="1"/>
              <a:t>jsx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577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73D2-F5DC-1CC3-B80C-6A80D44C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Material UI?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849AD-7B04-8FB1-5C5B-B2EA9F2CB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6" cy="12485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Material UI </a:t>
            </a:r>
            <a:r>
              <a:rPr lang="en-US" dirty="0"/>
              <a:t>is a popular React component library</a:t>
            </a:r>
          </a:p>
          <a:p>
            <a:pPr lvl="1"/>
            <a:r>
              <a:rPr lang="en-US" dirty="0"/>
              <a:t>Provides pre-built, customizable UI components that help developers build consistent, modern, and responsive user interfaces quickly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1849D0-A3ED-184F-792D-5E78A5AFF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911" y="3759696"/>
            <a:ext cx="7888177" cy="298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9811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56A9-CE51-4ECA-0D24-409D540C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8BF47-E8D7-A3CE-FFDE-6AA570E55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621932"/>
            <a:ext cx="11029615" cy="1248504"/>
          </a:xfrm>
        </p:spPr>
        <p:txBody>
          <a:bodyPr/>
          <a:lstStyle/>
          <a:p>
            <a:r>
              <a:rPr lang="en-US" dirty="0"/>
              <a:t>@mui/material – core components</a:t>
            </a:r>
          </a:p>
          <a:p>
            <a:r>
              <a:rPr lang="en-US" dirty="0"/>
              <a:t>@emotion/react &amp; @emotion/styled – required for styling</a:t>
            </a:r>
          </a:p>
          <a:p>
            <a:r>
              <a:rPr lang="en-US" dirty="0"/>
              <a:t>@mui/icons-material – optional icons (but we may use them so install them anyway)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A699A-192E-97B1-D716-735DC919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861" y="4453324"/>
            <a:ext cx="8602275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8136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D4431-F44A-8892-CF12-03F89CDD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Material UI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2B675-93A2-C52C-2307-A3D7C07E1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68574" cy="2370483"/>
          </a:xfrm>
        </p:spPr>
        <p:txBody>
          <a:bodyPr/>
          <a:lstStyle/>
          <a:p>
            <a:r>
              <a:rPr lang="en-US" dirty="0"/>
              <a:t>After installing with NPM:</a:t>
            </a:r>
          </a:p>
          <a:p>
            <a:r>
              <a:rPr lang="en-US" dirty="0"/>
              <a:t>Import the component you’d like to use</a:t>
            </a:r>
          </a:p>
          <a:p>
            <a:r>
              <a:rPr lang="en-US" dirty="0"/>
              <a:t>Customize it with props </a:t>
            </a:r>
          </a:p>
          <a:p>
            <a:r>
              <a:rPr lang="en-US" dirty="0"/>
              <a:t>The documentation is your best friend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C15C3D-2C21-33E3-0681-5202ED757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151" y="2583723"/>
            <a:ext cx="5710449" cy="4117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16ED2C-2993-4C25-6277-12904F12D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485" y="4695450"/>
            <a:ext cx="9350115" cy="32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5442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15978-FE74-BE0A-2C56-D9A6FE6E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No, Seriously, Use the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90447-E5A7-C0F1-7B60-3DC39CEFB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22036" cy="3684275"/>
          </a:xfrm>
        </p:spPr>
        <p:txBody>
          <a:bodyPr/>
          <a:lstStyle/>
          <a:p>
            <a:r>
              <a:rPr lang="en-US" dirty="0"/>
              <a:t>This is why - look at that code, there is no way you will remember that unless you use it ever day</a:t>
            </a:r>
          </a:p>
          <a:p>
            <a:r>
              <a:rPr lang="en-US" dirty="0"/>
              <a:t>And that is just for a simple dropdown, it’s not even part of the rest of the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0BC1A8-4E42-EA31-4114-FB18AC80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798" y="3147288"/>
            <a:ext cx="6697010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5831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F00AB-77BF-D1E0-F821-730907DCF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103C-8E20-803A-D7AB-EC42DF423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87CED-5C84-66E0-8E74-4FD628065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84687"/>
            <a:ext cx="5317584" cy="1681246"/>
          </a:xfrm>
        </p:spPr>
        <p:txBody>
          <a:bodyPr/>
          <a:lstStyle/>
          <a:p>
            <a:r>
              <a:rPr lang="en-US" dirty="0"/>
              <a:t>Update the delete button on your incident cards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7A688-135A-27FD-E1AF-360FF00CB04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D847-5D75-8BB0-D289-A4F7D8F03DE6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CA81AF8-7843-0CBE-E014-7104243E26BF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685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Make sure your incident cards have a red delete button via Material UI</a:t>
            </a:r>
          </a:p>
        </p:txBody>
      </p:sp>
    </p:spTree>
    <p:extLst>
      <p:ext uri="{BB962C8B-B14F-4D97-AF65-F5344CB8AC3E}">
        <p14:creationId xmlns:p14="http://schemas.microsoft.com/office/powerpoint/2010/main" val="21679241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7177</TotalTime>
  <Words>3018</Words>
  <Application>Microsoft Office PowerPoint</Application>
  <PresentationFormat>Widescreen</PresentationFormat>
  <Paragraphs>326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0" baseType="lpstr">
      <vt:lpstr>Arial</vt:lpstr>
      <vt:lpstr>Gill Sans MT</vt:lpstr>
      <vt:lpstr>Wingdings</vt:lpstr>
      <vt:lpstr>Wingdings 2</vt:lpstr>
      <vt:lpstr>Dividend</vt:lpstr>
      <vt:lpstr>React</vt:lpstr>
      <vt:lpstr>What is React?</vt:lpstr>
      <vt:lpstr>How Does React Work?</vt:lpstr>
      <vt:lpstr>What we Need</vt:lpstr>
      <vt:lpstr>Challenge – Create Your First App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Create A header</vt:lpstr>
      <vt:lpstr>Props</vt:lpstr>
      <vt:lpstr>Destructuring Props</vt:lpstr>
      <vt:lpstr>Challenge – View an Incident</vt:lpstr>
      <vt:lpstr>Lists</vt:lpstr>
      <vt:lpstr>Challenge – View All the incidents</vt:lpstr>
      <vt:lpstr>Conditional Rendering</vt:lpstr>
      <vt:lpstr>Firing Events</vt:lpstr>
      <vt:lpstr>Keeping State</vt:lpstr>
      <vt:lpstr>Challenge – Create Basic App Navigation</vt:lpstr>
      <vt:lpstr>Deleting Items From Lists</vt:lpstr>
      <vt:lpstr>Callback Props</vt:lpstr>
      <vt:lpstr>Challenge – Delete Incidents</vt:lpstr>
      <vt:lpstr>Sharing Component Data / Lifting Up State</vt:lpstr>
      <vt:lpstr>Sharing Component Data / Lifting Up State</vt:lpstr>
      <vt:lpstr>Challenge – Lift Up Incident List State</vt:lpstr>
      <vt:lpstr>onCHange &amp; Object State Updates</vt:lpstr>
      <vt:lpstr>Challenge – Add Incident Records</vt:lpstr>
      <vt:lpstr>What Are Hooks?</vt:lpstr>
      <vt:lpstr>Reducer</vt:lpstr>
      <vt:lpstr>Challenge – Refactor</vt:lpstr>
      <vt:lpstr>Effect</vt:lpstr>
      <vt:lpstr>Async Code with Effects</vt:lpstr>
      <vt:lpstr>Effect Optimization</vt:lpstr>
      <vt:lpstr>Storing Api Keys</vt:lpstr>
      <vt:lpstr>Challenge – Create an Effect</vt:lpstr>
      <vt:lpstr>Context</vt:lpstr>
      <vt:lpstr>Publishing Context</vt:lpstr>
      <vt:lpstr>Subscribing To Context</vt:lpstr>
      <vt:lpstr>Challenge – Implement Dark Mode </vt:lpstr>
      <vt:lpstr>MVC</vt:lpstr>
      <vt:lpstr>What is React Router? What is Deep linking?</vt:lpstr>
      <vt:lpstr>React Router Setup</vt:lpstr>
      <vt:lpstr>Challenge – Implement Routing</vt:lpstr>
      <vt:lpstr>Axios</vt:lpstr>
      <vt:lpstr>Other Types of Requests</vt:lpstr>
      <vt:lpstr>Challenge – Use Axios</vt:lpstr>
      <vt:lpstr>What Is Material UI?</vt:lpstr>
      <vt:lpstr>Setup Material UI</vt:lpstr>
      <vt:lpstr>Using Material UI Components</vt:lpstr>
      <vt:lpstr>No, Seriously, Use the Documentation</vt:lpstr>
      <vt:lpstr>Challenge – Use Material UI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598</cp:revision>
  <dcterms:created xsi:type="dcterms:W3CDTF">2025-02-12T19:53:45Z</dcterms:created>
  <dcterms:modified xsi:type="dcterms:W3CDTF">2025-10-03T16:18:48Z</dcterms:modified>
</cp:coreProperties>
</file>