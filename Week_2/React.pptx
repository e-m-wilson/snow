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63" r:id="rId3"/>
    <p:sldId id="264" r:id="rId4"/>
    <p:sldId id="265" r:id="rId5"/>
    <p:sldId id="262" r:id="rId6"/>
    <p:sldId id="266" r:id="rId7"/>
    <p:sldId id="267" r:id="rId8"/>
    <p:sldId id="269" r:id="rId9"/>
    <p:sldId id="268" r:id="rId10"/>
    <p:sldId id="270" r:id="rId11"/>
    <p:sldId id="273" r:id="rId12"/>
    <p:sldId id="274" r:id="rId13"/>
    <p:sldId id="275" r:id="rId14"/>
    <p:sldId id="272" r:id="rId15"/>
    <p:sldId id="271" r:id="rId16"/>
    <p:sldId id="276" r:id="rId17"/>
    <p:sldId id="277" r:id="rId18"/>
    <p:sldId id="278" r:id="rId19"/>
    <p:sldId id="279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D3D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8EF453-3095-AE8A-2F6D-B0378CA79EC1}" v="28" dt="2025-06-02T16:07:27.587"/>
    <p1510:client id="{DEF17522-F9FC-8578-697D-16CF15692E13}" v="5" dt="2025-06-03T14:51:56.48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972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38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diagrams/_rels/data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image" Target="../media/image8.png"/></Relationships>
</file>

<file path=ppt/diagrams/_rels/drawing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image" Target="../media/image8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E43D65C-8931-47DD-A990-F3B8405C8612}" type="doc">
      <dgm:prSet loTypeId="urn:microsoft.com/office/officeart/2018/2/layout/Icon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498671D-2D77-41C0-86B7-5B9DCF2A594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It’s common to group up components in your project folder based on features</a:t>
          </a:r>
        </a:p>
      </dgm:t>
    </dgm:pt>
    <dgm:pt modelId="{06064ABE-0F0D-4A1D-AE43-66B9DB09EB18}" type="parTrans" cxnId="{209D1261-C4B3-463C-AF68-649DB5024103}">
      <dgm:prSet/>
      <dgm:spPr/>
      <dgm:t>
        <a:bodyPr/>
        <a:lstStyle/>
        <a:p>
          <a:endParaRPr lang="en-US"/>
        </a:p>
      </dgm:t>
    </dgm:pt>
    <dgm:pt modelId="{EF3F3E5A-1C21-4F1E-8291-8D6646D04213}" type="sibTrans" cxnId="{209D1261-C4B3-463C-AF68-649DB5024103}">
      <dgm:prSet/>
      <dgm:spPr/>
      <dgm:t>
        <a:bodyPr/>
        <a:lstStyle/>
        <a:p>
          <a:endParaRPr lang="en-US"/>
        </a:p>
      </dgm:t>
    </dgm:pt>
    <dgm:pt modelId="{145E74D0-10BA-4829-BF4A-7CEA034790D5}" type="pres">
      <dgm:prSet presAssocID="{6E43D65C-8931-47DD-A990-F3B8405C8612}" presName="root" presStyleCnt="0">
        <dgm:presLayoutVars>
          <dgm:dir/>
          <dgm:resizeHandles val="exact"/>
        </dgm:presLayoutVars>
      </dgm:prSet>
      <dgm:spPr/>
    </dgm:pt>
    <dgm:pt modelId="{A3C1F0FE-CA92-44A2-8A2A-57473F82C054}" type="pres">
      <dgm:prSet presAssocID="{A498671D-2D77-41C0-86B7-5B9DCF2A594F}" presName="compNode" presStyleCnt="0"/>
      <dgm:spPr/>
    </dgm:pt>
    <dgm:pt modelId="{6233FC53-5290-4539-A927-EDB59F773E72}" type="pres">
      <dgm:prSet presAssocID="{A498671D-2D77-41C0-86B7-5B9DCF2A594F}" presName="iconRect" presStyleLbl="node1" presStyleIdx="0" presStyleCnt="1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Open Folder"/>
        </a:ext>
      </dgm:extLst>
    </dgm:pt>
    <dgm:pt modelId="{D010B96A-6623-4F92-8382-8A60E83567A2}" type="pres">
      <dgm:prSet presAssocID="{A498671D-2D77-41C0-86B7-5B9DCF2A594F}" presName="spaceRect" presStyleCnt="0"/>
      <dgm:spPr/>
    </dgm:pt>
    <dgm:pt modelId="{3BD1305E-B700-4EAC-93C6-194EC97808D2}" type="pres">
      <dgm:prSet presAssocID="{A498671D-2D77-41C0-86B7-5B9DCF2A594F}" presName="textRect" presStyleLbl="revTx" presStyleIdx="0" presStyleCnt="1">
        <dgm:presLayoutVars>
          <dgm:chMax val="1"/>
          <dgm:chPref val="1"/>
        </dgm:presLayoutVars>
      </dgm:prSet>
      <dgm:spPr/>
    </dgm:pt>
  </dgm:ptLst>
  <dgm:cxnLst>
    <dgm:cxn modelId="{C1D7AD0E-DD3F-4190-9AAE-8E1D6A05524B}" type="presOf" srcId="{6E43D65C-8931-47DD-A990-F3B8405C8612}" destId="{145E74D0-10BA-4829-BF4A-7CEA034790D5}" srcOrd="0" destOrd="0" presId="urn:microsoft.com/office/officeart/2018/2/layout/IconLabelList"/>
    <dgm:cxn modelId="{209D1261-C4B3-463C-AF68-649DB5024103}" srcId="{6E43D65C-8931-47DD-A990-F3B8405C8612}" destId="{A498671D-2D77-41C0-86B7-5B9DCF2A594F}" srcOrd="0" destOrd="0" parTransId="{06064ABE-0F0D-4A1D-AE43-66B9DB09EB18}" sibTransId="{EF3F3E5A-1C21-4F1E-8291-8D6646D04213}"/>
    <dgm:cxn modelId="{761B1D49-8982-4142-BA7B-C872B68BEE82}" type="presOf" srcId="{A498671D-2D77-41C0-86B7-5B9DCF2A594F}" destId="{3BD1305E-B700-4EAC-93C6-194EC97808D2}" srcOrd="0" destOrd="0" presId="urn:microsoft.com/office/officeart/2018/2/layout/IconLabelList"/>
    <dgm:cxn modelId="{E890585D-F497-4539-87CB-FCB6A10BC018}" type="presParOf" srcId="{145E74D0-10BA-4829-BF4A-7CEA034790D5}" destId="{A3C1F0FE-CA92-44A2-8A2A-57473F82C054}" srcOrd="0" destOrd="0" presId="urn:microsoft.com/office/officeart/2018/2/layout/IconLabelList"/>
    <dgm:cxn modelId="{2AA23498-CE42-4BBC-A7C0-196BB8A1909D}" type="presParOf" srcId="{A3C1F0FE-CA92-44A2-8A2A-57473F82C054}" destId="{6233FC53-5290-4539-A927-EDB59F773E72}" srcOrd="0" destOrd="0" presId="urn:microsoft.com/office/officeart/2018/2/layout/IconLabelList"/>
    <dgm:cxn modelId="{87D68434-E48E-44D9-B03A-555236487174}" type="presParOf" srcId="{A3C1F0FE-CA92-44A2-8A2A-57473F82C054}" destId="{D010B96A-6623-4F92-8382-8A60E83567A2}" srcOrd="1" destOrd="0" presId="urn:microsoft.com/office/officeart/2018/2/layout/IconLabelList"/>
    <dgm:cxn modelId="{36855CBA-609E-43F7-87CF-2D0AA1D3FA25}" type="presParOf" srcId="{A3C1F0FE-CA92-44A2-8A2A-57473F82C054}" destId="{3BD1305E-B700-4EAC-93C6-194EC97808D2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233FC53-5290-4539-A927-EDB59F773E72}">
      <dsp:nvSpPr>
        <dsp:cNvPr id="0" name=""/>
        <dsp:cNvSpPr/>
      </dsp:nvSpPr>
      <dsp:spPr>
        <a:xfrm>
          <a:off x="713531" y="104224"/>
          <a:ext cx="845437" cy="8454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D1305E-B700-4EAC-93C6-194EC97808D2}">
      <dsp:nvSpPr>
        <dsp:cNvPr id="0" name=""/>
        <dsp:cNvSpPr/>
      </dsp:nvSpPr>
      <dsp:spPr>
        <a:xfrm>
          <a:off x="196875" y="1225956"/>
          <a:ext cx="1878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It’s common to group up components in your project folder based on features</a:t>
          </a:r>
        </a:p>
      </dsp:txBody>
      <dsp:txXfrm>
        <a:off x="196875" y="1225956"/>
        <a:ext cx="187875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9/28/2025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8113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5877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9/28/2025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375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9/28/2025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509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9/28/2025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248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9/28/2025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9988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9/28/2025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8299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9/28/2025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710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9/28/2025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71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9061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9/28/2025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55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</a:t>
            </a:r>
          </a:p>
          <a:p>
            <a:pPr lvl="6"/>
            <a:r>
              <a:rPr lang="en-US" dirty="0"/>
              <a:t>Seven</a:t>
            </a:r>
          </a:p>
          <a:p>
            <a:pPr lvl="7"/>
            <a:r>
              <a:rPr lang="en-US" dirty="0"/>
              <a:t>Eight</a:t>
            </a:r>
          </a:p>
          <a:p>
            <a:pPr lvl="8"/>
            <a:r>
              <a:rPr lang="en-US" dirty="0"/>
              <a:t>ni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9/28/2025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076615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diagramLayout" Target="../diagrams/layout1.xml"/><Relationship Id="rId7" Type="http://schemas.openxmlformats.org/officeDocument/2006/relationships/image" Target="../media/image10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10" Type="http://schemas.openxmlformats.org/officeDocument/2006/relationships/image" Target="../media/image13.sv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React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1ADD25B-0A33-4EF2-90F4-4313926931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14406"/>
            <a:ext cx="12192000" cy="624359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4DB6F31-1B9E-4237-84A3-0825BFDF46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2377" y="614407"/>
            <a:ext cx="3707477" cy="561177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B2FDC9B-E008-C5DA-8CAB-633216688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1255" y="702156"/>
            <a:ext cx="3409783" cy="1013800"/>
          </a:xfrm>
        </p:spPr>
        <p:txBody>
          <a:bodyPr>
            <a:normAutofit/>
          </a:bodyPr>
          <a:lstStyle/>
          <a:p>
            <a:r>
              <a:rPr lang="en-US" dirty="0"/>
              <a:t>What is React?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D85CE1-91C2-05D6-C8B9-88412DDBD7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1255" y="1964168"/>
            <a:ext cx="3409782" cy="403658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Definition: </a:t>
            </a:r>
            <a:r>
              <a:rPr lang="en-US" dirty="0">
                <a:solidFill>
                  <a:schemeClr val="accent2"/>
                </a:solidFill>
              </a:rPr>
              <a:t>React</a:t>
            </a:r>
            <a:r>
              <a:rPr lang="en-US" dirty="0">
                <a:solidFill>
                  <a:schemeClr val="bg1"/>
                </a:solidFill>
              </a:rPr>
              <a:t> is a front-end JavaScript library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React is also known as React.js or ReactJS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React is a tool for building UI components</a:t>
            </a:r>
          </a:p>
          <a:p>
            <a:r>
              <a:rPr lang="en-US" dirty="0" err="1">
                <a:solidFill>
                  <a:schemeClr val="bg1"/>
                </a:solidFill>
              </a:rPr>
              <a:t>react.dev</a:t>
            </a:r>
            <a:r>
              <a:rPr lang="en-US" dirty="0">
                <a:solidFill>
                  <a:schemeClr val="bg1"/>
                </a:solidFill>
              </a:rPr>
              <a:t>/learn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DACAEC-8645-F494-584E-E0B6A07EE9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4250" y="718314"/>
            <a:ext cx="6340790" cy="271068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0CE7030-0458-1D8B-C108-9447BDFFDC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4251" y="3635363"/>
            <a:ext cx="6340790" cy="27458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43309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0CD4A6-DD2E-5DF2-1E7A-3CC103883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Does React Work?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57794F-23F3-26FD-CC67-AAE322DC17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932102" cy="3678303"/>
          </a:xfrm>
        </p:spPr>
        <p:txBody>
          <a:bodyPr/>
          <a:lstStyle/>
          <a:p>
            <a:r>
              <a:rPr lang="en-US" dirty="0"/>
              <a:t>React creates a virtual DOM in memory</a:t>
            </a:r>
          </a:p>
          <a:p>
            <a:pPr lvl="1"/>
            <a:r>
              <a:rPr lang="en-US" dirty="0"/>
              <a:t>Instead of manipulating the browser’s DOM directly, React creates a virtual DOM in memory, where it does all the necessary manipulating, before making changes in the browser DOM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90DFA8A-953B-F0D5-304B-0BBAE13B8E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914514"/>
            <a:ext cx="4172532" cy="1943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15127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990524-623B-0575-4BFF-61A1D601E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we Need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82E14D-AABC-A444-62EC-94DEB522BC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26708"/>
            <a:ext cx="3371075" cy="3678303"/>
          </a:xfrm>
        </p:spPr>
        <p:txBody>
          <a:bodyPr/>
          <a:lstStyle/>
          <a:p>
            <a:r>
              <a:rPr lang="en-US" dirty="0"/>
              <a:t>NPM, included with Node.js</a:t>
            </a:r>
          </a:p>
          <a:p>
            <a:r>
              <a:rPr lang="en-US" dirty="0" err="1"/>
              <a:t>Vscode</a:t>
            </a:r>
            <a:endParaRPr lang="en-US" dirty="0"/>
          </a:p>
          <a:p>
            <a:r>
              <a:rPr lang="en-US" dirty="0"/>
              <a:t>Vite</a:t>
            </a:r>
          </a:p>
          <a:p>
            <a:pPr lvl="1"/>
            <a:r>
              <a:rPr lang="en-US" dirty="0"/>
              <a:t>Project names all lowercase/dashes</a:t>
            </a:r>
          </a:p>
          <a:p>
            <a:r>
              <a:rPr lang="en-US" dirty="0"/>
              <a:t>Recommended: </a:t>
            </a:r>
            <a:br>
              <a:rPr lang="en-US" dirty="0"/>
            </a:br>
            <a:r>
              <a:rPr lang="en-US" dirty="0"/>
              <a:t>React Developer Tools browser extension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4F7E017-B7EC-959E-7408-C51E6D17F5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7680" y="2256320"/>
            <a:ext cx="3581900" cy="50489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9CEC70B-C25C-AB4B-AD0F-FAE10C7E2B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2267" y="3116671"/>
            <a:ext cx="3905795" cy="342947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AAD11A9-B4A1-B4D6-B247-FD3DF2885C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8277" y="3116671"/>
            <a:ext cx="3753374" cy="1943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48736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D92F2-BD3F-5502-960E-3CFF35778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D234C-D59D-E997-1AA0-D508BFFD3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Create Your First App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F8E57B-9E41-4816-C2F2-1105A90F8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Create a React project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E50FF0-C783-F3C0-044D-2F094F317804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5306AE-2095-D0AE-E069-321DBC55370F}"/>
              </a:ext>
            </a:extLst>
          </p:cNvPr>
          <p:cNvSpPr txBox="1"/>
          <p:nvPr/>
        </p:nvSpPr>
        <p:spPr>
          <a:xfrm>
            <a:off x="6949165" y="2402747"/>
            <a:ext cx="4661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5 min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1B443B1-E14C-64AB-9E9D-75FFCF923C2B}"/>
              </a:ext>
            </a:extLst>
          </p:cNvPr>
          <p:cNvSpPr txBox="1">
            <a:spLocks/>
          </p:cNvSpPr>
          <p:nvPr/>
        </p:nvSpPr>
        <p:spPr>
          <a:xfrm>
            <a:off x="6456103" y="3130666"/>
            <a:ext cx="4661642" cy="16812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Your organization needs to build a portal for service technicians. This portal should be able to view, modify, and delete incident records. This application will be written in React.</a:t>
            </a:r>
          </a:p>
          <a:p>
            <a:endParaRPr lang="en-US" dirty="0"/>
          </a:p>
          <a:p>
            <a:r>
              <a:rPr lang="en-US" dirty="0"/>
              <a:t>To get started, setup your development environment</a:t>
            </a:r>
          </a:p>
        </p:txBody>
      </p:sp>
    </p:spTree>
    <p:extLst>
      <p:ext uri="{BB962C8B-B14F-4D97-AF65-F5344CB8AC3E}">
        <p14:creationId xmlns:p14="http://schemas.microsoft.com/office/powerpoint/2010/main" val="35878713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7F9A83-43AA-1FCC-FFB9-5A62A7F382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React Component?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8A6D25-759E-CB20-B233-0FCAE90BE4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021749" cy="3678303"/>
          </a:xfrm>
        </p:spPr>
        <p:txBody>
          <a:bodyPr/>
          <a:lstStyle/>
          <a:p>
            <a:r>
              <a:rPr lang="en-US" dirty="0"/>
              <a:t>Definition: A </a:t>
            </a:r>
            <a:r>
              <a:rPr lang="en-US" dirty="0">
                <a:solidFill>
                  <a:schemeClr val="accent2"/>
                </a:solidFill>
              </a:rPr>
              <a:t>component</a:t>
            </a:r>
            <a:r>
              <a:rPr lang="en-US" dirty="0"/>
              <a:t> is a piece of the UI that has its own logic and appearance</a:t>
            </a:r>
          </a:p>
          <a:p>
            <a:pPr lvl="1"/>
            <a:r>
              <a:rPr lang="en-US" dirty="0"/>
              <a:t>A component can be as small as a button, or as large as an entire page</a:t>
            </a:r>
          </a:p>
          <a:p>
            <a:pPr lvl="1"/>
            <a:r>
              <a:rPr lang="en-US" dirty="0"/>
              <a:t>React components are JavaScript functions that return markup</a:t>
            </a:r>
          </a:p>
          <a:p>
            <a:pPr lvl="1"/>
            <a:r>
              <a:rPr lang="en-US" dirty="0"/>
              <a:t>Camel-case naming</a:t>
            </a:r>
          </a:p>
          <a:p>
            <a:pPr lvl="1"/>
            <a:r>
              <a:rPr lang="en-US" dirty="0"/>
              <a:t>Two types: class components and function components (default)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6BB6F3E-629A-7761-0BEB-CFEA202E14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5313" y="3004822"/>
            <a:ext cx="2152950" cy="1886213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103A7B8-4162-5728-AEE2-B14B7D7FD2E2}"/>
              </a:ext>
            </a:extLst>
          </p:cNvPr>
          <p:cNvCxnSpPr>
            <a:cxnSpLocks/>
          </p:cNvCxnSpPr>
          <p:nvPr/>
        </p:nvCxnSpPr>
        <p:spPr>
          <a:xfrm flipH="1" flipV="1">
            <a:off x="7988263" y="3666565"/>
            <a:ext cx="662678" cy="71717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13D491D-8D60-402F-A8E0-9E454805E4AC}"/>
              </a:ext>
            </a:extLst>
          </p:cNvPr>
          <p:cNvCxnSpPr>
            <a:cxnSpLocks/>
            <a:endCxn id="5" idx="3"/>
          </p:cNvCxnSpPr>
          <p:nvPr/>
        </p:nvCxnSpPr>
        <p:spPr>
          <a:xfrm flipH="1">
            <a:off x="7988263" y="3738282"/>
            <a:ext cx="662678" cy="209647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AC10074-7071-23C0-1743-AA13685BFA63}"/>
              </a:ext>
            </a:extLst>
          </p:cNvPr>
          <p:cNvSpPr txBox="1"/>
          <p:nvPr/>
        </p:nvSpPr>
        <p:spPr>
          <a:xfrm>
            <a:off x="8650941" y="3517757"/>
            <a:ext cx="329901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Definition: These are called </a:t>
            </a:r>
            <a:r>
              <a:rPr lang="en-US" dirty="0">
                <a:solidFill>
                  <a:schemeClr val="accent2"/>
                </a:solidFill>
              </a:rPr>
              <a:t>Fragments</a:t>
            </a:r>
            <a:r>
              <a:rPr lang="en-US" dirty="0"/>
              <a:t> – special React components that groups a list of children without adding extra nodes to the DOM. </a:t>
            </a:r>
          </a:p>
        </p:txBody>
      </p:sp>
    </p:spTree>
    <p:extLst>
      <p:ext uri="{BB962C8B-B14F-4D97-AF65-F5344CB8AC3E}">
        <p14:creationId xmlns:p14="http://schemas.microsoft.com/office/powerpoint/2010/main" val="25532061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FE3F6-7422-6C49-370F-45A7975A0D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Organization &amp; Component Nesting</a:t>
            </a:r>
          </a:p>
        </p:txBody>
      </p:sp>
      <p:graphicFrame>
        <p:nvGraphicFramePr>
          <p:cNvPr id="9" name="Content Placeholder 2">
            <a:extLst>
              <a:ext uri="{FF2B5EF4-FFF2-40B4-BE49-F238E27FC236}">
                <a16:creationId xmlns:a16="http://schemas.microsoft.com/office/drawing/2014/main" id="{57EB4153-5444-48A7-F8CF-1C12AA3425D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68656090"/>
              </p:ext>
            </p:extLst>
          </p:nvPr>
        </p:nvGraphicFramePr>
        <p:xfrm>
          <a:off x="581193" y="2476343"/>
          <a:ext cx="2272500" cy="205018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DD44DA09-EA8F-10BB-368A-F008DC6F72E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85083" y="2476343"/>
            <a:ext cx="2482052" cy="376226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6BDBD0A-912A-6AFA-EFDF-869BE6C14DC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48668" y="2476343"/>
            <a:ext cx="2969658" cy="2828805"/>
          </a:xfrm>
          <a:prstGeom prst="rect">
            <a:avLst/>
          </a:prstGeom>
        </p:spPr>
      </p:pic>
      <p:sp>
        <p:nvSpPr>
          <p:cNvPr id="8" name="Rectangle 7" descr="Truck">
            <a:extLst>
              <a:ext uri="{FF2B5EF4-FFF2-40B4-BE49-F238E27FC236}">
                <a16:creationId xmlns:a16="http://schemas.microsoft.com/office/drawing/2014/main" id="{23BDA2AE-6A82-6245-D081-EF8C5E0ECDAB}"/>
              </a:ext>
            </a:extLst>
          </p:cNvPr>
          <p:cNvSpPr/>
          <p:nvPr/>
        </p:nvSpPr>
        <p:spPr>
          <a:xfrm>
            <a:off x="6423463" y="2478808"/>
            <a:ext cx="1022625" cy="1022625"/>
          </a:xfrm>
          <a:prstGeom prst="rect">
            <a:avLst/>
          </a:prstGeom>
          <a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BAC95FB0-AF30-B71B-EF28-60B63B252120}"/>
              </a:ext>
            </a:extLst>
          </p:cNvPr>
          <p:cNvGrpSpPr/>
          <p:nvPr/>
        </p:nvGrpSpPr>
        <p:grpSpPr>
          <a:xfrm>
            <a:off x="5798525" y="3808988"/>
            <a:ext cx="2272500" cy="720000"/>
            <a:chOff x="2687306" y="2144241"/>
            <a:chExt cx="2272500" cy="7200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67B60582-7D58-F00C-40E4-D8F111CF0B7D}"/>
                </a:ext>
              </a:extLst>
            </p:cNvPr>
            <p:cNvSpPr/>
            <p:nvPr/>
          </p:nvSpPr>
          <p:spPr>
            <a:xfrm>
              <a:off x="2687306" y="2144241"/>
              <a:ext cx="2272500" cy="720000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F468019-89C9-5114-D652-E8916D53786D}"/>
                </a:ext>
              </a:extLst>
            </p:cNvPr>
            <p:cNvSpPr txBox="1"/>
            <p:nvPr/>
          </p:nvSpPr>
          <p:spPr>
            <a:xfrm>
              <a:off x="2687306" y="2144241"/>
              <a:ext cx="2272500" cy="72000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0" rIns="0" bIns="0" numCol="1" spcCol="1270" anchor="t" anchorCtr="0">
              <a:noAutofit/>
            </a:bodyPr>
            <a:lstStyle/>
            <a:p>
              <a:pPr marL="0" lvl="0" indent="0" algn="ctr" defTabSz="666750">
                <a:lnSpc>
                  <a:spcPct val="10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500" kern="1200" dirty="0"/>
                <a:t>We can import one component into another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102253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FE4F32-7F95-FB7D-ED9E-917403414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109EA6-15F2-6932-645C-E9EB827B8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Create Your First React component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DFDDDE-B349-9F99-D342-FCF3BE1381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Create a React component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30297B6-9C27-A1B0-4BF1-45861CAAD1A6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89B7278-D163-43A7-5FA7-857EC953E88F}"/>
              </a:ext>
            </a:extLst>
          </p:cNvPr>
          <p:cNvSpPr txBox="1"/>
          <p:nvPr/>
        </p:nvSpPr>
        <p:spPr>
          <a:xfrm>
            <a:off x="6404149" y="2402747"/>
            <a:ext cx="52066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10 min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55B70D7-2F17-B626-9DE8-478A677C4662}"/>
              </a:ext>
            </a:extLst>
          </p:cNvPr>
          <p:cNvSpPr txBox="1">
            <a:spLocks/>
          </p:cNvSpPr>
          <p:nvPr/>
        </p:nvSpPr>
        <p:spPr>
          <a:xfrm>
            <a:off x="6404149" y="3120275"/>
            <a:ext cx="4661642" cy="16812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Your organization needs to build a portal for service technicians. This portal should be able to view, modify, and delete incidents. This application will be written in React.</a:t>
            </a:r>
          </a:p>
          <a:p>
            <a:endParaRPr lang="en-US" dirty="0"/>
          </a:p>
          <a:p>
            <a:r>
              <a:rPr lang="en-US" dirty="0"/>
              <a:t>Create a component called ‘Home’ and place it inside the default ‘App’ component. </a:t>
            </a:r>
          </a:p>
          <a:p>
            <a:pPr lvl="1"/>
            <a:r>
              <a:rPr lang="en-US" dirty="0"/>
              <a:t>Put in some dummy text so you know it works</a:t>
            </a:r>
          </a:p>
        </p:txBody>
      </p:sp>
    </p:spTree>
    <p:extLst>
      <p:ext uri="{BB962C8B-B14F-4D97-AF65-F5344CB8AC3E}">
        <p14:creationId xmlns:p14="http://schemas.microsoft.com/office/powerpoint/2010/main" val="4560983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F1ADD25B-0A33-4EF2-90F4-4313926931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14406"/>
            <a:ext cx="12192000" cy="624359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4DB6F31-1B9E-4237-84A3-0825BFDF46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2377" y="614407"/>
            <a:ext cx="3707477" cy="561177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A872D7-E5F0-B707-C6FB-D27F062507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1255" y="702156"/>
            <a:ext cx="3409783" cy="1013800"/>
          </a:xfrm>
        </p:spPr>
        <p:txBody>
          <a:bodyPr>
            <a:normAutofit/>
          </a:bodyPr>
          <a:lstStyle/>
          <a:p>
            <a:r>
              <a:rPr lang="en-US" dirty="0"/>
              <a:t>What is JSX?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B143C1-B605-AFA6-5CFE-5AD75CC950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1255" y="1964168"/>
            <a:ext cx="3409782" cy="403658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JSX  stands for JavaScript XML</a:t>
            </a:r>
          </a:p>
          <a:p>
            <a:r>
              <a:rPr lang="en-US" dirty="0">
                <a:solidFill>
                  <a:schemeClr val="bg1"/>
                </a:solidFill>
              </a:rPr>
              <a:t>Expressions are written in braces: {  } 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Expressions can include React variables, properties, or any other valid JavaScript expression</a:t>
            </a:r>
          </a:p>
          <a:p>
            <a:r>
              <a:rPr lang="en-US" dirty="0">
                <a:solidFill>
                  <a:schemeClr val="bg1"/>
                </a:solidFill>
              </a:rPr>
              <a:t>There can only be one top-level element </a:t>
            </a:r>
          </a:p>
          <a:p>
            <a:r>
              <a:rPr lang="en-US" dirty="0">
                <a:solidFill>
                  <a:schemeClr val="bg1"/>
                </a:solidFill>
              </a:rPr>
              <a:t>Comments are written as: 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{/* */}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94880EB-8CCB-F680-05F1-F577F32E9F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8380" y="1796027"/>
            <a:ext cx="7207535" cy="299112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95C0768-6BDD-8BFC-D27E-6A4A407AB8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3210" y="1715956"/>
            <a:ext cx="7207535" cy="29911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92092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75D59A-DB5B-C24F-3C2D-5111984C9B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JSX?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3C6023-2A63-7AA8-F779-FC7BEE6617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35820" y="2201278"/>
            <a:ext cx="4707984" cy="1414759"/>
          </a:xfrm>
        </p:spPr>
        <p:txBody>
          <a:bodyPr/>
          <a:lstStyle/>
          <a:p>
            <a:r>
              <a:rPr lang="en-US" dirty="0"/>
              <a:t>Functions may be used in expressions</a:t>
            </a:r>
          </a:p>
          <a:p>
            <a:r>
              <a:rPr lang="en-US" dirty="0"/>
              <a:t>Object properties may be used in expressions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362535D-4D50-0161-B1D8-FD2035AFB9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8070" y="2201278"/>
            <a:ext cx="4128919" cy="31298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A319BB5-8E50-F95F-A3FC-68A9450570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697" y="3756133"/>
            <a:ext cx="5568393" cy="2771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06980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CE3A13-461B-9683-D4FF-C069F2D4C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Remove The Default Styling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0FB5EE-E4F5-231B-5AEC-481F712268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427226" cy="3678303"/>
          </a:xfrm>
        </p:spPr>
        <p:txBody>
          <a:bodyPr/>
          <a:lstStyle/>
          <a:p>
            <a:r>
              <a:rPr lang="en-US" dirty="0"/>
              <a:t>Delete index.css &amp; remove its reference in </a:t>
            </a:r>
            <a:r>
              <a:rPr lang="en-US" dirty="0" err="1"/>
              <a:t>main.jsx</a:t>
            </a:r>
            <a:r>
              <a:rPr lang="en-US" dirty="0"/>
              <a:t> </a:t>
            </a:r>
          </a:p>
          <a:p>
            <a:r>
              <a:rPr lang="en-US" dirty="0"/>
              <a:t>Index.html:</a:t>
            </a:r>
          </a:p>
          <a:p>
            <a:pPr lvl="1"/>
            <a:r>
              <a:rPr lang="en-US" dirty="0"/>
              <a:t>Remove or swap out the browser icon</a:t>
            </a:r>
          </a:p>
          <a:p>
            <a:pPr lvl="1"/>
            <a:r>
              <a:rPr lang="en-US" dirty="0"/>
              <a:t>Change the title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B6966B1-0909-19F5-6CE0-132F2B82F3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9846" y="2007255"/>
            <a:ext cx="4077269" cy="189574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09645E2-D576-80BF-F9F2-8330ED1648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6767" y="4194294"/>
            <a:ext cx="5763429" cy="2438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73630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67AF19-F640-B996-228D-A11F38822B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Styling Our Components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69EF60-707F-328A-18A6-E2CD50FB66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32805" y="2284405"/>
            <a:ext cx="8126389" cy="3678303"/>
          </a:xfrm>
        </p:spPr>
        <p:txBody>
          <a:bodyPr/>
          <a:lstStyle/>
          <a:p>
            <a:r>
              <a:rPr lang="en-US" dirty="0"/>
              <a:t>There are many ways to style react components:</a:t>
            </a:r>
          </a:p>
          <a:p>
            <a:pPr lvl="1"/>
            <a:r>
              <a:rPr lang="en-US" dirty="0"/>
              <a:t>Inline – limited and unsightly </a:t>
            </a:r>
          </a:p>
          <a:p>
            <a:pPr lvl="1"/>
            <a:r>
              <a:rPr lang="en-US" dirty="0"/>
              <a:t>Global CSS - .</a:t>
            </a:r>
            <a:r>
              <a:rPr lang="en-US" dirty="0" err="1"/>
              <a:t>css</a:t>
            </a:r>
            <a:r>
              <a:rPr lang="en-US" dirty="0"/>
              <a:t> files (styles are global and can accidently override </a:t>
            </a:r>
            <a:r>
              <a:rPr lang="en-US" dirty="0" err="1"/>
              <a:t>eachother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CSS Modules – ComponentName.module.css file (styles are scoped per component)</a:t>
            </a:r>
          </a:p>
          <a:p>
            <a:pPr lvl="1"/>
            <a:r>
              <a:rPr lang="en-US" dirty="0"/>
              <a:t>CSS-in-JS – write CSS directly inside JS/TS</a:t>
            </a:r>
          </a:p>
          <a:p>
            <a:pPr lvl="1"/>
            <a:r>
              <a:rPr lang="en-US" dirty="0"/>
              <a:t>Utility-First Frameworks (Tailwind CSS) – predefined utility classes directly in JSX</a:t>
            </a:r>
          </a:p>
          <a:p>
            <a:pPr lvl="1"/>
            <a:r>
              <a:rPr lang="en-US" dirty="0"/>
              <a:t>Component Libraries – premade components with styles, e.g. </a:t>
            </a:r>
            <a:r>
              <a:rPr lang="en-US" dirty="0" err="1"/>
              <a:t>MaterialUI</a:t>
            </a:r>
            <a:r>
              <a:rPr lang="en-US" dirty="0"/>
              <a:t>, Chakra UI, Radix UI</a:t>
            </a:r>
          </a:p>
        </p:txBody>
      </p:sp>
    </p:spTree>
    <p:extLst>
      <p:ext uri="{BB962C8B-B14F-4D97-AF65-F5344CB8AC3E}">
        <p14:creationId xmlns:p14="http://schemas.microsoft.com/office/powerpoint/2010/main" val="16153970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9AD71-59FA-E41F-E984-565FB3C9E9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CSS Modules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303D49F-8F5D-73E6-DA2D-B809FD041A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045" y="2949761"/>
            <a:ext cx="7144747" cy="348663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8C5F4DB-4F54-DDF0-6B29-C472FDFF0F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0109" y="3131356"/>
            <a:ext cx="2657846" cy="294363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3E83771-F115-9CEF-1E7E-3751DAFE27AD}"/>
              </a:ext>
            </a:extLst>
          </p:cNvPr>
          <p:cNvSpPr txBox="1"/>
          <p:nvPr/>
        </p:nvSpPr>
        <p:spPr>
          <a:xfrm>
            <a:off x="1527464" y="1961991"/>
            <a:ext cx="975706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Classes work differently in React, notice </a:t>
            </a:r>
            <a:r>
              <a:rPr lang="en-US" dirty="0" err="1"/>
              <a:t>className</a:t>
            </a:r>
            <a:endParaRPr lang="en-US" dirty="0"/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Notice the naming convention to enable modules: ComponentName.module.css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Notice the reset for the body element and p</a:t>
            </a:r>
          </a:p>
        </p:txBody>
      </p:sp>
    </p:spTree>
    <p:extLst>
      <p:ext uri="{BB962C8B-B14F-4D97-AF65-F5344CB8AC3E}">
        <p14:creationId xmlns:p14="http://schemas.microsoft.com/office/powerpoint/2010/main" val="7515199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75894B-BD93-E5BE-F520-2332B0A84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9F3321-E16A-46DF-711B-C86898C6C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Create A header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296EA0-2B9D-E9AB-8699-C3AE478580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Create a header element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81B3C47-3E87-33B8-B252-F8EA5D27207D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3D7AC5-D8A9-5DC2-E9C0-02183A1958EE}"/>
              </a:ext>
            </a:extLst>
          </p:cNvPr>
          <p:cNvSpPr txBox="1"/>
          <p:nvPr/>
        </p:nvSpPr>
        <p:spPr>
          <a:xfrm>
            <a:off x="6676991" y="2402747"/>
            <a:ext cx="4933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25 min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72B8D9A-38B4-10F6-7E3A-99DF95334B49}"/>
              </a:ext>
            </a:extLst>
          </p:cNvPr>
          <p:cNvSpPr txBox="1">
            <a:spLocks/>
          </p:cNvSpPr>
          <p:nvPr/>
        </p:nvSpPr>
        <p:spPr>
          <a:xfrm>
            <a:off x="5273080" y="3158496"/>
            <a:ext cx="5740756" cy="27539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Your organization needs to build a portal for service technicians. This portal should be able to view, modify, and delete work orders. This application will be written in React.</a:t>
            </a:r>
          </a:p>
          <a:p>
            <a:r>
              <a:rPr lang="en-US" dirty="0"/>
              <a:t>In the ‘Home’ component, create a header using semantic html.</a:t>
            </a:r>
          </a:p>
          <a:p>
            <a:r>
              <a:rPr lang="en-US" dirty="0"/>
              <a:t>Within the header element, include a welcome message that reads: “Welcome {username}! Today’s Date: DD/MM/YYYY” </a:t>
            </a:r>
          </a:p>
          <a:p>
            <a:r>
              <a:rPr lang="en-US" dirty="0"/>
              <a:t>Username should be a component variable that stores your own name, the date should be dynamically calculated</a:t>
            </a:r>
          </a:p>
          <a:p>
            <a:r>
              <a:rPr lang="en-US" dirty="0"/>
              <a:t>Style your component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33945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5EF81-D726-78E0-2499-8B2EA696FE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5245C2-04AC-9F7C-291A-201BD69055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175372" cy="3678303"/>
          </a:xfrm>
        </p:spPr>
        <p:txBody>
          <a:bodyPr/>
          <a:lstStyle/>
          <a:p>
            <a:r>
              <a:rPr lang="en-US" dirty="0"/>
              <a:t>Short for properties</a:t>
            </a:r>
          </a:p>
          <a:p>
            <a:r>
              <a:rPr lang="en-US" dirty="0"/>
              <a:t>Child components can receive a ‘props’ object</a:t>
            </a:r>
          </a:p>
          <a:p>
            <a:pPr lvl="1"/>
            <a:r>
              <a:rPr lang="en-US" dirty="0"/>
              <a:t>This object contains items passed from the parent</a:t>
            </a:r>
          </a:p>
          <a:p>
            <a:pPr lvl="1"/>
            <a:r>
              <a:rPr lang="en-US" dirty="0"/>
              <a:t>These items can be objects, arrays, strings, numbers, and more 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89AA80E-0263-FAF5-FB2C-7818C2A22A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7810" y="2005677"/>
            <a:ext cx="3724795" cy="181000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397927B-9516-AD6C-2E60-F2E6508BFD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4522" y="4105401"/>
            <a:ext cx="3391373" cy="2419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01871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DB054-6F18-D024-7E4F-50D0C21FB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Destructuring</a:t>
            </a:r>
            <a:r>
              <a:rPr lang="en-US" dirty="0"/>
              <a:t> Props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4EA587-F0A9-437C-0429-53B780C4F5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3913" y="2908255"/>
            <a:ext cx="4354490" cy="1130935"/>
          </a:xfrm>
        </p:spPr>
        <p:txBody>
          <a:bodyPr/>
          <a:lstStyle/>
          <a:p>
            <a:r>
              <a:rPr lang="en-US" dirty="0"/>
              <a:t>We can pull out from the props object only what we need with </a:t>
            </a:r>
            <a:r>
              <a:rPr lang="en-US" dirty="0" err="1"/>
              <a:t>destructuring</a:t>
            </a:r>
            <a:endParaRPr lang="en-US" dirty="0"/>
          </a:p>
          <a:p>
            <a:r>
              <a:rPr lang="en-US" dirty="0"/>
              <a:t>This is standard JavaScript (ES6 feature)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C324A70-C563-3114-1238-7A1B0B870A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5257" y="3265904"/>
            <a:ext cx="4629796" cy="312463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82BD620-473D-69E5-74BA-9823D6B9CC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1749" y="2208436"/>
            <a:ext cx="3562847" cy="924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58001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663970-B580-3A35-3A9D-4A5EE22E5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E9B3CD-777A-23F4-8A44-017D8A5EF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View an Incident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E1DCCD-078D-B123-DB79-BD4D98315F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Create components to help manage incidents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15E1F43-B795-CC7C-96F2-AD110F6D62D2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D4F60E-0B3C-786C-4B70-9146F5D2F5F2}"/>
              </a:ext>
            </a:extLst>
          </p:cNvPr>
          <p:cNvSpPr txBox="1"/>
          <p:nvPr/>
        </p:nvSpPr>
        <p:spPr>
          <a:xfrm>
            <a:off x="6676991" y="2402747"/>
            <a:ext cx="4933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25 min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A0C29790-AE69-F5E8-B7DB-110ACFAB5F4C}"/>
              </a:ext>
            </a:extLst>
          </p:cNvPr>
          <p:cNvSpPr txBox="1">
            <a:spLocks/>
          </p:cNvSpPr>
          <p:nvPr/>
        </p:nvSpPr>
        <p:spPr>
          <a:xfrm>
            <a:off x="5314644" y="3054587"/>
            <a:ext cx="5740756" cy="27539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Your organization needs to build a portal for service technicians. This portal should be able to view, modify, and delete incidents. This application will be written in React.</a:t>
            </a:r>
          </a:p>
          <a:p>
            <a:r>
              <a:rPr lang="en-US" dirty="0"/>
              <a:t>In the ‘Home’ component, under the header, nest a ‘</a:t>
            </a:r>
            <a:r>
              <a:rPr lang="en-US" dirty="0" err="1"/>
              <a:t>IncidentList</a:t>
            </a:r>
            <a:r>
              <a:rPr lang="en-US" dirty="0"/>
              <a:t>’ component. Then, inside of ‘</a:t>
            </a:r>
            <a:r>
              <a:rPr lang="en-US" dirty="0" err="1"/>
              <a:t>IncidentList</a:t>
            </a:r>
            <a:r>
              <a:rPr lang="en-US" dirty="0"/>
              <a:t>’, nest an ‘Incident’ component.</a:t>
            </a:r>
          </a:p>
          <a:p>
            <a:r>
              <a:rPr lang="en-US" dirty="0"/>
              <a:t>Import the JSON dummy data into ‘</a:t>
            </a:r>
            <a:r>
              <a:rPr lang="en-US" dirty="0" err="1"/>
              <a:t>IncidentList</a:t>
            </a:r>
            <a:r>
              <a:rPr lang="en-US" dirty="0"/>
              <a:t>’</a:t>
            </a:r>
          </a:p>
          <a:p>
            <a:r>
              <a:rPr lang="en-US" dirty="0"/>
              <a:t>Render the first incident record by passing the record data down via props to the ‘Case’ component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77321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D54031-2D95-205E-B81A-3800E5D2F3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80332D-03AE-5D81-20B0-21B34D3301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1248504"/>
          </a:xfrm>
        </p:spPr>
        <p:txBody>
          <a:bodyPr/>
          <a:lstStyle/>
          <a:p>
            <a:r>
              <a:rPr lang="en-US" dirty="0"/>
              <a:t>The JavaScript map() array method is preferred for looping through a list and rendering content:</a:t>
            </a:r>
          </a:p>
          <a:p>
            <a:pPr lvl="1"/>
            <a:r>
              <a:rPr lang="en-US" dirty="0"/>
              <a:t>A key is HIGHLY encouraged (or else you will get a warning) – A key allows React to update an item and refresh the component properly if it is updated or removed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24D1BD0-1119-8C20-CD4B-655713E110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4227" y="3602597"/>
            <a:ext cx="8823543" cy="2694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57910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CA1431-1044-F8DC-F67B-8483993AE8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16AE94-3F36-12C5-8548-C3DFAEE335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View All the incidents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F91159-254F-2A45-308C-9EFACD5920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Edit your work so that all incidents display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137B85-329C-D7A2-FD80-98DDDAC248A8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61B69C-A152-D3A6-CD68-1DA17F801EE2}"/>
              </a:ext>
            </a:extLst>
          </p:cNvPr>
          <p:cNvSpPr txBox="1"/>
          <p:nvPr/>
        </p:nvSpPr>
        <p:spPr>
          <a:xfrm>
            <a:off x="6676991" y="2402747"/>
            <a:ext cx="4933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25 min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45AEE151-BC9C-8BDA-FA0B-94944123D0CA}"/>
              </a:ext>
            </a:extLst>
          </p:cNvPr>
          <p:cNvSpPr txBox="1">
            <a:spLocks/>
          </p:cNvSpPr>
          <p:nvPr/>
        </p:nvSpPr>
        <p:spPr>
          <a:xfrm>
            <a:off x="5314644" y="3054587"/>
            <a:ext cx="5740756" cy="27539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Your organization needs to build a portal for service technicians. This portal should be able to view, modify, and delete incidents. This application will be written in React.</a:t>
            </a:r>
          </a:p>
          <a:p>
            <a:r>
              <a:rPr lang="en-US" dirty="0"/>
              <a:t>Modify your ‘</a:t>
            </a:r>
            <a:r>
              <a:rPr lang="en-US" dirty="0" err="1"/>
              <a:t>IncidentList</a:t>
            </a:r>
            <a:r>
              <a:rPr lang="en-US" dirty="0"/>
              <a:t>’ component so that it loops through the dummy data and displays all the incident records. </a:t>
            </a:r>
          </a:p>
          <a:p>
            <a:r>
              <a:rPr lang="en-US" dirty="0"/>
              <a:t>Style your components so each record is displayed on a card</a:t>
            </a:r>
            <a:br>
              <a:rPr lang="en-US" dirty="0"/>
            </a:b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A58AFF3-3C87-ACF1-1986-AE292BFC4E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608" y="4085922"/>
            <a:ext cx="4536724" cy="1910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6625631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366658"/>
      </a:accent1>
      <a:accent2>
        <a:srgbClr val="8CB64A"/>
      </a:accent2>
      <a:accent3>
        <a:srgbClr val="88D5A9"/>
      </a:accent3>
      <a:accent4>
        <a:srgbClr val="969FA7"/>
      </a:accent4>
      <a:accent5>
        <a:srgbClr val="E8A844"/>
      </a:accent5>
      <a:accent6>
        <a:srgbClr val="A1561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4BEC0EAF-CF86-4D49-B83B-56CC62D3CFF1}"/>
    </a:ext>
  </a:extLst>
</a:theme>
</file>

<file path=docMetadata/LabelInfo.xml><?xml version="1.0" encoding="utf-8"?>
<clbl:labelList xmlns:clbl="http://schemas.microsoft.com/office/2020/mipLabelMetadata">
  <clbl:label id="{6b63e28a-a8f9-47b5-aa40-97e231215164}" enabled="0" method="" siteId="{6b63e28a-a8f9-47b5-aa40-97e23121516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1581</TotalTime>
  <Words>1005</Words>
  <Application>Microsoft Office PowerPoint</Application>
  <PresentationFormat>Widescreen</PresentationFormat>
  <Paragraphs>101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Gill Sans MT</vt:lpstr>
      <vt:lpstr>Wingdings</vt:lpstr>
      <vt:lpstr>Wingdings 2</vt:lpstr>
      <vt:lpstr>Dividend</vt:lpstr>
      <vt:lpstr>React</vt:lpstr>
      <vt:lpstr>What is React?</vt:lpstr>
      <vt:lpstr>How Does React Work?</vt:lpstr>
      <vt:lpstr>What we Need</vt:lpstr>
      <vt:lpstr>Challenge – Create Your First App</vt:lpstr>
      <vt:lpstr>What is a React Component?</vt:lpstr>
      <vt:lpstr>Project Organization &amp; Component Nesting</vt:lpstr>
      <vt:lpstr>Challenge – Create Your First React component</vt:lpstr>
      <vt:lpstr>What is JSX?</vt:lpstr>
      <vt:lpstr>What Is JSX?</vt:lpstr>
      <vt:lpstr>Remove The Default Styling</vt:lpstr>
      <vt:lpstr>Styling Our Components</vt:lpstr>
      <vt:lpstr>CSS Modules</vt:lpstr>
      <vt:lpstr>Challenge – Create A header</vt:lpstr>
      <vt:lpstr>Props</vt:lpstr>
      <vt:lpstr>Destructuring Props</vt:lpstr>
      <vt:lpstr>Challenge – View an Incident</vt:lpstr>
      <vt:lpstr>Lists</vt:lpstr>
      <vt:lpstr>Challenge – View All the incidents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Wilson</dc:creator>
  <cp:lastModifiedBy>Ethan Wilson</cp:lastModifiedBy>
  <cp:revision>589</cp:revision>
  <dcterms:created xsi:type="dcterms:W3CDTF">2025-02-12T19:53:45Z</dcterms:created>
  <dcterms:modified xsi:type="dcterms:W3CDTF">2025-09-29T15:54:43Z</dcterms:modified>
</cp:coreProperties>
</file>