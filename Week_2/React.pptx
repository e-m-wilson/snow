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2" r:id="rId6"/>
    <p:sldId id="266" r:id="rId7"/>
    <p:sldId id="267" r:id="rId8"/>
    <p:sldId id="269" r:id="rId9"/>
    <p:sldId id="268" r:id="rId10"/>
    <p:sldId id="270" r:id="rId11"/>
    <p:sldId id="273" r:id="rId12"/>
    <p:sldId id="274" r:id="rId13"/>
    <p:sldId id="275" r:id="rId14"/>
    <p:sldId id="272" r:id="rId15"/>
    <p:sldId id="271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D65C-8931-47DD-A990-F3B8405C861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98671D-2D77-41C0-86B7-5B9DCF2A59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It’s common to group up components in your project folder based on features</a:t>
          </a:r>
        </a:p>
      </dgm:t>
    </dgm:pt>
    <dgm:pt modelId="{06064ABE-0F0D-4A1D-AE43-66B9DB09EB18}" type="parTrans" cxnId="{209D1261-C4B3-463C-AF68-649DB5024103}">
      <dgm:prSet/>
      <dgm:spPr/>
      <dgm:t>
        <a:bodyPr/>
        <a:lstStyle/>
        <a:p>
          <a:endParaRPr lang="en-US"/>
        </a:p>
      </dgm:t>
    </dgm:pt>
    <dgm:pt modelId="{EF3F3E5A-1C21-4F1E-8291-8D6646D04213}" type="sibTrans" cxnId="{209D1261-C4B3-463C-AF68-649DB5024103}">
      <dgm:prSet/>
      <dgm:spPr/>
      <dgm:t>
        <a:bodyPr/>
        <a:lstStyle/>
        <a:p>
          <a:endParaRPr lang="en-US"/>
        </a:p>
      </dgm:t>
    </dgm:pt>
    <dgm:pt modelId="{145E74D0-10BA-4829-BF4A-7CEA034790D5}" type="pres">
      <dgm:prSet presAssocID="{6E43D65C-8931-47DD-A990-F3B8405C8612}" presName="root" presStyleCnt="0">
        <dgm:presLayoutVars>
          <dgm:dir/>
          <dgm:resizeHandles val="exact"/>
        </dgm:presLayoutVars>
      </dgm:prSet>
      <dgm:spPr/>
    </dgm:pt>
    <dgm:pt modelId="{A3C1F0FE-CA92-44A2-8A2A-57473F82C054}" type="pres">
      <dgm:prSet presAssocID="{A498671D-2D77-41C0-86B7-5B9DCF2A594F}" presName="compNode" presStyleCnt="0"/>
      <dgm:spPr/>
    </dgm:pt>
    <dgm:pt modelId="{6233FC53-5290-4539-A927-EDB59F773E72}" type="pres">
      <dgm:prSet presAssocID="{A498671D-2D77-41C0-86B7-5B9DCF2A594F}" presName="iconRect" presStyleLbl="node1" presStyleIdx="0" presStyleCnt="1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010B96A-6623-4F92-8382-8A60E83567A2}" type="pres">
      <dgm:prSet presAssocID="{A498671D-2D77-41C0-86B7-5B9DCF2A594F}" presName="spaceRect" presStyleCnt="0"/>
      <dgm:spPr/>
    </dgm:pt>
    <dgm:pt modelId="{3BD1305E-B700-4EAC-93C6-194EC97808D2}" type="pres">
      <dgm:prSet presAssocID="{A498671D-2D77-41C0-86B7-5B9DCF2A594F}" presName="textRect" presStyleLbl="revTx" presStyleIdx="0" presStyleCnt="1">
        <dgm:presLayoutVars>
          <dgm:chMax val="1"/>
          <dgm:chPref val="1"/>
        </dgm:presLayoutVars>
      </dgm:prSet>
      <dgm:spPr/>
    </dgm:pt>
  </dgm:ptLst>
  <dgm:cxnLst>
    <dgm:cxn modelId="{C1D7AD0E-DD3F-4190-9AAE-8E1D6A05524B}" type="presOf" srcId="{6E43D65C-8931-47DD-A990-F3B8405C8612}" destId="{145E74D0-10BA-4829-BF4A-7CEA034790D5}" srcOrd="0" destOrd="0" presId="urn:microsoft.com/office/officeart/2018/2/layout/IconLabelList"/>
    <dgm:cxn modelId="{209D1261-C4B3-463C-AF68-649DB5024103}" srcId="{6E43D65C-8931-47DD-A990-F3B8405C8612}" destId="{A498671D-2D77-41C0-86B7-5B9DCF2A594F}" srcOrd="0" destOrd="0" parTransId="{06064ABE-0F0D-4A1D-AE43-66B9DB09EB18}" sibTransId="{EF3F3E5A-1C21-4F1E-8291-8D6646D04213}"/>
    <dgm:cxn modelId="{761B1D49-8982-4142-BA7B-C872B68BEE82}" type="presOf" srcId="{A498671D-2D77-41C0-86B7-5B9DCF2A594F}" destId="{3BD1305E-B700-4EAC-93C6-194EC97808D2}" srcOrd="0" destOrd="0" presId="urn:microsoft.com/office/officeart/2018/2/layout/IconLabelList"/>
    <dgm:cxn modelId="{E890585D-F497-4539-87CB-FCB6A10BC018}" type="presParOf" srcId="{145E74D0-10BA-4829-BF4A-7CEA034790D5}" destId="{A3C1F0FE-CA92-44A2-8A2A-57473F82C054}" srcOrd="0" destOrd="0" presId="urn:microsoft.com/office/officeart/2018/2/layout/IconLabelList"/>
    <dgm:cxn modelId="{2AA23498-CE42-4BBC-A7C0-196BB8A1909D}" type="presParOf" srcId="{A3C1F0FE-CA92-44A2-8A2A-57473F82C054}" destId="{6233FC53-5290-4539-A927-EDB59F773E72}" srcOrd="0" destOrd="0" presId="urn:microsoft.com/office/officeart/2018/2/layout/IconLabelList"/>
    <dgm:cxn modelId="{87D68434-E48E-44D9-B03A-555236487174}" type="presParOf" srcId="{A3C1F0FE-CA92-44A2-8A2A-57473F82C054}" destId="{D010B96A-6623-4F92-8382-8A60E83567A2}" srcOrd="1" destOrd="0" presId="urn:microsoft.com/office/officeart/2018/2/layout/IconLabelList"/>
    <dgm:cxn modelId="{36855CBA-609E-43F7-87CF-2D0AA1D3FA25}" type="presParOf" srcId="{A3C1F0FE-CA92-44A2-8A2A-57473F82C054}" destId="{3BD1305E-B700-4EAC-93C6-194EC97808D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33FC53-5290-4539-A927-EDB59F773E72}">
      <dsp:nvSpPr>
        <dsp:cNvPr id="0" name=""/>
        <dsp:cNvSpPr/>
      </dsp:nvSpPr>
      <dsp:spPr>
        <a:xfrm>
          <a:off x="713531" y="104224"/>
          <a:ext cx="845437" cy="845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1305E-B700-4EAC-93C6-194EC97808D2}">
      <dsp:nvSpPr>
        <dsp:cNvPr id="0" name=""/>
        <dsp:cNvSpPr/>
      </dsp:nvSpPr>
      <dsp:spPr>
        <a:xfrm>
          <a:off x="196875" y="1225956"/>
          <a:ext cx="187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It’s common to group up components in your project folder based on features</a:t>
          </a:r>
        </a:p>
      </dsp:txBody>
      <dsp:txXfrm>
        <a:off x="196875" y="1225956"/>
        <a:ext cx="187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0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13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FDC9B-E008-C5DA-8CAB-6332166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5CE1-91C2-05D6-C8B9-88412DDBD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</a:t>
            </a:r>
            <a:r>
              <a:rPr lang="en-US" dirty="0">
                <a:solidFill>
                  <a:schemeClr val="accent2"/>
                </a:solidFill>
              </a:rPr>
              <a:t>React</a:t>
            </a:r>
            <a:r>
              <a:rPr lang="en-US" dirty="0">
                <a:solidFill>
                  <a:schemeClr val="bg1"/>
                </a:solidFill>
              </a:rPr>
              <a:t> is a front-end JavaScript library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also known as React.js or ReactJS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 tool for building UI components</a:t>
            </a:r>
          </a:p>
          <a:p>
            <a:r>
              <a:rPr lang="en-US" dirty="0" err="1">
                <a:solidFill>
                  <a:schemeClr val="bg1"/>
                </a:solidFill>
              </a:rPr>
              <a:t>react.dev</a:t>
            </a:r>
            <a:r>
              <a:rPr lang="en-US" dirty="0">
                <a:solidFill>
                  <a:schemeClr val="bg1"/>
                </a:solidFill>
              </a:rPr>
              <a:t>/learn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ACAEC-8645-F494-584E-E0B6A07EE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50" y="718314"/>
            <a:ext cx="6340790" cy="2710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CE7030-0458-1D8B-C108-9447BDF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51" y="3635363"/>
            <a:ext cx="6340790" cy="274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3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D4A6-DD2E-5DF2-1E7A-3CC10388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React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7794F-23F3-26FD-CC67-AAE322DC1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32102" cy="3678303"/>
          </a:xfrm>
        </p:spPr>
        <p:txBody>
          <a:bodyPr/>
          <a:lstStyle/>
          <a:p>
            <a:r>
              <a:rPr lang="en-US" dirty="0"/>
              <a:t>React creates a virtual DOM in memory</a:t>
            </a:r>
          </a:p>
          <a:p>
            <a:pPr lvl="1"/>
            <a:r>
              <a:rPr lang="en-US" dirty="0"/>
              <a:t>Instead of manipulating the browser’s DOM directly, React creates a virtual DOM in memory, where it does all the necessary manipulating, before making changes in the browser DOM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DFA8A-953B-F0D5-304B-0BBAE13B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914514"/>
            <a:ext cx="417253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0524-623B-0575-4BFF-61A1D601E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2E14D-AABC-A444-62EC-94DEB522B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26708"/>
            <a:ext cx="3371075" cy="3678303"/>
          </a:xfrm>
        </p:spPr>
        <p:txBody>
          <a:bodyPr/>
          <a:lstStyle/>
          <a:p>
            <a:r>
              <a:rPr lang="en-US" dirty="0"/>
              <a:t>NPM, included with Node.js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Vite</a:t>
            </a:r>
          </a:p>
          <a:p>
            <a:pPr lvl="1"/>
            <a:r>
              <a:rPr lang="en-US" dirty="0"/>
              <a:t>Project names all lowercase/dashes</a:t>
            </a:r>
          </a:p>
          <a:p>
            <a:r>
              <a:rPr lang="en-US" dirty="0"/>
              <a:t>Recommended: </a:t>
            </a:r>
            <a:br>
              <a:rPr lang="en-US" dirty="0"/>
            </a:br>
            <a:r>
              <a:rPr lang="en-US" dirty="0"/>
              <a:t>React Developer Tools browser extension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7E017-B7EC-959E-7408-C51E6D17F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80" y="2256320"/>
            <a:ext cx="3581900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CEC70B-C25C-AB4B-AD0F-FAE10C7E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267" y="3116671"/>
            <a:ext cx="3905795" cy="34294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AD11A9-B4A1-B4D6-B247-FD3DF288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77" y="3116671"/>
            <a:ext cx="3753374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73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456103" y="3130666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 records. This application will be written in React.</a:t>
            </a:r>
          </a:p>
          <a:p>
            <a:endParaRPr lang="en-US" dirty="0"/>
          </a:p>
          <a:p>
            <a:r>
              <a:rPr lang="en-US" dirty="0"/>
              <a:t>To get started, setup your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9A83-43AA-1FCC-FFB9-5A62A7F3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React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6D25-759E-CB20-B233-0FCAE90B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17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component</a:t>
            </a:r>
            <a:r>
              <a:rPr lang="en-US" dirty="0"/>
              <a:t> is a piece of the UI that has its own logic and appearance</a:t>
            </a:r>
          </a:p>
          <a:p>
            <a:pPr lvl="1"/>
            <a:r>
              <a:rPr lang="en-US" dirty="0"/>
              <a:t>A component can be as small as a button, or as large as an entire page</a:t>
            </a:r>
          </a:p>
          <a:p>
            <a:pPr lvl="1"/>
            <a:r>
              <a:rPr lang="en-US" dirty="0"/>
              <a:t>React components are JavaScript functions that return markup</a:t>
            </a:r>
          </a:p>
          <a:p>
            <a:pPr lvl="1"/>
            <a:r>
              <a:rPr lang="en-US" dirty="0"/>
              <a:t>Pascal-case naming</a:t>
            </a:r>
          </a:p>
          <a:p>
            <a:pPr lvl="1"/>
            <a:r>
              <a:rPr lang="en-US" dirty="0"/>
              <a:t>Two types: class components and function components (default)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B6F3E-629A-7761-0BEB-CFEA202E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313" y="3004822"/>
            <a:ext cx="2152950" cy="188621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103A7B8-4162-5728-AEE2-B14B7D7FD2E2}"/>
              </a:ext>
            </a:extLst>
          </p:cNvPr>
          <p:cNvCxnSpPr>
            <a:cxnSpLocks/>
          </p:cNvCxnSpPr>
          <p:nvPr/>
        </p:nvCxnSpPr>
        <p:spPr>
          <a:xfrm flipH="1" flipV="1">
            <a:off x="7988263" y="3666565"/>
            <a:ext cx="662678" cy="7171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3D491D-8D60-402F-A8E0-9E454805E4A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7988263" y="3738282"/>
            <a:ext cx="662678" cy="20964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C10074-7071-23C0-1743-AA13685BFA63}"/>
              </a:ext>
            </a:extLst>
          </p:cNvPr>
          <p:cNvSpPr txBox="1"/>
          <p:nvPr/>
        </p:nvSpPr>
        <p:spPr>
          <a:xfrm>
            <a:off x="8650941" y="3517757"/>
            <a:ext cx="32990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These are called </a:t>
            </a:r>
            <a:r>
              <a:rPr lang="en-US" dirty="0">
                <a:solidFill>
                  <a:schemeClr val="accent2"/>
                </a:solidFill>
              </a:rPr>
              <a:t>Fragments</a:t>
            </a:r>
            <a:r>
              <a:rPr lang="en-US" dirty="0"/>
              <a:t> – special React components that groups a list of children without adding extra nodes to the DOM. </a:t>
            </a:r>
          </a:p>
        </p:txBody>
      </p:sp>
    </p:spTree>
    <p:extLst>
      <p:ext uri="{BB962C8B-B14F-4D97-AF65-F5344CB8AC3E}">
        <p14:creationId xmlns:p14="http://schemas.microsoft.com/office/powerpoint/2010/main" val="255320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E3F6-7422-6C49-370F-45A7975A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Organization &amp; Component Nesting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7EB4153-5444-48A7-F8CF-1C12AA342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656090"/>
              </p:ext>
            </p:extLst>
          </p:nvPr>
        </p:nvGraphicFramePr>
        <p:xfrm>
          <a:off x="581193" y="2476343"/>
          <a:ext cx="2272500" cy="20501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D44DA09-EA8F-10BB-368A-F008DC6F72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083" y="2476343"/>
            <a:ext cx="2482052" cy="376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BDBD0A-912A-6AFA-EFDF-869BE6C14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668" y="2476343"/>
            <a:ext cx="2969658" cy="2828805"/>
          </a:xfrm>
          <a:prstGeom prst="rect">
            <a:avLst/>
          </a:prstGeom>
        </p:spPr>
      </p:pic>
      <p:sp>
        <p:nvSpPr>
          <p:cNvPr id="8" name="Rectangle 7" descr="Truck">
            <a:extLst>
              <a:ext uri="{FF2B5EF4-FFF2-40B4-BE49-F238E27FC236}">
                <a16:creationId xmlns:a16="http://schemas.microsoft.com/office/drawing/2014/main" id="{23BDA2AE-6A82-6245-D081-EF8C5E0ECDAB}"/>
              </a:ext>
            </a:extLst>
          </p:cNvPr>
          <p:cNvSpPr/>
          <p:nvPr/>
        </p:nvSpPr>
        <p:spPr>
          <a:xfrm>
            <a:off x="6423463" y="2478808"/>
            <a:ext cx="1022625" cy="1022625"/>
          </a:xfrm>
          <a:prstGeom prst="rect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C95FB0-AF30-B71B-EF28-60B63B252120}"/>
              </a:ext>
            </a:extLst>
          </p:cNvPr>
          <p:cNvGrpSpPr/>
          <p:nvPr/>
        </p:nvGrpSpPr>
        <p:grpSpPr>
          <a:xfrm>
            <a:off x="5798525" y="3808988"/>
            <a:ext cx="2272500" cy="720000"/>
            <a:chOff x="2687306" y="2144241"/>
            <a:chExt cx="2272500" cy="72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B60582-7D58-F00C-40E4-D8F111CF0B7D}"/>
                </a:ext>
              </a:extLst>
            </p:cNvPr>
            <p:cNvSpPr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468019-89C9-5114-D652-E8916D53786D}"/>
                </a:ext>
              </a:extLst>
            </p:cNvPr>
            <p:cNvSpPr txBox="1"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6667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We can import one component into another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225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E4F32-7F95-FB7D-ED9E-917403414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9EA6-15F2-6932-645C-E9EB827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React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DDDE-B349-9F99-D342-FCF3BE13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297B6-9C27-A1B0-4BF1-45861CAAD1A6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B7278-D163-43A7-5FA7-857EC953E88F}"/>
              </a:ext>
            </a:extLst>
          </p:cNvPr>
          <p:cNvSpPr txBox="1"/>
          <p:nvPr/>
        </p:nvSpPr>
        <p:spPr>
          <a:xfrm>
            <a:off x="6404149" y="2402747"/>
            <a:ext cx="5206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5B70D7-2F17-B626-9DE8-478A677C4662}"/>
              </a:ext>
            </a:extLst>
          </p:cNvPr>
          <p:cNvSpPr txBox="1">
            <a:spLocks/>
          </p:cNvSpPr>
          <p:nvPr/>
        </p:nvSpPr>
        <p:spPr>
          <a:xfrm>
            <a:off x="6404149" y="3120275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endParaRPr lang="en-US" dirty="0"/>
          </a:p>
          <a:p>
            <a:r>
              <a:rPr lang="en-US" dirty="0"/>
              <a:t>Create a component called ‘Home’ and place it inside the default ‘App’ component. </a:t>
            </a:r>
          </a:p>
          <a:p>
            <a:pPr lvl="1"/>
            <a:r>
              <a:rPr lang="en-US" dirty="0"/>
              <a:t>Put in some dummy text so you know it works</a:t>
            </a:r>
          </a:p>
        </p:txBody>
      </p:sp>
    </p:spTree>
    <p:extLst>
      <p:ext uri="{BB962C8B-B14F-4D97-AF65-F5344CB8AC3E}">
        <p14:creationId xmlns:p14="http://schemas.microsoft.com/office/powerpoint/2010/main" val="456098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A872D7-E5F0-B707-C6FB-D27F06250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43C1-B605-AFA6-5CFE-5AD75CC95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JSX  stands for JavaScript XML</a:t>
            </a:r>
          </a:p>
          <a:p>
            <a:r>
              <a:rPr lang="en-US" dirty="0">
                <a:solidFill>
                  <a:schemeClr val="bg1"/>
                </a:solidFill>
              </a:rPr>
              <a:t>Expressions are written in braces: {  }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Expressions can include React variables, properties, or any other valid JavaScript expression</a:t>
            </a:r>
          </a:p>
          <a:p>
            <a:r>
              <a:rPr lang="en-US" dirty="0">
                <a:solidFill>
                  <a:schemeClr val="bg1"/>
                </a:solidFill>
              </a:rPr>
              <a:t>There can only be one top-level element </a:t>
            </a:r>
          </a:p>
          <a:p>
            <a:r>
              <a:rPr lang="en-US" dirty="0">
                <a:solidFill>
                  <a:schemeClr val="bg1"/>
                </a:solidFill>
              </a:rPr>
              <a:t>Comments are written as: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{/* */}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4880EB-8CCB-F680-05F1-F577F32E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380" y="1796027"/>
            <a:ext cx="7207535" cy="29911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5C0768-6BDD-8BFC-D27E-6A4A407AB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210" y="1715956"/>
            <a:ext cx="7207535" cy="299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09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D59A-DB5B-C24F-3C2D-5111984C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C6023-2A63-7AA8-F779-FC7BEE661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820" y="2201278"/>
            <a:ext cx="4707984" cy="1414759"/>
          </a:xfrm>
        </p:spPr>
        <p:txBody>
          <a:bodyPr/>
          <a:lstStyle/>
          <a:p>
            <a:r>
              <a:rPr lang="en-US" dirty="0"/>
              <a:t>Functions may be used in expressions</a:t>
            </a:r>
          </a:p>
          <a:p>
            <a:r>
              <a:rPr lang="en-US" dirty="0"/>
              <a:t>Object properties may be used in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62535D-4D50-0161-B1D8-FD2035AFB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70" y="2201278"/>
            <a:ext cx="4128919" cy="3129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319BB5-8E50-F95F-A3FC-68A94505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7" y="3756133"/>
            <a:ext cx="5568393" cy="277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98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3A13-461B-9683-D4FF-C069F2D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The Default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FB5EE-E4F5-231B-5AEC-481F71226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7226" cy="3678303"/>
          </a:xfrm>
        </p:spPr>
        <p:txBody>
          <a:bodyPr/>
          <a:lstStyle/>
          <a:p>
            <a:r>
              <a:rPr lang="en-US" dirty="0"/>
              <a:t>Delete index.css &amp; remove its reference in </a:t>
            </a:r>
            <a:r>
              <a:rPr lang="en-US" dirty="0" err="1"/>
              <a:t>main.jsx</a:t>
            </a:r>
            <a:r>
              <a:rPr lang="en-US" dirty="0"/>
              <a:t> </a:t>
            </a:r>
          </a:p>
          <a:p>
            <a:r>
              <a:rPr lang="en-US" dirty="0"/>
              <a:t>Delete app.css &amp; remove its reference</a:t>
            </a:r>
          </a:p>
          <a:p>
            <a:r>
              <a:rPr lang="en-US" dirty="0"/>
              <a:t>Index.html:</a:t>
            </a:r>
          </a:p>
          <a:p>
            <a:pPr lvl="1"/>
            <a:r>
              <a:rPr lang="en-US" dirty="0"/>
              <a:t>Remove or swap out the browser icon</a:t>
            </a:r>
          </a:p>
          <a:p>
            <a:pPr lvl="1"/>
            <a:r>
              <a:rPr lang="en-US" dirty="0"/>
              <a:t>Change the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966B1-0909-19F5-6CE0-132F2B82F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46" y="2007255"/>
            <a:ext cx="4077269" cy="1895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9645E2-D576-80BF-F9F2-8330ED16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767" y="4194294"/>
            <a:ext cx="5763429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363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7AF19-F640-B996-228D-A11F3882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Our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9EF60-707F-328A-18A6-E2CD50FB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805" y="2284405"/>
            <a:ext cx="8126389" cy="3678303"/>
          </a:xfrm>
        </p:spPr>
        <p:txBody>
          <a:bodyPr/>
          <a:lstStyle/>
          <a:p>
            <a:r>
              <a:rPr lang="en-US" dirty="0"/>
              <a:t>There are many ways to style react components:</a:t>
            </a:r>
          </a:p>
          <a:p>
            <a:pPr lvl="1"/>
            <a:r>
              <a:rPr lang="en-US" dirty="0"/>
              <a:t>Inline – limited and unsightly </a:t>
            </a:r>
          </a:p>
          <a:p>
            <a:pPr lvl="1"/>
            <a:r>
              <a:rPr lang="en-US" dirty="0"/>
              <a:t>Global CSS - .</a:t>
            </a:r>
            <a:r>
              <a:rPr lang="en-US" dirty="0" err="1"/>
              <a:t>css</a:t>
            </a:r>
            <a:r>
              <a:rPr lang="en-US" dirty="0"/>
              <a:t> files (styles are global and can accidently override </a:t>
            </a:r>
            <a:r>
              <a:rPr lang="en-US" dirty="0" err="1"/>
              <a:t>eachother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CSS Modules – ComponentName.module.css file (styles are scoped per component)</a:t>
            </a:r>
          </a:p>
          <a:p>
            <a:pPr lvl="1"/>
            <a:r>
              <a:rPr lang="en-US" dirty="0"/>
              <a:t>CSS-in-JS – write CSS directly inside JS/TS</a:t>
            </a:r>
          </a:p>
          <a:p>
            <a:pPr lvl="1"/>
            <a:r>
              <a:rPr lang="en-US" dirty="0"/>
              <a:t>Utility-First Frameworks (Tailwind CSS) – predefined utility classes directly in JSX</a:t>
            </a:r>
          </a:p>
          <a:p>
            <a:pPr lvl="1"/>
            <a:r>
              <a:rPr lang="en-US" dirty="0"/>
              <a:t>Component Libraries – premade components with styles, e.g. </a:t>
            </a:r>
            <a:r>
              <a:rPr lang="en-US" dirty="0" err="1"/>
              <a:t>MaterialUI</a:t>
            </a:r>
            <a:r>
              <a:rPr lang="en-US" dirty="0"/>
              <a:t>, Chakra UI, Radix UI</a:t>
            </a:r>
          </a:p>
        </p:txBody>
      </p:sp>
    </p:spTree>
    <p:extLst>
      <p:ext uri="{BB962C8B-B14F-4D97-AF65-F5344CB8AC3E}">
        <p14:creationId xmlns:p14="http://schemas.microsoft.com/office/powerpoint/2010/main" val="1615397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AD71-59FA-E41F-E984-565FB3C9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3D49F-8F5D-73E6-DA2D-B809FD04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" y="2949761"/>
            <a:ext cx="7144747" cy="3486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C5F4DB-4F54-DDF0-6B29-C472FDFF0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109" y="3131356"/>
            <a:ext cx="2657846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E83771-F115-9CEF-1E7E-3751DAFE27AD}"/>
              </a:ext>
            </a:extLst>
          </p:cNvPr>
          <p:cNvSpPr txBox="1"/>
          <p:nvPr/>
        </p:nvSpPr>
        <p:spPr>
          <a:xfrm>
            <a:off x="1527464" y="1961991"/>
            <a:ext cx="9757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Classes work differently in React, notice </a:t>
            </a:r>
            <a:r>
              <a:rPr lang="en-US" dirty="0" err="1"/>
              <a:t>className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naming convention to enable modules: ComponentName.module.css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reset for the &lt;body&gt; &amp; &lt;p&gt; elements</a:t>
            </a:r>
          </a:p>
        </p:txBody>
      </p:sp>
    </p:spTree>
    <p:extLst>
      <p:ext uri="{BB962C8B-B14F-4D97-AF65-F5344CB8AC3E}">
        <p14:creationId xmlns:p14="http://schemas.microsoft.com/office/powerpoint/2010/main" val="751519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894B-BD93-E5BE-F520-2332B0A8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3321-E16A-46DF-711B-C86898C6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header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96EA0-2B9D-E9AB-8699-C3AE47858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header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B3C47-3E87-33B8-B252-F8EA5D27207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D7AC5-D8A9-5DC2-E9C0-02183A1958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B8D9A-38B4-10F6-7E3A-99DF95334B49}"/>
              </a:ext>
            </a:extLst>
          </p:cNvPr>
          <p:cNvSpPr txBox="1">
            <a:spLocks/>
          </p:cNvSpPr>
          <p:nvPr/>
        </p:nvSpPr>
        <p:spPr>
          <a:xfrm>
            <a:off x="5273080" y="3158496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create a header using semantic html.</a:t>
            </a:r>
          </a:p>
          <a:p>
            <a:r>
              <a:rPr lang="en-US" dirty="0"/>
              <a:t>Within the header element, include a welcome message that reads: “Welcome {</a:t>
            </a:r>
            <a:r>
              <a:rPr lang="en-US" dirty="0" err="1"/>
              <a:t>user.Prefix</a:t>
            </a:r>
            <a:r>
              <a:rPr lang="en-US" dirty="0"/>
              <a:t>} {</a:t>
            </a:r>
            <a:r>
              <a:rPr lang="en-US" dirty="0" err="1"/>
              <a:t>user.LastName</a:t>
            </a:r>
            <a:r>
              <a:rPr lang="en-US" dirty="0"/>
              <a:t>}! Time since last incident: {</a:t>
            </a:r>
            <a:r>
              <a:rPr lang="en-US" dirty="0" err="1"/>
              <a:t>dummyTimeValue</a:t>
            </a:r>
            <a:r>
              <a:rPr lang="en-US" dirty="0"/>
              <a:t>}” </a:t>
            </a:r>
          </a:p>
          <a:p>
            <a:r>
              <a:rPr lang="en-US" dirty="0"/>
              <a:t>The data should come from an object in your component that stores your own name, the time value may be faked or left empty for now</a:t>
            </a:r>
          </a:p>
          <a:p>
            <a:r>
              <a:rPr lang="en-US" dirty="0"/>
              <a:t>Also include two links for ‘Home’ and ‘Incidents’</a:t>
            </a:r>
          </a:p>
          <a:p>
            <a:r>
              <a:rPr lang="en-US" dirty="0"/>
              <a:t>Style your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94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5EF81-D726-78E0-2499-8B2EA696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245C2-04AC-9F7C-291A-201BD6905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75372" cy="3678303"/>
          </a:xfrm>
        </p:spPr>
        <p:txBody>
          <a:bodyPr/>
          <a:lstStyle/>
          <a:p>
            <a:r>
              <a:rPr lang="en-US" dirty="0"/>
              <a:t>Short for properties</a:t>
            </a:r>
          </a:p>
          <a:p>
            <a:r>
              <a:rPr lang="en-US" dirty="0"/>
              <a:t>Child components can receive a ‘props’ object</a:t>
            </a:r>
          </a:p>
          <a:p>
            <a:pPr lvl="1"/>
            <a:r>
              <a:rPr lang="en-US" dirty="0"/>
              <a:t>This object contains items passed from the parent</a:t>
            </a:r>
          </a:p>
          <a:p>
            <a:pPr lvl="1"/>
            <a:r>
              <a:rPr lang="en-US" dirty="0"/>
              <a:t>These items can be objects, arrays, strings, numbers, and more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0E-0263-FAF5-FB2C-7818C2A22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10" y="2005677"/>
            <a:ext cx="3724795" cy="1810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7927B-9516-AD6C-2E60-F2E6508B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522" y="4105401"/>
            <a:ext cx="3391373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187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B054-6F18-D024-7E4F-50D0C21FB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EA587-F0A9-437C-0429-53B780C4F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3913" y="2908255"/>
            <a:ext cx="4354490" cy="1130935"/>
          </a:xfrm>
        </p:spPr>
        <p:txBody>
          <a:bodyPr/>
          <a:lstStyle/>
          <a:p>
            <a:r>
              <a:rPr lang="en-US" dirty="0"/>
              <a:t>We can pull out from the props object only what we need with </a:t>
            </a:r>
            <a:r>
              <a:rPr lang="en-US" dirty="0" err="1"/>
              <a:t>destructuring</a:t>
            </a:r>
            <a:endParaRPr lang="en-US" dirty="0"/>
          </a:p>
          <a:p>
            <a:r>
              <a:rPr lang="en-US" dirty="0"/>
              <a:t>This is standard JavaScript (ES6 feature)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324A70-C563-3114-1238-7A1B0B87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257" y="3265904"/>
            <a:ext cx="4629796" cy="3124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2BD620-473D-69E5-74BA-9823D6B9C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49" y="2208436"/>
            <a:ext cx="356284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00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3970-B580-3A35-3A9D-4A5EE22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B3CD-777A-23F4-8A44-017D8A5E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an Incident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CCD-078D-B123-DB79-BD4D9831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components to help manage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E1F43-B795-CC7C-96F2-AD110F6D62D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4F60E-0B3C-786C-4B70-9146F5D2F5F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C29790-AE69-F5E8-B7DB-110ACFAB5F4C}"/>
              </a:ext>
            </a:extLst>
          </p:cNvPr>
          <p:cNvSpPr txBox="1">
            <a:spLocks/>
          </p:cNvSpPr>
          <p:nvPr/>
        </p:nvSpPr>
        <p:spPr>
          <a:xfrm>
            <a:off x="5368433" y="3072518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under the header, nest a ‘</a:t>
            </a:r>
            <a:r>
              <a:rPr lang="en-US" dirty="0" err="1"/>
              <a:t>IncidentList</a:t>
            </a:r>
            <a:r>
              <a:rPr lang="en-US" dirty="0"/>
              <a:t>’ component. Then, inside of ‘</a:t>
            </a:r>
            <a:r>
              <a:rPr lang="en-US" dirty="0" err="1"/>
              <a:t>IncidentList</a:t>
            </a:r>
            <a:r>
              <a:rPr lang="en-US" dirty="0"/>
              <a:t>’, nest an ‘Incident’ component.</a:t>
            </a:r>
          </a:p>
          <a:p>
            <a:r>
              <a:rPr lang="en-US" dirty="0"/>
              <a:t>Import the provided JSON dummy data into ‘</a:t>
            </a:r>
            <a:r>
              <a:rPr lang="en-US" dirty="0" err="1"/>
              <a:t>IncidentList</a:t>
            </a:r>
            <a:r>
              <a:rPr lang="en-US" dirty="0"/>
              <a:t>’</a:t>
            </a:r>
          </a:p>
          <a:p>
            <a:r>
              <a:rPr lang="en-US" dirty="0"/>
              <a:t>Render the first incident record by passing the record data down via props to the ‘Incident’ component</a:t>
            </a:r>
          </a:p>
          <a:p>
            <a:r>
              <a:rPr lang="en-US" dirty="0"/>
              <a:t>Style the Incident component into a card that displays the incident id, priority, severity, and status fields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4165F0-AC1B-F1D0-07B9-660B830EB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220" y="4401670"/>
            <a:ext cx="2289077" cy="19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32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031-2D95-205E-B81A-3800E5D2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0332D-03AE-5D81-20B0-21B34D330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JavaScript map() array method is used for looping through a list and rendering content:</a:t>
            </a:r>
          </a:p>
          <a:p>
            <a:pPr lvl="1"/>
            <a:r>
              <a:rPr lang="en-US" dirty="0"/>
              <a:t>A key is HIGHLY encouraged (or else you will get a warning) – A key allows React to update an item and refresh the component properly if it is updated or removed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D1BD0-1119-8C20-CD4B-655713E1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27" y="3602597"/>
            <a:ext cx="8823543" cy="269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79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A1431-1044-F8DC-F67B-8483993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AE94-3F36-12C5-8548-C3DFAEE3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All the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91159-254F-2A45-308C-9EFACD59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so that all incidents display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37B85-329C-D7A2-FD80-98DDDAC248A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1B69C-A152-D3A6-CD68-1DA17F801EE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AEE151-BC9C-8BDA-FA0B-94944123D0CA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</a:t>
            </a:r>
            <a:r>
              <a:rPr lang="en-US" dirty="0" err="1"/>
              <a:t>IncidentList</a:t>
            </a:r>
            <a:r>
              <a:rPr lang="en-US" dirty="0"/>
              <a:t>’ component so that it loops through the dummy data and displays all the incident records. </a:t>
            </a:r>
          </a:p>
          <a:p>
            <a:r>
              <a:rPr lang="en-US" dirty="0"/>
              <a:t>Style your components so each record is displayed on a card</a:t>
            </a:r>
            <a:br>
              <a:rPr lang="en-US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1F7FB4-FEC9-EBDC-B712-18913980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76" y="4301422"/>
            <a:ext cx="4474772" cy="168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25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DE725-1CDE-DC05-9B0B-F6EF7E4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Rendering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8832B-2AB9-5271-6004-609F75E54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108581" cy="448404"/>
          </a:xfrm>
        </p:spPr>
        <p:txBody>
          <a:bodyPr/>
          <a:lstStyle/>
          <a:p>
            <a:r>
              <a:rPr lang="en-US" dirty="0"/>
              <a:t>Conditional rendering makes it easy to show or hide any elements/components as we wish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97494E-B764-C56A-B45C-780AD052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46" y="2763983"/>
            <a:ext cx="3277057" cy="39153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EAD4A-B0C9-69B3-484D-D8BB8E43A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4194" y="3300230"/>
            <a:ext cx="2286319" cy="26578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B0A2E2-2983-C975-AD39-5E8088C2F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485" y="4009941"/>
            <a:ext cx="395342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6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F7853-9938-39C7-9AB6-BE8691626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Firing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EFA18-6278-EC01-BBBC-42D2EFE3F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7611" y="2256136"/>
            <a:ext cx="4707780" cy="3678303"/>
          </a:xfrm>
        </p:spPr>
        <p:txBody>
          <a:bodyPr/>
          <a:lstStyle/>
          <a:p>
            <a:r>
              <a:rPr lang="en-US" dirty="0"/>
              <a:t>Define an event handler function inside the component</a:t>
            </a:r>
          </a:p>
          <a:p>
            <a:r>
              <a:rPr lang="en-US" dirty="0"/>
              <a:t>Notice ‘</a:t>
            </a:r>
            <a:r>
              <a:rPr lang="en-US" dirty="0" err="1"/>
              <a:t>onClick</a:t>
            </a:r>
            <a:r>
              <a:rPr lang="en-US" dirty="0"/>
              <a:t>’ vs ‘onclick’ in JavaScript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19D4A-2C9A-BA32-D701-058544F5B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518" y="2180496"/>
            <a:ext cx="4248743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461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30CA0-0E39-E6CD-D106-B6E26FF5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8026D-834F-4536-EFAC-FEDE7A88F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State</a:t>
            </a:r>
            <a:r>
              <a:rPr lang="en-US" dirty="0"/>
              <a:t> is an object that holds data or information about a component that may change over time.</a:t>
            </a:r>
          </a:p>
          <a:p>
            <a:pPr lvl="1"/>
            <a:r>
              <a:rPr lang="en-US" dirty="0"/>
              <a:t>The ‘memory’ of a component</a:t>
            </a:r>
          </a:p>
          <a:p>
            <a:pPr lvl="1"/>
            <a:r>
              <a:rPr lang="en-US" dirty="0"/>
              <a:t>It allows the component to keep track of values between renders</a:t>
            </a:r>
          </a:p>
          <a:p>
            <a:r>
              <a:rPr lang="en-US" dirty="0"/>
              <a:t>When state changes, React automatically re-renders the component (and any children that depend on the state) so the UI stays in sync with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18A49-D737-AFEB-6AEE-38DB38C53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065" y="3169807"/>
            <a:ext cx="4982270" cy="24768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D9F3C8-0DB5-1735-A0C6-EC72B1247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170" y="2534191"/>
            <a:ext cx="3894059" cy="325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49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8A92-7CA6-98CE-1F12-F07DFA28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446BB-545C-3087-6716-AA96A4492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Basic App 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E266E-CDAD-72D0-3711-9B0D0655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to conditionally render components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EA335E-334A-2B86-AA57-B869D6AB62E7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0F6C0E-A730-E9D7-0FA0-3052BCB4A91B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6E06756-F910-4AFC-390A-72B04540CFFD}"/>
              </a:ext>
            </a:extLst>
          </p:cNvPr>
          <p:cNvSpPr txBox="1">
            <a:spLocks/>
          </p:cNvSpPr>
          <p:nvPr/>
        </p:nvSpPr>
        <p:spPr>
          <a:xfrm>
            <a:off x="6031417" y="3099411"/>
            <a:ext cx="5740756" cy="23152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‘Home’ component so that under the header, it will conditionally render either your ‘</a:t>
            </a:r>
            <a:r>
              <a:rPr lang="en-US" dirty="0" err="1"/>
              <a:t>IncidentList</a:t>
            </a:r>
            <a:r>
              <a:rPr lang="en-US" dirty="0"/>
              <a:t>’ component or a ‘Welcome’ component. </a:t>
            </a:r>
          </a:p>
          <a:p>
            <a:pPr lvl="1"/>
            <a:r>
              <a:rPr lang="en-US" dirty="0"/>
              <a:t>It should conditionally render via navigation links in the header</a:t>
            </a:r>
          </a:p>
          <a:p>
            <a:pPr lvl="1"/>
            <a:r>
              <a:rPr lang="en-US" dirty="0"/>
              <a:t>The ‘Welcome’ component may be a very simple dummy component that simply returns text ‘Welcome’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0423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4C51-BF7C-0C7E-8B22-346123C1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Callback Functions to Child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DA8C7-B5EB-70ED-13C9-5641B989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22502" cy="3678303"/>
          </a:xfrm>
        </p:spPr>
        <p:txBody>
          <a:bodyPr/>
          <a:lstStyle/>
          <a:p>
            <a:r>
              <a:rPr lang="en-US" dirty="0"/>
              <a:t>Notice how we pass in a callback function into the Incident component called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r>
              <a:rPr lang="en-US" dirty="0"/>
              <a:t>Then in our parent component, we can set the callback that will be performed for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pPr lvl="1"/>
            <a:r>
              <a:rPr lang="en-US" dirty="0"/>
              <a:t>In this case, ‘</a:t>
            </a:r>
            <a:r>
              <a:rPr lang="en-US" dirty="0" err="1"/>
              <a:t>handleClick</a:t>
            </a:r>
            <a:r>
              <a:rPr lang="en-US" dirty="0"/>
              <a:t>’ will fire off another function local to the parent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3FB8CD-A14C-08A4-55AF-08B5A5A3B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69" y="5142043"/>
            <a:ext cx="5172797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5A5988-DF64-D8AE-8ECA-42BD8942A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74" y="2061971"/>
            <a:ext cx="6335009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9757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8627-39B0-81E8-E217-8D36A536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Deleting Items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971B3-1B53-48ED-3CA2-468B766DC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422" y="2343081"/>
            <a:ext cx="10911153" cy="853649"/>
          </a:xfrm>
        </p:spPr>
        <p:txBody>
          <a:bodyPr>
            <a:normAutofit fontScale="92500"/>
          </a:bodyPr>
          <a:lstStyle/>
          <a:p>
            <a:r>
              <a:rPr lang="en-US" dirty="0"/>
              <a:t>The JavaScript filter() function will return a new array where all items meet the criteria </a:t>
            </a:r>
          </a:p>
          <a:p>
            <a:r>
              <a:rPr lang="en-US" dirty="0"/>
              <a:t>In this example, we are getting a copy of the array will all items except for the incident where its ID was provided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D773C1-3F1D-6574-7846-6C0CAE4E7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9" y="4080578"/>
            <a:ext cx="9714477" cy="13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268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E161-F4BA-66C1-5793-AA217ACA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A353E-7723-F682-AD14-6250128A2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Delete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1666D-E78D-4A35-BEB2-F43A5BD97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button on the incident component to delete the incident from the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A4F7A-2C15-E272-C77B-423CB2B7DD51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F47EC-97AB-22DC-3530-9B65E5C79CE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AE7A51-3F2A-03CF-A82D-343A11028C57}"/>
              </a:ext>
            </a:extLst>
          </p:cNvPr>
          <p:cNvSpPr txBox="1">
            <a:spLocks/>
          </p:cNvSpPr>
          <p:nvPr/>
        </p:nvSpPr>
        <p:spPr>
          <a:xfrm>
            <a:off x="6000244" y="2900119"/>
            <a:ext cx="5740756" cy="15367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Modify your ‘Incident’ component so that it has a delete button</a:t>
            </a:r>
          </a:p>
          <a:p>
            <a:r>
              <a:rPr lang="en-US" dirty="0"/>
              <a:t>The button should remove the Incident from the Incident list component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56136-A0B5-745A-83A5-13A9CF71F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103" y="4054749"/>
            <a:ext cx="2463162" cy="258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207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1766-6676-B1B0-2EE9-CA962A0C9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C1379-3FD8-126B-7875-4935837AD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3644" cy="1809613"/>
          </a:xfrm>
        </p:spPr>
        <p:txBody>
          <a:bodyPr/>
          <a:lstStyle/>
          <a:p>
            <a:r>
              <a:rPr lang="en-US" dirty="0"/>
              <a:t>Where we use state matters</a:t>
            </a:r>
          </a:p>
          <a:p>
            <a:r>
              <a:rPr lang="en-US" dirty="0"/>
              <a:t>Lifting State – refers to moving state from one component to a common parent so that multiple child components can share and update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F90BB-931D-1296-F8BA-E8E8A54C7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4895661"/>
            <a:ext cx="5801042" cy="3515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FBC935-5316-94D2-DC66-956B102CE455}"/>
              </a:ext>
            </a:extLst>
          </p:cNvPr>
          <p:cNvSpPr/>
          <p:nvPr/>
        </p:nvSpPr>
        <p:spPr>
          <a:xfrm>
            <a:off x="8006355" y="2408412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774722-6334-B5C1-4D96-6D397FB410E8}"/>
              </a:ext>
            </a:extLst>
          </p:cNvPr>
          <p:cNvSpPr/>
          <p:nvPr/>
        </p:nvSpPr>
        <p:spPr>
          <a:xfrm>
            <a:off x="9117979" y="3592848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F27F19-0997-032F-707B-081DEACA4C01}"/>
              </a:ext>
            </a:extLst>
          </p:cNvPr>
          <p:cNvSpPr/>
          <p:nvPr/>
        </p:nvSpPr>
        <p:spPr>
          <a:xfrm>
            <a:off x="6975414" y="5071450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ADA160-FB17-1B45-DBED-AFA672DFCC40}"/>
              </a:ext>
            </a:extLst>
          </p:cNvPr>
          <p:cNvSpPr/>
          <p:nvPr/>
        </p:nvSpPr>
        <p:spPr>
          <a:xfrm>
            <a:off x="6975414" y="3592849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F25FD60-3ADA-AD65-DAE5-9AB5E7B1D2A4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7676975" y="2850025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5DA25C1-9805-F6D0-7AEA-377B7B840A1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9409477" y="2850026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C96D39-AFA0-6B1E-D6E6-71982AE13C3B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7676975" y="4476076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6D9D018-B6C6-3C0A-B86D-1E6E8236059B}"/>
              </a:ext>
            </a:extLst>
          </p:cNvPr>
          <p:cNvSpPr txBox="1"/>
          <p:nvPr/>
        </p:nvSpPr>
        <p:spPr>
          <a:xfrm>
            <a:off x="8639356" y="4816013"/>
            <a:ext cx="3185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state is at the </a:t>
            </a:r>
            <a:r>
              <a:rPr lang="en-US" dirty="0" err="1"/>
              <a:t>IncidentList</a:t>
            </a:r>
            <a:r>
              <a:rPr lang="en-US" dirty="0"/>
              <a:t> component, then it will be reset each time the component unloads from the virtual DOM</a:t>
            </a:r>
          </a:p>
        </p:txBody>
      </p:sp>
    </p:spTree>
    <p:extLst>
      <p:ext uri="{BB962C8B-B14F-4D97-AF65-F5344CB8AC3E}">
        <p14:creationId xmlns:p14="http://schemas.microsoft.com/office/powerpoint/2010/main" val="23423005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D9E68-1C6C-E13E-CE0E-8C509701E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0F9AE-1BC4-1DEB-1D5C-8E1A4180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1D1BE-9773-AE65-B2E8-7F34F9869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120" y="2479007"/>
            <a:ext cx="4537291" cy="3673457"/>
          </a:xfrm>
        </p:spPr>
        <p:txBody>
          <a:bodyPr/>
          <a:lstStyle/>
          <a:p>
            <a:r>
              <a:rPr lang="en-US" dirty="0"/>
              <a:t>If state is instead placed at ‘Home’, then if we modify the incident list, then that change will persist even if we reload the component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299E5A-2595-F19C-2872-45CDD0BDC220}"/>
              </a:ext>
            </a:extLst>
          </p:cNvPr>
          <p:cNvSpPr/>
          <p:nvPr/>
        </p:nvSpPr>
        <p:spPr>
          <a:xfrm>
            <a:off x="3317814" y="2479007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56EBA-408B-F237-F878-49327D2A58A2}"/>
              </a:ext>
            </a:extLst>
          </p:cNvPr>
          <p:cNvSpPr/>
          <p:nvPr/>
        </p:nvSpPr>
        <p:spPr>
          <a:xfrm>
            <a:off x="4429438" y="3663443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5C7DE7-825D-B9F3-F981-8F1EEE651804}"/>
              </a:ext>
            </a:extLst>
          </p:cNvPr>
          <p:cNvSpPr/>
          <p:nvPr/>
        </p:nvSpPr>
        <p:spPr>
          <a:xfrm>
            <a:off x="2286873" y="5142045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E0526C-5A7D-29F2-8759-C9030965C369}"/>
              </a:ext>
            </a:extLst>
          </p:cNvPr>
          <p:cNvSpPr/>
          <p:nvPr/>
        </p:nvSpPr>
        <p:spPr>
          <a:xfrm>
            <a:off x="2286873" y="3663444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7EAD238-9878-270B-E359-4CA536DE9AAE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2988434" y="2920620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A5AB5CB-B895-4C4E-ABB1-32CC50521AC4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4720936" y="2920621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615FB2-2CF4-96E1-19CA-86D09CD447E1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2988434" y="4546671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75934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F5A0B-0EEA-6B4B-06CB-49A8EB87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51E1-36AF-1C25-B81A-794FDF3B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Lift Up Incident List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10645-0665-83EF-BD6E-39F27F418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Lift up the state of the Incident list so that changes are persisted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A649EF-E600-4EED-A8C1-7DDCA92B190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8A1F33-BE64-6ABA-C3BB-7D62A15D95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967E04-EE72-1F98-CF06-82015E95405E}"/>
              </a:ext>
            </a:extLst>
          </p:cNvPr>
          <p:cNvSpPr txBox="1">
            <a:spLocks/>
          </p:cNvSpPr>
          <p:nvPr/>
        </p:nvSpPr>
        <p:spPr>
          <a:xfrm>
            <a:off x="6000244" y="2900119"/>
            <a:ext cx="5740756" cy="2442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Modify your ‘Incident’ component so that it has a delete button</a:t>
            </a:r>
          </a:p>
          <a:p>
            <a:r>
              <a:rPr lang="en-US" dirty="0"/>
              <a:t>You will need to make edits to the Home and Incident list components:</a:t>
            </a:r>
          </a:p>
          <a:p>
            <a:pPr lvl="1"/>
            <a:r>
              <a:rPr lang="en-US" dirty="0"/>
              <a:t>Move state and the delete function to ‘Home’</a:t>
            </a:r>
          </a:p>
          <a:p>
            <a:pPr lvl="1"/>
            <a:r>
              <a:rPr lang="en-US" dirty="0"/>
              <a:t>Chain a callback function from Incident list component to the Home component – this wires up the delete function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6AE13A-2BFF-80B8-2166-4D4FD2A5D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103" y="4054749"/>
            <a:ext cx="2463162" cy="258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2710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2316</TotalTime>
  <Words>1607</Words>
  <Application>Microsoft Office PowerPoint</Application>
  <PresentationFormat>Widescreen</PresentationFormat>
  <Paragraphs>157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Gill Sans MT</vt:lpstr>
      <vt:lpstr>Wingdings</vt:lpstr>
      <vt:lpstr>Wingdings 2</vt:lpstr>
      <vt:lpstr>Dividend</vt:lpstr>
      <vt:lpstr>React</vt:lpstr>
      <vt:lpstr>What is React?</vt:lpstr>
      <vt:lpstr>How Does React Work?</vt:lpstr>
      <vt:lpstr>What we Need</vt:lpstr>
      <vt:lpstr>Challenge – Create Your First App</vt:lpstr>
      <vt:lpstr>What is a React Component?</vt:lpstr>
      <vt:lpstr>Project Organization &amp; Component Nesting</vt:lpstr>
      <vt:lpstr>Challenge – Create Your First React component</vt:lpstr>
      <vt:lpstr>What is JSX?</vt:lpstr>
      <vt:lpstr>What Is JSX?</vt:lpstr>
      <vt:lpstr>Remove The Default Styling</vt:lpstr>
      <vt:lpstr>Styling Our Components</vt:lpstr>
      <vt:lpstr>CSS Modules</vt:lpstr>
      <vt:lpstr>Challenge – Create A header</vt:lpstr>
      <vt:lpstr>Props</vt:lpstr>
      <vt:lpstr>Destructuring Props</vt:lpstr>
      <vt:lpstr>Challenge – View an Incident</vt:lpstr>
      <vt:lpstr>Lists</vt:lpstr>
      <vt:lpstr>Challenge – View All the incidents</vt:lpstr>
      <vt:lpstr>Conditional Rendering</vt:lpstr>
      <vt:lpstr>Firing Events</vt:lpstr>
      <vt:lpstr>Keeping State</vt:lpstr>
      <vt:lpstr>Challenge – Create Basic App Navigation</vt:lpstr>
      <vt:lpstr>Passing Callback Functions to Child Components</vt:lpstr>
      <vt:lpstr>Deleting Items From Lists</vt:lpstr>
      <vt:lpstr>Challenge – Delete Incidents</vt:lpstr>
      <vt:lpstr>Sharing Component Data / Lifting Up State</vt:lpstr>
      <vt:lpstr>Sharing Component Data / Lifting Up State</vt:lpstr>
      <vt:lpstr>Challenge – Lift Up Incident List State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591</cp:revision>
  <dcterms:created xsi:type="dcterms:W3CDTF">2025-02-12T19:53:45Z</dcterms:created>
  <dcterms:modified xsi:type="dcterms:W3CDTF">2025-09-30T04:48:43Z</dcterms:modified>
</cp:coreProperties>
</file>