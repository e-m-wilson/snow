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5" r:id="rId5"/>
    <p:sldId id="262" r:id="rId6"/>
    <p:sldId id="266" r:id="rId7"/>
    <p:sldId id="267" r:id="rId8"/>
    <p:sldId id="269" r:id="rId9"/>
    <p:sldId id="268" r:id="rId10"/>
    <p:sldId id="270" r:id="rId11"/>
    <p:sldId id="273" r:id="rId12"/>
    <p:sldId id="274" r:id="rId13"/>
    <p:sldId id="275" r:id="rId14"/>
    <p:sldId id="272" r:id="rId15"/>
    <p:sldId id="271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5" r:id="rId25"/>
    <p:sldId id="284" r:id="rId26"/>
    <p:sldId id="286" r:id="rId27"/>
    <p:sldId id="287" r:id="rId28"/>
    <p:sldId id="288" r:id="rId29"/>
    <p:sldId id="289" r:id="rId30"/>
    <p:sldId id="290" r:id="rId31"/>
    <p:sldId id="292" r:id="rId32"/>
    <p:sldId id="291" r:id="rId33"/>
    <p:sldId id="293" r:id="rId34"/>
    <p:sldId id="294" r:id="rId35"/>
    <p:sldId id="295" r:id="rId36"/>
    <p:sldId id="297" r:id="rId37"/>
    <p:sldId id="296" r:id="rId38"/>
    <p:sldId id="303" r:id="rId39"/>
    <p:sldId id="298" r:id="rId40"/>
    <p:sldId id="299" r:id="rId41"/>
    <p:sldId id="300" r:id="rId42"/>
    <p:sldId id="301" r:id="rId43"/>
    <p:sldId id="30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4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43D65C-8931-47DD-A990-F3B8405C861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98671D-2D77-41C0-86B7-5B9DCF2A59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It’s common to group up components in your project folder based on features</a:t>
          </a:r>
        </a:p>
      </dgm:t>
    </dgm:pt>
    <dgm:pt modelId="{06064ABE-0F0D-4A1D-AE43-66B9DB09EB18}" type="parTrans" cxnId="{209D1261-C4B3-463C-AF68-649DB5024103}">
      <dgm:prSet/>
      <dgm:spPr/>
      <dgm:t>
        <a:bodyPr/>
        <a:lstStyle/>
        <a:p>
          <a:endParaRPr lang="en-US"/>
        </a:p>
      </dgm:t>
    </dgm:pt>
    <dgm:pt modelId="{EF3F3E5A-1C21-4F1E-8291-8D6646D04213}" type="sibTrans" cxnId="{209D1261-C4B3-463C-AF68-649DB5024103}">
      <dgm:prSet/>
      <dgm:spPr/>
      <dgm:t>
        <a:bodyPr/>
        <a:lstStyle/>
        <a:p>
          <a:endParaRPr lang="en-US"/>
        </a:p>
      </dgm:t>
    </dgm:pt>
    <dgm:pt modelId="{145E74D0-10BA-4829-BF4A-7CEA034790D5}" type="pres">
      <dgm:prSet presAssocID="{6E43D65C-8931-47DD-A990-F3B8405C8612}" presName="root" presStyleCnt="0">
        <dgm:presLayoutVars>
          <dgm:dir/>
          <dgm:resizeHandles val="exact"/>
        </dgm:presLayoutVars>
      </dgm:prSet>
      <dgm:spPr/>
    </dgm:pt>
    <dgm:pt modelId="{A3C1F0FE-CA92-44A2-8A2A-57473F82C054}" type="pres">
      <dgm:prSet presAssocID="{A498671D-2D77-41C0-86B7-5B9DCF2A594F}" presName="compNode" presStyleCnt="0"/>
      <dgm:spPr/>
    </dgm:pt>
    <dgm:pt modelId="{6233FC53-5290-4539-A927-EDB59F773E72}" type="pres">
      <dgm:prSet presAssocID="{A498671D-2D77-41C0-86B7-5B9DCF2A594F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010B96A-6623-4F92-8382-8A60E83567A2}" type="pres">
      <dgm:prSet presAssocID="{A498671D-2D77-41C0-86B7-5B9DCF2A594F}" presName="spaceRect" presStyleCnt="0"/>
      <dgm:spPr/>
    </dgm:pt>
    <dgm:pt modelId="{3BD1305E-B700-4EAC-93C6-194EC97808D2}" type="pres">
      <dgm:prSet presAssocID="{A498671D-2D77-41C0-86B7-5B9DCF2A594F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C1D7AD0E-DD3F-4190-9AAE-8E1D6A05524B}" type="presOf" srcId="{6E43D65C-8931-47DD-A990-F3B8405C8612}" destId="{145E74D0-10BA-4829-BF4A-7CEA034790D5}" srcOrd="0" destOrd="0" presId="urn:microsoft.com/office/officeart/2018/2/layout/IconLabelList"/>
    <dgm:cxn modelId="{209D1261-C4B3-463C-AF68-649DB5024103}" srcId="{6E43D65C-8931-47DD-A990-F3B8405C8612}" destId="{A498671D-2D77-41C0-86B7-5B9DCF2A594F}" srcOrd="0" destOrd="0" parTransId="{06064ABE-0F0D-4A1D-AE43-66B9DB09EB18}" sibTransId="{EF3F3E5A-1C21-4F1E-8291-8D6646D04213}"/>
    <dgm:cxn modelId="{761B1D49-8982-4142-BA7B-C872B68BEE82}" type="presOf" srcId="{A498671D-2D77-41C0-86B7-5B9DCF2A594F}" destId="{3BD1305E-B700-4EAC-93C6-194EC97808D2}" srcOrd="0" destOrd="0" presId="urn:microsoft.com/office/officeart/2018/2/layout/IconLabelList"/>
    <dgm:cxn modelId="{E890585D-F497-4539-87CB-FCB6A10BC018}" type="presParOf" srcId="{145E74D0-10BA-4829-BF4A-7CEA034790D5}" destId="{A3C1F0FE-CA92-44A2-8A2A-57473F82C054}" srcOrd="0" destOrd="0" presId="urn:microsoft.com/office/officeart/2018/2/layout/IconLabelList"/>
    <dgm:cxn modelId="{2AA23498-CE42-4BBC-A7C0-196BB8A1909D}" type="presParOf" srcId="{A3C1F0FE-CA92-44A2-8A2A-57473F82C054}" destId="{6233FC53-5290-4539-A927-EDB59F773E72}" srcOrd="0" destOrd="0" presId="urn:microsoft.com/office/officeart/2018/2/layout/IconLabelList"/>
    <dgm:cxn modelId="{87D68434-E48E-44D9-B03A-555236487174}" type="presParOf" srcId="{A3C1F0FE-CA92-44A2-8A2A-57473F82C054}" destId="{D010B96A-6623-4F92-8382-8A60E83567A2}" srcOrd="1" destOrd="0" presId="urn:microsoft.com/office/officeart/2018/2/layout/IconLabelList"/>
    <dgm:cxn modelId="{36855CBA-609E-43F7-87CF-2D0AA1D3FA25}" type="presParOf" srcId="{A3C1F0FE-CA92-44A2-8A2A-57473F82C054}" destId="{3BD1305E-B700-4EAC-93C6-194EC97808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3FC53-5290-4539-A927-EDB59F773E72}">
      <dsp:nvSpPr>
        <dsp:cNvPr id="0" name=""/>
        <dsp:cNvSpPr/>
      </dsp:nvSpPr>
      <dsp:spPr>
        <a:xfrm>
          <a:off x="713531" y="104224"/>
          <a:ext cx="845437" cy="845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1305E-B700-4EAC-93C6-194EC97808D2}">
      <dsp:nvSpPr>
        <dsp:cNvPr id="0" name=""/>
        <dsp:cNvSpPr/>
      </dsp:nvSpPr>
      <dsp:spPr>
        <a:xfrm>
          <a:off x="196875" y="1225956"/>
          <a:ext cx="187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It’s common to group up components in your project folder based on features</a:t>
          </a:r>
        </a:p>
      </dsp:txBody>
      <dsp:txXfrm>
        <a:off x="196875" y="1225956"/>
        <a:ext cx="187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13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FDC9B-E008-C5DA-8CAB-63321668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is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85CE1-91C2-05D6-C8B9-88412DDBD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Definition: </a:t>
            </a:r>
            <a:r>
              <a:rPr lang="en-US" dirty="0">
                <a:solidFill>
                  <a:schemeClr val="accent2"/>
                </a:solidFill>
              </a:rPr>
              <a:t>React</a:t>
            </a:r>
            <a:r>
              <a:rPr lang="en-US" dirty="0">
                <a:solidFill>
                  <a:schemeClr val="bg1"/>
                </a:solidFill>
              </a:rPr>
              <a:t> is a front-end JavaScript library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React is also known as React.js or ReactJS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React is a tool for building UI components</a:t>
            </a:r>
          </a:p>
          <a:p>
            <a:r>
              <a:rPr lang="en-US" dirty="0" err="1">
                <a:solidFill>
                  <a:schemeClr val="bg1"/>
                </a:solidFill>
              </a:rPr>
              <a:t>react.dev</a:t>
            </a:r>
            <a:r>
              <a:rPr lang="en-US" dirty="0">
                <a:solidFill>
                  <a:schemeClr val="bg1"/>
                </a:solidFill>
              </a:rPr>
              <a:t>/learn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ACAEC-8645-F494-584E-E0B6A07E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250" y="718314"/>
            <a:ext cx="6340790" cy="2710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CE7030-0458-1D8B-C108-9447BDFF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251" y="3635363"/>
            <a:ext cx="6340790" cy="274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30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D4A6-DD2E-5DF2-1E7A-3CC10388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React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7794F-23F3-26FD-CC67-AAE322DC1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932102" cy="3678303"/>
          </a:xfrm>
        </p:spPr>
        <p:txBody>
          <a:bodyPr/>
          <a:lstStyle/>
          <a:p>
            <a:r>
              <a:rPr lang="en-US" dirty="0"/>
              <a:t>React creates a virtual DOM in memory</a:t>
            </a:r>
          </a:p>
          <a:p>
            <a:pPr lvl="1"/>
            <a:r>
              <a:rPr lang="en-US" dirty="0"/>
              <a:t>Instead of manipulating the browser’s DOM directly, React creates a virtual DOM in memory, where it does all the necessary manipulating, before making changes in the browser DOM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0DFA8A-953B-F0D5-304B-0BBAE13B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14514"/>
            <a:ext cx="417253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1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0524-623B-0575-4BFF-61A1D601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2E14D-AABC-A444-62EC-94DEB522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26708"/>
            <a:ext cx="3371075" cy="3678303"/>
          </a:xfrm>
        </p:spPr>
        <p:txBody>
          <a:bodyPr/>
          <a:lstStyle/>
          <a:p>
            <a:r>
              <a:rPr lang="en-US" dirty="0"/>
              <a:t>NPM, included with Node.js</a:t>
            </a:r>
          </a:p>
          <a:p>
            <a:r>
              <a:rPr lang="en-US" dirty="0" err="1"/>
              <a:t>Vscode</a:t>
            </a:r>
            <a:endParaRPr lang="en-US" dirty="0"/>
          </a:p>
          <a:p>
            <a:r>
              <a:rPr lang="en-US" dirty="0"/>
              <a:t>Vite</a:t>
            </a:r>
          </a:p>
          <a:p>
            <a:pPr lvl="1"/>
            <a:r>
              <a:rPr lang="en-US" dirty="0"/>
              <a:t>Project names all lowercase/dashes</a:t>
            </a:r>
          </a:p>
          <a:p>
            <a:r>
              <a:rPr lang="en-US" dirty="0"/>
              <a:t>Recommended: </a:t>
            </a:r>
            <a:br>
              <a:rPr lang="en-US" dirty="0"/>
            </a:br>
            <a:r>
              <a:rPr lang="en-US" dirty="0"/>
              <a:t>React Developer Tools browser extension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7E017-B7EC-959E-7408-C51E6D17F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680" y="2256320"/>
            <a:ext cx="3581900" cy="504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CEC70B-C25C-AB4B-AD0F-FAE10C7E2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267" y="3116671"/>
            <a:ext cx="3905795" cy="34294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AD11A9-B4A1-B4D6-B247-FD3DF2885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277" y="3116671"/>
            <a:ext cx="3753374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73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Your First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React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456103" y="3130666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 records. This application will be written in React.</a:t>
            </a:r>
          </a:p>
          <a:p>
            <a:endParaRPr lang="en-US" dirty="0"/>
          </a:p>
          <a:p>
            <a:r>
              <a:rPr lang="en-US" dirty="0"/>
              <a:t>To get started, setup your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9A83-43AA-1FCC-FFB9-5A62A7F3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React Component?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A6D25-759E-CB20-B233-0FCAE90BE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021749" cy="3678303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component</a:t>
            </a:r>
            <a:r>
              <a:rPr lang="en-US" dirty="0"/>
              <a:t> is a piece of the UI that has its own logic and appearance</a:t>
            </a:r>
          </a:p>
          <a:p>
            <a:pPr lvl="1"/>
            <a:r>
              <a:rPr lang="en-US" dirty="0"/>
              <a:t>A component can be as small as a button, or as large as an entire page</a:t>
            </a:r>
          </a:p>
          <a:p>
            <a:pPr lvl="1"/>
            <a:r>
              <a:rPr lang="en-US" dirty="0"/>
              <a:t>React components are JavaScript functions that return markup</a:t>
            </a:r>
          </a:p>
          <a:p>
            <a:pPr lvl="1"/>
            <a:r>
              <a:rPr lang="en-US" dirty="0"/>
              <a:t>Pascal-case naming</a:t>
            </a:r>
          </a:p>
          <a:p>
            <a:pPr lvl="1"/>
            <a:r>
              <a:rPr lang="en-US" dirty="0"/>
              <a:t>Two types: class components and function components (default)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B6F3E-629A-7761-0BEB-CFEA202E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313" y="3004822"/>
            <a:ext cx="2152950" cy="188621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3A7B8-4162-5728-AEE2-B14B7D7FD2E2}"/>
              </a:ext>
            </a:extLst>
          </p:cNvPr>
          <p:cNvCxnSpPr>
            <a:cxnSpLocks/>
          </p:cNvCxnSpPr>
          <p:nvPr/>
        </p:nvCxnSpPr>
        <p:spPr>
          <a:xfrm flipH="1" flipV="1">
            <a:off x="7988263" y="3666565"/>
            <a:ext cx="662678" cy="7171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3D491D-8D60-402F-A8E0-9E454805E4A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7988263" y="3738282"/>
            <a:ext cx="662678" cy="20964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C10074-7071-23C0-1743-AA13685BFA63}"/>
              </a:ext>
            </a:extLst>
          </p:cNvPr>
          <p:cNvSpPr txBox="1"/>
          <p:nvPr/>
        </p:nvSpPr>
        <p:spPr>
          <a:xfrm>
            <a:off x="8650941" y="3517757"/>
            <a:ext cx="32990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These are called </a:t>
            </a:r>
            <a:r>
              <a:rPr lang="en-US" dirty="0">
                <a:solidFill>
                  <a:schemeClr val="accent2"/>
                </a:solidFill>
              </a:rPr>
              <a:t>Fragments</a:t>
            </a:r>
            <a:r>
              <a:rPr lang="en-US" dirty="0"/>
              <a:t> – special React components that groups a list of children without adding extra nodes to the DOM. </a:t>
            </a:r>
          </a:p>
        </p:txBody>
      </p:sp>
    </p:spTree>
    <p:extLst>
      <p:ext uri="{BB962C8B-B14F-4D97-AF65-F5344CB8AC3E}">
        <p14:creationId xmlns:p14="http://schemas.microsoft.com/office/powerpoint/2010/main" val="2553206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E3F6-7422-6C49-370F-45A7975A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Organization &amp; Component Nesting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7EB4153-5444-48A7-F8CF-1C12AA3425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656090"/>
              </p:ext>
            </p:extLst>
          </p:nvPr>
        </p:nvGraphicFramePr>
        <p:xfrm>
          <a:off x="581193" y="2476343"/>
          <a:ext cx="2272500" cy="2050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D44DA09-EA8F-10BB-368A-F008DC6F7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5083" y="2476343"/>
            <a:ext cx="2482052" cy="3762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BDBD0A-912A-6AFA-EFDF-869BE6C14D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668" y="2476343"/>
            <a:ext cx="2969658" cy="2828805"/>
          </a:xfrm>
          <a:prstGeom prst="rect">
            <a:avLst/>
          </a:prstGeom>
        </p:spPr>
      </p:pic>
      <p:sp>
        <p:nvSpPr>
          <p:cNvPr id="8" name="Rectangle 7" descr="Truck">
            <a:extLst>
              <a:ext uri="{FF2B5EF4-FFF2-40B4-BE49-F238E27FC236}">
                <a16:creationId xmlns:a16="http://schemas.microsoft.com/office/drawing/2014/main" id="{23BDA2AE-6A82-6245-D081-EF8C5E0ECDAB}"/>
              </a:ext>
            </a:extLst>
          </p:cNvPr>
          <p:cNvSpPr/>
          <p:nvPr/>
        </p:nvSpPr>
        <p:spPr>
          <a:xfrm>
            <a:off x="6423463" y="2478808"/>
            <a:ext cx="1022625" cy="1022625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C95FB0-AF30-B71B-EF28-60B63B252120}"/>
              </a:ext>
            </a:extLst>
          </p:cNvPr>
          <p:cNvGrpSpPr/>
          <p:nvPr/>
        </p:nvGrpSpPr>
        <p:grpSpPr>
          <a:xfrm>
            <a:off x="5798525" y="3808988"/>
            <a:ext cx="2272500" cy="720000"/>
            <a:chOff x="2687306" y="2144241"/>
            <a:chExt cx="2272500" cy="72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B60582-7D58-F00C-40E4-D8F111CF0B7D}"/>
                </a:ext>
              </a:extLst>
            </p:cNvPr>
            <p:cNvSpPr/>
            <p:nvPr/>
          </p:nvSpPr>
          <p:spPr>
            <a:xfrm>
              <a:off x="2687306" y="2144241"/>
              <a:ext cx="227250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468019-89C9-5114-D652-E8916D53786D}"/>
                </a:ext>
              </a:extLst>
            </p:cNvPr>
            <p:cNvSpPr txBox="1"/>
            <p:nvPr/>
          </p:nvSpPr>
          <p:spPr>
            <a:xfrm>
              <a:off x="2687306" y="2144241"/>
              <a:ext cx="227250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We can import one component into another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225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4F32-7F95-FB7D-ED9E-91740341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9EA6-15F2-6932-645C-E9EB827B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Your First React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FDDDE-B349-9F99-D342-FCF3BE138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React 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297B6-9C27-A1B0-4BF1-45861CAAD1A6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B7278-D163-43A7-5FA7-857EC953E88F}"/>
              </a:ext>
            </a:extLst>
          </p:cNvPr>
          <p:cNvSpPr txBox="1"/>
          <p:nvPr/>
        </p:nvSpPr>
        <p:spPr>
          <a:xfrm>
            <a:off x="6404149" y="2402747"/>
            <a:ext cx="520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5B70D7-2F17-B626-9DE8-478A677C4662}"/>
              </a:ext>
            </a:extLst>
          </p:cNvPr>
          <p:cNvSpPr txBox="1">
            <a:spLocks/>
          </p:cNvSpPr>
          <p:nvPr/>
        </p:nvSpPr>
        <p:spPr>
          <a:xfrm>
            <a:off x="6404149" y="3120275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endParaRPr lang="en-US" dirty="0"/>
          </a:p>
          <a:p>
            <a:r>
              <a:rPr lang="en-US" dirty="0"/>
              <a:t>Create a component called ‘Home’ and place it inside the default ‘App’ component. </a:t>
            </a:r>
          </a:p>
          <a:p>
            <a:pPr lvl="1"/>
            <a:r>
              <a:rPr lang="en-US" dirty="0"/>
              <a:t>Put in some dummy text so you know it works</a:t>
            </a:r>
          </a:p>
        </p:txBody>
      </p:sp>
    </p:spTree>
    <p:extLst>
      <p:ext uri="{BB962C8B-B14F-4D97-AF65-F5344CB8AC3E}">
        <p14:creationId xmlns:p14="http://schemas.microsoft.com/office/powerpoint/2010/main" val="456098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872D7-E5F0-B707-C6FB-D27F06250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is JSX?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143C1-B605-AFA6-5CFE-5AD75CC95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JSX  stands for JavaScript XML</a:t>
            </a:r>
          </a:p>
          <a:p>
            <a:r>
              <a:rPr lang="en-US" dirty="0">
                <a:solidFill>
                  <a:schemeClr val="bg1"/>
                </a:solidFill>
              </a:rPr>
              <a:t>Expressions are written in braces: {  }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Expressions can include React variables, properties, or any other valid JavaScript expression</a:t>
            </a:r>
          </a:p>
          <a:p>
            <a:r>
              <a:rPr lang="en-US" dirty="0">
                <a:solidFill>
                  <a:schemeClr val="bg1"/>
                </a:solidFill>
              </a:rPr>
              <a:t>There can only be one top-level element </a:t>
            </a:r>
          </a:p>
          <a:p>
            <a:r>
              <a:rPr lang="en-US" dirty="0">
                <a:solidFill>
                  <a:schemeClr val="bg1"/>
                </a:solidFill>
              </a:rPr>
              <a:t>Comments are written as: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{/* */}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880EB-8CCB-F680-05F1-F577F32E9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380" y="1796027"/>
            <a:ext cx="7207535" cy="29911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5C0768-6BDD-8BFC-D27E-6A4A407A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10" y="1715956"/>
            <a:ext cx="7207535" cy="299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09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D59A-DB5B-C24F-3C2D-5111984C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JSX?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C6023-2A63-7AA8-F779-FC7BEE661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820" y="2201278"/>
            <a:ext cx="4707984" cy="1414759"/>
          </a:xfrm>
        </p:spPr>
        <p:txBody>
          <a:bodyPr/>
          <a:lstStyle/>
          <a:p>
            <a:r>
              <a:rPr lang="en-US" dirty="0"/>
              <a:t>Functions may be used in expressions</a:t>
            </a:r>
          </a:p>
          <a:p>
            <a:r>
              <a:rPr lang="en-US" dirty="0"/>
              <a:t>Object properties may be used in expressions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2535D-4D50-0161-B1D8-FD2035AFB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070" y="2201278"/>
            <a:ext cx="4128919" cy="3129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319BB5-8E50-F95F-A3FC-68A945057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97" y="3756133"/>
            <a:ext cx="5568393" cy="27718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010AB9-39DC-41AF-70C6-986685BA6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96" y="3766215"/>
            <a:ext cx="5568393" cy="277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98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3A13-461B-9683-D4FF-C069F2D4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The Default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FB5EE-E4F5-231B-5AEC-481F7122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27226" cy="3678303"/>
          </a:xfrm>
        </p:spPr>
        <p:txBody>
          <a:bodyPr/>
          <a:lstStyle/>
          <a:p>
            <a:r>
              <a:rPr lang="en-US" dirty="0"/>
              <a:t>Delete index.css &amp; remove its reference in </a:t>
            </a:r>
            <a:r>
              <a:rPr lang="en-US" dirty="0" err="1"/>
              <a:t>main.jsx</a:t>
            </a:r>
            <a:r>
              <a:rPr lang="en-US" dirty="0"/>
              <a:t> </a:t>
            </a:r>
          </a:p>
          <a:p>
            <a:r>
              <a:rPr lang="en-US" dirty="0"/>
              <a:t>Delete app.css &amp; remove its reference</a:t>
            </a:r>
          </a:p>
          <a:p>
            <a:r>
              <a:rPr lang="en-US" dirty="0"/>
              <a:t>Index.html:</a:t>
            </a:r>
          </a:p>
          <a:p>
            <a:pPr lvl="1"/>
            <a:r>
              <a:rPr lang="en-US" dirty="0"/>
              <a:t>Remove or swap out the browser icon</a:t>
            </a:r>
          </a:p>
          <a:p>
            <a:pPr lvl="1"/>
            <a:r>
              <a:rPr lang="en-US" dirty="0"/>
              <a:t>Change the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966B1-0909-19F5-6CE0-132F2B82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846" y="2007255"/>
            <a:ext cx="4077269" cy="1895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9645E2-D576-80BF-F9F2-8330ED16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767" y="4194294"/>
            <a:ext cx="576342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63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AF19-F640-B996-228D-A11F3882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Our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9EF60-707F-328A-18A6-E2CD50FB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805" y="2284405"/>
            <a:ext cx="8126389" cy="3678303"/>
          </a:xfrm>
        </p:spPr>
        <p:txBody>
          <a:bodyPr/>
          <a:lstStyle/>
          <a:p>
            <a:r>
              <a:rPr lang="en-US" dirty="0"/>
              <a:t>There are many ways to style react components:</a:t>
            </a:r>
          </a:p>
          <a:p>
            <a:pPr lvl="1"/>
            <a:r>
              <a:rPr lang="en-US" dirty="0"/>
              <a:t>Inline – limited and unsightly </a:t>
            </a:r>
          </a:p>
          <a:p>
            <a:pPr lvl="1"/>
            <a:r>
              <a:rPr lang="en-US" dirty="0"/>
              <a:t>Global CSS - .</a:t>
            </a:r>
            <a:r>
              <a:rPr lang="en-US" dirty="0" err="1"/>
              <a:t>css</a:t>
            </a:r>
            <a:r>
              <a:rPr lang="en-US" dirty="0"/>
              <a:t> files (styles are global and can accidently override </a:t>
            </a:r>
            <a:r>
              <a:rPr lang="en-US" dirty="0" err="1"/>
              <a:t>eachother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CSS Modules – ComponentName.module.css file (styles are scoped per component)</a:t>
            </a:r>
          </a:p>
          <a:p>
            <a:pPr lvl="1"/>
            <a:r>
              <a:rPr lang="en-US" dirty="0"/>
              <a:t>CSS-in-JS – write CSS directly inside JS/TS</a:t>
            </a:r>
          </a:p>
          <a:p>
            <a:pPr lvl="1"/>
            <a:r>
              <a:rPr lang="en-US" dirty="0"/>
              <a:t>Utility-First Frameworks (Tailwind CSS) – predefined utility classes directly in JSX</a:t>
            </a:r>
          </a:p>
          <a:p>
            <a:pPr lvl="1"/>
            <a:r>
              <a:rPr lang="en-US" dirty="0"/>
              <a:t>Component Libraries – premade components with styles, e.g. </a:t>
            </a:r>
            <a:r>
              <a:rPr lang="en-US" dirty="0" err="1"/>
              <a:t>MaterialUI</a:t>
            </a:r>
            <a:r>
              <a:rPr lang="en-US" dirty="0"/>
              <a:t>, Chakra UI, Radix UI</a:t>
            </a:r>
          </a:p>
        </p:txBody>
      </p:sp>
    </p:spTree>
    <p:extLst>
      <p:ext uri="{BB962C8B-B14F-4D97-AF65-F5344CB8AC3E}">
        <p14:creationId xmlns:p14="http://schemas.microsoft.com/office/powerpoint/2010/main" val="1615397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AD71-59FA-E41F-E984-565FB3C9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Modules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3D49F-8F5D-73E6-DA2D-B809FD04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45" y="2949761"/>
            <a:ext cx="7144747" cy="3486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C5F4DB-4F54-DDF0-6B29-C472FDFF0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109" y="3131356"/>
            <a:ext cx="2657846" cy="2943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E83771-F115-9CEF-1E7E-3751DAFE27AD}"/>
              </a:ext>
            </a:extLst>
          </p:cNvPr>
          <p:cNvSpPr txBox="1"/>
          <p:nvPr/>
        </p:nvSpPr>
        <p:spPr>
          <a:xfrm>
            <a:off x="1527464" y="1961991"/>
            <a:ext cx="9757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Classes work differently in React, notice </a:t>
            </a:r>
            <a:r>
              <a:rPr lang="en-US" dirty="0" err="1"/>
              <a:t>className</a:t>
            </a:r>
            <a:endParaRPr lang="en-US" dirty="0"/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 the naming convention to enable modules: ComponentName.module.css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 the reset for the &lt;body&gt; &amp; &lt;p&gt; elements</a:t>
            </a:r>
          </a:p>
        </p:txBody>
      </p:sp>
    </p:spTree>
    <p:extLst>
      <p:ext uri="{BB962C8B-B14F-4D97-AF65-F5344CB8AC3E}">
        <p14:creationId xmlns:p14="http://schemas.microsoft.com/office/powerpoint/2010/main" val="751519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894B-BD93-E5BE-F520-2332B0A8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3321-E16A-46DF-711B-C86898C6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96EA0-2B9D-E9AB-8699-C3AE47858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header element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B3C47-3E87-33B8-B252-F8EA5D27207D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D7AC5-D8A9-5DC2-E9C0-02183A1958EE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2B8D9A-38B4-10F6-7E3A-99DF95334B49}"/>
              </a:ext>
            </a:extLst>
          </p:cNvPr>
          <p:cNvSpPr txBox="1">
            <a:spLocks/>
          </p:cNvSpPr>
          <p:nvPr/>
        </p:nvSpPr>
        <p:spPr>
          <a:xfrm>
            <a:off x="5273080" y="3158496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In the ‘Home’ component, create a header using semantic html.</a:t>
            </a:r>
          </a:p>
          <a:p>
            <a:r>
              <a:rPr lang="en-US" dirty="0"/>
              <a:t>Within the header element, include a welcome message that reads: “Welcome {</a:t>
            </a:r>
            <a:r>
              <a:rPr lang="en-US" dirty="0" err="1"/>
              <a:t>user.Prefix</a:t>
            </a:r>
            <a:r>
              <a:rPr lang="en-US" dirty="0"/>
              <a:t>} {</a:t>
            </a:r>
            <a:r>
              <a:rPr lang="en-US" dirty="0" err="1"/>
              <a:t>user.LastName</a:t>
            </a:r>
            <a:r>
              <a:rPr lang="en-US" dirty="0"/>
              <a:t>}! Time since last incident: {</a:t>
            </a:r>
            <a:r>
              <a:rPr lang="en-US" dirty="0" err="1"/>
              <a:t>dummyTimeValue</a:t>
            </a:r>
            <a:r>
              <a:rPr lang="en-US" dirty="0"/>
              <a:t>}” </a:t>
            </a:r>
          </a:p>
          <a:p>
            <a:r>
              <a:rPr lang="en-US" dirty="0"/>
              <a:t>The data should come from an object in your component that stores your own name, the time value may be faked or left empty for now</a:t>
            </a:r>
          </a:p>
          <a:p>
            <a:r>
              <a:rPr lang="en-US" dirty="0"/>
              <a:t>Also include two links for ‘Home’ and ‘Incidents’</a:t>
            </a:r>
          </a:p>
          <a:p>
            <a:r>
              <a:rPr lang="en-US" dirty="0"/>
              <a:t>Style your component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394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5EF81-D726-78E0-2499-8B2EA696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245C2-04AC-9F7C-291A-201BD6905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75372" cy="3678303"/>
          </a:xfrm>
        </p:spPr>
        <p:txBody>
          <a:bodyPr/>
          <a:lstStyle/>
          <a:p>
            <a:r>
              <a:rPr lang="en-US" dirty="0"/>
              <a:t>Short for properties</a:t>
            </a:r>
          </a:p>
          <a:p>
            <a:r>
              <a:rPr lang="en-US" dirty="0"/>
              <a:t>Child components can receive a ‘props’ object</a:t>
            </a:r>
          </a:p>
          <a:p>
            <a:pPr lvl="1"/>
            <a:r>
              <a:rPr lang="en-US" dirty="0"/>
              <a:t>This object contains items passed from the parent</a:t>
            </a:r>
          </a:p>
          <a:p>
            <a:pPr lvl="1"/>
            <a:r>
              <a:rPr lang="en-US" dirty="0"/>
              <a:t>These items can be objects, arrays, strings, numbers, and more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AA80E-0263-FAF5-FB2C-7818C2A2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810" y="2005677"/>
            <a:ext cx="3724795" cy="1810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7927B-9516-AD6C-2E60-F2E6508BF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522" y="4105401"/>
            <a:ext cx="3391373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87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B054-6F18-D024-7E4F-50D0C21F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Destructuring</a:t>
            </a:r>
            <a:r>
              <a:rPr lang="en-US" dirty="0"/>
              <a:t>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EA587-F0A9-437C-0429-53B780C4F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913" y="2908255"/>
            <a:ext cx="4354490" cy="1130935"/>
          </a:xfrm>
        </p:spPr>
        <p:txBody>
          <a:bodyPr/>
          <a:lstStyle/>
          <a:p>
            <a:r>
              <a:rPr lang="en-US" dirty="0"/>
              <a:t>We can pull out from the props object only what we need with </a:t>
            </a:r>
            <a:r>
              <a:rPr lang="en-US" dirty="0" err="1"/>
              <a:t>destructuring</a:t>
            </a:r>
            <a:endParaRPr lang="en-US" dirty="0"/>
          </a:p>
          <a:p>
            <a:r>
              <a:rPr lang="en-US" dirty="0"/>
              <a:t>This is standard JavaScript (ES6 feature)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324A70-C563-3114-1238-7A1B0B870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257" y="3265904"/>
            <a:ext cx="4629796" cy="3124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2BD620-473D-69E5-74BA-9823D6B9C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749" y="2208436"/>
            <a:ext cx="3562847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00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3970-B580-3A35-3A9D-4A5EE22E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B3CD-777A-23F4-8A44-017D8A5E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View an Incident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DCCD-078D-B123-DB79-BD4D98315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components to help manage incidents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E1F43-B795-CC7C-96F2-AD110F6D62D2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4F60E-0B3C-786C-4B70-9146F5D2F5F2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C29790-AE69-F5E8-B7DB-110ACFAB5F4C}"/>
              </a:ext>
            </a:extLst>
          </p:cNvPr>
          <p:cNvSpPr txBox="1">
            <a:spLocks/>
          </p:cNvSpPr>
          <p:nvPr/>
        </p:nvSpPr>
        <p:spPr>
          <a:xfrm>
            <a:off x="5368433" y="3072518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In the ‘Home’ component, under the header, nest a ‘</a:t>
            </a:r>
            <a:r>
              <a:rPr lang="en-US" dirty="0" err="1"/>
              <a:t>IncidentList</a:t>
            </a:r>
            <a:r>
              <a:rPr lang="en-US" dirty="0"/>
              <a:t>’ component. Then, inside of ‘</a:t>
            </a:r>
            <a:r>
              <a:rPr lang="en-US" dirty="0" err="1"/>
              <a:t>IncidentList</a:t>
            </a:r>
            <a:r>
              <a:rPr lang="en-US" dirty="0"/>
              <a:t>’, nest an ‘Incident’ component.</a:t>
            </a:r>
          </a:p>
          <a:p>
            <a:r>
              <a:rPr lang="en-US" dirty="0"/>
              <a:t>Import the provided JSON dummy data into ‘</a:t>
            </a:r>
            <a:r>
              <a:rPr lang="en-US" dirty="0" err="1"/>
              <a:t>IncidentList</a:t>
            </a:r>
            <a:r>
              <a:rPr lang="en-US" dirty="0"/>
              <a:t>’</a:t>
            </a:r>
          </a:p>
          <a:p>
            <a:r>
              <a:rPr lang="en-US" dirty="0"/>
              <a:t>Render the first incident record by passing the record data down via props to the ‘Incident’ component</a:t>
            </a:r>
          </a:p>
          <a:p>
            <a:r>
              <a:rPr lang="en-US" dirty="0"/>
              <a:t>Style the Incident component into a card that displays the incident id, priority, severity, and status fields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165F0-AC1B-F1D0-07B9-660B830EB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20" y="4401670"/>
            <a:ext cx="2289077" cy="193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32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4031-2D95-205E-B81A-3800E5D2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0332D-03AE-5D81-20B0-21B34D330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/>
              <a:t>The JavaScript map() array method is used for looping through a list and rendering content:</a:t>
            </a:r>
          </a:p>
          <a:p>
            <a:pPr lvl="1"/>
            <a:r>
              <a:rPr lang="en-US" dirty="0"/>
              <a:t>A key is HIGHLY encouraged (or else you will get a warning) – A key allows React to update an item and refresh the component properly if it is updated or removed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D1BD0-1119-8C20-CD4B-655713E1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227" y="3602597"/>
            <a:ext cx="8823543" cy="269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91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1431-1044-F8DC-F67B-8483993A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AE94-3F36-12C5-8548-C3DFAEE3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View All the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91159-254F-2A45-308C-9EFACD592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Edit your work so that all incidents display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37B85-329C-D7A2-FD80-98DDDAC248A8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1B69C-A152-D3A6-CD68-1DA17F801EE2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AEE151-BC9C-8BDA-FA0B-94944123D0CA}"/>
              </a:ext>
            </a:extLst>
          </p:cNvPr>
          <p:cNvSpPr txBox="1">
            <a:spLocks/>
          </p:cNvSpPr>
          <p:nvPr/>
        </p:nvSpPr>
        <p:spPr>
          <a:xfrm>
            <a:off x="5314644" y="3054587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Modify your ‘</a:t>
            </a:r>
            <a:r>
              <a:rPr lang="en-US" dirty="0" err="1"/>
              <a:t>IncidentList</a:t>
            </a:r>
            <a:r>
              <a:rPr lang="en-US" dirty="0"/>
              <a:t>’ component so that it loops through the dummy data and displays all the incident records. </a:t>
            </a:r>
          </a:p>
          <a:p>
            <a:r>
              <a:rPr lang="en-US" dirty="0"/>
              <a:t>Style your components so each record is displayed on a card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1F7FB4-FEC9-EBDC-B712-189139808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6" y="4301422"/>
            <a:ext cx="4474772" cy="168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25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E725-1CDE-DC05-9B0B-F6EF7E41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832B-2AB9-5271-6004-609F75E54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108581" cy="448404"/>
          </a:xfrm>
        </p:spPr>
        <p:txBody>
          <a:bodyPr/>
          <a:lstStyle/>
          <a:p>
            <a:r>
              <a:rPr lang="en-US" dirty="0"/>
              <a:t>Conditional rendering makes it easy to show or hide any elements/components as we wish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7494E-B764-C56A-B45C-780AD0528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46" y="2763983"/>
            <a:ext cx="3277057" cy="3915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EAD4A-B0C9-69B3-484D-D8BB8E43A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94" y="3300230"/>
            <a:ext cx="2286319" cy="2657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B0A2E2-2983-C975-AD39-5E8088C2F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485" y="4009941"/>
            <a:ext cx="3953427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6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F7853-9938-39C7-9AB6-BE869162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EFA18-6278-EC01-BBBC-42D2EFE3F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11" y="2256136"/>
            <a:ext cx="4707780" cy="3678303"/>
          </a:xfrm>
        </p:spPr>
        <p:txBody>
          <a:bodyPr/>
          <a:lstStyle/>
          <a:p>
            <a:r>
              <a:rPr lang="en-US" dirty="0"/>
              <a:t>Define an event handler function inside the component</a:t>
            </a:r>
          </a:p>
          <a:p>
            <a:r>
              <a:rPr lang="en-US" dirty="0"/>
              <a:t>Notice ‘</a:t>
            </a:r>
            <a:r>
              <a:rPr lang="en-US" dirty="0" err="1"/>
              <a:t>onClick</a:t>
            </a:r>
            <a:r>
              <a:rPr lang="en-US" dirty="0"/>
              <a:t>’ vs ‘onclick’ in JavaScript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19D4A-2C9A-BA32-D701-058544F5B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518" y="2180496"/>
            <a:ext cx="4248743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61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30CA0-0E39-E6CD-D106-B6E26FF5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8026D-834F-4536-EFAC-FEDE7A88F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4220304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State</a:t>
            </a:r>
            <a:r>
              <a:rPr lang="en-US" dirty="0"/>
              <a:t> is an object that holds data or information about a component that may change over time.</a:t>
            </a:r>
          </a:p>
          <a:p>
            <a:pPr lvl="1"/>
            <a:r>
              <a:rPr lang="en-US" dirty="0"/>
              <a:t>The ‘memory’ of a component</a:t>
            </a:r>
          </a:p>
          <a:p>
            <a:pPr lvl="1"/>
            <a:r>
              <a:rPr lang="en-US" dirty="0"/>
              <a:t>It allows the component to keep track of values between renders</a:t>
            </a:r>
          </a:p>
          <a:p>
            <a:r>
              <a:rPr lang="en-US" dirty="0"/>
              <a:t>When state changes, React automatically re-renders the component (and any children that depend on the state) so the UI stays in sync with data</a:t>
            </a:r>
          </a:p>
          <a:p>
            <a:r>
              <a:rPr lang="en-US" dirty="0"/>
              <a:t>State should always be declared at the top of the component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D9F3C8-0DB5-1735-A0C6-EC72B1247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170" y="2534191"/>
            <a:ext cx="3894059" cy="325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EA66AB-35B6-3102-808F-73E54BDA8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415" y="3121836"/>
            <a:ext cx="5576694" cy="25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49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38A92-7CA6-98CE-1F12-F07DFA28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46BB-545C-3087-6716-AA96A449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Basic App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266E-CDAD-72D0-3711-9B0D06554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Edit your work to conditionally render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A335E-334A-2B86-AA57-B869D6AB62E7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0F6C0E-A730-E9D7-0FA0-3052BCB4A91B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E06756-F910-4AFC-390A-72B04540CFFD}"/>
              </a:ext>
            </a:extLst>
          </p:cNvPr>
          <p:cNvSpPr txBox="1">
            <a:spLocks/>
          </p:cNvSpPr>
          <p:nvPr/>
        </p:nvSpPr>
        <p:spPr>
          <a:xfrm>
            <a:off x="6031417" y="3099411"/>
            <a:ext cx="5740756" cy="23152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Modify your ‘Home’ component so that under the header, it will conditionally render either your ‘</a:t>
            </a:r>
            <a:r>
              <a:rPr lang="en-US" dirty="0" err="1"/>
              <a:t>IncidentList</a:t>
            </a:r>
            <a:r>
              <a:rPr lang="en-US" dirty="0"/>
              <a:t>’ component or a ‘Welcome’ component. </a:t>
            </a:r>
          </a:p>
          <a:p>
            <a:pPr lvl="1"/>
            <a:r>
              <a:rPr lang="en-US" dirty="0"/>
              <a:t>It should conditionally render via navigation links in the header</a:t>
            </a:r>
          </a:p>
          <a:p>
            <a:pPr lvl="1"/>
            <a:r>
              <a:rPr lang="en-US" dirty="0"/>
              <a:t>The ‘Welcome’ component may be a very simple dummy component that simply returns text ‘Welcome’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042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8627-39B0-81E8-E217-8D36A536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Items From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971B3-1B53-48ED-3CA2-468B766DC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422" y="2343081"/>
            <a:ext cx="10911153" cy="853649"/>
          </a:xfrm>
        </p:spPr>
        <p:txBody>
          <a:bodyPr>
            <a:normAutofit fontScale="92500"/>
          </a:bodyPr>
          <a:lstStyle/>
          <a:p>
            <a:r>
              <a:rPr lang="en-US" dirty="0"/>
              <a:t>The JavaScript filter() function will return a new array where all items meet the criteria </a:t>
            </a:r>
          </a:p>
          <a:p>
            <a:r>
              <a:rPr lang="en-US" dirty="0"/>
              <a:t>In this example, we are getting a copy of the array will all items except for the incident where its ID was provided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773C1-3F1D-6574-7846-6C0CAE4E7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59" y="4080578"/>
            <a:ext cx="9714477" cy="139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26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4C51-BF7C-0C7E-8B22-346123C1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Callback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DA8C7-B5EB-70ED-13C9-5641B989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322502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callback prop is when we use a prop to pass down a function to a child component</a:t>
            </a:r>
          </a:p>
          <a:p>
            <a:r>
              <a:rPr lang="en-US" dirty="0"/>
              <a:t>Notice how we pass in a callback function into the Incident component called ‘</a:t>
            </a:r>
            <a:r>
              <a:rPr lang="en-US" dirty="0" err="1"/>
              <a:t>handleClick</a:t>
            </a:r>
            <a:r>
              <a:rPr lang="en-US" dirty="0"/>
              <a:t>’</a:t>
            </a:r>
          </a:p>
          <a:p>
            <a:r>
              <a:rPr lang="en-US" dirty="0"/>
              <a:t>Then in our parent component, we can set the callback that will be performed for ‘</a:t>
            </a:r>
            <a:r>
              <a:rPr lang="en-US" dirty="0" err="1"/>
              <a:t>handleClick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In this case, ‘</a:t>
            </a:r>
            <a:r>
              <a:rPr lang="en-US" dirty="0" err="1"/>
              <a:t>handleClick</a:t>
            </a:r>
            <a:r>
              <a:rPr lang="en-US" dirty="0"/>
              <a:t>’ will fire off another function local to the parent component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FB8CD-A14C-08A4-55AF-08B5A5A3B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269" y="5142043"/>
            <a:ext cx="5172797" cy="1171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5A5988-DF64-D8AE-8ECA-42BD8942A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74" y="2061971"/>
            <a:ext cx="6335009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75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E161-F4BA-66C1-5793-AA217ACA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353E-7723-F682-AD14-6250128A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Delete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1666D-E78D-4A35-BEB2-F43A5BD97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button on the incident component to delete the incident from the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A4F7A-2C15-E272-C77B-423CB2B7DD51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F47EC-97AB-22DC-3530-9B65E5C79CE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AE7A51-3F2A-03CF-A82D-343A11028C57}"/>
              </a:ext>
            </a:extLst>
          </p:cNvPr>
          <p:cNvSpPr txBox="1">
            <a:spLocks/>
          </p:cNvSpPr>
          <p:nvPr/>
        </p:nvSpPr>
        <p:spPr>
          <a:xfrm>
            <a:off x="6000244" y="2900119"/>
            <a:ext cx="5740756" cy="1536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Modify your ‘Incident’ component so that it has a delete button</a:t>
            </a:r>
          </a:p>
          <a:p>
            <a:r>
              <a:rPr lang="en-US" dirty="0"/>
              <a:t>The button should remove the Incident from the Incident list component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79B7EB-1D52-33DB-E2EA-E2B4F9345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85" y="4230349"/>
            <a:ext cx="185763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07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1766-6676-B1B0-2EE9-CA962A0C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Component Data / Lifting Up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C1379-3FD8-126B-7875-4935837AD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63644" cy="1809613"/>
          </a:xfrm>
        </p:spPr>
        <p:txBody>
          <a:bodyPr/>
          <a:lstStyle/>
          <a:p>
            <a:r>
              <a:rPr lang="en-US" dirty="0"/>
              <a:t>Where we use state matters</a:t>
            </a:r>
          </a:p>
          <a:p>
            <a:r>
              <a:rPr lang="en-US" dirty="0"/>
              <a:t>Lifting State – refers to moving state from one component to a common parent so that multiple child components can share and update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F90BB-931D-1296-F8BA-E8E8A54C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4895661"/>
            <a:ext cx="5801042" cy="351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FBC935-5316-94D2-DC66-956B102CE455}"/>
              </a:ext>
            </a:extLst>
          </p:cNvPr>
          <p:cNvSpPr/>
          <p:nvPr/>
        </p:nvSpPr>
        <p:spPr>
          <a:xfrm>
            <a:off x="8006355" y="2408412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774722-6334-B5C1-4D96-6D397FB410E8}"/>
              </a:ext>
            </a:extLst>
          </p:cNvPr>
          <p:cNvSpPr/>
          <p:nvPr/>
        </p:nvSpPr>
        <p:spPr>
          <a:xfrm>
            <a:off x="9117979" y="3592848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F27F19-0997-032F-707B-081DEACA4C01}"/>
              </a:ext>
            </a:extLst>
          </p:cNvPr>
          <p:cNvSpPr/>
          <p:nvPr/>
        </p:nvSpPr>
        <p:spPr>
          <a:xfrm>
            <a:off x="6975414" y="5071450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Incident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DA160-FB17-1B45-DBED-AFA672DFCC40}"/>
              </a:ext>
            </a:extLst>
          </p:cNvPr>
          <p:cNvSpPr/>
          <p:nvPr/>
        </p:nvSpPr>
        <p:spPr>
          <a:xfrm>
            <a:off x="6975414" y="3592849"/>
            <a:ext cx="1403122" cy="8832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IncidentList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F25FD60-3ADA-AD65-DAE5-9AB5E7B1D2A4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rot="10800000" flipV="1">
            <a:off x="7676975" y="2850025"/>
            <a:ext cx="329380" cy="7428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5DA25C1-9805-F6D0-7AEA-377B7B840A1C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9409477" y="2850026"/>
            <a:ext cx="410063" cy="742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C96D39-AFA0-6B1E-D6E6-71982AE13C3B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7676975" y="4476076"/>
            <a:ext cx="0" cy="595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6D9D018-B6C6-3C0A-B86D-1E6E8236059B}"/>
              </a:ext>
            </a:extLst>
          </p:cNvPr>
          <p:cNvSpPr txBox="1"/>
          <p:nvPr/>
        </p:nvSpPr>
        <p:spPr>
          <a:xfrm>
            <a:off x="8639356" y="4816013"/>
            <a:ext cx="3185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state is at the </a:t>
            </a:r>
            <a:r>
              <a:rPr lang="en-US" dirty="0" err="1"/>
              <a:t>IncidentList</a:t>
            </a:r>
            <a:r>
              <a:rPr lang="en-US" dirty="0"/>
              <a:t> component, then it will be reset each time the component unloads from the virtual DOM</a:t>
            </a:r>
          </a:p>
        </p:txBody>
      </p:sp>
    </p:spTree>
    <p:extLst>
      <p:ext uri="{BB962C8B-B14F-4D97-AF65-F5344CB8AC3E}">
        <p14:creationId xmlns:p14="http://schemas.microsoft.com/office/powerpoint/2010/main" val="2342300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D9E68-1C6C-E13E-CE0E-8C509701E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F9AE-1BC4-1DEB-1D5C-8E1A4180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Component Data / Lifting Up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1D1BE-9773-AE65-B2E8-7F34F986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120" y="2479007"/>
            <a:ext cx="4537291" cy="1815087"/>
          </a:xfrm>
        </p:spPr>
        <p:txBody>
          <a:bodyPr/>
          <a:lstStyle/>
          <a:p>
            <a:r>
              <a:rPr lang="en-US" dirty="0"/>
              <a:t>If state is instead placed at ‘Home’, then if we modify the incident list, then that change will persist even if we reload the component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99E5A-2595-F19C-2872-45CDD0BDC220}"/>
              </a:ext>
            </a:extLst>
          </p:cNvPr>
          <p:cNvSpPr/>
          <p:nvPr/>
        </p:nvSpPr>
        <p:spPr>
          <a:xfrm>
            <a:off x="3317814" y="2479007"/>
            <a:ext cx="1403122" cy="8832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56EBA-408B-F237-F878-49327D2A58A2}"/>
              </a:ext>
            </a:extLst>
          </p:cNvPr>
          <p:cNvSpPr/>
          <p:nvPr/>
        </p:nvSpPr>
        <p:spPr>
          <a:xfrm>
            <a:off x="4429438" y="3663443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5C7DE7-825D-B9F3-F981-8F1EEE651804}"/>
              </a:ext>
            </a:extLst>
          </p:cNvPr>
          <p:cNvSpPr/>
          <p:nvPr/>
        </p:nvSpPr>
        <p:spPr>
          <a:xfrm>
            <a:off x="2286873" y="5142045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Incident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E0526C-5A7D-29F2-8759-C9030965C369}"/>
              </a:ext>
            </a:extLst>
          </p:cNvPr>
          <p:cNvSpPr/>
          <p:nvPr/>
        </p:nvSpPr>
        <p:spPr>
          <a:xfrm>
            <a:off x="2286873" y="3663444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IncidentList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7EAD238-9878-270B-E359-4CA536DE9AAE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rot="10800000" flipV="1">
            <a:off x="2988434" y="2920620"/>
            <a:ext cx="329380" cy="7428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A5AB5CB-B895-4C4E-ABB1-32CC50521AC4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4720936" y="2920621"/>
            <a:ext cx="410063" cy="742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615FB2-2CF4-96E1-19CA-86D09CD447E1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2988434" y="4546671"/>
            <a:ext cx="0" cy="595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446EA24-23AA-97ED-2C8B-D9326CD50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49" y="4294094"/>
            <a:ext cx="4266232" cy="215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93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F5A0B-0EEA-6B4B-06CB-49A8EB87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51E1-36AF-1C25-B81A-794FDF3B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Lift Up Incident List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10645-0665-83EF-BD6E-39F27F418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Lift the state of the Incident list so that changes are persisted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649EF-E600-4EED-A8C1-7DDCA92B190F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A1F33-BE64-6ABA-C3BB-7D62A15D95EE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967E04-EE72-1F98-CF06-82015E95405E}"/>
              </a:ext>
            </a:extLst>
          </p:cNvPr>
          <p:cNvSpPr txBox="1">
            <a:spLocks/>
          </p:cNvSpPr>
          <p:nvPr/>
        </p:nvSpPr>
        <p:spPr>
          <a:xfrm>
            <a:off x="6096000" y="2858235"/>
            <a:ext cx="5740756" cy="1884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Home and Incident list components:</a:t>
            </a:r>
          </a:p>
          <a:p>
            <a:pPr lvl="1"/>
            <a:r>
              <a:rPr lang="en-US" dirty="0"/>
              <a:t>Move state and ‘delete’ function to ‘Home’ component</a:t>
            </a:r>
          </a:p>
          <a:p>
            <a:pPr lvl="1"/>
            <a:r>
              <a:rPr lang="en-US" dirty="0"/>
              <a:t>Chain a callback prop function from Incident list component to the Home component – this wires up the delete function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0AB8FD-4C62-7E2A-9BAB-EADC46509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167" y="4044749"/>
            <a:ext cx="185763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27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54EE-6EE6-8706-74C4-5E0D6F86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onCHange</a:t>
            </a:r>
            <a:r>
              <a:rPr lang="en-US" dirty="0"/>
              <a:t> &amp; Object State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C1A02-F6DB-AEC7-331A-10E6587F4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53" y="2477541"/>
            <a:ext cx="4483867" cy="367830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onChange</a:t>
            </a:r>
            <a:r>
              <a:rPr lang="en-US" dirty="0"/>
              <a:t> allows us to call a JavaScript function on each keystroke for text input elements, or on each selection for dropdowns</a:t>
            </a:r>
          </a:p>
          <a:p>
            <a:r>
              <a:rPr lang="en-US" dirty="0"/>
              <a:t>We can use the event object to help us update state</a:t>
            </a:r>
          </a:p>
          <a:p>
            <a:pPr lvl="1"/>
            <a:r>
              <a:rPr lang="en-US" dirty="0"/>
              <a:t>Notice that form is an object, so we use “{“ and “}” when updating the entry in the object:</a:t>
            </a:r>
          </a:p>
          <a:p>
            <a:pPr lvl="1"/>
            <a:r>
              <a:rPr lang="en-US" dirty="0"/>
              <a:t> {…</a:t>
            </a:r>
            <a:r>
              <a:rPr lang="en-US" dirty="0" err="1"/>
              <a:t>prev</a:t>
            </a:r>
            <a:r>
              <a:rPr lang="en-US" dirty="0"/>
              <a:t>, [name]:value}</a:t>
            </a:r>
          </a:p>
          <a:p>
            <a:pPr lvl="1"/>
            <a:r>
              <a:rPr lang="en-US" dirty="0"/>
              <a:t>If it was an array:</a:t>
            </a:r>
          </a:p>
          <a:p>
            <a:pPr lvl="2"/>
            <a:r>
              <a:rPr lang="en-US" dirty="0"/>
              <a:t>[…</a:t>
            </a:r>
            <a:r>
              <a:rPr lang="en-US" dirty="0" err="1"/>
              <a:t>stateOfArray</a:t>
            </a:r>
            <a:r>
              <a:rPr lang="en-US" dirty="0"/>
              <a:t>, incident]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767906-49CB-33E1-06FD-4BD255B1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901" y="2180496"/>
            <a:ext cx="8287907" cy="219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0B96F5-007B-333A-40DA-59D0EC00C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381" y="4369470"/>
            <a:ext cx="4496427" cy="95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1926F2-6F20-EC29-2FE0-1E2C7AA3D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784" y="5412521"/>
            <a:ext cx="3105583" cy="1343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AC9B52-9A78-8440-C16C-8F96C61C4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8028" y="2722456"/>
            <a:ext cx="623021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58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34F4-0E19-AB75-C3CA-4701BC6C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5A6A-19FD-D4F3-3BEC-C4C41EEC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Add Incident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E0EF-1F62-CE90-C562-7FFC375E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form to add incidents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79173-8D1D-10D2-FED7-AA8C956FC95D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39857-33C8-7325-8290-16B1EDBA5B5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FC556C-5069-1F07-0B7E-A81B7E8C31E7}"/>
              </a:ext>
            </a:extLst>
          </p:cNvPr>
          <p:cNvSpPr txBox="1">
            <a:spLocks/>
          </p:cNvSpPr>
          <p:nvPr/>
        </p:nvSpPr>
        <p:spPr>
          <a:xfrm>
            <a:off x="6096000" y="2858235"/>
            <a:ext cx="5740756" cy="220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Home and Incident list components:</a:t>
            </a:r>
          </a:p>
          <a:p>
            <a:pPr lvl="1"/>
            <a:r>
              <a:rPr lang="en-US" dirty="0"/>
              <a:t>Create a form on the ‘</a:t>
            </a:r>
            <a:r>
              <a:rPr lang="en-US" dirty="0" err="1"/>
              <a:t>IncidentList</a:t>
            </a:r>
            <a:r>
              <a:rPr lang="en-US" dirty="0"/>
              <a:t>’ component. Use state to store the values of the form</a:t>
            </a:r>
          </a:p>
          <a:p>
            <a:pPr lvl="1"/>
            <a:r>
              <a:rPr lang="en-US" dirty="0"/>
              <a:t>Chain a callback prop function from Incident list component to the Home component – this callback function should save the new incident to the state that holds the list within the ‘Home’ component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A9C59-E6E2-547A-5BB1-5467DEED8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28" y="3775011"/>
            <a:ext cx="5966911" cy="228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79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95863-3E73-CE84-4375-6F61B3AB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Are Hooks?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593F9-D61B-5814-8009-51A7C925D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Definition: React </a:t>
            </a:r>
            <a:r>
              <a:rPr lang="en-US" dirty="0">
                <a:solidFill>
                  <a:schemeClr val="accent2"/>
                </a:solidFill>
              </a:rPr>
              <a:t>Hooks</a:t>
            </a:r>
            <a:r>
              <a:rPr lang="en-US" dirty="0">
                <a:solidFill>
                  <a:schemeClr val="bg1"/>
                </a:solidFill>
              </a:rPr>
              <a:t> are a special types of functions that let us ‘hook into’ React features like state, lifecycle, and context from functional components.</a:t>
            </a:r>
          </a:p>
          <a:p>
            <a:r>
              <a:rPr lang="en-US" dirty="0">
                <a:solidFill>
                  <a:schemeClr val="bg1"/>
                </a:solidFill>
              </a:rPr>
              <a:t>Before hooks, class components were the only way to alter state or hook into the lifecycle of a component. </a:t>
            </a:r>
          </a:p>
          <a:p>
            <a:r>
              <a:rPr lang="en-US" dirty="0">
                <a:solidFill>
                  <a:schemeClr val="bg1"/>
                </a:solidFill>
              </a:rPr>
              <a:t>Always called at the top level of a component.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F637A1-3C49-1993-E516-A3AD94BE2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80275"/>
              </p:ext>
            </p:extLst>
          </p:nvPr>
        </p:nvGraphicFramePr>
        <p:xfrm>
          <a:off x="4446758" y="853739"/>
          <a:ext cx="6998514" cy="513310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90321">
                  <a:extLst>
                    <a:ext uri="{9D8B030D-6E8A-4147-A177-3AD203B41FA5}">
                      <a16:colId xmlns:a16="http://schemas.microsoft.com/office/drawing/2014/main" val="1736950255"/>
                    </a:ext>
                  </a:extLst>
                </a:gridCol>
                <a:gridCol w="5108193">
                  <a:extLst>
                    <a:ext uri="{9D8B030D-6E8A-4147-A177-3AD203B41FA5}">
                      <a16:colId xmlns:a16="http://schemas.microsoft.com/office/drawing/2014/main" val="1154258762"/>
                    </a:ext>
                  </a:extLst>
                </a:gridCol>
              </a:tblGrid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Hook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44947544"/>
                  </a:ext>
                </a:extLst>
              </a:tr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useState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Adds state to a functional component.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975992652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useEffect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Handles side effects like data fetching or subscriptions (replaces lifecycle methods).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3290658792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useReducer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Manages complex state logic with a reducer function.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3887480763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useContext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Accesses context values without wrapping in a Consumer.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2665596874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useRef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Stores mutable values or references to DOM elements.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1358057560"/>
                  </a:ext>
                </a:extLst>
              </a:tr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useMemo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Memoizes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results of expensive calculations.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864241328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useCallback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Memoizes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functions to prevent unnecessary re-renders.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7206992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B7909A-3E8C-6E4E-D049-6E4FB7BEB83D}"/>
              </a:ext>
            </a:extLst>
          </p:cNvPr>
          <p:cNvSpPr txBox="1"/>
          <p:nvPr/>
        </p:nvSpPr>
        <p:spPr>
          <a:xfrm>
            <a:off x="5474822" y="6053091"/>
            <a:ext cx="4577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Memoize</a:t>
            </a:r>
            <a:r>
              <a:rPr lang="en-US" dirty="0"/>
              <a:t> – caching the result of a computation</a:t>
            </a:r>
          </a:p>
        </p:txBody>
      </p:sp>
    </p:spTree>
    <p:extLst>
      <p:ext uri="{BB962C8B-B14F-4D97-AF65-F5344CB8AC3E}">
        <p14:creationId xmlns:p14="http://schemas.microsoft.com/office/powerpoint/2010/main" val="12795093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36A2-C4F9-4EEC-49BD-36E04271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3735C-5C68-57F9-A7BC-5F57B4040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68714" cy="3975348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Reducers</a:t>
            </a:r>
            <a:r>
              <a:rPr lang="en-US" dirty="0"/>
              <a:t> are a hook that allow us to centralize state management logic </a:t>
            </a:r>
          </a:p>
          <a:p>
            <a:pPr lvl="1"/>
            <a:r>
              <a:rPr lang="en-US" dirty="0"/>
              <a:t>In more complex applications, this helps avoid bugs and is easier to maintain</a:t>
            </a:r>
          </a:p>
          <a:p>
            <a:pPr lvl="1"/>
            <a:r>
              <a:rPr lang="en-US" dirty="0"/>
              <a:t>Scalable </a:t>
            </a:r>
          </a:p>
          <a:p>
            <a:pPr lvl="1"/>
            <a:r>
              <a:rPr lang="en-US" dirty="0"/>
              <a:t>Reducers should be placed under imports, but before the component function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79113-6C9B-EEE8-DE91-6006974C9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363" y="5553268"/>
            <a:ext cx="3341551" cy="1205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8D81F2-090B-5077-C12E-E517AA0E1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324" y="1984896"/>
            <a:ext cx="5983628" cy="348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85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7ADF-D27F-33BE-5743-EE5EF2C7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D9A9-30D5-B4F2-AACD-2B5D1B01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Refactor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EC6BF-02D0-0105-3E31-6F4CABDA4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Refactor your code to use a reducer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50ECD-28EE-4EFA-4A24-E44B28C3C6B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D0E0D-5434-0B36-82C9-5502986F3E34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03A15F-4170-F5BE-4CA7-AFA1DD7114EF}"/>
              </a:ext>
            </a:extLst>
          </p:cNvPr>
          <p:cNvSpPr txBox="1">
            <a:spLocks/>
          </p:cNvSpPr>
          <p:nvPr/>
        </p:nvSpPr>
        <p:spPr>
          <a:xfrm>
            <a:off x="6033247" y="2982510"/>
            <a:ext cx="5740756" cy="220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Home component:</a:t>
            </a:r>
          </a:p>
          <a:p>
            <a:pPr lvl="1"/>
            <a:r>
              <a:rPr lang="en-US" dirty="0"/>
              <a:t>Make the reducer function</a:t>
            </a:r>
          </a:p>
          <a:p>
            <a:pPr lvl="1"/>
            <a:r>
              <a:rPr lang="en-US" dirty="0"/>
              <a:t>Swap out </a:t>
            </a:r>
            <a:r>
              <a:rPr lang="en-US" dirty="0" err="1"/>
              <a:t>useState</a:t>
            </a:r>
            <a:r>
              <a:rPr lang="en-US" dirty="0"/>
              <a:t> for </a:t>
            </a:r>
            <a:r>
              <a:rPr lang="en-US" dirty="0" err="1"/>
              <a:t>useReducer</a:t>
            </a:r>
            <a:r>
              <a:rPr lang="en-US" dirty="0"/>
              <a:t> when working with the incident list</a:t>
            </a:r>
          </a:p>
          <a:p>
            <a:pPr lvl="1"/>
            <a:r>
              <a:rPr lang="en-US" dirty="0"/>
              <a:t>Edit your functions to call the dispatch method rather than ‘</a:t>
            </a:r>
            <a:r>
              <a:rPr lang="en-US" dirty="0" err="1"/>
              <a:t>setIncidents</a:t>
            </a:r>
            <a:r>
              <a:rPr lang="en-US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984384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004E-0643-3754-9DF2-B190310C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A913-4839-C8B4-CA21-8068CFB65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08778"/>
            <a:ext cx="5210007" cy="4265128"/>
          </a:xfrm>
        </p:spPr>
        <p:txBody>
          <a:bodyPr>
            <a:normAutofit/>
          </a:bodyPr>
          <a:lstStyle/>
          <a:p>
            <a:r>
              <a:rPr lang="en-US" dirty="0"/>
              <a:t>Definition: </a:t>
            </a:r>
            <a:r>
              <a:rPr lang="en-US" dirty="0" err="1">
                <a:solidFill>
                  <a:schemeClr val="accent2"/>
                </a:solidFill>
              </a:rPr>
              <a:t>useEffect</a:t>
            </a:r>
            <a:r>
              <a:rPr lang="en-US" dirty="0"/>
              <a:t> is a hook that lets us perform ‘side effects’ in functional components.</a:t>
            </a:r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Side Effect </a:t>
            </a:r>
            <a:r>
              <a:rPr lang="en-US" dirty="0"/>
              <a:t>is any action that happens outside the normal flow of rendering:</a:t>
            </a:r>
          </a:p>
          <a:p>
            <a:pPr lvl="1"/>
            <a:r>
              <a:rPr lang="en-US" dirty="0"/>
              <a:t>Fetching data from an API</a:t>
            </a:r>
          </a:p>
          <a:p>
            <a:pPr lvl="1"/>
            <a:r>
              <a:rPr lang="en-US" dirty="0"/>
              <a:t>Setting up subscriptions or event listeners</a:t>
            </a:r>
          </a:p>
          <a:p>
            <a:pPr lvl="1"/>
            <a:r>
              <a:rPr lang="en-US" dirty="0"/>
              <a:t>Updating the DOM manually</a:t>
            </a:r>
          </a:p>
          <a:p>
            <a:pPr lvl="1"/>
            <a:r>
              <a:rPr lang="en-US" dirty="0"/>
              <a:t>Stating/stopping timers</a:t>
            </a:r>
          </a:p>
          <a:p>
            <a:r>
              <a:rPr lang="en-US" dirty="0" err="1"/>
              <a:t>useEffect</a:t>
            </a:r>
            <a:r>
              <a:rPr lang="en-US" dirty="0"/>
              <a:t> accepts two arguments: </a:t>
            </a:r>
          </a:p>
          <a:p>
            <a:pPr lvl="1"/>
            <a:r>
              <a:rPr lang="en-US" dirty="0"/>
              <a:t>1. A function to run when it is triggered</a:t>
            </a:r>
          </a:p>
          <a:p>
            <a:pPr lvl="1"/>
            <a:r>
              <a:rPr lang="en-US" dirty="0"/>
              <a:t>2. An array of dependencies that when changed, cause the </a:t>
            </a:r>
            <a:r>
              <a:rPr lang="en-US" dirty="0" err="1"/>
              <a:t>useEffect</a:t>
            </a:r>
            <a:r>
              <a:rPr lang="en-US" dirty="0"/>
              <a:t> to run again (props or states)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8C0BE-BA78-0B90-7970-877028044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652" y="2265703"/>
            <a:ext cx="3124636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01EDAC-53DA-DEB1-64D2-704643384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93937"/>
            <a:ext cx="4410691" cy="1105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3B5DD2-E3F2-10E8-AE9A-5DB198411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018" y="4791813"/>
            <a:ext cx="5782482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028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30F8-10E3-A01A-881C-13DFAE1F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Code with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D915-80FF-438F-E697-AAB538C9F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684" y="2159714"/>
            <a:ext cx="4528690" cy="3678303"/>
          </a:xfrm>
        </p:spPr>
        <p:txBody>
          <a:bodyPr/>
          <a:lstStyle/>
          <a:p>
            <a:r>
              <a:rPr lang="en-US" dirty="0"/>
              <a:t>The callback function provided to </a:t>
            </a:r>
            <a:r>
              <a:rPr lang="en-US" dirty="0" err="1"/>
              <a:t>useEffect</a:t>
            </a:r>
            <a:r>
              <a:rPr lang="en-US" dirty="0"/>
              <a:t> can NOT be asynchronous</a:t>
            </a:r>
          </a:p>
          <a:p>
            <a:r>
              <a:rPr lang="en-US" dirty="0"/>
              <a:t>Instead, we place an </a:t>
            </a:r>
            <a:r>
              <a:rPr lang="en-US" dirty="0" err="1"/>
              <a:t>asnyc</a:t>
            </a:r>
            <a:r>
              <a:rPr lang="en-US" dirty="0"/>
              <a:t> inner function inside of the callback, and then call that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F9C06-D984-9B77-C9D6-9A1130E7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190" y="1993496"/>
            <a:ext cx="3715268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250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2F4B-D717-36D4-A066-CB87EC32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67DA9-FA34-EA4E-1623-6A8980E6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4379115" cy="3934374"/>
          </a:xfrm>
        </p:spPr>
        <p:txBody>
          <a:bodyPr/>
          <a:lstStyle/>
          <a:p>
            <a:r>
              <a:rPr lang="en-US" dirty="0"/>
              <a:t>Certain effects should be ‘cleaned up’ after they are no longer needed</a:t>
            </a:r>
          </a:p>
          <a:p>
            <a:r>
              <a:rPr lang="en-US" dirty="0"/>
              <a:t>This reduces the chance we will have a memory leak</a:t>
            </a:r>
          </a:p>
          <a:p>
            <a:r>
              <a:rPr lang="en-US" dirty="0"/>
              <a:t>Timeouts, subscriptions, event listeners, and any effect that doesn’t need to continuously be available to the application should be disposed </a:t>
            </a:r>
          </a:p>
          <a:p>
            <a:r>
              <a:rPr lang="en-US" dirty="0"/>
              <a:t>Use the </a:t>
            </a:r>
            <a:r>
              <a:rPr lang="en-US" dirty="0" err="1"/>
              <a:t>AbortContoller</a:t>
            </a:r>
            <a:r>
              <a:rPr lang="en-US" dirty="0"/>
              <a:t> browser API to cancel fetch requests no longer needed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EEFB4-1786-AD32-2F49-3806926D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55" y="2180496"/>
            <a:ext cx="6258798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40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70E6-9458-968A-8D5F-62CDA3BD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Api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2D75-270C-A30F-89BD-131056F78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895115" cy="3678303"/>
          </a:xfrm>
        </p:spPr>
        <p:txBody>
          <a:bodyPr/>
          <a:lstStyle/>
          <a:p>
            <a:r>
              <a:rPr lang="en-US" dirty="0"/>
              <a:t>Create a file that is only the file extension ‘.env’</a:t>
            </a:r>
          </a:p>
          <a:p>
            <a:r>
              <a:rPr lang="en-US" dirty="0"/>
              <a:t>In the file define your data</a:t>
            </a:r>
          </a:p>
          <a:p>
            <a:r>
              <a:rPr lang="en-US" dirty="0"/>
              <a:t>Import it where you need it</a:t>
            </a:r>
          </a:p>
          <a:p>
            <a:r>
              <a:rPr lang="en-US" dirty="0"/>
              <a:t>Don’t forget to add environment variables to your </a:t>
            </a:r>
            <a:r>
              <a:rPr lang="en-US" dirty="0" err="1"/>
              <a:t>gitignore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75CF2-26C3-57F9-A8B1-477BFC527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693" y="2177381"/>
            <a:ext cx="2172003" cy="1076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DD13B4-5950-EB06-4483-78CD5A7A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414" y="3513263"/>
            <a:ext cx="3804560" cy="608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76590B-1872-FF39-0817-8A017CFD3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987" y="4608897"/>
            <a:ext cx="5733075" cy="442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F91883-3EAF-DA95-3DC6-AE2603D0E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324" y="5328735"/>
            <a:ext cx="4960740" cy="11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158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DD061-04CE-FD0C-CB7D-2D37A96D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A829-C52B-2FF5-C5F4-0397DD8F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63EC5-1348-83E0-5715-4FEDE5A62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an Effect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C923F-4A73-49B8-5C29-ACC71E401140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0D2F0-D27B-EA3E-4C97-BCF8A751AC28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013C81-6BB3-B8C1-76CF-AB318556C875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110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Welcome component:</a:t>
            </a:r>
          </a:p>
          <a:p>
            <a:pPr lvl="1"/>
            <a:r>
              <a:rPr lang="en-US" dirty="0"/>
              <a:t>Utilize </a:t>
            </a:r>
            <a:r>
              <a:rPr lang="en-US" dirty="0" err="1"/>
              <a:t>useEffect</a:t>
            </a:r>
            <a:r>
              <a:rPr lang="en-US" dirty="0"/>
              <a:t> to display a joke under the text ‘Welcome’ </a:t>
            </a:r>
          </a:p>
        </p:txBody>
      </p:sp>
    </p:spTree>
    <p:extLst>
      <p:ext uri="{BB962C8B-B14F-4D97-AF65-F5344CB8AC3E}">
        <p14:creationId xmlns:p14="http://schemas.microsoft.com/office/powerpoint/2010/main" val="26185460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3E94-7C05-46D5-B6AF-0F7A6228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AB53-8347-A7A3-3122-EA5786675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81654" cy="367830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useContext</a:t>
            </a:r>
            <a:r>
              <a:rPr lang="en-US" dirty="0"/>
              <a:t> hook allows a component to access the current value of a context without having to receive it through props</a:t>
            </a:r>
          </a:p>
          <a:p>
            <a:pPr lvl="1"/>
            <a:r>
              <a:rPr lang="en-US" dirty="0"/>
              <a:t>This avoids ‘prop-drilling’ </a:t>
            </a:r>
          </a:p>
          <a:p>
            <a:r>
              <a:rPr lang="en-US" dirty="0"/>
              <a:t>The value of a context may be any JavaScript datatype</a:t>
            </a:r>
          </a:p>
          <a:p>
            <a:r>
              <a:rPr lang="en-US" dirty="0"/>
              <a:t>This is a separate file from your components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396A3-C691-6CD3-3422-FBB4F5672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615" y="3851639"/>
            <a:ext cx="3848637" cy="638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FBEFC0-A802-44AB-2F39-A71E0BE43A40}"/>
              </a:ext>
            </a:extLst>
          </p:cNvPr>
          <p:cNvSpPr txBox="1"/>
          <p:nvPr/>
        </p:nvSpPr>
        <p:spPr>
          <a:xfrm>
            <a:off x="6893615" y="3429000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ThemeContext.js</a:t>
            </a:r>
          </a:p>
        </p:txBody>
      </p:sp>
    </p:spTree>
    <p:extLst>
      <p:ext uri="{BB962C8B-B14F-4D97-AF65-F5344CB8AC3E}">
        <p14:creationId xmlns:p14="http://schemas.microsoft.com/office/powerpoint/2010/main" val="28581589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C3E1-1D5F-BDFB-779B-B37C9463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9BA8-A81B-1079-5762-1FE18F6B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Publishing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1065F-C066-ACC8-1CEC-C083442A0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81654" cy="3678303"/>
          </a:xfrm>
        </p:spPr>
        <p:txBody>
          <a:bodyPr/>
          <a:lstStyle/>
          <a:p>
            <a:r>
              <a:rPr lang="en-US" dirty="0"/>
              <a:t>We apply our context as a provider</a:t>
            </a:r>
          </a:p>
          <a:p>
            <a:r>
              <a:rPr lang="en-US" dirty="0"/>
              <a:t>The mandatory ‘value’ attribute will pass our context data down to any subscribing components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BEBD2-9339-1981-DFCE-01DF51BD1049}"/>
              </a:ext>
            </a:extLst>
          </p:cNvPr>
          <p:cNvSpPr txBox="1"/>
          <p:nvPr/>
        </p:nvSpPr>
        <p:spPr>
          <a:xfrm>
            <a:off x="5560456" y="1995830"/>
            <a:ext cx="868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App.jsx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EDB72C-2416-6F7C-3808-B33E0A73E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935" y="2017669"/>
            <a:ext cx="4167787" cy="459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39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7DBA-223E-2B1E-CA94-A65EFE0E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Subscribing To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841B8-6E52-11A3-844C-AD6814D71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90538" cy="3678303"/>
          </a:xfrm>
        </p:spPr>
        <p:txBody>
          <a:bodyPr/>
          <a:lstStyle/>
          <a:p>
            <a:r>
              <a:rPr lang="en-US" dirty="0"/>
              <a:t>We import </a:t>
            </a:r>
            <a:r>
              <a:rPr lang="en-US" dirty="0" err="1"/>
              <a:t>useContext</a:t>
            </a:r>
            <a:r>
              <a:rPr lang="en-US" dirty="0"/>
              <a:t> along with our context ‘.</a:t>
            </a:r>
            <a:r>
              <a:rPr lang="en-US" dirty="0" err="1"/>
              <a:t>js’</a:t>
            </a:r>
            <a:r>
              <a:rPr lang="en-US" dirty="0"/>
              <a:t> file</a:t>
            </a:r>
          </a:p>
          <a:p>
            <a:r>
              <a:rPr lang="en-US" dirty="0"/>
              <a:t>We call </a:t>
            </a:r>
            <a:r>
              <a:rPr lang="en-US" dirty="0" err="1"/>
              <a:t>useContext</a:t>
            </a:r>
            <a:r>
              <a:rPr lang="en-US" dirty="0"/>
              <a:t> using our imported </a:t>
            </a:r>
            <a:r>
              <a:rPr lang="en-US" dirty="0" err="1"/>
              <a:t>ThemeContext</a:t>
            </a:r>
            <a:r>
              <a:rPr lang="en-US" dirty="0"/>
              <a:t> reference to get our theme</a:t>
            </a:r>
          </a:p>
          <a:p>
            <a:r>
              <a:rPr lang="en-US" dirty="0"/>
              <a:t>We could use that data in many ways, such as dynamically building class lists on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9CB6B-4571-19DC-C0F2-B5E0B6CB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435" y="2180496"/>
            <a:ext cx="6233372" cy="645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C1E504-E9E2-2316-940D-E6FD87702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326" y="3195605"/>
            <a:ext cx="6725589" cy="466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EF1DA1-A8F4-3620-D427-02E29445D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814" y="4019647"/>
            <a:ext cx="4124901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550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EB54B-0B04-6A31-FFEB-138BA02C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0B92-43A0-71C9-E4F1-F99B9CCF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Implement Dark Mode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80F05-7243-C409-3024-BECC96F12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3269"/>
            <a:ext cx="5317584" cy="1681246"/>
          </a:xfrm>
        </p:spPr>
        <p:txBody>
          <a:bodyPr/>
          <a:lstStyle/>
          <a:p>
            <a:r>
              <a:rPr lang="en-US" dirty="0"/>
              <a:t>Implement a </a:t>
            </a:r>
            <a:r>
              <a:rPr lang="en-US" dirty="0" err="1"/>
              <a:t>darkmode</a:t>
            </a:r>
            <a:r>
              <a:rPr lang="en-US" dirty="0"/>
              <a:t> feature using </a:t>
            </a:r>
            <a:r>
              <a:rPr lang="en-US" dirty="0" err="1"/>
              <a:t>useContext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4BDF25-4283-E54F-6FDA-60057A6BB539}"/>
              </a:ext>
            </a:extLst>
          </p:cNvPr>
          <p:cNvSpPr txBox="1"/>
          <p:nvPr/>
        </p:nvSpPr>
        <p:spPr>
          <a:xfrm>
            <a:off x="1228165" y="189009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95A56-F9AD-400C-9999-AE124E65AED3}"/>
              </a:ext>
            </a:extLst>
          </p:cNvPr>
          <p:cNvSpPr txBox="1"/>
          <p:nvPr/>
        </p:nvSpPr>
        <p:spPr>
          <a:xfrm>
            <a:off x="6676991" y="1890091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A1BDEE-BA0A-757B-724F-4ADED0862BFD}"/>
              </a:ext>
            </a:extLst>
          </p:cNvPr>
          <p:cNvSpPr txBox="1">
            <a:spLocks/>
          </p:cNvSpPr>
          <p:nvPr/>
        </p:nvSpPr>
        <p:spPr>
          <a:xfrm>
            <a:off x="5898776" y="1709549"/>
            <a:ext cx="5875227" cy="367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App, Home, Welcome, and </a:t>
            </a:r>
            <a:r>
              <a:rPr lang="en-US" dirty="0" err="1"/>
              <a:t>IncidentList</a:t>
            </a:r>
            <a:r>
              <a:rPr lang="en-US" dirty="0"/>
              <a:t> </a:t>
            </a:r>
          </a:p>
          <a:p>
            <a:r>
              <a:rPr lang="en-US" dirty="0"/>
              <a:t>You should ‘publish’ your command to toggle dark mode from your ‘Home’ component </a:t>
            </a:r>
          </a:p>
          <a:p>
            <a:r>
              <a:rPr lang="en-US" dirty="0"/>
              <a:t>Both the Welcome &amp; </a:t>
            </a:r>
            <a:r>
              <a:rPr lang="en-US" dirty="0" err="1"/>
              <a:t>IncidentList</a:t>
            </a:r>
            <a:r>
              <a:rPr lang="en-US" dirty="0"/>
              <a:t> components should change their style to reflect </a:t>
            </a:r>
            <a:r>
              <a:rPr lang="en-US" dirty="0" err="1"/>
              <a:t>darkmode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C6353-03FF-5595-6E37-4247F78C1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868" y="4598578"/>
            <a:ext cx="7286488" cy="10684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201E34-E2BA-5A40-378B-CEF890C456F1}"/>
              </a:ext>
            </a:extLst>
          </p:cNvPr>
          <p:cNvSpPr txBox="1"/>
          <p:nvPr/>
        </p:nvSpPr>
        <p:spPr>
          <a:xfrm rot="19946307">
            <a:off x="15408" y="4256629"/>
            <a:ext cx="3386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Don’t forget about callback props!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C57B57-F363-FCE8-64C0-6566BED2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634" y="5719840"/>
            <a:ext cx="7664957" cy="108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5697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5978</TotalTime>
  <Words>2472</Words>
  <Application>Microsoft Office PowerPoint</Application>
  <PresentationFormat>Widescreen</PresentationFormat>
  <Paragraphs>257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Gill Sans MT</vt:lpstr>
      <vt:lpstr>Wingdings</vt:lpstr>
      <vt:lpstr>Wingdings 2</vt:lpstr>
      <vt:lpstr>Dividend</vt:lpstr>
      <vt:lpstr>React</vt:lpstr>
      <vt:lpstr>What is React?</vt:lpstr>
      <vt:lpstr>How Does React Work?</vt:lpstr>
      <vt:lpstr>What we Need</vt:lpstr>
      <vt:lpstr>Challenge – Create Your First App</vt:lpstr>
      <vt:lpstr>What is a React Component?</vt:lpstr>
      <vt:lpstr>Project Organization &amp; Component Nesting</vt:lpstr>
      <vt:lpstr>Challenge – Create Your First React component</vt:lpstr>
      <vt:lpstr>What is JSX?</vt:lpstr>
      <vt:lpstr>What Is JSX?</vt:lpstr>
      <vt:lpstr>Remove The Default Styling</vt:lpstr>
      <vt:lpstr>Styling Our Components</vt:lpstr>
      <vt:lpstr>CSS Modules</vt:lpstr>
      <vt:lpstr>Challenge – Create A header</vt:lpstr>
      <vt:lpstr>Props</vt:lpstr>
      <vt:lpstr>Destructuring Props</vt:lpstr>
      <vt:lpstr>Challenge – View an Incident</vt:lpstr>
      <vt:lpstr>Lists</vt:lpstr>
      <vt:lpstr>Challenge – View All the incidents</vt:lpstr>
      <vt:lpstr>Conditional Rendering</vt:lpstr>
      <vt:lpstr>Firing Events</vt:lpstr>
      <vt:lpstr>Keeping State</vt:lpstr>
      <vt:lpstr>Challenge – Create Basic App Navigation</vt:lpstr>
      <vt:lpstr>Deleting Items From Lists</vt:lpstr>
      <vt:lpstr>Callback Props</vt:lpstr>
      <vt:lpstr>Challenge – Delete Incidents</vt:lpstr>
      <vt:lpstr>Sharing Component Data / Lifting Up State</vt:lpstr>
      <vt:lpstr>Sharing Component Data / Lifting Up State</vt:lpstr>
      <vt:lpstr>Challenge – Lift Up Incident List State</vt:lpstr>
      <vt:lpstr>onCHange &amp; Object State Updates</vt:lpstr>
      <vt:lpstr>Challenge – Add Incident Records</vt:lpstr>
      <vt:lpstr>What Are Hooks?</vt:lpstr>
      <vt:lpstr>Reducer</vt:lpstr>
      <vt:lpstr>Challenge – Refactor</vt:lpstr>
      <vt:lpstr>Effect</vt:lpstr>
      <vt:lpstr>Async Code with Effects</vt:lpstr>
      <vt:lpstr>Effect Optimization</vt:lpstr>
      <vt:lpstr>Storing Api Keys</vt:lpstr>
      <vt:lpstr>Challenge – Create an Effect</vt:lpstr>
      <vt:lpstr>Context</vt:lpstr>
      <vt:lpstr>Publishing Context</vt:lpstr>
      <vt:lpstr>Subscribing To Context</vt:lpstr>
      <vt:lpstr>Challenge – Implement Dark Mode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593</cp:revision>
  <dcterms:created xsi:type="dcterms:W3CDTF">2025-02-12T19:53:45Z</dcterms:created>
  <dcterms:modified xsi:type="dcterms:W3CDTF">2025-10-02T17:51:32Z</dcterms:modified>
</cp:coreProperties>
</file>