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5" r:id="rId5"/>
    <p:sldId id="267" r:id="rId6"/>
    <p:sldId id="262" r:id="rId7"/>
    <p:sldId id="266" r:id="rId8"/>
    <p:sldId id="268" r:id="rId9"/>
    <p:sldId id="269" r:id="rId10"/>
    <p:sldId id="270" r:id="rId11"/>
    <p:sldId id="272" r:id="rId12"/>
    <p:sldId id="271" r:id="rId13"/>
    <p:sldId id="273" r:id="rId14"/>
    <p:sldId id="274" r:id="rId15"/>
    <p:sldId id="275" r:id="rId16"/>
    <p:sldId id="276" r:id="rId17"/>
    <p:sldId id="278" r:id="rId18"/>
    <p:sldId id="279" r:id="rId19"/>
    <p:sldId id="280" r:id="rId20"/>
    <p:sldId id="281" r:id="rId21"/>
    <p:sldId id="282" r:id="rId22"/>
    <p:sldId id="277" r:id="rId23"/>
    <p:sldId id="283" r:id="rId24"/>
    <p:sldId id="284" r:id="rId25"/>
    <p:sldId id="288" r:id="rId26"/>
    <p:sldId id="287" r:id="rId27"/>
    <p:sldId id="300" r:id="rId28"/>
    <p:sldId id="301" r:id="rId29"/>
    <p:sldId id="302" r:id="rId30"/>
    <p:sldId id="286" r:id="rId31"/>
    <p:sldId id="285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9" r:id="rId42"/>
    <p:sldId id="298" r:id="rId43"/>
    <p:sldId id="30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1B3C52-4094-497A-A3ED-E2BC2E29F74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466A6C2-86BD-4627-8480-B57D5AD9D30B}">
      <dgm:prSet/>
      <dgm:spPr/>
      <dgm:t>
        <a:bodyPr/>
        <a:lstStyle/>
        <a:p>
          <a:r>
            <a:rPr lang="en-US"/>
            <a:t>Inline – directly on an element</a:t>
          </a:r>
        </a:p>
      </dgm:t>
    </dgm:pt>
    <dgm:pt modelId="{22D704AB-8E98-4260-A12A-BD0E1E2C1B22}" type="parTrans" cxnId="{8AE08A0B-5732-40EE-8E39-83629B0671B7}">
      <dgm:prSet/>
      <dgm:spPr/>
      <dgm:t>
        <a:bodyPr/>
        <a:lstStyle/>
        <a:p>
          <a:endParaRPr lang="en-US"/>
        </a:p>
      </dgm:t>
    </dgm:pt>
    <dgm:pt modelId="{61671DFD-4D4B-4859-B303-747DABEE7DB0}" type="sibTrans" cxnId="{8AE08A0B-5732-40EE-8E39-83629B0671B7}">
      <dgm:prSet/>
      <dgm:spPr/>
      <dgm:t>
        <a:bodyPr/>
        <a:lstStyle/>
        <a:p>
          <a:endParaRPr lang="en-US"/>
        </a:p>
      </dgm:t>
    </dgm:pt>
    <dgm:pt modelId="{8DDB741B-E01A-4461-9CCB-62B7E0EEBD06}">
      <dgm:prSet/>
      <dgm:spPr/>
      <dgm:t>
        <a:bodyPr/>
        <a:lstStyle/>
        <a:p>
          <a:r>
            <a:rPr lang="en-US"/>
            <a:t>Internal – inside a &lt;style&gt; tag in HTML</a:t>
          </a:r>
        </a:p>
      </dgm:t>
    </dgm:pt>
    <dgm:pt modelId="{70D29CF4-1492-4BCA-9A92-4CB6E2CBDA45}" type="parTrans" cxnId="{938A70E6-54A3-4D2E-9271-1A88D895E9FB}">
      <dgm:prSet/>
      <dgm:spPr/>
      <dgm:t>
        <a:bodyPr/>
        <a:lstStyle/>
        <a:p>
          <a:endParaRPr lang="en-US"/>
        </a:p>
      </dgm:t>
    </dgm:pt>
    <dgm:pt modelId="{417C2BE5-0A98-4BFB-9C0E-767751AA0FA3}" type="sibTrans" cxnId="{938A70E6-54A3-4D2E-9271-1A88D895E9FB}">
      <dgm:prSet/>
      <dgm:spPr/>
      <dgm:t>
        <a:bodyPr/>
        <a:lstStyle/>
        <a:p>
          <a:endParaRPr lang="en-US"/>
        </a:p>
      </dgm:t>
    </dgm:pt>
    <dgm:pt modelId="{060E1E0D-33E0-4EDB-8547-9A81225DC9B6}">
      <dgm:prSet/>
      <dgm:spPr/>
      <dgm:t>
        <a:bodyPr/>
        <a:lstStyle/>
        <a:p>
          <a:r>
            <a:rPr lang="en-US"/>
            <a:t>External – separate .css file using &lt;link&gt;</a:t>
          </a:r>
        </a:p>
      </dgm:t>
    </dgm:pt>
    <dgm:pt modelId="{969C73A0-A8DB-4AAD-A092-17964C04196E}" type="parTrans" cxnId="{FDC9085B-EE3B-4BE6-846B-6939CAD4D4C6}">
      <dgm:prSet/>
      <dgm:spPr/>
      <dgm:t>
        <a:bodyPr/>
        <a:lstStyle/>
        <a:p>
          <a:endParaRPr lang="en-US"/>
        </a:p>
      </dgm:t>
    </dgm:pt>
    <dgm:pt modelId="{022E4B92-8C17-4FA6-A50E-ED6BFE3C0304}" type="sibTrans" cxnId="{FDC9085B-EE3B-4BE6-846B-6939CAD4D4C6}">
      <dgm:prSet/>
      <dgm:spPr/>
      <dgm:t>
        <a:bodyPr/>
        <a:lstStyle/>
        <a:p>
          <a:endParaRPr lang="en-US"/>
        </a:p>
      </dgm:t>
    </dgm:pt>
    <dgm:pt modelId="{7F6D053C-C51E-455F-AE0E-302FF7DB6F8D}" type="pres">
      <dgm:prSet presAssocID="{3F1B3C52-4094-497A-A3ED-E2BC2E29F747}" presName="linear" presStyleCnt="0">
        <dgm:presLayoutVars>
          <dgm:animLvl val="lvl"/>
          <dgm:resizeHandles val="exact"/>
        </dgm:presLayoutVars>
      </dgm:prSet>
      <dgm:spPr/>
    </dgm:pt>
    <dgm:pt modelId="{8C5E5CF6-4225-4AFE-BE67-DE45449D63D3}" type="pres">
      <dgm:prSet presAssocID="{D466A6C2-86BD-4627-8480-B57D5AD9D30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BFC34F7-50BE-45D5-9928-A6B26B6B0786}" type="pres">
      <dgm:prSet presAssocID="{61671DFD-4D4B-4859-B303-747DABEE7DB0}" presName="spacer" presStyleCnt="0"/>
      <dgm:spPr/>
    </dgm:pt>
    <dgm:pt modelId="{2B23BD19-C792-4D85-86A0-255F89E86FEF}" type="pres">
      <dgm:prSet presAssocID="{8DDB741B-E01A-4461-9CCB-62B7E0EEBD0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0B7E5A-35EC-4116-ABE3-F778AC36CB16}" type="pres">
      <dgm:prSet presAssocID="{417C2BE5-0A98-4BFB-9C0E-767751AA0FA3}" presName="spacer" presStyleCnt="0"/>
      <dgm:spPr/>
    </dgm:pt>
    <dgm:pt modelId="{288EB044-8AB6-4C98-BCB4-1A3A17830BA6}" type="pres">
      <dgm:prSet presAssocID="{060E1E0D-33E0-4EDB-8547-9A81225DC9B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AE08A0B-5732-40EE-8E39-83629B0671B7}" srcId="{3F1B3C52-4094-497A-A3ED-E2BC2E29F747}" destId="{D466A6C2-86BD-4627-8480-B57D5AD9D30B}" srcOrd="0" destOrd="0" parTransId="{22D704AB-8E98-4260-A12A-BD0E1E2C1B22}" sibTransId="{61671DFD-4D4B-4859-B303-747DABEE7DB0}"/>
    <dgm:cxn modelId="{FDC9085B-EE3B-4BE6-846B-6939CAD4D4C6}" srcId="{3F1B3C52-4094-497A-A3ED-E2BC2E29F747}" destId="{060E1E0D-33E0-4EDB-8547-9A81225DC9B6}" srcOrd="2" destOrd="0" parTransId="{969C73A0-A8DB-4AAD-A092-17964C04196E}" sibTransId="{022E4B92-8C17-4FA6-A50E-ED6BFE3C0304}"/>
    <dgm:cxn modelId="{DC0EE476-D418-4E63-81FD-4DB168F540E7}" type="presOf" srcId="{D466A6C2-86BD-4627-8480-B57D5AD9D30B}" destId="{8C5E5CF6-4225-4AFE-BE67-DE45449D63D3}" srcOrd="0" destOrd="0" presId="urn:microsoft.com/office/officeart/2005/8/layout/vList2"/>
    <dgm:cxn modelId="{EB5FC29B-5261-476A-BD51-AE42110DF64D}" type="presOf" srcId="{060E1E0D-33E0-4EDB-8547-9A81225DC9B6}" destId="{288EB044-8AB6-4C98-BCB4-1A3A17830BA6}" srcOrd="0" destOrd="0" presId="urn:microsoft.com/office/officeart/2005/8/layout/vList2"/>
    <dgm:cxn modelId="{1963679E-E5BF-45A0-86DA-B05F363B1262}" type="presOf" srcId="{8DDB741B-E01A-4461-9CCB-62B7E0EEBD06}" destId="{2B23BD19-C792-4D85-86A0-255F89E86FEF}" srcOrd="0" destOrd="0" presId="urn:microsoft.com/office/officeart/2005/8/layout/vList2"/>
    <dgm:cxn modelId="{B0B561A9-F32C-4E5C-8A06-74C7C6B1D3F7}" type="presOf" srcId="{3F1B3C52-4094-497A-A3ED-E2BC2E29F747}" destId="{7F6D053C-C51E-455F-AE0E-302FF7DB6F8D}" srcOrd="0" destOrd="0" presId="urn:microsoft.com/office/officeart/2005/8/layout/vList2"/>
    <dgm:cxn modelId="{938A70E6-54A3-4D2E-9271-1A88D895E9FB}" srcId="{3F1B3C52-4094-497A-A3ED-E2BC2E29F747}" destId="{8DDB741B-E01A-4461-9CCB-62B7E0EEBD06}" srcOrd="1" destOrd="0" parTransId="{70D29CF4-1492-4BCA-9A92-4CB6E2CBDA45}" sibTransId="{417C2BE5-0A98-4BFB-9C0E-767751AA0FA3}"/>
    <dgm:cxn modelId="{1CECB9FD-5C54-4519-8040-EC41690B83CB}" type="presParOf" srcId="{7F6D053C-C51E-455F-AE0E-302FF7DB6F8D}" destId="{8C5E5CF6-4225-4AFE-BE67-DE45449D63D3}" srcOrd="0" destOrd="0" presId="urn:microsoft.com/office/officeart/2005/8/layout/vList2"/>
    <dgm:cxn modelId="{4D86A44D-71D8-440D-959A-EE267603D5D4}" type="presParOf" srcId="{7F6D053C-C51E-455F-AE0E-302FF7DB6F8D}" destId="{3BFC34F7-50BE-45D5-9928-A6B26B6B0786}" srcOrd="1" destOrd="0" presId="urn:microsoft.com/office/officeart/2005/8/layout/vList2"/>
    <dgm:cxn modelId="{C10918F5-93D1-480E-991E-A28680817347}" type="presParOf" srcId="{7F6D053C-C51E-455F-AE0E-302FF7DB6F8D}" destId="{2B23BD19-C792-4D85-86A0-255F89E86FEF}" srcOrd="2" destOrd="0" presId="urn:microsoft.com/office/officeart/2005/8/layout/vList2"/>
    <dgm:cxn modelId="{0DF743AB-24EF-4B3F-94E9-1A87D0FC175F}" type="presParOf" srcId="{7F6D053C-C51E-455F-AE0E-302FF7DB6F8D}" destId="{320B7E5A-35EC-4116-ABE3-F778AC36CB16}" srcOrd="3" destOrd="0" presId="urn:microsoft.com/office/officeart/2005/8/layout/vList2"/>
    <dgm:cxn modelId="{09C648E1-A44C-4E47-A287-0A6D5B635617}" type="presParOf" srcId="{7F6D053C-C51E-455F-AE0E-302FF7DB6F8D}" destId="{288EB044-8AB6-4C98-BCB4-1A3A17830BA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E5CF6-4225-4AFE-BE67-DE45449D63D3}">
      <dsp:nvSpPr>
        <dsp:cNvPr id="0" name=""/>
        <dsp:cNvSpPr/>
      </dsp:nvSpPr>
      <dsp:spPr>
        <a:xfrm>
          <a:off x="0" y="41626"/>
          <a:ext cx="5029899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Inline – directly on an element</a:t>
          </a:r>
        </a:p>
      </dsp:txBody>
      <dsp:txXfrm>
        <a:off x="55687" y="97313"/>
        <a:ext cx="4918525" cy="1029376"/>
      </dsp:txXfrm>
    </dsp:sp>
    <dsp:sp modelId="{2B23BD19-C792-4D85-86A0-255F89E86FEF}">
      <dsp:nvSpPr>
        <dsp:cNvPr id="0" name=""/>
        <dsp:cNvSpPr/>
      </dsp:nvSpPr>
      <dsp:spPr>
        <a:xfrm>
          <a:off x="0" y="1268776"/>
          <a:ext cx="5029899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Internal – inside a &lt;style&gt; tag in HTML</a:t>
          </a:r>
        </a:p>
      </dsp:txBody>
      <dsp:txXfrm>
        <a:off x="55687" y="1324463"/>
        <a:ext cx="4918525" cy="1029376"/>
      </dsp:txXfrm>
    </dsp:sp>
    <dsp:sp modelId="{288EB044-8AB6-4C98-BCB4-1A3A17830BA6}">
      <dsp:nvSpPr>
        <dsp:cNvPr id="0" name=""/>
        <dsp:cNvSpPr/>
      </dsp:nvSpPr>
      <dsp:spPr>
        <a:xfrm>
          <a:off x="0" y="2495926"/>
          <a:ext cx="5029899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External – separate .css file using &lt;link&gt;</a:t>
          </a:r>
        </a:p>
      </dsp:txBody>
      <dsp:txXfrm>
        <a:off x="55687" y="2551613"/>
        <a:ext cx="4918525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98FA-9764-D2AA-5BFC-9F9105D6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DB542-4722-CBA0-5177-D4F999BEB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38449"/>
            <a:ext cx="11029615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HTML</a:t>
            </a:r>
            <a:r>
              <a:rPr lang="en-US" dirty="0"/>
              <a:t> – </a:t>
            </a:r>
            <a:r>
              <a:rPr lang="en-US" dirty="0" err="1"/>
              <a:t>HyperText</a:t>
            </a:r>
            <a:r>
              <a:rPr lang="en-US" dirty="0"/>
              <a:t> Markup Language is the standard markup language used to create and structure content on the web. </a:t>
            </a:r>
          </a:p>
          <a:p>
            <a:pPr lvl="1"/>
            <a:r>
              <a:rPr lang="en-US" dirty="0"/>
              <a:t>It tells browsers what to display (text, images, links, forms, etc.) and how to organize the content.</a:t>
            </a:r>
          </a:p>
          <a:p>
            <a:pPr lvl="1"/>
            <a:r>
              <a:rPr lang="en-US" dirty="0"/>
              <a:t>Markup Language != Programming Language – HTML doesn’t do any logic, it structures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451514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4B5BB-F81D-F145-7253-41B75CEC8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AE85-F629-4FB0-2956-ED49F2F2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&amp;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25C2-DF31-1C1C-9B89-211387C83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050711"/>
            <a:ext cx="11029615" cy="748917"/>
          </a:xfrm>
        </p:spPr>
        <p:txBody>
          <a:bodyPr>
            <a:normAutofit fontScale="92500"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Elements</a:t>
            </a:r>
            <a:r>
              <a:rPr lang="en-US" dirty="0"/>
              <a:t> and </a:t>
            </a:r>
            <a:r>
              <a:rPr lang="en-US" dirty="0">
                <a:solidFill>
                  <a:schemeClr val="accent2"/>
                </a:solidFill>
              </a:rPr>
              <a:t>Tags</a:t>
            </a:r>
            <a:r>
              <a:rPr lang="en-US" dirty="0"/>
              <a:t> – define different parts of a webpage, they are the building blocks of the page. 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Attributes</a:t>
            </a:r>
            <a:r>
              <a:rPr lang="en-US" dirty="0"/>
              <a:t> – modifiers that either apply identification to an element or alter the elements behavior or styling.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F651936-D3F6-F4FE-AFF1-8B7F2C820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990949"/>
            <a:ext cx="57912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61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DCC17-A883-CB7F-C4E3-A9970226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DC8C-99C9-50B3-E951-F16635EF1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Page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B5967-D522-6A04-DD34-083435BEC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11" y="2303748"/>
            <a:ext cx="5801535" cy="38105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D90330-908D-1200-5BE0-49E33DABFCA7}"/>
              </a:ext>
            </a:extLst>
          </p:cNvPr>
          <p:cNvSpPr txBox="1"/>
          <p:nvPr/>
        </p:nvSpPr>
        <p:spPr>
          <a:xfrm>
            <a:off x="7037294" y="3331851"/>
            <a:ext cx="39086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&lt;!DOCTYPE html&gt; defines the page document type and version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&lt;html&gt; is the root element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&lt;head&gt; is where metadata is defined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&lt;body&gt; is where we include content that will be visible to the user</a:t>
            </a:r>
          </a:p>
        </p:txBody>
      </p:sp>
    </p:spTree>
    <p:extLst>
      <p:ext uri="{BB962C8B-B14F-4D97-AF65-F5344CB8AC3E}">
        <p14:creationId xmlns:p14="http://schemas.microsoft.com/office/powerpoint/2010/main" val="393758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20D5-C02E-3056-0F84-5A98B35F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9455-1722-F560-8E26-5E4FFDA0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Elements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BF595-EB2F-0BF8-45EF-E00D2E092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11" y="2303748"/>
            <a:ext cx="5801535" cy="38105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E62683-28B5-C0E6-8245-2757A0C690DF}"/>
              </a:ext>
            </a:extLst>
          </p:cNvPr>
          <p:cNvSpPr txBox="1"/>
          <p:nvPr/>
        </p:nvSpPr>
        <p:spPr>
          <a:xfrm>
            <a:off x="7037293" y="3331851"/>
            <a:ext cx="40968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&lt;title&gt; - sets the name in browser tab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&lt;h1&gt; - header 1 (largest) - 6 (smallest)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&lt;p&gt; - paragraph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&lt;a&gt; - anchor (links; notice the </a:t>
            </a:r>
            <a:r>
              <a:rPr lang="en-US" dirty="0" err="1"/>
              <a:t>href</a:t>
            </a:r>
            <a:r>
              <a:rPr lang="en-US" dirty="0"/>
              <a:t> attribute)</a:t>
            </a:r>
          </a:p>
        </p:txBody>
      </p:sp>
    </p:spTree>
    <p:extLst>
      <p:ext uri="{BB962C8B-B14F-4D97-AF65-F5344CB8AC3E}">
        <p14:creationId xmlns:p14="http://schemas.microsoft.com/office/powerpoint/2010/main" val="390630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basic HTML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HTML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670965" y="2402747"/>
            <a:ext cx="493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Get started by making your first HTML document.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29C1-7785-9E7B-D8ED-56109887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the 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44593-A299-3B19-97F1-861ED6C07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548" y="2046027"/>
            <a:ext cx="8284902" cy="2011408"/>
          </a:xfrm>
        </p:spPr>
        <p:txBody>
          <a:bodyPr/>
          <a:lstStyle/>
          <a:p>
            <a:r>
              <a:rPr lang="en-US" dirty="0"/>
              <a:t>meta elements describe the page and help search optimization</a:t>
            </a:r>
          </a:p>
          <a:p>
            <a:r>
              <a:rPr lang="en-US" dirty="0"/>
              <a:t>Setting the width of the content to the device viewport width is key to rendering content in a consistent way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BE8E49-4522-F398-210F-F4C0676B0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27" y="3911962"/>
            <a:ext cx="7608945" cy="201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575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0AA6-2666-9093-5D72-939153166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4435-7047-A036-BD7D-2AFC91394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799221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Semantic Elements </a:t>
            </a:r>
            <a:r>
              <a:rPr lang="en-US" dirty="0"/>
              <a:t>are elements that clearly describe their meaning and role in the structure of a webpage.</a:t>
            </a:r>
          </a:p>
          <a:p>
            <a:pPr lvl="1"/>
            <a:r>
              <a:rPr lang="en-US" dirty="0"/>
              <a:t>Used by screen readers</a:t>
            </a:r>
          </a:p>
          <a:p>
            <a:pPr lvl="1"/>
            <a:r>
              <a:rPr lang="en-US" dirty="0"/>
              <a:t>Examples: header, nav, main, section, article, aside, footer, figure, mark,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DB7292-BA68-C325-0BCC-7B3908087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4" y="4350645"/>
            <a:ext cx="6239746" cy="1648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42C870-49CF-EBF1-45FC-18B3C0010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203" y="3423238"/>
            <a:ext cx="2291629" cy="273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24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F51F-C4F6-51B7-0BE8-1360904C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Img</a:t>
            </a:r>
            <a:r>
              <a:rPr lang="en-US" dirty="0"/>
              <a:t> &amp; Self-closing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B041B-1DBB-556A-2A44-8408D55EF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659" y="2263624"/>
            <a:ext cx="8634680" cy="198625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img</a:t>
            </a:r>
            <a:r>
              <a:rPr lang="en-US" dirty="0"/>
              <a:t> element renders images, using the </a:t>
            </a:r>
            <a:r>
              <a:rPr lang="en-US" dirty="0" err="1"/>
              <a:t>src</a:t>
            </a:r>
            <a:r>
              <a:rPr lang="en-US" dirty="0"/>
              <a:t> attribute to specify the path</a:t>
            </a:r>
          </a:p>
          <a:p>
            <a:r>
              <a:rPr lang="en-US" dirty="0"/>
              <a:t>The ‘alt’ attribute specifies the help text for the image, and is read by screen readers</a:t>
            </a:r>
          </a:p>
          <a:p>
            <a:r>
              <a:rPr lang="en-US" dirty="0" err="1"/>
              <a:t>img</a:t>
            </a:r>
            <a:r>
              <a:rPr lang="en-US" dirty="0"/>
              <a:t> is an example of a ‘self-closing element’, meaning it does not require an ending tag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4CB7A-0E42-6264-41B9-D87C8E38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126" y="4507789"/>
            <a:ext cx="6239746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52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0620-8DC3-2E8C-C9B4-7E32BB3D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vs inline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5E89-814E-723B-9AF5-309A346D9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664140"/>
          </a:xfrm>
        </p:spPr>
        <p:txBody>
          <a:bodyPr/>
          <a:lstStyle/>
          <a:p>
            <a:r>
              <a:rPr lang="en-US" dirty="0"/>
              <a:t>div takes up all of the available width of its container element</a:t>
            </a:r>
          </a:p>
          <a:p>
            <a:r>
              <a:rPr lang="en-US" dirty="0"/>
              <a:t>span does NOT take up all the width of its container element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D87B7-9D7A-98EA-B60D-17051A0CB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4" y="3879635"/>
            <a:ext cx="5801535" cy="724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DD80AC-7E3C-22B3-5E03-D58A5286E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381" y="2525327"/>
            <a:ext cx="2069098" cy="1807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2C4D2-D3CC-6E8E-6D28-0239D763B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64" y="5362637"/>
            <a:ext cx="5763429" cy="733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277121-C2FF-74F3-B089-2D6D58480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630" y="4443267"/>
            <a:ext cx="4477375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58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E701B-95B4-5AAB-10D2-18E8D8F4A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FEFC-045E-1B2E-1573-BC2B6D59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header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30443-EB5A-0190-6AFA-A35581763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92" y="2226544"/>
            <a:ext cx="5317584" cy="1681246"/>
          </a:xfrm>
        </p:spPr>
        <p:txBody>
          <a:bodyPr/>
          <a:lstStyle/>
          <a:p>
            <a:r>
              <a:rPr lang="en-US" dirty="0"/>
              <a:t>Create a header with a company logo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7A20F-8838-CD4E-32D7-8CD54DCA94AC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832EB-026B-FE94-A00B-A07D40713C7E}"/>
              </a:ext>
            </a:extLst>
          </p:cNvPr>
          <p:cNvSpPr txBox="1"/>
          <p:nvPr/>
        </p:nvSpPr>
        <p:spPr>
          <a:xfrm>
            <a:off x="6722919" y="2402747"/>
            <a:ext cx="488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9ADDFD-CE7D-45CF-0AF5-FFD0CE9E58F9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2776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creating a header with a logo, next to the logo, include the company name</a:t>
            </a:r>
          </a:p>
          <a:p>
            <a:r>
              <a:rPr lang="en-US" dirty="0"/>
              <a:t>Make sure your site is responsive to different sized screens by making the initial width consistent with the device viewport</a:t>
            </a:r>
          </a:p>
        </p:txBody>
      </p:sp>
    </p:spTree>
    <p:extLst>
      <p:ext uri="{BB962C8B-B14F-4D97-AF65-F5344CB8AC3E}">
        <p14:creationId xmlns:p14="http://schemas.microsoft.com/office/powerpoint/2010/main" val="135576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A879-B806-66E8-2A8D-A6E4AF36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7140-1BDC-3981-A13B-A6E5D4002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55" y="2281848"/>
            <a:ext cx="4458399" cy="3678303"/>
          </a:xfrm>
        </p:spPr>
        <p:txBody>
          <a:bodyPr/>
          <a:lstStyle/>
          <a:p>
            <a:r>
              <a:rPr lang="en-US" dirty="0" err="1"/>
              <a:t>ol</a:t>
            </a:r>
            <a:r>
              <a:rPr lang="en-US" dirty="0"/>
              <a:t> – ordered lists</a:t>
            </a:r>
          </a:p>
          <a:p>
            <a:r>
              <a:rPr lang="en-US" dirty="0"/>
              <a:t>ul – unordered lists</a:t>
            </a:r>
          </a:p>
          <a:p>
            <a:r>
              <a:rPr lang="en-US" dirty="0"/>
              <a:t>li – list item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7CD86-2808-1677-5746-169E85B7E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757" y="2657114"/>
            <a:ext cx="2912984" cy="2927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7F85E9-B2B5-723E-092B-C257CC9EA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917" y="2086155"/>
            <a:ext cx="3216991" cy="40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7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486A-38EC-C74D-8E94-3E3D6657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9F5A-1EF1-07A2-A411-3175EF328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510353" cy="3678303"/>
          </a:xfrm>
        </p:spPr>
        <p:txBody>
          <a:bodyPr/>
          <a:lstStyle/>
          <a:p>
            <a:r>
              <a:rPr lang="en-US" dirty="0"/>
              <a:t>Table – defines the whole table</a:t>
            </a:r>
          </a:p>
          <a:p>
            <a:r>
              <a:rPr lang="en-US" dirty="0"/>
              <a:t>Thead – defines the table header</a:t>
            </a:r>
          </a:p>
          <a:p>
            <a:r>
              <a:rPr lang="en-US" dirty="0"/>
              <a:t>Tr – table row</a:t>
            </a:r>
          </a:p>
          <a:p>
            <a:r>
              <a:rPr lang="en-US" dirty="0"/>
              <a:t>Th – table header value</a:t>
            </a:r>
          </a:p>
          <a:p>
            <a:r>
              <a:rPr lang="en-US" dirty="0" err="1"/>
              <a:t>Tbody</a:t>
            </a:r>
            <a:r>
              <a:rPr lang="en-US" dirty="0"/>
              <a:t> – defines the table body </a:t>
            </a:r>
          </a:p>
          <a:p>
            <a:r>
              <a:rPr lang="en-US" dirty="0"/>
              <a:t>Td – table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92E059-3FCD-D475-2CE4-1570B67A0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427" y="1992662"/>
            <a:ext cx="5119950" cy="444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98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E427-B182-DC7A-1009-37213BDF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common HTML Elements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5E21C-3D0F-0D37-5072-9CE8B72E3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785" y="2670873"/>
            <a:ext cx="2889079" cy="758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813745-BBFB-DB06-E7A9-0EF62CFBE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385" y="2502668"/>
            <a:ext cx="2380618" cy="10945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4932D6-5476-D151-8A78-19410375C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4184322"/>
            <a:ext cx="5229347" cy="3991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84FC2C-CE16-5783-13BF-7E658DCDA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325" y="3922589"/>
            <a:ext cx="4253204" cy="92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17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F321B-B993-66B5-A466-ACDEE96F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Comments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B472CB-66A3-57D1-E9F8-055810D8F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3831" y="2290625"/>
            <a:ext cx="8524338" cy="1335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4BAE58-A9F0-6400-6656-0E3A4B8D0B53}"/>
              </a:ext>
            </a:extLst>
          </p:cNvPr>
          <p:cNvSpPr txBox="1"/>
          <p:nvPr/>
        </p:nvSpPr>
        <p:spPr>
          <a:xfrm>
            <a:off x="3663314" y="4353791"/>
            <a:ext cx="48653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Code comments help by: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Explaining functionality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Crediting an author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Helping other developers digest the code </a:t>
            </a:r>
          </a:p>
        </p:txBody>
      </p:sp>
    </p:spTree>
    <p:extLst>
      <p:ext uri="{BB962C8B-B14F-4D97-AF65-F5344CB8AC3E}">
        <p14:creationId xmlns:p14="http://schemas.microsoft.com/office/powerpoint/2010/main" val="718141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E1C7-534E-DD5F-B99E-32851CE0A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2EDFC-C0D0-0DC6-539A-C708C4FF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 Create Marketing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BB77-ACF9-262A-AF8F-BAB5B63FD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some marketing content for the HTML document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D09AE-0F2B-CF3E-8CBB-F6E02FDE8969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B0B33-4F21-4D4C-6224-3AE5AD8F3327}"/>
              </a:ext>
            </a:extLst>
          </p:cNvPr>
          <p:cNvSpPr txBox="1"/>
          <p:nvPr/>
        </p:nvSpPr>
        <p:spPr>
          <a:xfrm>
            <a:off x="6545749" y="2402747"/>
            <a:ext cx="50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20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B09F6C-918C-81DB-A04A-0F99597B8456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639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creating a header that captures the attention of the viewer and sells to product (think of a tagline)</a:t>
            </a:r>
          </a:p>
          <a:p>
            <a:r>
              <a:rPr lang="en-US" dirty="0"/>
              <a:t>Create a short paragraph that further describes what the product offers. </a:t>
            </a:r>
          </a:p>
          <a:p>
            <a:r>
              <a:rPr lang="en-US" dirty="0"/>
              <a:t>Create a list that highlights key features</a:t>
            </a:r>
          </a:p>
          <a:p>
            <a:r>
              <a:rPr lang="en-US" dirty="0"/>
              <a:t>Create a table that showcases key data points</a:t>
            </a:r>
          </a:p>
          <a:p>
            <a:r>
              <a:rPr lang="en-US" dirty="0"/>
              <a:t>Create a footer that links to a separate HTML document – the company profile page (which contains a short paragraph about the company’s history and values)</a:t>
            </a:r>
          </a:p>
        </p:txBody>
      </p:sp>
    </p:spTree>
    <p:extLst>
      <p:ext uri="{BB962C8B-B14F-4D97-AF65-F5344CB8AC3E}">
        <p14:creationId xmlns:p14="http://schemas.microsoft.com/office/powerpoint/2010/main" val="2272081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7806-9F14-4532-9247-76540D6E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FFAA8-2B58-FE9E-9A94-4B20E9051D60}"/>
              </a:ext>
            </a:extLst>
          </p:cNvPr>
          <p:cNvSpPr txBox="1"/>
          <p:nvPr/>
        </p:nvSpPr>
        <p:spPr>
          <a:xfrm>
            <a:off x="700303" y="2565979"/>
            <a:ext cx="6328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Action – where the form data goes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Method – how data is sent (get, post)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Input element – different types of input elements may be used to collect different types of data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468B2B-4038-8C3E-1505-EA7D7771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691" y="2565979"/>
            <a:ext cx="4163006" cy="1143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FFE603-5012-5673-72F7-F67292185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26" y="4431098"/>
            <a:ext cx="7638545" cy="7109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9C51A6-E7AA-A6EB-518C-5078D8DC7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363" y="5611719"/>
            <a:ext cx="5887272" cy="68589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211CF23-BD50-BEB9-290B-4C3A82B90FF2}"/>
              </a:ext>
            </a:extLst>
          </p:cNvPr>
          <p:cNvSpPr txBox="1"/>
          <p:nvPr/>
        </p:nvSpPr>
        <p:spPr>
          <a:xfrm>
            <a:off x="2205318" y="4061766"/>
            <a:ext cx="2259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Input (single line)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F710B-9DED-5914-243D-545D80279176}"/>
              </a:ext>
            </a:extLst>
          </p:cNvPr>
          <p:cNvSpPr txBox="1"/>
          <p:nvPr/>
        </p:nvSpPr>
        <p:spPr>
          <a:xfrm>
            <a:off x="3071681" y="5242387"/>
            <a:ext cx="245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Password Input (hidden)</a:t>
            </a:r>
          </a:p>
        </p:txBody>
      </p:sp>
    </p:spTree>
    <p:extLst>
      <p:ext uri="{BB962C8B-B14F-4D97-AF65-F5344CB8AC3E}">
        <p14:creationId xmlns:p14="http://schemas.microsoft.com/office/powerpoint/2010/main" val="1102024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11574-1541-60C6-A8FA-675FF1BA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6F0B-C131-2BFF-7151-01E624DD6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Continued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031BF-9990-C178-81AA-986CE3A0D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258" y="2237658"/>
            <a:ext cx="7049484" cy="2010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65A5D7-3304-4986-72EA-D19D1C5EE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826" y="4617046"/>
            <a:ext cx="7363853" cy="2057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902AA1-D4B3-1D46-F133-5FC5840D6576}"/>
              </a:ext>
            </a:extLst>
          </p:cNvPr>
          <p:cNvSpPr txBox="1"/>
          <p:nvPr/>
        </p:nvSpPr>
        <p:spPr>
          <a:xfrm>
            <a:off x="2571258" y="1871623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Radio Selection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43DA3-CA19-E30C-5C8A-07F83040F686}"/>
              </a:ext>
            </a:extLst>
          </p:cNvPr>
          <p:cNvSpPr txBox="1"/>
          <p:nvPr/>
        </p:nvSpPr>
        <p:spPr>
          <a:xfrm>
            <a:off x="2456783" y="4247714"/>
            <a:ext cx="1331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Checkboxes</a:t>
            </a:r>
          </a:p>
        </p:txBody>
      </p:sp>
    </p:spTree>
    <p:extLst>
      <p:ext uri="{BB962C8B-B14F-4D97-AF65-F5344CB8AC3E}">
        <p14:creationId xmlns:p14="http://schemas.microsoft.com/office/powerpoint/2010/main" val="559820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2641D-1EAD-A91E-7D0D-F638471FA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9E9F-795E-79D3-5DBE-E879C557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Continued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9CEA3-1E83-3003-9D2B-EE13CE20C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628" y="2614186"/>
            <a:ext cx="4972744" cy="2095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865904-47F5-BD71-B9AF-EC7CA7CB3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994" y="5317527"/>
            <a:ext cx="7602011" cy="838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1C8225-6618-ED26-EBA8-B9AD598CB2CB}"/>
              </a:ext>
            </a:extLst>
          </p:cNvPr>
          <p:cNvSpPr txBox="1"/>
          <p:nvPr/>
        </p:nvSpPr>
        <p:spPr>
          <a:xfrm>
            <a:off x="3546875" y="2244854"/>
            <a:ext cx="179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Dropdown Menu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52B977-BB42-D55D-2DFF-4EDDC5C9E944}"/>
              </a:ext>
            </a:extLst>
          </p:cNvPr>
          <p:cNvSpPr txBox="1"/>
          <p:nvPr/>
        </p:nvSpPr>
        <p:spPr>
          <a:xfrm>
            <a:off x="2294994" y="4948195"/>
            <a:ext cx="2226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Input (multi-line)</a:t>
            </a:r>
          </a:p>
        </p:txBody>
      </p:sp>
    </p:spTree>
    <p:extLst>
      <p:ext uri="{BB962C8B-B14F-4D97-AF65-F5344CB8AC3E}">
        <p14:creationId xmlns:p14="http://schemas.microsoft.com/office/powerpoint/2010/main" val="423666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DDEC-318C-73FB-8F4E-E9F7B66A0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A38AB-3AEC-3EE6-E260-BAB3C4B6F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7"/>
            <a:ext cx="10866736" cy="2006022"/>
          </a:xfrm>
        </p:spPr>
        <p:txBody>
          <a:bodyPr/>
          <a:lstStyle/>
          <a:p>
            <a:r>
              <a:rPr lang="en-US" dirty="0"/>
              <a:t>A button of type ‘submit’ is required for the form</a:t>
            </a:r>
          </a:p>
          <a:p>
            <a:r>
              <a:rPr lang="en-US" dirty="0"/>
              <a:t>The ‘name’ attribute on our inputs correlate to string query parameters within the request URL:</a:t>
            </a:r>
          </a:p>
          <a:p>
            <a:pPr marL="0" indent="0">
              <a:buNone/>
            </a:pPr>
            <a:r>
              <a:rPr lang="en-US" dirty="0"/>
              <a:t>								</a:t>
            </a:r>
          </a:p>
          <a:p>
            <a:pPr marL="0" indent="0">
              <a:buNone/>
            </a:pPr>
            <a:r>
              <a:rPr lang="en-US" dirty="0"/>
              <a:t>							https://pokeapi.co/api/v2/?pokemon=pikachu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4A011-BECF-5793-1012-6AF04C811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458" y="4385912"/>
            <a:ext cx="8531083" cy="130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95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A837E-99CB-93DD-5B52-223544FF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B2FB-D865-2F03-BD03-DE670BE4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F719-4333-E474-FD14-2765391AE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form to take in a user’s contact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1CD85B-7C3F-2D32-E899-ABA9C279CE4D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ADE9B-1CA9-32BE-AD10-B7CDD82CC3AD}"/>
              </a:ext>
            </a:extLst>
          </p:cNvPr>
          <p:cNvSpPr txBox="1"/>
          <p:nvPr/>
        </p:nvSpPr>
        <p:spPr>
          <a:xfrm>
            <a:off x="6545749" y="2402747"/>
            <a:ext cx="50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25F4D0E-A57C-298F-329A-FB8969BB0686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639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creating a form that can accept user input:</a:t>
            </a:r>
          </a:p>
          <a:p>
            <a:pPr lvl="1"/>
            <a:r>
              <a:rPr lang="en-US" dirty="0"/>
              <a:t>A name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Dropdown to select which product they are interested in</a:t>
            </a:r>
          </a:p>
          <a:p>
            <a:r>
              <a:rPr lang="en-US" dirty="0"/>
              <a:t>The form doesn’t need to submit to a backend </a:t>
            </a:r>
          </a:p>
        </p:txBody>
      </p:sp>
    </p:spTree>
    <p:extLst>
      <p:ext uri="{BB962C8B-B14F-4D97-AF65-F5344CB8AC3E}">
        <p14:creationId xmlns:p14="http://schemas.microsoft.com/office/powerpoint/2010/main" val="1265308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9D22E-B4EF-BE14-98FC-797C7D81E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295F2-5B8E-CC15-1814-4A53A56E98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2976845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78C4-F3CA-311E-DA95-C891EA42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609F4-2990-E46B-6990-7FFB2319C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CSS</a:t>
            </a:r>
            <a:r>
              <a:rPr lang="en-US" dirty="0"/>
              <a:t> – Cascading Style Sheets (CSS) is used to describe the presentation of HTML elements on a web page. </a:t>
            </a:r>
          </a:p>
          <a:p>
            <a:pPr lvl="1"/>
            <a:r>
              <a:rPr lang="en-US" dirty="0"/>
              <a:t>Controls how things look – layout, colors, fonts, spacing, and more </a:t>
            </a:r>
          </a:p>
          <a:p>
            <a:r>
              <a:rPr lang="en-US" dirty="0"/>
              <a:t>This provides separation of concerns. i.e. HTML for structure and CSS for styling</a:t>
            </a:r>
          </a:p>
        </p:txBody>
      </p:sp>
    </p:spTree>
    <p:extLst>
      <p:ext uri="{BB962C8B-B14F-4D97-AF65-F5344CB8AC3E}">
        <p14:creationId xmlns:p14="http://schemas.microsoft.com/office/powerpoint/2010/main" val="2063216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EA86-AA77-3145-917F-0ABEB2543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CSS Applied?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1FD53-7EF4-94F6-2CC0-F17E349D2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9" y="1715956"/>
            <a:ext cx="5864431" cy="4586232"/>
          </a:xfrm>
        </p:spPr>
        <p:txBody>
          <a:bodyPr/>
          <a:lstStyle/>
          <a:p>
            <a:r>
              <a:rPr lang="en-US" dirty="0"/>
              <a:t>When the browser loads a page, it first looks to HTML to render the structure of the page, and a DOM is created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The Document Object Model (DOM) </a:t>
            </a:r>
            <a:r>
              <a:rPr lang="en-US" dirty="0"/>
              <a:t>– represents a web page as a tree of objects, allowing CSS &amp; JavaScript to access, manipulate, and modify the content and styling </a:t>
            </a:r>
          </a:p>
          <a:p>
            <a:r>
              <a:rPr lang="en-US" dirty="0"/>
              <a:t>CSS rules are applied to nodes within the DOM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A1A57-D89F-7D14-6B85-E1465BF24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078" y="2301739"/>
            <a:ext cx="4551464" cy="385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68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9649-718D-5DE3-BB42-863BA85C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Rules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7B50D-9F51-81B9-74A0-FD6625701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307" y="2187815"/>
            <a:ext cx="6771386" cy="380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23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AF972-5A45-389E-6D6E-F0BC54F87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CSS Applied?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ADB5BA6A-4C6B-BD38-9138-9821F89D90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180496"/>
          <a:ext cx="5029899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40C9972-F8D8-AD26-54D3-6D4F0B4241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274" y="2563477"/>
            <a:ext cx="5516534" cy="677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906C9B-C4D7-9A7F-0A26-0757C7F979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3671" y="3476991"/>
            <a:ext cx="2257740" cy="1086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1C1BA7-0351-084A-AFDD-4577737A4E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7832" y="4972197"/>
            <a:ext cx="5929418" cy="50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29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8C66-1E90-B664-7F63-EBEFD4F0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2F67A-5451-6A5F-E827-25A526A67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3208" y="2797821"/>
            <a:ext cx="5057608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Element Selector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Selector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Id Selector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92E0B-870F-6426-F2E4-70A84EA08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447" y="2675389"/>
            <a:ext cx="1914792" cy="1066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6E6F82-596C-7C6B-5750-9F6801B0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16" y="3876627"/>
            <a:ext cx="3096057" cy="1105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2AC021-C2F2-7B75-85B1-CD68399C6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263" y="5408116"/>
            <a:ext cx="2229161" cy="1152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3F64AE-4093-5253-3B90-0AB042F03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116" y="1972677"/>
            <a:ext cx="4439111" cy="56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386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768F-1AF3-FAA1-CF2E-BA543B6E6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6B74-695C-FE85-D5DD-42B31F9C8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6677-2DF9-B61E-5BB1-7761FF479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035" y="2388314"/>
            <a:ext cx="5057608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Attribute Selector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Pseudo-class Selector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Pseudo-element Selector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3E6C9C-B65E-97F2-23C9-8891B1A12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843" y="2247735"/>
            <a:ext cx="2886478" cy="1181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C209A1-57DE-6D0D-C83A-6851D3C90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896" y="3747139"/>
            <a:ext cx="1762371" cy="11717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3BD113-DD8D-D2FB-6914-4A346E255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132" y="5237017"/>
            <a:ext cx="2133898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35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B462C-D54E-701C-5B3D-237ED749A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7BCB-29AE-6454-5CAB-FE3CA31B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58C59-F55E-1C74-0EAC-5AD3199B9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9790" y="2492916"/>
            <a:ext cx="7072420" cy="1695313"/>
          </a:xfrm>
        </p:spPr>
        <p:txBody>
          <a:bodyPr>
            <a:normAutofit/>
          </a:bodyPr>
          <a:lstStyle/>
          <a:p>
            <a:r>
              <a:rPr lang="en-US" dirty="0"/>
              <a:t>Combinator Selectors – targets elements based on their relationship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8FB4D-4164-FE4C-BFAA-F2C242291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291" y="4618072"/>
            <a:ext cx="7553417" cy="86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46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1E0A-80A2-B316-C11B-E72555E6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7CB9E-B75D-0633-960A-AB26D5177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611" y="3136831"/>
            <a:ext cx="5390973" cy="1628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11D7D5-E142-4FF9-5DF8-715EE708D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941" y="3136831"/>
            <a:ext cx="2431987" cy="2590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901AF5-897B-F119-7322-CBF26D578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36" y="5320465"/>
            <a:ext cx="7652954" cy="1013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083937-4AA4-E741-349A-6A1DED8BBF02}"/>
              </a:ext>
            </a:extLst>
          </p:cNvPr>
          <p:cNvSpPr txBox="1"/>
          <p:nvPr/>
        </p:nvSpPr>
        <p:spPr>
          <a:xfrm flipH="1">
            <a:off x="740036" y="2129474"/>
            <a:ext cx="10711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Specificity</a:t>
            </a:r>
            <a:r>
              <a:rPr lang="en-US" dirty="0"/>
              <a:t> - rules that determine which style to apply when an element has multiple conflicting styles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306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2416-97B4-72E4-4A09-0FBF4E78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Specificity with multiple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076B-AA90-0200-E766-7E7A02003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could use inline, internal, and external CSS all on the same page</a:t>
            </a:r>
          </a:p>
          <a:p>
            <a:r>
              <a:rPr lang="en-US" dirty="0"/>
              <a:t>Specificity in this scenario looks like this:</a:t>
            </a:r>
          </a:p>
          <a:p>
            <a:pPr lvl="1"/>
            <a:r>
              <a:rPr lang="en-US" dirty="0"/>
              <a:t>Inline &gt; Internal &gt; External</a:t>
            </a:r>
          </a:p>
        </p:txBody>
      </p:sp>
    </p:spTree>
    <p:extLst>
      <p:ext uri="{BB962C8B-B14F-4D97-AF65-F5344CB8AC3E}">
        <p14:creationId xmlns:p14="http://schemas.microsoft.com/office/powerpoint/2010/main" val="795105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0BC0E-4C23-140E-B3A8-26CBC7CC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5163-A75D-DA79-6950-E4F7A8F4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</a:t>
            </a:r>
            <a:r>
              <a:rPr lang="en-US" dirty="0" err="1"/>
              <a:t>Css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28C0-FC02-E8A2-5B20-A8520F89C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CSS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0ED9D-376B-9E11-1377-BB6D58ED5BD9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68301-2EEA-D6F3-95B1-34D7806BA248}"/>
              </a:ext>
            </a:extLst>
          </p:cNvPr>
          <p:cNvSpPr txBox="1"/>
          <p:nvPr/>
        </p:nvSpPr>
        <p:spPr>
          <a:xfrm>
            <a:off x="6545749" y="2402747"/>
            <a:ext cx="50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D03009-B7F1-697B-6145-0A3D160502D4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639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creating a CSS document to style your page</a:t>
            </a:r>
          </a:p>
          <a:p>
            <a:pPr lvl="1"/>
            <a:r>
              <a:rPr lang="en-US" dirty="0"/>
              <a:t>Include a background color for your header, change the text color as necessary to match your header </a:t>
            </a:r>
          </a:p>
        </p:txBody>
      </p:sp>
    </p:spTree>
    <p:extLst>
      <p:ext uri="{BB962C8B-B14F-4D97-AF65-F5344CB8AC3E}">
        <p14:creationId xmlns:p14="http://schemas.microsoft.com/office/powerpoint/2010/main" val="1406196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27D6-417C-2E0F-D0B9-58AEE07F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Box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475E-24CF-BE80-68EF-BEA9FC6A2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48275" cy="3975348"/>
          </a:xfrm>
        </p:spPr>
        <p:txBody>
          <a:bodyPr/>
          <a:lstStyle/>
          <a:p>
            <a:r>
              <a:rPr lang="en-US" dirty="0"/>
              <a:t>Margin – the space between an element and other elements on the page</a:t>
            </a:r>
          </a:p>
          <a:p>
            <a:r>
              <a:rPr lang="en-US" dirty="0"/>
              <a:t>Border – a perimeter around content which can be customized </a:t>
            </a:r>
          </a:p>
          <a:p>
            <a:r>
              <a:rPr lang="en-US" dirty="0"/>
              <a:t>Padding – the space between the content of an element and the border </a:t>
            </a:r>
          </a:p>
          <a:p>
            <a:r>
              <a:rPr lang="en-US" dirty="0"/>
              <a:t>Content – The actual content of the element - could be text, another element, etc.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6EC64F-D954-B980-B7B1-AB96333F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38509"/>
            <a:ext cx="5248275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93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203DE-DF30-32CC-BE8A-89825EC4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Box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DDC0B0-9472-9AE0-264A-629316131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9257" y="2221022"/>
            <a:ext cx="4189832" cy="15336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CEA5F4-51BD-084A-F7D0-87A533A39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332" y="4164840"/>
            <a:ext cx="2372056" cy="18957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F3E728-B211-5F9A-3E01-4B2F09660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819" y="4164840"/>
            <a:ext cx="4648849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96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8CF0-3738-E5FA-8F85-9287B037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Box Model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553FFC-534B-AE61-9A6F-0568CBA64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698926"/>
              </p:ext>
            </p:extLst>
          </p:nvPr>
        </p:nvGraphicFramePr>
        <p:xfrm>
          <a:off x="580860" y="2020210"/>
          <a:ext cx="11029948" cy="365760"/>
        </p:xfrm>
        <a:graphic>
          <a:graphicData uri="http://schemas.openxmlformats.org/drawingml/2006/table">
            <a:tbl>
              <a:tblPr/>
              <a:tblGrid>
                <a:gridCol w="2757487">
                  <a:extLst>
                    <a:ext uri="{9D8B030D-6E8A-4147-A177-3AD203B41FA5}">
                      <a16:colId xmlns:a16="http://schemas.microsoft.com/office/drawing/2014/main" val="1163776887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586036783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711772646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247260379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Variants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Shorthand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922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46B0426-AD3E-CE7E-75D5-65E35C086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974272"/>
              </p:ext>
            </p:extLst>
          </p:nvPr>
        </p:nvGraphicFramePr>
        <p:xfrm>
          <a:off x="580860" y="3544210"/>
          <a:ext cx="11029948" cy="1744851"/>
        </p:xfrm>
        <a:graphic>
          <a:graphicData uri="http://schemas.openxmlformats.org/drawingml/2006/table">
            <a:tbl>
              <a:tblPr/>
              <a:tblGrid>
                <a:gridCol w="2757487">
                  <a:extLst>
                    <a:ext uri="{9D8B030D-6E8A-4147-A177-3AD203B41FA5}">
                      <a16:colId xmlns:a16="http://schemas.microsoft.com/office/drawing/2014/main" val="908272185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56221707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824991043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145958567"/>
                    </a:ext>
                  </a:extLst>
                </a:gridCol>
              </a:tblGrid>
              <a:tr h="1744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Margin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Space </a:t>
                      </a:r>
                      <a:r>
                        <a:rPr lang="en-US" sz="1400" b="1" dirty="0"/>
                        <a:t>outside</a:t>
                      </a:r>
                      <a:r>
                        <a:rPr lang="en-US" sz="1400" dirty="0"/>
                        <a:t> the element, separating it from other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margin-top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margin-right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margin-bottom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margin-left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margin: top right bottom left;</a:t>
                      </a:r>
                      <a:r>
                        <a:rPr lang="en-US" sz="1400" dirty="0"/>
                        <a:t>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Examples: </a:t>
                      </a:r>
                      <a:br>
                        <a:rPr lang="en-US" sz="1400" dirty="0"/>
                      </a:br>
                      <a:r>
                        <a:rPr lang="en-US" sz="1400" dirty="0">
                          <a:latin typeface="Courier New" panose="02070309020205020404" pitchFamily="49" charset="0"/>
                        </a:rPr>
                        <a:t>margin: 10px;</a:t>
                      </a:r>
                      <a:r>
                        <a:rPr lang="en-US" sz="1400" dirty="0"/>
                        <a:t> (all sides) </a:t>
                      </a:r>
                      <a:br>
                        <a:rPr lang="en-US" sz="1400" dirty="0"/>
                      </a:br>
                      <a:r>
                        <a:rPr lang="en-US" sz="1400" dirty="0">
                          <a:latin typeface="Courier New" panose="02070309020205020404" pitchFamily="49" charset="0"/>
                        </a:rPr>
                        <a:t>margin: 10px 20px;</a:t>
                      </a:r>
                      <a:r>
                        <a:rPr lang="en-US" sz="1400" dirty="0"/>
                        <a:t> (top/bottom 10px, left/right 20px)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66137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015B55-EE38-6052-0072-33D30B3ED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055021"/>
              </p:ext>
            </p:extLst>
          </p:nvPr>
        </p:nvGraphicFramePr>
        <p:xfrm>
          <a:off x="580860" y="5187446"/>
          <a:ext cx="11029948" cy="1463040"/>
        </p:xfrm>
        <a:graphic>
          <a:graphicData uri="http://schemas.openxmlformats.org/drawingml/2006/table">
            <a:tbl>
              <a:tblPr/>
              <a:tblGrid>
                <a:gridCol w="2757487">
                  <a:extLst>
                    <a:ext uri="{9D8B030D-6E8A-4147-A177-3AD203B41FA5}">
                      <a16:colId xmlns:a16="http://schemas.microsoft.com/office/drawing/2014/main" val="2508775333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465640963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4004706644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149724148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Padding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Space </a:t>
                      </a:r>
                      <a:r>
                        <a:rPr lang="en-US" sz="1400" b="1" dirty="0"/>
                        <a:t>inside</a:t>
                      </a:r>
                      <a:r>
                        <a:rPr lang="en-US" sz="1400" dirty="0"/>
                        <a:t> the element, between the content and the border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padding-top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padding-right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padding-bottom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padding-left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padding: top right bottom left;</a:t>
                      </a:r>
                      <a:r>
                        <a:rPr lang="en-US" sz="1400" dirty="0"/>
                        <a:t>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Examples: </a:t>
                      </a:r>
                      <a:br>
                        <a:rPr lang="en-US" sz="1400" dirty="0"/>
                      </a:br>
                      <a:r>
                        <a:rPr lang="en-US" sz="1400" dirty="0">
                          <a:latin typeface="Courier New" panose="02070309020205020404" pitchFamily="49" charset="0"/>
                        </a:rPr>
                        <a:t>padding: 5px;</a:t>
                      </a:r>
                      <a:r>
                        <a:rPr lang="en-US" sz="1400" dirty="0"/>
                        <a:t> </a:t>
                      </a:r>
                      <a:br>
                        <a:rPr lang="en-US" sz="1400" dirty="0"/>
                      </a:br>
                      <a:r>
                        <a:rPr lang="en-US" sz="1400" dirty="0">
                          <a:latin typeface="Courier New" panose="02070309020205020404" pitchFamily="49" charset="0"/>
                        </a:rPr>
                        <a:t>padding: 5px 10px;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(top/bottom 5px, left/right 10px)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9326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E1253A-7C22-CEC4-CEA9-66FB6DFE7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9050"/>
              </p:ext>
            </p:extLst>
          </p:nvPr>
        </p:nvGraphicFramePr>
        <p:xfrm>
          <a:off x="580860" y="2385970"/>
          <a:ext cx="11029948" cy="1158240"/>
        </p:xfrm>
        <a:graphic>
          <a:graphicData uri="http://schemas.openxmlformats.org/drawingml/2006/table">
            <a:tbl>
              <a:tblPr/>
              <a:tblGrid>
                <a:gridCol w="2757487">
                  <a:extLst>
                    <a:ext uri="{9D8B030D-6E8A-4147-A177-3AD203B41FA5}">
                      <a16:colId xmlns:a16="http://schemas.microsoft.com/office/drawing/2014/main" val="2774344880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855239331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52789516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985031510"/>
                    </a:ext>
                  </a:extLst>
                </a:gridCol>
              </a:tblGrid>
              <a:tr h="1146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Border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Line surrounding the element’s padding (inside margin)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border-width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border-style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border-color</a:t>
                      </a:r>
                      <a:r>
                        <a:rPr lang="en-US" sz="1400"/>
                        <a:t> </a:t>
                      </a:r>
                      <a:br>
                        <a:rPr lang="en-US" sz="1400"/>
                      </a:br>
                      <a:r>
                        <a:rPr lang="en-US" sz="1400">
                          <a:latin typeface="Courier New" panose="02070309020205020404" pitchFamily="49" charset="0"/>
                        </a:rPr>
                        <a:t>border-top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border-right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border-bottom</a:t>
                      </a:r>
                      <a:r>
                        <a:rPr lang="en-US" sz="1400"/>
                        <a:t>,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border-left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border: width style color;</a:t>
                      </a:r>
                      <a:r>
                        <a:rPr lang="en-US" sz="1400" dirty="0"/>
                        <a:t>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Example: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border: 2px solid black;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985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722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7863B-D547-B6E9-B48C-196755A5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6E9E-D710-0C26-0550-FCFF3517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Use the Box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8DFF-139E-25E3-D673-3BBEC0C93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Format our header and main content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502EA-B966-B1B1-8E96-6E3BD5FF6D4C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B9BF4-D42B-7592-E884-426D49FF81F2}"/>
              </a:ext>
            </a:extLst>
          </p:cNvPr>
          <p:cNvSpPr txBox="1"/>
          <p:nvPr/>
        </p:nvSpPr>
        <p:spPr>
          <a:xfrm>
            <a:off x="6545749" y="2402747"/>
            <a:ext cx="50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BC24F5-83F0-3E94-440B-4C8B925DFA05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639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formatting your header so that it takes up all the available width of its container</a:t>
            </a:r>
          </a:p>
          <a:p>
            <a:r>
              <a:rPr lang="en-US" dirty="0"/>
              <a:t>Format all other content so that it is 80% the width of the viewport, and center it on the page</a:t>
            </a:r>
          </a:p>
        </p:txBody>
      </p:sp>
    </p:spTree>
    <p:extLst>
      <p:ext uri="{BB962C8B-B14F-4D97-AF65-F5344CB8AC3E}">
        <p14:creationId xmlns:p14="http://schemas.microsoft.com/office/powerpoint/2010/main" val="30335642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77BA-65EA-EC9D-1535-26751654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9B334-36F2-6646-9250-8477881D0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328762" cy="43056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position property in CSS determines how an element is positioned in the document and how it behaves relative to other elements. </a:t>
            </a:r>
          </a:p>
          <a:p>
            <a:r>
              <a:rPr lang="en-US" dirty="0"/>
              <a:t>Static – default position for all elements; Elements flow naturally.</a:t>
            </a:r>
          </a:p>
          <a:p>
            <a:r>
              <a:rPr lang="en-US" dirty="0"/>
              <a:t>Relative – Element is shifted relative to normal position with the top, left, right, and bottom properties. </a:t>
            </a:r>
          </a:p>
          <a:p>
            <a:r>
              <a:rPr lang="en-US" dirty="0"/>
              <a:t>Absolute – Element is positioned relative to its parent with the top, left, right, and bottom properties.</a:t>
            </a:r>
          </a:p>
          <a:p>
            <a:r>
              <a:rPr lang="en-US" dirty="0"/>
              <a:t>Fixed – Element is positioned relative to the viewport; stays in place when scrolling.</a:t>
            </a:r>
          </a:p>
          <a:p>
            <a:r>
              <a:rPr lang="en-US" dirty="0"/>
              <a:t>Sticky – Element is relative until a scroll threshold, then it becomes fixed; requires a top, left, right, or bottom value to work.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B299D-B274-7522-90D9-CAFBF8109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063" y="1965438"/>
            <a:ext cx="3360019" cy="452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10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A7DC-A2C2-A725-4979-F2BCBA8D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A63636-A629-0E9F-9D71-1EA5E10C6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6927" y="4797960"/>
            <a:ext cx="1854875" cy="1366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9D7785-F037-50C1-C1A7-61B6537D4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720" y="2578832"/>
            <a:ext cx="2577980" cy="2039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41EB7A-37CB-F722-0A97-D67AD119690C}"/>
              </a:ext>
            </a:extLst>
          </p:cNvPr>
          <p:cNvSpPr txBox="1"/>
          <p:nvPr/>
        </p:nvSpPr>
        <p:spPr>
          <a:xfrm>
            <a:off x="722267" y="2431473"/>
            <a:ext cx="57824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– we see that it follows normal flow</a:t>
            </a:r>
          </a:p>
          <a:p>
            <a:endParaRPr lang="en-US" dirty="0"/>
          </a:p>
          <a:p>
            <a:r>
              <a:rPr lang="en-US" dirty="0"/>
              <a:t>Relative – we see that it is shifted 20 </a:t>
            </a:r>
            <a:r>
              <a:rPr lang="en-US" dirty="0" err="1"/>
              <a:t>px</a:t>
            </a:r>
            <a:r>
              <a:rPr lang="en-US" dirty="0"/>
              <a:t> to the right and 10 </a:t>
            </a:r>
            <a:r>
              <a:rPr lang="en-US" dirty="0" err="1"/>
              <a:t>px</a:t>
            </a:r>
            <a:r>
              <a:rPr lang="en-US" dirty="0"/>
              <a:t> down from its normal position</a:t>
            </a:r>
          </a:p>
          <a:p>
            <a:endParaRPr lang="en-US" dirty="0"/>
          </a:p>
          <a:p>
            <a:r>
              <a:rPr lang="en-US" dirty="0"/>
              <a:t>Absolute – shifted not from its original position but that of its parent</a:t>
            </a:r>
          </a:p>
          <a:p>
            <a:endParaRPr lang="en-US" dirty="0"/>
          </a:p>
          <a:p>
            <a:r>
              <a:rPr lang="en-US" dirty="0"/>
              <a:t>Fixed – stuck to the bottom right at all times</a:t>
            </a:r>
          </a:p>
          <a:p>
            <a:endParaRPr lang="en-US" dirty="0"/>
          </a:p>
          <a:p>
            <a:r>
              <a:rPr lang="en-US" dirty="0"/>
              <a:t>Sticky – acts as relative until you scroll past it, then it will be stuck to the top of the page</a:t>
            </a:r>
          </a:p>
        </p:txBody>
      </p:sp>
    </p:spTree>
    <p:extLst>
      <p:ext uri="{BB962C8B-B14F-4D97-AF65-F5344CB8AC3E}">
        <p14:creationId xmlns:p14="http://schemas.microsoft.com/office/powerpoint/2010/main" val="21488559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D9AC-A5E2-4F5B-C132-6E19DC23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53199-4E0D-8313-FEDB-775584769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/>
              <a:t>Definition: Flexbox – is a CSS layout system designed to make it easier to arrange and align elements inside a container. </a:t>
            </a:r>
          </a:p>
          <a:p>
            <a:pPr lvl="1"/>
            <a:r>
              <a:rPr lang="en-US" dirty="0"/>
              <a:t>Let's us control how items grow, shrink, and align within a parent container.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C2A2D-9151-E177-C6E1-CF6199791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21" y="3760727"/>
            <a:ext cx="2676899" cy="2762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5FD1BC-25A6-93CF-72D8-3D3B00765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620" y="3760727"/>
            <a:ext cx="5992061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498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C84F-F1FA-D849-E447-A85E34D4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37F0E-1E67-B660-D669-AA50DA26F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323" y="2211668"/>
            <a:ext cx="7939353" cy="3678303"/>
          </a:xfrm>
        </p:spPr>
        <p:txBody>
          <a:bodyPr/>
          <a:lstStyle/>
          <a:p>
            <a:r>
              <a:rPr lang="en-US" dirty="0"/>
              <a:t>Flex Container – where we apply { display: flex; }</a:t>
            </a:r>
          </a:p>
          <a:p>
            <a:r>
              <a:rPr lang="en-US" dirty="0"/>
              <a:t>Flex Items – The child elements inside the flex container</a:t>
            </a:r>
          </a:p>
          <a:p>
            <a:r>
              <a:rPr lang="en-US" dirty="0"/>
              <a:t>Items in a container are either in a row or column layout</a:t>
            </a:r>
          </a:p>
          <a:p>
            <a:r>
              <a:rPr lang="en-US" dirty="0"/>
              <a:t>Justify-content property is used to align items on the X-axis when set to row, it will align items on the Y-axis when set to column.</a:t>
            </a:r>
          </a:p>
          <a:p>
            <a:r>
              <a:rPr lang="en-US" dirty="0"/>
              <a:t>Align-items is used to align items on the opposite axis of the justify-content property. </a:t>
            </a:r>
          </a:p>
        </p:txBody>
      </p:sp>
    </p:spTree>
    <p:extLst>
      <p:ext uri="{BB962C8B-B14F-4D97-AF65-F5344CB8AC3E}">
        <p14:creationId xmlns:p14="http://schemas.microsoft.com/office/powerpoint/2010/main" val="14155799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5EBD3-02F8-156D-77E6-AF1FF4B2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2C93-BEAC-65A3-EED9-BEAF5D54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Use 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C0A0A-43B2-F691-E85E-BEB9B396C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Fix our header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C66B5-4CA1-DA59-40E7-604A0E277288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5E58F-52AA-E09F-FEBD-9DA0F0BE9229}"/>
              </a:ext>
            </a:extLst>
          </p:cNvPr>
          <p:cNvSpPr txBox="1"/>
          <p:nvPr/>
        </p:nvSpPr>
        <p:spPr>
          <a:xfrm>
            <a:off x="6545749" y="2402747"/>
            <a:ext cx="50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3936247-3625-1719-7D6C-31DED9E7D6F2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639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a static site to advertise their new product. </a:t>
            </a:r>
          </a:p>
          <a:p>
            <a:r>
              <a:rPr lang="en-US" dirty="0"/>
              <a:t>Further develop the site by formatting your header so that the logo is positioned on the left and the company name on the right. </a:t>
            </a:r>
          </a:p>
        </p:txBody>
      </p:sp>
    </p:spTree>
    <p:extLst>
      <p:ext uri="{BB962C8B-B14F-4D97-AF65-F5344CB8AC3E}">
        <p14:creationId xmlns:p14="http://schemas.microsoft.com/office/powerpoint/2010/main" val="29250826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66F2-D21A-3BA9-9E7B-940782FFA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Common CSS Properties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38CB26-B2BE-F4F4-A844-CD9A7BDD3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727464"/>
              </p:ext>
            </p:extLst>
          </p:nvPr>
        </p:nvGraphicFramePr>
        <p:xfrm>
          <a:off x="1201996" y="1790592"/>
          <a:ext cx="9546686" cy="5067408"/>
        </p:xfrm>
        <a:graphic>
          <a:graphicData uri="http://schemas.openxmlformats.org/drawingml/2006/table">
            <a:tbl>
              <a:tblPr/>
              <a:tblGrid>
                <a:gridCol w="4773343">
                  <a:extLst>
                    <a:ext uri="{9D8B030D-6E8A-4147-A177-3AD203B41FA5}">
                      <a16:colId xmlns:a16="http://schemas.microsoft.com/office/drawing/2014/main" val="666680440"/>
                    </a:ext>
                  </a:extLst>
                </a:gridCol>
                <a:gridCol w="4773343">
                  <a:extLst>
                    <a:ext uri="{9D8B030D-6E8A-4147-A177-3AD203B41FA5}">
                      <a16:colId xmlns:a16="http://schemas.microsoft.com/office/drawing/2014/main" val="3897872875"/>
                    </a:ext>
                  </a:extLst>
                </a:gridCol>
              </a:tblGrid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Property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Function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242796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background-image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Adds an image as a background.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184655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font-size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Controls the size of text.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501919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font-family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Defines the typeface (e.g., Arial, Times New Roman).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413648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font-weight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Sets the thickness of text (e.g.,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normal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bold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400</a:t>
                      </a:r>
                      <a:r>
                        <a:rPr lang="en-US" sz="1200"/>
                        <a:t>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599495"/>
                  </a:ext>
                </a:extLst>
              </a:tr>
              <a:tr h="30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text-align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Aligns text horizontally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left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center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right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justify</a:t>
                      </a:r>
                      <a:r>
                        <a:rPr lang="en-US" sz="1200"/>
                        <a:t>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194337"/>
                  </a:ext>
                </a:extLst>
              </a:tr>
              <a:tr h="30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text-decoration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Adds effects like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underline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overline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line-through</a:t>
                      </a:r>
                      <a:r>
                        <a:rPr lang="en-US" sz="1200"/>
                        <a:t>, or removes them.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43786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line-height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Controls vertical spacing between lines of text.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63479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letter-spacing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Adjusts spacing between characters.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033832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word-spacing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Adjusts spacing between words.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88127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max-width</a:t>
                      </a:r>
                      <a:r>
                        <a:rPr lang="en-US" sz="1200"/>
                        <a:t> /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min-width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Restricts how wide an element can grow or shrink.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391474"/>
                  </a:ext>
                </a:extLst>
              </a:tr>
              <a:tr h="386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overflow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Controls what happens to content that overflows a box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visible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hidden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scroll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auto</a:t>
                      </a:r>
                      <a:r>
                        <a:rPr lang="en-US" sz="1200"/>
                        <a:t>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277890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z-index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Sets the stacking order of elements (higher = in front).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073270"/>
                  </a:ext>
                </a:extLst>
              </a:tr>
              <a:tr h="30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opacity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Controls transparency (0 = fully transparent, 1 = fully visible).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732983"/>
                  </a:ext>
                </a:extLst>
              </a:tr>
              <a:tr h="30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cursor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Changes the mouse cursor when hovering over an element.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68338"/>
                  </a:ext>
                </a:extLst>
              </a:tr>
              <a:tr h="300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transition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Defines animation effects when properties change (e.g., hover effects).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989321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transform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Rotates, scales, skews, or moves elements.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597064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box-shadow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Adds shadow effects around an element’s box.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609793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text-shadow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Adds shadow effects to text.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162536"/>
                  </a:ext>
                </a:extLst>
              </a:tr>
              <a:tr h="210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border-radius</a:t>
                      </a:r>
                      <a:endParaRPr lang="en-US" sz="1200"/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Rounds the corners of an element.</a:t>
                      </a:r>
                    </a:p>
                  </a:txBody>
                  <a:tcPr marL="35962" marR="35962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85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194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DE54-C215-C1A4-A3D4-E8D929889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CSS Resource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5C39B-72F6-0496-6747-3E0A57647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180461"/>
            <a:ext cx="11029616" cy="421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3189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2686</TotalTime>
  <Words>2048</Words>
  <Application>Microsoft Office PowerPoint</Application>
  <PresentationFormat>Widescreen</PresentationFormat>
  <Paragraphs>252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Courier New</vt:lpstr>
      <vt:lpstr>Gill Sans MT</vt:lpstr>
      <vt:lpstr>Wingdings</vt:lpstr>
      <vt:lpstr>Wingdings 2</vt:lpstr>
      <vt:lpstr>Dividend</vt:lpstr>
      <vt:lpstr>HTML</vt:lpstr>
      <vt:lpstr>What is HTML?</vt:lpstr>
      <vt:lpstr>Elements &amp; Tags</vt:lpstr>
      <vt:lpstr>HTML Page Structure</vt:lpstr>
      <vt:lpstr>Common Elements</vt:lpstr>
      <vt:lpstr>Challenge – Create A basic HTML page</vt:lpstr>
      <vt:lpstr>Setting the head</vt:lpstr>
      <vt:lpstr>Semantic elements</vt:lpstr>
      <vt:lpstr>Img &amp; Self-closing elements</vt:lpstr>
      <vt:lpstr>Block vs inline</vt:lpstr>
      <vt:lpstr>Challenge – Create a header </vt:lpstr>
      <vt:lpstr>lists</vt:lpstr>
      <vt:lpstr>Tables</vt:lpstr>
      <vt:lpstr>Other common HTML Elements</vt:lpstr>
      <vt:lpstr>Code Comments</vt:lpstr>
      <vt:lpstr>Challenge –  Create Marketing Content</vt:lpstr>
      <vt:lpstr>Forms</vt:lpstr>
      <vt:lpstr>Forms Continued</vt:lpstr>
      <vt:lpstr>Forms Continued</vt:lpstr>
      <vt:lpstr>Forms Continued</vt:lpstr>
      <vt:lpstr>Challenge – Create a form</vt:lpstr>
      <vt:lpstr>CSS</vt:lpstr>
      <vt:lpstr>What is CSS?</vt:lpstr>
      <vt:lpstr>How is CSS Applied?</vt:lpstr>
      <vt:lpstr>CSS Rules</vt:lpstr>
      <vt:lpstr>Where is CSS Applied?</vt:lpstr>
      <vt:lpstr>Different Types of Selectors</vt:lpstr>
      <vt:lpstr>Different Types of Selectors</vt:lpstr>
      <vt:lpstr>Different Types of Selectors</vt:lpstr>
      <vt:lpstr>Specificity</vt:lpstr>
      <vt:lpstr>Specificity with multiple sources</vt:lpstr>
      <vt:lpstr>Challenge – Create A Css file</vt:lpstr>
      <vt:lpstr>The Box Model</vt:lpstr>
      <vt:lpstr>The Box Model</vt:lpstr>
      <vt:lpstr>The Box Model</vt:lpstr>
      <vt:lpstr>Challenge – Use the Box model</vt:lpstr>
      <vt:lpstr>Position</vt:lpstr>
      <vt:lpstr>Position</vt:lpstr>
      <vt:lpstr>Flexbox</vt:lpstr>
      <vt:lpstr>Flexbox</vt:lpstr>
      <vt:lpstr>Challenge – Use Flexbox</vt:lpstr>
      <vt:lpstr>Other Common CSS Properties</vt:lpstr>
      <vt:lpstr>Additional CSS Resource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591</cp:revision>
  <dcterms:created xsi:type="dcterms:W3CDTF">2025-02-12T19:53:45Z</dcterms:created>
  <dcterms:modified xsi:type="dcterms:W3CDTF">2025-09-23T20:56:23Z</dcterms:modified>
</cp:coreProperties>
</file>