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7" r:id="rId6"/>
    <p:sldId id="262" r:id="rId7"/>
    <p:sldId id="266" r:id="rId8"/>
    <p:sldId id="268" r:id="rId9"/>
    <p:sldId id="269" r:id="rId10"/>
    <p:sldId id="270" r:id="rId11"/>
    <p:sldId id="272" r:id="rId12"/>
    <p:sldId id="271" r:id="rId13"/>
    <p:sldId id="273" r:id="rId14"/>
    <p:sldId id="274" r:id="rId15"/>
    <p:sldId id="275" r:id="rId16"/>
    <p:sldId id="276" r:id="rId17"/>
    <p:sldId id="278" r:id="rId18"/>
    <p:sldId id="279" r:id="rId19"/>
    <p:sldId id="280" r:id="rId20"/>
    <p:sldId id="281" r:id="rId21"/>
    <p:sldId id="282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HTML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D98FA-9764-D2AA-5BFC-9F9105D6B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HTML?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DB542-4722-CBA0-5177-D4F999BEB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38449"/>
            <a:ext cx="11029615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HTML</a:t>
            </a:r>
            <a:r>
              <a:rPr lang="en-US" dirty="0"/>
              <a:t> – </a:t>
            </a:r>
            <a:r>
              <a:rPr lang="en-US" dirty="0" err="1"/>
              <a:t>HyperText</a:t>
            </a:r>
            <a:r>
              <a:rPr lang="en-US" dirty="0"/>
              <a:t> Markup Language is the standard markup language used to create and structure content on the web. </a:t>
            </a:r>
          </a:p>
          <a:p>
            <a:pPr lvl="1"/>
            <a:r>
              <a:rPr lang="en-US" dirty="0"/>
              <a:t>It tells browsers what to display (text, images, links, forms, etc.) and how to organize the content.</a:t>
            </a:r>
          </a:p>
          <a:p>
            <a:pPr lvl="1"/>
            <a:r>
              <a:rPr lang="en-US" dirty="0"/>
              <a:t>Markup Language != Programming Language – HTML doesn’t do any logic, it structures information.</a:t>
            </a:r>
          </a:p>
        </p:txBody>
      </p:sp>
    </p:spTree>
    <p:extLst>
      <p:ext uri="{BB962C8B-B14F-4D97-AF65-F5344CB8AC3E}">
        <p14:creationId xmlns:p14="http://schemas.microsoft.com/office/powerpoint/2010/main" val="3451514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4B5BB-F81D-F145-7253-41B75CEC8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FAE85-F629-4FB0-2956-ED49F2F26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&amp; Tags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125C2-DF31-1C1C-9B89-211387C83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50711"/>
            <a:ext cx="11029615" cy="748917"/>
          </a:xfrm>
        </p:spPr>
        <p:txBody>
          <a:bodyPr>
            <a:normAutofit fontScale="92500"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Elements</a:t>
            </a:r>
            <a:r>
              <a:rPr lang="en-US" dirty="0"/>
              <a:t> and </a:t>
            </a:r>
            <a:r>
              <a:rPr lang="en-US" dirty="0">
                <a:solidFill>
                  <a:schemeClr val="accent2"/>
                </a:solidFill>
              </a:rPr>
              <a:t>Tags</a:t>
            </a:r>
            <a:r>
              <a:rPr lang="en-US" dirty="0"/>
              <a:t> – define different parts of a webpage, they are the building blocks of the page. 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Attributes</a:t>
            </a:r>
            <a:r>
              <a:rPr lang="en-US" dirty="0"/>
              <a:t> – modifiers that either apply identification to an element or alter the elements behavior or styling.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F651936-D3F6-F4FE-AFF1-8B7F2C820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0400" y="2990949"/>
            <a:ext cx="5791200" cy="336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8615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DCC17-A883-CB7F-C4E3-A9970226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6DC8C-99C9-50B3-E951-F16635EF1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Page 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6B5967-D522-6A04-DD34-083435BEC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11" y="2303748"/>
            <a:ext cx="5801535" cy="38105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D90330-908D-1200-5BE0-49E33DABFCA7}"/>
              </a:ext>
            </a:extLst>
          </p:cNvPr>
          <p:cNvSpPr txBox="1"/>
          <p:nvPr/>
        </p:nvSpPr>
        <p:spPr>
          <a:xfrm>
            <a:off x="7037294" y="3331851"/>
            <a:ext cx="390861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&lt;!DOCTYPE html&gt; defines the page document type and version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&lt;html&gt; is the root element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&lt;head&gt; is where metadata is defined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&lt;body&gt; is where we include content that will be visible to the user</a:t>
            </a:r>
          </a:p>
        </p:txBody>
      </p:sp>
    </p:spTree>
    <p:extLst>
      <p:ext uri="{BB962C8B-B14F-4D97-AF65-F5344CB8AC3E}">
        <p14:creationId xmlns:p14="http://schemas.microsoft.com/office/powerpoint/2010/main" val="3937583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20D5-C02E-3056-0F84-5A98B35F0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9455-1722-F560-8E26-5E4FFDA0C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Elements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BF595-EB2F-0BF8-45EF-E00D2E092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11" y="2303748"/>
            <a:ext cx="5801535" cy="38105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BE62683-28B5-C0E6-8245-2757A0C690DF}"/>
              </a:ext>
            </a:extLst>
          </p:cNvPr>
          <p:cNvSpPr txBox="1"/>
          <p:nvPr/>
        </p:nvSpPr>
        <p:spPr>
          <a:xfrm>
            <a:off x="7037293" y="3331851"/>
            <a:ext cx="40968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&lt;title&gt; - sets the name in browser tab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&lt;h1&gt; - header 1 (largest) - 6 (smallest)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&lt;p&gt; - paragraph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&lt;a&gt; - anchor (links; notice the </a:t>
            </a:r>
            <a:r>
              <a:rPr lang="en-US" dirty="0" err="1"/>
              <a:t>href</a:t>
            </a:r>
            <a:r>
              <a:rPr lang="en-US" dirty="0"/>
              <a:t> attribute)</a:t>
            </a:r>
          </a:p>
        </p:txBody>
      </p:sp>
    </p:spTree>
    <p:extLst>
      <p:ext uri="{BB962C8B-B14F-4D97-AF65-F5344CB8AC3E}">
        <p14:creationId xmlns:p14="http://schemas.microsoft.com/office/powerpoint/2010/main" val="3906304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basic HTML 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HTML 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670965" y="2402747"/>
            <a:ext cx="4939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Get started by making your first HTML document.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729C1-7785-9E7B-D8ED-56109887C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the head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44593-A299-3B19-97F1-861ED6C07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3548" y="2046027"/>
            <a:ext cx="8284902" cy="2011408"/>
          </a:xfrm>
        </p:spPr>
        <p:txBody>
          <a:bodyPr/>
          <a:lstStyle/>
          <a:p>
            <a:r>
              <a:rPr lang="en-US" dirty="0"/>
              <a:t>meta elements describe the page and help search optimization</a:t>
            </a:r>
          </a:p>
          <a:p>
            <a:r>
              <a:rPr lang="en-US" dirty="0"/>
              <a:t>Setting the width of the content to the device viewport width is key to rendering content in a consistent way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BE8E49-4522-F398-210F-F4C0676B0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527" y="3911962"/>
            <a:ext cx="7608945" cy="201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5750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20AA6-2666-9093-5D72-939153166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A4435-7047-A036-BD7D-2AFC91394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799221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Semantic Elements </a:t>
            </a:r>
            <a:r>
              <a:rPr lang="en-US" dirty="0"/>
              <a:t>are elements that clearly describe their meaning and role in the structure of a webpage.</a:t>
            </a:r>
          </a:p>
          <a:p>
            <a:pPr lvl="1"/>
            <a:r>
              <a:rPr lang="en-US" dirty="0"/>
              <a:t>Used by screen readers</a:t>
            </a:r>
          </a:p>
          <a:p>
            <a:pPr lvl="1"/>
            <a:r>
              <a:rPr lang="en-US" dirty="0"/>
              <a:t>Examples: header, nav, main, section, article, aside, footer, figure, mark,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DB7292-BA68-C325-0BCC-7B3908087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44" y="4350645"/>
            <a:ext cx="6239746" cy="16480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42C870-49CF-EBF1-45FC-18B3C0010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203" y="3423238"/>
            <a:ext cx="2291629" cy="273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5240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F51F-C4F6-51B7-0BE8-1360904C8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Img</a:t>
            </a:r>
            <a:r>
              <a:rPr lang="en-US" dirty="0"/>
              <a:t> &amp; Self-closing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B041B-1DBB-556A-2A44-8408D55EF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659" y="2263624"/>
            <a:ext cx="8634680" cy="198625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img</a:t>
            </a:r>
            <a:r>
              <a:rPr lang="en-US" dirty="0"/>
              <a:t> element renders images, using the </a:t>
            </a:r>
            <a:r>
              <a:rPr lang="en-US" dirty="0" err="1"/>
              <a:t>src</a:t>
            </a:r>
            <a:r>
              <a:rPr lang="en-US" dirty="0"/>
              <a:t> attribute to specify the path</a:t>
            </a:r>
          </a:p>
          <a:p>
            <a:r>
              <a:rPr lang="en-US" dirty="0"/>
              <a:t>The ‘alt’ attribute specifies the help text for the image, and is read by screen readers</a:t>
            </a:r>
          </a:p>
          <a:p>
            <a:r>
              <a:rPr lang="en-US" dirty="0" err="1"/>
              <a:t>img</a:t>
            </a:r>
            <a:r>
              <a:rPr lang="en-US" dirty="0"/>
              <a:t> is an example of a ‘self-closing element’, meaning it does not require an ending tag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74CB7A-0E42-6264-41B9-D87C8E380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126" y="4507789"/>
            <a:ext cx="6239746" cy="164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25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70620-8DC3-2E8C-C9B4-7E32BB3DA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vs inline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75E89-814E-723B-9AF5-309A346D9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664140"/>
          </a:xfrm>
        </p:spPr>
        <p:txBody>
          <a:bodyPr/>
          <a:lstStyle/>
          <a:p>
            <a:r>
              <a:rPr lang="en-US" dirty="0"/>
              <a:t>div takes up all of the available width of its container element</a:t>
            </a:r>
          </a:p>
          <a:p>
            <a:r>
              <a:rPr lang="en-US" dirty="0"/>
              <a:t>span does NOT take up all the width of its container element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D87B7-9D7A-98EA-B60D-17051A0CB9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64" y="3879635"/>
            <a:ext cx="5801535" cy="7240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DD80AC-7E3C-22B3-5E03-D58A5286E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2381" y="2525327"/>
            <a:ext cx="2069098" cy="18073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52C4D2-D3CC-6E8E-6D28-0239D763B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64" y="5362637"/>
            <a:ext cx="5763429" cy="7335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277121-C2FF-74F3-B089-2D6D58480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630" y="4443267"/>
            <a:ext cx="4477375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958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E701B-95B4-5AAB-10D2-18E8D8F4A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5FEFC-045E-1B2E-1573-BC2B6D59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header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30443-EB5A-0190-6AFA-A35581763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92" y="2226544"/>
            <a:ext cx="5317584" cy="1681246"/>
          </a:xfrm>
        </p:spPr>
        <p:txBody>
          <a:bodyPr/>
          <a:lstStyle/>
          <a:p>
            <a:r>
              <a:rPr lang="en-US" dirty="0"/>
              <a:t>Create a header with a company logo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07A20F-8838-CD4E-32D7-8CD54DCA94AC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9832EB-026B-FE94-A00B-A07D40713C7E}"/>
              </a:ext>
            </a:extLst>
          </p:cNvPr>
          <p:cNvSpPr txBox="1"/>
          <p:nvPr/>
        </p:nvSpPr>
        <p:spPr>
          <a:xfrm>
            <a:off x="6722919" y="2402747"/>
            <a:ext cx="4887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9ADDFD-CE7D-45CF-0AF5-FFD0CE9E58F9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27766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</a:t>
            </a:r>
          </a:p>
          <a:p>
            <a:r>
              <a:rPr lang="en-US" dirty="0"/>
              <a:t>Further develop the site by creating a header with a logo, next to the logo, include the company name</a:t>
            </a:r>
          </a:p>
          <a:p>
            <a:r>
              <a:rPr lang="en-US" dirty="0"/>
              <a:t>Make sure your site is responsive to different sized screens by making the initial width consistent with the device viewport</a:t>
            </a:r>
          </a:p>
        </p:txBody>
      </p:sp>
    </p:spTree>
    <p:extLst>
      <p:ext uri="{BB962C8B-B14F-4D97-AF65-F5344CB8AC3E}">
        <p14:creationId xmlns:p14="http://schemas.microsoft.com/office/powerpoint/2010/main" val="13557665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EA879-B806-66E8-2A8D-A6E4AF366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C7140-1BDC-3981-A13B-A6E5D400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9955" y="2281848"/>
            <a:ext cx="4458399" cy="3678303"/>
          </a:xfrm>
        </p:spPr>
        <p:txBody>
          <a:bodyPr/>
          <a:lstStyle/>
          <a:p>
            <a:r>
              <a:rPr lang="en-US" dirty="0" err="1"/>
              <a:t>ol</a:t>
            </a:r>
            <a:r>
              <a:rPr lang="en-US" dirty="0"/>
              <a:t> – ordered lists</a:t>
            </a:r>
          </a:p>
          <a:p>
            <a:r>
              <a:rPr lang="en-US" dirty="0"/>
              <a:t>ul – unordered lists</a:t>
            </a:r>
          </a:p>
          <a:p>
            <a:r>
              <a:rPr lang="en-US" dirty="0"/>
              <a:t>li – list item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97CD86-2808-1677-5746-169E85B7E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757" y="2657114"/>
            <a:ext cx="2912984" cy="29277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7F85E9-B2B5-723E-092B-C257CC9EA8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0917" y="2086155"/>
            <a:ext cx="3216991" cy="4069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77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A486A-38EC-C74D-8E94-3E3D66571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89F5A-1EF1-07A2-A411-3175EF328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510353" cy="3678303"/>
          </a:xfrm>
        </p:spPr>
        <p:txBody>
          <a:bodyPr/>
          <a:lstStyle/>
          <a:p>
            <a:r>
              <a:rPr lang="en-US" dirty="0"/>
              <a:t>Table – defines the whole table</a:t>
            </a:r>
          </a:p>
          <a:p>
            <a:r>
              <a:rPr lang="en-US" dirty="0"/>
              <a:t>Thead – defines the table header</a:t>
            </a:r>
          </a:p>
          <a:p>
            <a:r>
              <a:rPr lang="en-US" dirty="0"/>
              <a:t>Tr – table row</a:t>
            </a:r>
          </a:p>
          <a:p>
            <a:r>
              <a:rPr lang="en-US" dirty="0"/>
              <a:t>Th – table header value</a:t>
            </a:r>
          </a:p>
          <a:p>
            <a:r>
              <a:rPr lang="en-US" dirty="0" err="1"/>
              <a:t>Tbody</a:t>
            </a:r>
            <a:r>
              <a:rPr lang="en-US" dirty="0"/>
              <a:t> – defines the table body </a:t>
            </a:r>
          </a:p>
          <a:p>
            <a:r>
              <a:rPr lang="en-US" dirty="0"/>
              <a:t>Td – table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92E059-3FCD-D475-2CE4-1570B67A0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427" y="1992662"/>
            <a:ext cx="5119950" cy="4445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98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E427-B182-DC7A-1009-37213BDF8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common HTML Elements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C5E21C-3D0F-0D37-5072-9CE8B72E3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785" y="2670873"/>
            <a:ext cx="2889079" cy="7581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813745-BBFB-DB06-E7A9-0EF62CFBE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385" y="2502668"/>
            <a:ext cx="2380618" cy="10945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4932D6-5476-D151-8A78-19410375C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92" y="4184322"/>
            <a:ext cx="5229347" cy="3991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584FC2C-CE16-5783-13BF-7E658DCDA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325" y="3922589"/>
            <a:ext cx="4253204" cy="922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817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F321B-B993-66B5-A466-ACDEE96F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Comments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B472CB-66A3-57D1-E9F8-055810D8F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3831" y="2290625"/>
            <a:ext cx="8524338" cy="13358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4BAE58-A9F0-6400-6656-0E3A4B8D0B53}"/>
              </a:ext>
            </a:extLst>
          </p:cNvPr>
          <p:cNvSpPr txBox="1"/>
          <p:nvPr/>
        </p:nvSpPr>
        <p:spPr>
          <a:xfrm>
            <a:off x="3663314" y="4353791"/>
            <a:ext cx="48653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Code comments help by: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Explaining functionality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Crediting an author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Helping other developers digest the code </a:t>
            </a:r>
          </a:p>
        </p:txBody>
      </p:sp>
    </p:spTree>
    <p:extLst>
      <p:ext uri="{BB962C8B-B14F-4D97-AF65-F5344CB8AC3E}">
        <p14:creationId xmlns:p14="http://schemas.microsoft.com/office/powerpoint/2010/main" val="7181411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0E1C7-534E-DD5F-B99E-32851CE0A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2EDFC-C0D0-0DC6-539A-C708C4FF4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 Create Marketing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BBB77-ACF9-262A-AF8F-BAB5B63FD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some marketing content for the HTML document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6D09AE-0F2B-CF3E-8CBB-F6E02FDE8969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3B0B33-4F21-4D4C-6224-3AE5AD8F3327}"/>
              </a:ext>
            </a:extLst>
          </p:cNvPr>
          <p:cNvSpPr txBox="1"/>
          <p:nvPr/>
        </p:nvSpPr>
        <p:spPr>
          <a:xfrm>
            <a:off x="6545749" y="2402747"/>
            <a:ext cx="5065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20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0B09F6C-918C-81DB-A04A-0F99597B8456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3639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</a:t>
            </a:r>
          </a:p>
          <a:p>
            <a:r>
              <a:rPr lang="en-US" dirty="0"/>
              <a:t>Further develop the site by creating a header that captures the attention of the viewer and sells to product (think of a tagline)</a:t>
            </a:r>
          </a:p>
          <a:p>
            <a:r>
              <a:rPr lang="en-US" dirty="0"/>
              <a:t>Create a short paragraph that further describes what the product offers. </a:t>
            </a:r>
          </a:p>
          <a:p>
            <a:r>
              <a:rPr lang="en-US" dirty="0"/>
              <a:t>Create a list that highlights key features</a:t>
            </a:r>
          </a:p>
          <a:p>
            <a:r>
              <a:rPr lang="en-US" dirty="0"/>
              <a:t>Create a table that showcases key data points</a:t>
            </a:r>
          </a:p>
          <a:p>
            <a:r>
              <a:rPr lang="en-US" dirty="0"/>
              <a:t>Create a footer that links to a separate HTML document – the company profile page (which contains a short paragraph about the company’s history and values)</a:t>
            </a:r>
          </a:p>
        </p:txBody>
      </p:sp>
    </p:spTree>
    <p:extLst>
      <p:ext uri="{BB962C8B-B14F-4D97-AF65-F5344CB8AC3E}">
        <p14:creationId xmlns:p14="http://schemas.microsoft.com/office/powerpoint/2010/main" val="22720811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7806-9F14-4532-9247-76540D6EA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CFFAA8-2B58-FE9E-9A94-4B20E9051D60}"/>
              </a:ext>
            </a:extLst>
          </p:cNvPr>
          <p:cNvSpPr txBox="1"/>
          <p:nvPr/>
        </p:nvSpPr>
        <p:spPr>
          <a:xfrm>
            <a:off x="700303" y="2565979"/>
            <a:ext cx="63280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Action – where the form data goes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Method – how data is sent (get, post)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Input element – different types of input elements may be used to collect different types of data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468B2B-4038-8C3E-1505-EA7D77718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691" y="2565979"/>
            <a:ext cx="4163006" cy="11431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FFE603-5012-5673-72F7-F67292185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726" y="4431098"/>
            <a:ext cx="7638545" cy="71094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9C51A6-E7AA-A6EB-518C-5078D8DC7C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2363" y="5611719"/>
            <a:ext cx="5887272" cy="68589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211CF23-BD50-BEB9-290B-4C3A82B90FF2}"/>
              </a:ext>
            </a:extLst>
          </p:cNvPr>
          <p:cNvSpPr txBox="1"/>
          <p:nvPr/>
        </p:nvSpPr>
        <p:spPr>
          <a:xfrm>
            <a:off x="2205318" y="4061766"/>
            <a:ext cx="2259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Text Input (single line)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2F710B-9DED-5914-243D-545D80279176}"/>
              </a:ext>
            </a:extLst>
          </p:cNvPr>
          <p:cNvSpPr txBox="1"/>
          <p:nvPr/>
        </p:nvSpPr>
        <p:spPr>
          <a:xfrm>
            <a:off x="3071681" y="5242387"/>
            <a:ext cx="2451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Password Input (hidden)</a:t>
            </a:r>
          </a:p>
        </p:txBody>
      </p:sp>
    </p:spTree>
    <p:extLst>
      <p:ext uri="{BB962C8B-B14F-4D97-AF65-F5344CB8AC3E}">
        <p14:creationId xmlns:p14="http://schemas.microsoft.com/office/powerpoint/2010/main" val="1102024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11574-1541-60C6-A8FA-675FF1BA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76F0B-C131-2BFF-7151-01E624DD6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 Continued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A031BF-9990-C178-81AA-986CE3A0D0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258" y="2237658"/>
            <a:ext cx="7049484" cy="2010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65A5D7-3304-4986-72EA-D19D1C5EE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6826" y="4617046"/>
            <a:ext cx="7363853" cy="20576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902AA1-D4B3-1D46-F133-5FC5840D6576}"/>
              </a:ext>
            </a:extLst>
          </p:cNvPr>
          <p:cNvSpPr txBox="1"/>
          <p:nvPr/>
        </p:nvSpPr>
        <p:spPr>
          <a:xfrm>
            <a:off x="2571258" y="1871623"/>
            <a:ext cx="1630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Radio Selection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943DA3-CA19-E30C-5C8A-07F83040F686}"/>
              </a:ext>
            </a:extLst>
          </p:cNvPr>
          <p:cNvSpPr txBox="1"/>
          <p:nvPr/>
        </p:nvSpPr>
        <p:spPr>
          <a:xfrm>
            <a:off x="2456783" y="4247714"/>
            <a:ext cx="1331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Checkboxes</a:t>
            </a:r>
          </a:p>
        </p:txBody>
      </p:sp>
    </p:spTree>
    <p:extLst>
      <p:ext uri="{BB962C8B-B14F-4D97-AF65-F5344CB8AC3E}">
        <p14:creationId xmlns:p14="http://schemas.microsoft.com/office/powerpoint/2010/main" val="5598205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2641D-1EAD-A91E-7D0D-F638471FA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19E9F-795E-79D3-5DBE-E879C557E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 Continued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29CEA3-1E83-3003-9D2B-EE13CE20C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9628" y="2614186"/>
            <a:ext cx="4972744" cy="20957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865904-47F5-BD71-B9AF-EC7CA7CB3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4994" y="5317527"/>
            <a:ext cx="7602011" cy="8383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31C8225-6618-ED26-EBA8-B9AD598CB2CB}"/>
              </a:ext>
            </a:extLst>
          </p:cNvPr>
          <p:cNvSpPr txBox="1"/>
          <p:nvPr/>
        </p:nvSpPr>
        <p:spPr>
          <a:xfrm>
            <a:off x="3546875" y="2244854"/>
            <a:ext cx="1791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Dropdown Menu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52B977-BB42-D55D-2DFF-4EDDC5C9E944}"/>
              </a:ext>
            </a:extLst>
          </p:cNvPr>
          <p:cNvSpPr txBox="1"/>
          <p:nvPr/>
        </p:nvSpPr>
        <p:spPr>
          <a:xfrm>
            <a:off x="2294994" y="4948195"/>
            <a:ext cx="2226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Text Input (multi-line)</a:t>
            </a:r>
          </a:p>
        </p:txBody>
      </p:sp>
    </p:spTree>
    <p:extLst>
      <p:ext uri="{BB962C8B-B14F-4D97-AF65-F5344CB8AC3E}">
        <p14:creationId xmlns:p14="http://schemas.microsoft.com/office/powerpoint/2010/main" val="4236663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DDEC-318C-73FB-8F4E-E9F7B66A0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A38AB-3AEC-3EE6-E260-BAB3C4B6F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7"/>
            <a:ext cx="10866736" cy="2006022"/>
          </a:xfrm>
        </p:spPr>
        <p:txBody>
          <a:bodyPr/>
          <a:lstStyle/>
          <a:p>
            <a:r>
              <a:rPr lang="en-US" dirty="0"/>
              <a:t>A button of type ‘submit’ is required for the form</a:t>
            </a:r>
          </a:p>
          <a:p>
            <a:r>
              <a:rPr lang="en-US" dirty="0"/>
              <a:t>The ‘name’ attribute on our inputs correlate to string query parameters within the request URL:</a:t>
            </a:r>
          </a:p>
          <a:p>
            <a:pPr marL="0" indent="0">
              <a:buNone/>
            </a:pPr>
            <a:r>
              <a:rPr lang="en-US" dirty="0"/>
              <a:t>								</a:t>
            </a:r>
          </a:p>
          <a:p>
            <a:pPr marL="0" indent="0">
              <a:buNone/>
            </a:pPr>
            <a:r>
              <a:rPr lang="en-US" dirty="0"/>
              <a:t>							https://pokeapi.co/api/v2/?pokemon=pikachu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4A011-BECF-5793-1012-6AF04C811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458" y="4385912"/>
            <a:ext cx="8531083" cy="130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1950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A837E-99CB-93DD-5B52-223544FF5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DB2FB-D865-2F03-BD03-DE670BE46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9F719-4333-E474-FD14-2765391AE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form to take in a user’s contact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1CD85B-7C3F-2D32-E899-ABA9C279CE4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6ADE9B-1CA9-32BE-AD10-B7CDD82CC3AD}"/>
              </a:ext>
            </a:extLst>
          </p:cNvPr>
          <p:cNvSpPr txBox="1"/>
          <p:nvPr/>
        </p:nvSpPr>
        <p:spPr>
          <a:xfrm>
            <a:off x="6545749" y="2402747"/>
            <a:ext cx="5065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10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25F4D0E-A57C-298F-329A-FB8969BB0686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3639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a static site to advertise their new product. </a:t>
            </a:r>
          </a:p>
          <a:p>
            <a:r>
              <a:rPr lang="en-US" dirty="0"/>
              <a:t>Further develop the site by creating a form that can accept user input:</a:t>
            </a:r>
          </a:p>
          <a:p>
            <a:pPr lvl="1"/>
            <a:r>
              <a:rPr lang="en-US" dirty="0"/>
              <a:t>A name</a:t>
            </a:r>
          </a:p>
          <a:p>
            <a:pPr lvl="1"/>
            <a:r>
              <a:rPr lang="en-US" dirty="0"/>
              <a:t>Email</a:t>
            </a:r>
          </a:p>
          <a:p>
            <a:pPr lvl="1"/>
            <a:r>
              <a:rPr lang="en-US" dirty="0"/>
              <a:t>Dropdown to select which product they are interested in</a:t>
            </a:r>
          </a:p>
          <a:p>
            <a:r>
              <a:rPr lang="en-US" dirty="0"/>
              <a:t>The form doesn’t need to submit to a backend </a:t>
            </a:r>
          </a:p>
        </p:txBody>
      </p:sp>
    </p:spTree>
    <p:extLst>
      <p:ext uri="{BB962C8B-B14F-4D97-AF65-F5344CB8AC3E}">
        <p14:creationId xmlns:p14="http://schemas.microsoft.com/office/powerpoint/2010/main" val="1265308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9D22E-B4EF-BE14-98FC-797C7D81E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295F2-5B8E-CC15-1814-4A53A56E98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CSS</a:t>
            </a:r>
          </a:p>
        </p:txBody>
      </p:sp>
    </p:spTree>
    <p:extLst>
      <p:ext uri="{BB962C8B-B14F-4D97-AF65-F5344CB8AC3E}">
        <p14:creationId xmlns:p14="http://schemas.microsoft.com/office/powerpoint/2010/main" val="297684518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2369</TotalTime>
  <Words>854</Words>
  <Application>Microsoft Office PowerPoint</Application>
  <PresentationFormat>Widescreen</PresentationFormat>
  <Paragraphs>99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Gill Sans MT</vt:lpstr>
      <vt:lpstr>Wingdings</vt:lpstr>
      <vt:lpstr>Wingdings 2</vt:lpstr>
      <vt:lpstr>Dividend</vt:lpstr>
      <vt:lpstr>HTML</vt:lpstr>
      <vt:lpstr>What is HTML?</vt:lpstr>
      <vt:lpstr>Elements &amp; Tags</vt:lpstr>
      <vt:lpstr>HTML Page Structure</vt:lpstr>
      <vt:lpstr>Common Elements</vt:lpstr>
      <vt:lpstr>Challenge – Create A basic HTML page</vt:lpstr>
      <vt:lpstr>Setting the head</vt:lpstr>
      <vt:lpstr>Semantic elements</vt:lpstr>
      <vt:lpstr>Img &amp; Self-closing elements</vt:lpstr>
      <vt:lpstr>Block vs inline</vt:lpstr>
      <vt:lpstr>Challenge – Create a header </vt:lpstr>
      <vt:lpstr>lists</vt:lpstr>
      <vt:lpstr>Tables</vt:lpstr>
      <vt:lpstr>Other common HTML Elements</vt:lpstr>
      <vt:lpstr>Code Comments</vt:lpstr>
      <vt:lpstr>Challenge –  Create Marketing Content</vt:lpstr>
      <vt:lpstr>Forms</vt:lpstr>
      <vt:lpstr>Forms Continued</vt:lpstr>
      <vt:lpstr>Forms Continued</vt:lpstr>
      <vt:lpstr>Forms Continued</vt:lpstr>
      <vt:lpstr>Challenge – Create a form</vt:lpstr>
      <vt:lpstr>CSS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590</cp:revision>
  <dcterms:created xsi:type="dcterms:W3CDTF">2025-02-12T19:53:45Z</dcterms:created>
  <dcterms:modified xsi:type="dcterms:W3CDTF">2025-09-23T15:39:18Z</dcterms:modified>
</cp:coreProperties>
</file>