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9" r:id="rId8"/>
    <p:sldId id="281" r:id="rId9"/>
    <p:sldId id="268" r:id="rId10"/>
    <p:sldId id="262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0" r:id="rId21"/>
    <p:sldId id="279" r:id="rId22"/>
    <p:sldId id="282" r:id="rId23"/>
    <p:sldId id="283" r:id="rId24"/>
    <p:sldId id="284" r:id="rId25"/>
    <p:sldId id="285" r:id="rId26"/>
    <p:sldId id="286" r:id="rId27"/>
    <p:sldId id="288" r:id="rId28"/>
    <p:sldId id="287" r:id="rId29"/>
    <p:sldId id="290" r:id="rId30"/>
    <p:sldId id="298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exercise.asp?x=xrcise_if_else1" TargetMode="External"/><Relationship Id="rId2" Type="http://schemas.openxmlformats.org/officeDocument/2006/relationships/hyperlink" Target="https://www.w3schools.com/js/exercise.asp?x=xrcise_assignment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js/exercise.asp?x=xrcise_switch1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exercise.asp?x=xrcise_arrays1" TargetMode="External"/><Relationship Id="rId2" Type="http://schemas.openxmlformats.org/officeDocument/2006/relationships/hyperlink" Target="https://www.w3schools.com/js/exercise.asp?x=xrcise_classes1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28517-FA3E-154A-1C51-845CFB9E1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JavaScript?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BE97-21E0-710C-EDCF-8305824F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JavaScript</a:t>
            </a:r>
            <a:r>
              <a:rPr lang="en-US" dirty="0"/>
              <a:t> is a high-level, interpreted programming language primarily used to make web pages interactive and dynamic. </a:t>
            </a:r>
          </a:p>
          <a:p>
            <a:pPr lvl="1"/>
            <a:r>
              <a:rPr lang="en-US" dirty="0"/>
              <a:t>It runs directly in the browser </a:t>
            </a:r>
          </a:p>
          <a:p>
            <a:pPr lvl="1"/>
            <a:r>
              <a:rPr lang="en-US" dirty="0"/>
              <a:t>Allows developers to manipulate content, respond to user actions, control multimedia, and communicate with servers</a:t>
            </a:r>
          </a:p>
          <a:p>
            <a:pPr lvl="1"/>
            <a:r>
              <a:rPr lang="en-US" dirty="0"/>
              <a:t>Case sensitive</a:t>
            </a:r>
          </a:p>
          <a:p>
            <a:pPr lvl="1"/>
            <a:r>
              <a:rPr lang="en-US" dirty="0"/>
              <a:t>Loosely typed – we don’t declare the type of variable </a:t>
            </a:r>
          </a:p>
          <a:p>
            <a:pPr lvl="1"/>
            <a:r>
              <a:rPr lang="en-US" dirty="0"/>
              <a:t>Dynamically typed – the type of variables are determined at runtime </a:t>
            </a:r>
          </a:p>
        </p:txBody>
      </p:sp>
    </p:spTree>
    <p:extLst>
      <p:ext uri="{BB962C8B-B14F-4D97-AF65-F5344CB8AC3E}">
        <p14:creationId xmlns:p14="http://schemas.microsoft.com/office/powerpoint/2010/main" val="160666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DBAF-FAA6-7A07-4574-DF562DCA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Include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3AC92-7D3C-8871-89D7-2454AD912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524643" cy="3678303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dirty="0"/>
              <a:t>Inline</a:t>
            </a:r>
          </a:p>
          <a:p>
            <a:pPr>
              <a:lnSpc>
                <a:spcPct val="300000"/>
              </a:lnSpc>
            </a:pPr>
            <a:r>
              <a:rPr lang="en-US" dirty="0"/>
              <a:t>Internal</a:t>
            </a:r>
          </a:p>
          <a:p>
            <a:pPr>
              <a:lnSpc>
                <a:spcPct val="300000"/>
              </a:lnSpc>
            </a:pPr>
            <a:r>
              <a:rPr lang="en-US" dirty="0"/>
              <a:t>External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79758-767F-F861-6A28-625996939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915" y="2733240"/>
            <a:ext cx="6791673" cy="220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F88BE8-BE28-10BD-17EB-9982A0938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801" y="3270895"/>
            <a:ext cx="3943900" cy="1952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6DEADD-8FF5-9225-B3B5-FA2E17B43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749" y="5701614"/>
            <a:ext cx="4706007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2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3B4C-6A3D-06DE-4B09-C885B276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070B9-9595-3C71-6C18-3743858F5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10230"/>
            <a:ext cx="11029615" cy="2536759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Variable</a:t>
            </a:r>
            <a:r>
              <a:rPr lang="en-US" dirty="0"/>
              <a:t> – a container for storing data values, such as numbers, text, objects or more.</a:t>
            </a:r>
          </a:p>
          <a:p>
            <a:pPr lvl="1"/>
            <a:r>
              <a:rPr lang="en-US" dirty="0"/>
              <a:t>Variables let us label and reuse data within our application </a:t>
            </a:r>
          </a:p>
          <a:p>
            <a:r>
              <a:rPr lang="en-US" dirty="0"/>
              <a:t>Let – declares a variable that can be reassigned</a:t>
            </a:r>
          </a:p>
          <a:p>
            <a:r>
              <a:rPr lang="en-US" dirty="0"/>
              <a:t>Const – declares a variable that cannot be reassigned</a:t>
            </a:r>
          </a:p>
          <a:p>
            <a:r>
              <a:rPr lang="en-US" dirty="0"/>
              <a:t>Var – old way of declaring variables (not commonly used now)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D9A1F-535C-4896-ADE8-8AC448A1A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126" y="5041263"/>
            <a:ext cx="5515745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1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909B5-8C9A-1F9C-4A1E-6189B5C5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EACAF-9993-FEBF-9219-A3FC08A08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829720"/>
            <a:ext cx="5980973" cy="3678303"/>
          </a:xfrm>
        </p:spPr>
        <p:txBody>
          <a:bodyPr/>
          <a:lstStyle/>
          <a:p>
            <a:r>
              <a:rPr lang="en-US" dirty="0"/>
              <a:t>String – text values</a:t>
            </a:r>
          </a:p>
          <a:p>
            <a:r>
              <a:rPr lang="en-US" dirty="0"/>
              <a:t>Number – integers and decimals</a:t>
            </a:r>
          </a:p>
          <a:p>
            <a:r>
              <a:rPr lang="en-US" dirty="0"/>
              <a:t>Boolean – true or false</a:t>
            </a:r>
          </a:p>
          <a:p>
            <a:r>
              <a:rPr lang="en-US" dirty="0"/>
              <a:t>Undefined – variables that are declared but never assigned a value</a:t>
            </a:r>
          </a:p>
          <a:p>
            <a:r>
              <a:rPr lang="en-US" dirty="0"/>
              <a:t>Null – intentional ‘empty’ value</a:t>
            </a:r>
          </a:p>
          <a:p>
            <a:r>
              <a:rPr lang="en-US" dirty="0"/>
              <a:t>Symbol – unique identifier (rarely used in beginners’ code)</a:t>
            </a:r>
          </a:p>
          <a:p>
            <a:r>
              <a:rPr lang="en-US" dirty="0" err="1"/>
              <a:t>BigInt</a:t>
            </a:r>
            <a:r>
              <a:rPr lang="en-US" dirty="0"/>
              <a:t> – for very large integers beyond Number’s limit </a:t>
            </a:r>
            <a:br>
              <a:rPr lang="en-US" dirty="0"/>
            </a:br>
            <a:r>
              <a:rPr lang="en-US" dirty="0"/>
              <a:t>(notice the ‘n’ at the end of the integer)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3EDC8-A6DC-C698-AEB0-5314A6B7B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42" y="2795453"/>
            <a:ext cx="2257740" cy="32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D899E6-B616-C9CC-1FEF-EB0B15E24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853" y="3239575"/>
            <a:ext cx="1562318" cy="428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1F6D00-3933-6146-3855-BCD65E661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694" y="3768944"/>
            <a:ext cx="2372056" cy="352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75F8E8-F4E6-C2B0-5F09-03C8D3558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431" y="4222102"/>
            <a:ext cx="2286319" cy="352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2F30ED-B27B-3CB5-3833-683173FE4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1720" y="4731201"/>
            <a:ext cx="1533739" cy="3810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BA8E76-E4A2-548E-4D7D-2FB6313241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245" y="5251652"/>
            <a:ext cx="2962688" cy="304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6692FC-040B-71EF-7550-80C118CF6A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1482" y="5693987"/>
            <a:ext cx="5087060" cy="3620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6B462D9-FF79-C2E9-4FE0-E239F0A136C1}"/>
              </a:ext>
            </a:extLst>
          </p:cNvPr>
          <p:cNvSpPr txBox="1"/>
          <p:nvPr/>
        </p:nvSpPr>
        <p:spPr>
          <a:xfrm>
            <a:off x="992814" y="2109341"/>
            <a:ext cx="1020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Primitive Data Type </a:t>
            </a:r>
            <a:r>
              <a:rPr lang="en-US" dirty="0"/>
              <a:t>– these data types comprising simple and single values, are held in memory</a:t>
            </a:r>
          </a:p>
        </p:txBody>
      </p:sp>
    </p:spTree>
    <p:extLst>
      <p:ext uri="{BB962C8B-B14F-4D97-AF65-F5344CB8AC3E}">
        <p14:creationId xmlns:p14="http://schemas.microsoft.com/office/powerpoint/2010/main" val="18189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6748-08C3-63F7-D2EC-6C754D7E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313DB-E5FF-446C-DDAA-13D67989C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4016"/>
            <a:ext cx="4649177" cy="3593592"/>
          </a:xfrm>
        </p:spPr>
        <p:txBody>
          <a:bodyPr>
            <a:normAutofit/>
          </a:bodyPr>
          <a:lstStyle/>
          <a:p>
            <a:r>
              <a:rPr lang="en-US" dirty="0"/>
              <a:t>Object – collection of key/value pairs, where keys are usually string (or symbols) and values can be any type</a:t>
            </a:r>
          </a:p>
          <a:p>
            <a:r>
              <a:rPr lang="en-US" dirty="0"/>
              <a:t>Array – A special type of object used for ordered lists of values</a:t>
            </a:r>
          </a:p>
          <a:p>
            <a:r>
              <a:rPr lang="en-US" dirty="0"/>
              <a:t>Function – A reusable block of code that can be executed (called) when needed</a:t>
            </a:r>
          </a:p>
          <a:p>
            <a:r>
              <a:rPr lang="en-US" dirty="0"/>
              <a:t>Other – some less common examples include Date, Map, Set, etc.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A2933-E39C-1BC9-9A63-473478356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339" y="2154039"/>
            <a:ext cx="2172003" cy="1771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D95C23-5252-2617-5443-74F5BE7D0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205" y="4168114"/>
            <a:ext cx="4258269" cy="390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6433BD-3A12-AB05-4C8F-85C446F55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520" y="4800872"/>
            <a:ext cx="3667637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5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B3E8-F44D-8288-9FB5-217EEC86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D8DD6-FD30-2EDB-BF3F-EFB133BE9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8369" y="2222493"/>
            <a:ext cx="5345090" cy="1676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AF336D-8FE1-38DC-9751-F6608530D134}"/>
              </a:ext>
            </a:extLst>
          </p:cNvPr>
          <p:cNvSpPr txBox="1"/>
          <p:nvPr/>
        </p:nvSpPr>
        <p:spPr>
          <a:xfrm>
            <a:off x="878541" y="2590800"/>
            <a:ext cx="4233786" cy="378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pass data into a function via parameters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Functions are called by their name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Functions can also be ‘anonymous’ – meaning they have no name but can still be referenced by the variable they are stored in</a:t>
            </a:r>
          </a:p>
          <a:p>
            <a:pPr marL="285750" indent="-285750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Anonymous functions may often be converted to ‘Arrow Functions’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BA92EB-A923-1C1F-D7AB-2031B041C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368" y="4066813"/>
            <a:ext cx="5345091" cy="1700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6C2D74-3934-81D6-A8F5-ED28C79C8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831" y="5997775"/>
            <a:ext cx="4220164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3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E753-8961-1948-01BB-8302A470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8E955-82DE-B714-4C59-35D940389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28563" cy="3678303"/>
          </a:xfrm>
        </p:spPr>
        <p:txBody>
          <a:bodyPr/>
          <a:lstStyle/>
          <a:p>
            <a:r>
              <a:rPr lang="en-US" dirty="0"/>
              <a:t>Arrow Functions are a concise way to write functions compared to traditional function expressions</a:t>
            </a:r>
          </a:p>
          <a:p>
            <a:r>
              <a:rPr lang="en-US" dirty="0"/>
              <a:t>If the function body is a single expression, you can omit the curly braces and the return keyword</a:t>
            </a:r>
          </a:p>
          <a:p>
            <a:r>
              <a:rPr lang="en-US" dirty="0"/>
              <a:t>If the body has multiple statements, you must use curly braces and the return keyword if needed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83C1B-8FC6-072E-F81A-1FE5F7D2D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7" y="2180496"/>
            <a:ext cx="4001058" cy="2495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88EA9F-69ED-1171-85A2-F5BC23D79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247" y="5027430"/>
            <a:ext cx="3248478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1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F605-2FB6-6E72-7A08-9CDF52F2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Console Commands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5F7A3-12AC-715A-1EB3-F36FC836E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7" y="2354839"/>
            <a:ext cx="5363323" cy="3801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2DA10E-A21E-21F2-5F7A-42D877835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346" y="2173838"/>
            <a:ext cx="4248743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1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Setup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Add JavaScript to our application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36784" y="3100864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is still building its product launch page. We need to introduce some dynamical functionality. </a:t>
            </a:r>
          </a:p>
          <a:p>
            <a:r>
              <a:rPr lang="en-US" dirty="0"/>
              <a:t>Create an external JavaScript file and link it to your HTML page</a:t>
            </a:r>
          </a:p>
          <a:p>
            <a:r>
              <a:rPr lang="en-US" dirty="0"/>
              <a:t>Define a variable that stores your name</a:t>
            </a:r>
          </a:p>
          <a:p>
            <a:r>
              <a:rPr lang="en-US" dirty="0"/>
              <a:t>Define a function that takes the name variable as a parameter and then prints to the console: “{your name here} is the best programmer ever!”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E915-DF33-8F67-D7A1-2E3F6161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A3E9-C3FD-2BCD-F6EC-7B40930C8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80337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Variable Scope </a:t>
            </a:r>
            <a:r>
              <a:rPr lang="en-US" dirty="0"/>
              <a:t>determines where a variable may be referenced</a:t>
            </a:r>
          </a:p>
          <a:p>
            <a:pPr lvl="1"/>
            <a:r>
              <a:rPr lang="en-US" dirty="0"/>
              <a:t>Var – Either global or function scope, depending on location</a:t>
            </a:r>
          </a:p>
          <a:p>
            <a:pPr lvl="1"/>
            <a:r>
              <a:rPr lang="en-US" dirty="0"/>
              <a:t>Let – Block level scope, meaning that it can be referenced within its code block or any inner code blocks</a:t>
            </a:r>
          </a:p>
          <a:p>
            <a:pPr lvl="1"/>
            <a:r>
              <a:rPr lang="en-US" dirty="0"/>
              <a:t>Const – Also has block scope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99FA8-0634-FA59-CB96-012355070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471" y="2027114"/>
            <a:ext cx="4825544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0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130B-21F0-D7E3-D312-D0442370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Data Types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6C2BD-9823-24BF-1DBE-12B222C6F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833490" cy="3678303"/>
          </a:xfrm>
        </p:spPr>
        <p:txBody>
          <a:bodyPr/>
          <a:lstStyle/>
          <a:p>
            <a:r>
              <a:rPr lang="en-US" dirty="0"/>
              <a:t>We can check the data type of a variable with the ‘</a:t>
            </a:r>
            <a:r>
              <a:rPr lang="en-US" dirty="0" err="1"/>
              <a:t>typeof</a:t>
            </a:r>
            <a:r>
              <a:rPr lang="en-US" dirty="0"/>
              <a:t>’ operator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11FF4-56BD-C7CB-012A-68365C283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698" y="2297065"/>
            <a:ext cx="279121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16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ED85-6A2C-F736-6404-4BCA4B9D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74DCB-DFDF-27A1-8089-841625E5B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291561" cy="3678303"/>
          </a:xfrm>
        </p:spPr>
        <p:txBody>
          <a:bodyPr/>
          <a:lstStyle/>
          <a:p>
            <a:r>
              <a:rPr lang="en-US" dirty="0"/>
              <a:t>+ (addition) </a:t>
            </a:r>
          </a:p>
          <a:p>
            <a:r>
              <a:rPr lang="en-US" dirty="0"/>
              <a:t>- (subtraction) </a:t>
            </a:r>
          </a:p>
          <a:p>
            <a:r>
              <a:rPr lang="en-US" dirty="0"/>
              <a:t>* (multiplication)</a:t>
            </a:r>
          </a:p>
          <a:p>
            <a:r>
              <a:rPr lang="en-US" dirty="0"/>
              <a:t>** (exponentiation)</a:t>
            </a:r>
          </a:p>
          <a:p>
            <a:r>
              <a:rPr lang="en-US" dirty="0"/>
              <a:t>/ (division)</a:t>
            </a:r>
          </a:p>
          <a:p>
            <a:r>
              <a:rPr lang="en-US" dirty="0"/>
              <a:t>% (modulus)</a:t>
            </a:r>
          </a:p>
          <a:p>
            <a:r>
              <a:rPr lang="en-US" dirty="0"/>
              <a:t>++ (increment)</a:t>
            </a:r>
          </a:p>
          <a:p>
            <a:r>
              <a:rPr lang="en-US" dirty="0"/>
              <a:t>-- (decrement)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7675C-0FD8-12CA-D6F1-039B26BF98D0}"/>
              </a:ext>
            </a:extLst>
          </p:cNvPr>
          <p:cNvSpPr txBox="1"/>
          <p:nvPr/>
        </p:nvSpPr>
        <p:spPr>
          <a:xfrm>
            <a:off x="5616390" y="2350279"/>
            <a:ext cx="5405717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+=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x+=y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+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-=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x-=y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-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*=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x*=y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*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/=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x/=y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/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%=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x%=y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% y</a:t>
            </a: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**=</a:t>
            </a:r>
            <a:r>
              <a:rPr lang="en-US" b="0" i="0" dirty="0">
                <a:effectLst/>
                <a:latin typeface="-apple-system"/>
              </a:rPr>
              <a:t> example: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x**=y</a:t>
            </a:r>
            <a:r>
              <a:rPr lang="en-US" b="0" i="0" dirty="0">
                <a:effectLst/>
                <a:latin typeface="-apple-system"/>
              </a:rPr>
              <a:t> same as </a:t>
            </a: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x = x ** y</a:t>
            </a:r>
            <a:endParaRPr lang="en-US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97648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BA68-A57F-99BC-CAEE-45094C42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Comparison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98084-6741-901D-768B-89B4F4FF4D94}"/>
              </a:ext>
            </a:extLst>
          </p:cNvPr>
          <p:cNvSpPr txBox="1"/>
          <p:nvPr/>
        </p:nvSpPr>
        <p:spPr>
          <a:xfrm>
            <a:off x="869576" y="2754904"/>
            <a:ext cx="43837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==</a:t>
            </a:r>
            <a:r>
              <a:rPr lang="en-US" b="0" i="0" dirty="0">
                <a:effectLst/>
                <a:latin typeface="-apple-system"/>
              </a:rPr>
              <a:t> equal to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===</a:t>
            </a:r>
            <a:r>
              <a:rPr lang="en-US" b="0" i="0" dirty="0">
                <a:effectLst/>
                <a:latin typeface="-apple-system"/>
              </a:rPr>
              <a:t> equal to and equal data type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!=</a:t>
            </a:r>
            <a:r>
              <a:rPr lang="en-US" b="0" i="0" dirty="0">
                <a:effectLst/>
                <a:latin typeface="-apple-system"/>
              </a:rPr>
              <a:t> not equal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!==</a:t>
            </a:r>
            <a:r>
              <a:rPr lang="en-US" b="0" i="0" dirty="0">
                <a:effectLst/>
                <a:latin typeface="-apple-system"/>
              </a:rPr>
              <a:t> not equal value or not equal type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&gt;</a:t>
            </a:r>
            <a:r>
              <a:rPr lang="en-US" b="0" i="0" dirty="0">
                <a:effectLst/>
                <a:latin typeface="-apple-system"/>
              </a:rPr>
              <a:t> greater than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&lt;</a:t>
            </a:r>
            <a:r>
              <a:rPr lang="en-US" b="0" i="0" dirty="0">
                <a:effectLst/>
                <a:latin typeface="-apple-system"/>
              </a:rPr>
              <a:t> less than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&gt;=</a:t>
            </a:r>
            <a:r>
              <a:rPr lang="en-US" b="0" i="0" dirty="0">
                <a:effectLst/>
                <a:latin typeface="-apple-system"/>
              </a:rPr>
              <a:t> greater than or equal to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&lt;=</a:t>
            </a:r>
            <a:r>
              <a:rPr lang="en-US" b="0" i="0" dirty="0">
                <a:effectLst/>
                <a:latin typeface="-apple-system"/>
              </a:rPr>
              <a:t> less than or equal to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var(--fontStack-monospace, ui-monospace, SFMono-Regular, SF Mono, Menlo, Consolas, Liberation Mono, monospace)"/>
              </a:rPr>
              <a:t>?</a:t>
            </a:r>
            <a:r>
              <a:rPr lang="en-US" b="0" i="0" dirty="0">
                <a:effectLst/>
                <a:latin typeface="-apple-system"/>
              </a:rPr>
              <a:t> ternary operator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C3B89C-7DDB-60FA-58B9-EF4A97BF7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263" y="2847247"/>
            <a:ext cx="4677428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95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11BF-E4D5-391C-2276-6183B90F9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6F034-D19C-ECE1-9DE7-C48A2BE35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0746" y="2323932"/>
            <a:ext cx="2574384" cy="3678303"/>
          </a:xfrm>
        </p:spPr>
        <p:txBody>
          <a:bodyPr/>
          <a:lstStyle/>
          <a:p>
            <a:r>
              <a:rPr lang="en-US" dirty="0"/>
              <a:t>&amp;&amp; (and) </a:t>
            </a:r>
          </a:p>
          <a:p>
            <a:r>
              <a:rPr lang="en-US" dirty="0"/>
              <a:t>|| (or)</a:t>
            </a:r>
          </a:p>
          <a:p>
            <a:r>
              <a:rPr lang="en-US" dirty="0"/>
              <a:t>! (not)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CD4AE5-F58F-08CB-4FBE-B7E6D6E66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801" y="2288154"/>
            <a:ext cx="5620534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7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5622C-59E7-583F-C655-2973824F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Falsey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F89C7-1173-E6BE-F2FD-7335699FD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266" y="2075832"/>
            <a:ext cx="4032372" cy="3678303"/>
          </a:xfrm>
        </p:spPr>
        <p:txBody>
          <a:bodyPr/>
          <a:lstStyle/>
          <a:p>
            <a:r>
              <a:rPr lang="en-US" dirty="0"/>
              <a:t>False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‘’ OR “”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Undefined</a:t>
            </a:r>
          </a:p>
          <a:p>
            <a:r>
              <a:rPr lang="en-US" dirty="0" err="1"/>
              <a:t>NaN</a:t>
            </a:r>
            <a:r>
              <a:rPr lang="en-US" dirty="0"/>
              <a:t> – not a number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D0293-988D-6BD6-5B81-3C11B28E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139" y="3318568"/>
            <a:ext cx="7762595" cy="11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53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2688-A6A7-4065-8A0D-B8CC6457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4F232-D1E6-FC07-82FC-A74943BD5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47" y="2045985"/>
            <a:ext cx="3153215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A6BD03-6D26-B9CC-80B1-689B52654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04" y="3326342"/>
            <a:ext cx="3886899" cy="1400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598BDA-580C-A0A5-0F32-4F402BDF7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4883136"/>
            <a:ext cx="4351996" cy="1768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DA5219-E1BF-72D1-FA8F-C24DDBE91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4218" y="2130733"/>
            <a:ext cx="5407435" cy="37069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35D336-AE41-00D2-B66F-AC6CA0777E3C}"/>
              </a:ext>
            </a:extLst>
          </p:cNvPr>
          <p:cNvSpPr txBox="1"/>
          <p:nvPr/>
        </p:nvSpPr>
        <p:spPr>
          <a:xfrm>
            <a:off x="5517573" y="6067791"/>
            <a:ext cx="5923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Important: switch will ‘fall through’ without break statements!</a:t>
            </a:r>
          </a:p>
        </p:txBody>
      </p:sp>
    </p:spTree>
    <p:extLst>
      <p:ext uri="{BB962C8B-B14F-4D97-AF65-F5344CB8AC3E}">
        <p14:creationId xmlns:p14="http://schemas.microsoft.com/office/powerpoint/2010/main" val="42886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F11A-F749-E5AA-BD20-AA3B8D7FB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9DF05-FCBD-B931-E469-0026DFA3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012" y="2521435"/>
            <a:ext cx="4286848" cy="1295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7EBDF9-EF27-C774-70F2-57BE37590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693" y="2388067"/>
            <a:ext cx="2238687" cy="1562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326EF4-A05A-357A-1BE6-35FE5AB10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073" y="4345841"/>
            <a:ext cx="8087854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08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B55B-849B-1E9C-08D9-5CF77E0D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D7C66-5EDA-4D09-1685-EB14215B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19" y="3080704"/>
            <a:ext cx="3553321" cy="272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6EA72E-C940-FA92-4E3C-42845DCBF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593" y="3080704"/>
            <a:ext cx="5449060" cy="2857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7662C-52CF-6802-9640-EA9A38449696}"/>
              </a:ext>
            </a:extLst>
          </p:cNvPr>
          <p:cNvSpPr txBox="1"/>
          <p:nvPr/>
        </p:nvSpPr>
        <p:spPr>
          <a:xfrm>
            <a:off x="1059788" y="2553793"/>
            <a:ext cx="394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for-of loops iterate over </a:t>
            </a:r>
            <a:r>
              <a:rPr lang="en-US" dirty="0" err="1"/>
              <a:t>iterable</a:t>
            </a:r>
            <a:r>
              <a:rPr lang="en-US" dirty="0"/>
              <a:t> objects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033486-170D-F613-F53C-8D47C665480E}"/>
              </a:ext>
            </a:extLst>
          </p:cNvPr>
          <p:cNvSpPr txBox="1"/>
          <p:nvPr/>
        </p:nvSpPr>
        <p:spPr>
          <a:xfrm>
            <a:off x="5583147" y="2553793"/>
            <a:ext cx="5882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for-in loops iterates over enumerable properties of an object</a:t>
            </a:r>
          </a:p>
        </p:txBody>
      </p:sp>
    </p:spTree>
    <p:extLst>
      <p:ext uri="{BB962C8B-B14F-4D97-AF65-F5344CB8AC3E}">
        <p14:creationId xmlns:p14="http://schemas.microsoft.com/office/powerpoint/2010/main" val="1997812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CCF3-D693-5AD4-6805-21244131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766D-098D-DA4F-FDFC-DD323969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199DE-1113-BF49-86BE-1AFC99BFA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the knowledge 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41243-C60B-C24F-BCCC-1A1BF1B793BB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0F61C-1F08-82A3-D346-1D57108065C3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C60DA5-9897-8DFA-FCEB-9287EAB104FC}"/>
              </a:ext>
            </a:extLst>
          </p:cNvPr>
          <p:cNvSpPr txBox="1">
            <a:spLocks/>
          </p:cNvSpPr>
          <p:nvPr/>
        </p:nvSpPr>
        <p:spPr>
          <a:xfrm>
            <a:off x="6536784" y="3100864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Navigate to the following links and complete the assignments one by one:</a:t>
            </a:r>
          </a:p>
          <a:p>
            <a:r>
              <a:rPr lang="en-US" dirty="0">
                <a:hlinkClick r:id="rId2"/>
              </a:rPr>
              <a:t>https://www.w3schools.com/js/exercise.asp?x=xrcise_assignment1</a:t>
            </a:r>
            <a:endParaRPr lang="en-US" dirty="0"/>
          </a:p>
          <a:p>
            <a:r>
              <a:rPr lang="en-US" dirty="0">
                <a:hlinkClick r:id="rId3"/>
              </a:rPr>
              <a:t>https://www.w3schools.com/js/exercise.asp?x=xrcise_if_else1</a:t>
            </a:r>
            <a:endParaRPr lang="en-US" dirty="0"/>
          </a:p>
          <a:p>
            <a:r>
              <a:rPr lang="en-US" dirty="0">
                <a:hlinkClick r:id="rId4"/>
              </a:rPr>
              <a:t>https://www.w3schools.com/js/exercise.asp?x=xrcise_switch1</a:t>
            </a:r>
            <a:endParaRPr lang="en-US" dirty="0"/>
          </a:p>
          <a:p>
            <a:r>
              <a:rPr lang="en-US" dirty="0"/>
              <a:t>https://www.w3schools.com/js/exercise.asp?x=xrcise_loop_for1</a:t>
            </a:r>
          </a:p>
        </p:txBody>
      </p:sp>
    </p:spTree>
    <p:extLst>
      <p:ext uri="{BB962C8B-B14F-4D97-AF65-F5344CB8AC3E}">
        <p14:creationId xmlns:p14="http://schemas.microsoft.com/office/powerpoint/2010/main" val="469886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C302-4A3E-2631-F957-758702C7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6044D-50E6-DB94-8FA2-8E6A3F059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97390" cy="3678303"/>
          </a:xfrm>
        </p:spPr>
        <p:txBody>
          <a:bodyPr/>
          <a:lstStyle/>
          <a:p>
            <a:r>
              <a:rPr lang="en-US" dirty="0"/>
              <a:t>Objects can hold multiple data types, even functions</a:t>
            </a:r>
          </a:p>
          <a:p>
            <a:r>
              <a:rPr lang="en-US" dirty="0"/>
              <a:t>Property keys can be named text, or symbols </a:t>
            </a:r>
          </a:p>
          <a:p>
            <a:r>
              <a:rPr lang="en-US" dirty="0"/>
              <a:t>Property values can be primitives or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9D129-D58A-D1F8-6DB1-99788162F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827" y="2196362"/>
            <a:ext cx="5780020" cy="366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69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EF16-456B-8AC4-600D-9D2438CE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CABCB-B954-BC89-4DE0-B70D2AD58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281753" cy="3678303"/>
          </a:xfrm>
        </p:spPr>
        <p:txBody>
          <a:bodyPr/>
          <a:lstStyle/>
          <a:p>
            <a:r>
              <a:rPr lang="en-US" dirty="0"/>
              <a:t>Classes are blueprints for objects</a:t>
            </a:r>
          </a:p>
          <a:p>
            <a:r>
              <a:rPr lang="en-US" dirty="0"/>
              <a:t>Getters return data in the object</a:t>
            </a:r>
          </a:p>
          <a:p>
            <a:r>
              <a:rPr lang="en-US" dirty="0"/>
              <a:t>Setters change data in the object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B9E7E-96D1-CEB6-F3BF-23DF0439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633" y="2055805"/>
            <a:ext cx="4544212" cy="3480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44F9FF-0EB3-A820-F2C5-CC7E9332E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351" y="5638661"/>
            <a:ext cx="4074775" cy="103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18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C24D3-55A0-5C43-B315-2CFB4019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FEB8-445C-65BE-7257-82675338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9763"/>
            <a:ext cx="11029615" cy="178723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Hoisting</a:t>
            </a:r>
            <a:r>
              <a:rPr lang="en-US" dirty="0"/>
              <a:t> is a behavior in which variables and function declarations are moved (or hoisted) to the top of their containing scope during compilation, before the code is executed.</a:t>
            </a:r>
          </a:p>
          <a:p>
            <a:pPr lvl="1"/>
            <a:r>
              <a:rPr lang="en-US" dirty="0"/>
              <a:t>This means that we can sometimes use functions or variables before they are declared </a:t>
            </a:r>
          </a:p>
          <a:p>
            <a:pPr lvl="1"/>
            <a:r>
              <a:rPr lang="en-US" dirty="0"/>
              <a:t>Var = hoisted, but initialized to undefined</a:t>
            </a:r>
          </a:p>
          <a:p>
            <a:pPr lvl="1"/>
            <a:r>
              <a:rPr lang="en-US" dirty="0"/>
              <a:t>Let/const = hoisted but not initialized </a:t>
            </a:r>
          </a:p>
          <a:p>
            <a:pPr lvl="1"/>
            <a:r>
              <a:rPr lang="en-US" dirty="0"/>
              <a:t>Function expressions/arrow functions = only the variable is hoisted, not the function definition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70846-182B-7311-6016-719A0E8A1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15" y="3849253"/>
            <a:ext cx="2855304" cy="1366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7467D-3B5C-716D-FFDE-78E4DAD9C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22" y="5650149"/>
            <a:ext cx="3686689" cy="733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70751D-B6A0-594C-BCE4-7C256AAF5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528" y="5827185"/>
            <a:ext cx="7427947" cy="5564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DD159E-207C-FB44-10F8-C80240804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678" y="3849253"/>
            <a:ext cx="5268060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49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3F62-530B-1D9E-32F8-29C37FC9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Arrays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0A39D-3205-FC30-9C11-51DBC7448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2139" y="2544537"/>
            <a:ext cx="4656138" cy="540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9DB858-953E-FCBB-FBF7-6C5D875FB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21" y="3615542"/>
            <a:ext cx="4296375" cy="1047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026827-A2A8-334B-64E8-9343984F6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58" y="5159573"/>
            <a:ext cx="3762900" cy="7430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6D64B1-8DD5-3B32-A7B1-55AE258A6679}"/>
              </a:ext>
            </a:extLst>
          </p:cNvPr>
          <p:cNvSpPr txBox="1"/>
          <p:nvPr/>
        </p:nvSpPr>
        <p:spPr>
          <a:xfrm>
            <a:off x="809677" y="3128248"/>
            <a:ext cx="4656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Array</a:t>
            </a:r>
            <a:r>
              <a:rPr lang="en-US" dirty="0"/>
              <a:t> is a special type of variable that can store multiple values in a single container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Arrays are ordered, and elements have an index starting at 0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Arrays are dynamic, we can add and remove items</a:t>
            </a:r>
          </a:p>
        </p:txBody>
      </p:sp>
    </p:spTree>
    <p:extLst>
      <p:ext uri="{BB962C8B-B14F-4D97-AF65-F5344CB8AC3E}">
        <p14:creationId xmlns:p14="http://schemas.microsoft.com/office/powerpoint/2010/main" val="3151058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4145-4C34-F40A-7659-24BE4634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Arrays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5EBDF-81DA-DB2D-6AEF-DEA2DCA14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18" y="2300342"/>
            <a:ext cx="5239481" cy="1133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066E9F-3273-DEA1-CFA2-4B84DA55E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629" y="2471815"/>
            <a:ext cx="5582429" cy="790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D545FC-9926-AAA7-0C79-0649AA62A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391" y="4275149"/>
            <a:ext cx="4353533" cy="866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9D6A97-32A0-BD3E-D4CB-BCC0E0AC9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069" y="4103675"/>
            <a:ext cx="4201111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05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EE7B-C485-9C56-9A06-73A5D85CC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CAB8-2860-EB32-785F-57587B8F8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9EE8-A71B-D9EC-5C48-2732829D7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the knowledge 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7E491A-EB6F-2AB9-5BDB-A2985CC048A7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9575C-4184-F106-8B2E-D185828AE724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E75F99-7937-F454-3295-CE141328E755}"/>
              </a:ext>
            </a:extLst>
          </p:cNvPr>
          <p:cNvSpPr txBox="1">
            <a:spLocks/>
          </p:cNvSpPr>
          <p:nvPr/>
        </p:nvSpPr>
        <p:spPr>
          <a:xfrm>
            <a:off x="6536784" y="3100864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Navigate to the following links and complete the assignments one by one:</a:t>
            </a:r>
          </a:p>
          <a:p>
            <a:r>
              <a:rPr lang="en-US" dirty="0">
                <a:hlinkClick r:id="rId2"/>
              </a:rPr>
              <a:t>https://www.w3schools.com/js/exercise.asp?x=xrcise_classes1</a:t>
            </a:r>
            <a:endParaRPr lang="en-US" dirty="0"/>
          </a:p>
          <a:p>
            <a:r>
              <a:rPr lang="en-US" dirty="0">
                <a:hlinkClick r:id="rId3"/>
              </a:rPr>
              <a:t>https://www.w3schools.com/js/exercise.asp?x=xrcise_arrays1</a:t>
            </a:r>
            <a:endParaRPr lang="en-US" dirty="0"/>
          </a:p>
          <a:p>
            <a:r>
              <a:rPr lang="en-US" dirty="0"/>
              <a:t>https://www.w3schools.com/js/exercise.asp?x=xrcise_objects1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411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4ED6-05A6-FAE6-60C7-67F8CF86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21C7C-C2B9-6ECD-E16F-C2BA0032F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180497"/>
            <a:ext cx="5032797" cy="1859876"/>
          </a:xfrm>
        </p:spPr>
        <p:txBody>
          <a:bodyPr/>
          <a:lstStyle/>
          <a:p>
            <a:r>
              <a:rPr lang="en-US" dirty="0"/>
              <a:t>Strict Mode is a way to opt in to a stricter set of rules that help us write cleaner and safer code. </a:t>
            </a:r>
          </a:p>
          <a:p>
            <a:pPr lvl="1"/>
            <a:r>
              <a:rPr lang="en-US" dirty="0"/>
              <a:t>Can be used at the top of a JS file </a:t>
            </a:r>
          </a:p>
          <a:p>
            <a:pPr lvl="1"/>
            <a:r>
              <a:rPr lang="en-US" dirty="0"/>
              <a:t>Can be used at the top of a function to only apply to a single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2F76E-9BDE-DD08-7002-A48C94CAC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148" y="2025943"/>
            <a:ext cx="4764704" cy="666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A1B98-0B63-0349-5976-EDE6E9E1E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745" y="3429000"/>
            <a:ext cx="3983507" cy="903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349416-A9E0-9ADE-75DC-CC320AAA1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367" y="4986623"/>
            <a:ext cx="3236265" cy="10787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864EF8-FF0C-505B-8E8A-A26802518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56" y="4040373"/>
            <a:ext cx="5153744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27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9506-E9F1-92B2-E882-F7C14CC3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4AC34-8F65-BF81-8B0B-355318F79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609" y="1975900"/>
            <a:ext cx="5766391" cy="4658816"/>
          </a:xfrm>
        </p:spPr>
        <p:txBody>
          <a:bodyPr>
            <a:normAutofit/>
          </a:bodyPr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JavaScript Module </a:t>
            </a:r>
            <a:r>
              <a:rPr lang="en-US" dirty="0"/>
              <a:t>is a JavaScript file that can be imported into another JavaScript file. </a:t>
            </a:r>
          </a:p>
          <a:p>
            <a:pPr lvl="1"/>
            <a:r>
              <a:rPr lang="en-US" dirty="0"/>
              <a:t>It may contain variables, functions, etc. </a:t>
            </a:r>
          </a:p>
          <a:p>
            <a:pPr lvl="1"/>
            <a:r>
              <a:rPr lang="en-US" dirty="0"/>
              <a:t>Allows developer to organize code into separate, reusable pieces instead of writing everything in a single script</a:t>
            </a:r>
          </a:p>
          <a:p>
            <a:pPr lvl="1"/>
            <a:r>
              <a:rPr lang="en-US" dirty="0"/>
              <a:t>Each module has its own scope (variables/functions inside are not automatically global) </a:t>
            </a:r>
          </a:p>
          <a:p>
            <a:pPr lvl="1"/>
            <a:r>
              <a:rPr lang="en-US" dirty="0"/>
              <a:t>Prevents naming conflicts between different parts of code </a:t>
            </a:r>
          </a:p>
          <a:p>
            <a:pPr lvl="1"/>
            <a:r>
              <a:rPr lang="en-US" dirty="0"/>
              <a:t>Named Exports vs Default Exports</a:t>
            </a:r>
          </a:p>
          <a:p>
            <a:pPr lvl="1"/>
            <a:r>
              <a:rPr lang="en-US" dirty="0"/>
              <a:t>Strict Mode is enabled by default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BE863-BAE3-2900-054F-D6D83A3AD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023" y="1975900"/>
            <a:ext cx="4078385" cy="2441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78CEF-5078-901D-B769-E8777F785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30" y="4677840"/>
            <a:ext cx="4728370" cy="166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48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91A5A-E8F3-629C-9BE3-9C564E742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FAF29-4E7F-8BC6-EC21-60534B1AA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713822" cy="3678303"/>
          </a:xfrm>
        </p:spPr>
        <p:txBody>
          <a:bodyPr/>
          <a:lstStyle/>
          <a:p>
            <a:r>
              <a:rPr lang="en-US" dirty="0"/>
              <a:t>Definition: Decorators are a special kind of syntax that allows us to modify or enhance classes and class members. </a:t>
            </a:r>
          </a:p>
          <a:p>
            <a:pPr lvl="1"/>
            <a:r>
              <a:rPr lang="en-US" dirty="0"/>
              <a:t>This is still experimental</a:t>
            </a:r>
          </a:p>
          <a:p>
            <a:pPr lvl="1"/>
            <a:r>
              <a:rPr lang="en-US" dirty="0"/>
              <a:t>Not fully implemented yet into the </a:t>
            </a:r>
            <a:r>
              <a:rPr lang="en-US" dirty="0" err="1"/>
              <a:t>ECMAscript</a:t>
            </a:r>
            <a:r>
              <a:rPr lang="en-US" dirty="0"/>
              <a:t> standard</a:t>
            </a:r>
          </a:p>
          <a:p>
            <a:pPr lvl="1"/>
            <a:r>
              <a:rPr lang="en-US" dirty="0"/>
              <a:t>Often used by larger frameworks such as Angular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0BC6D-21D3-2A70-8003-FD68B678D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762" y="2180496"/>
            <a:ext cx="4381295" cy="415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0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3FBA-CBE4-F93C-32D9-B1D3C0DA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Targeting Elements with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7D774-BC22-B216-BC2D-D7946C446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30510" cy="4167141"/>
          </a:xfrm>
        </p:spPr>
        <p:txBody>
          <a:bodyPr/>
          <a:lstStyle/>
          <a:p>
            <a:r>
              <a:rPr lang="en-US" dirty="0" err="1"/>
              <a:t>getElementById</a:t>
            </a:r>
            <a:r>
              <a:rPr lang="en-US" dirty="0"/>
              <a:t>() – returns single element</a:t>
            </a:r>
          </a:p>
          <a:p>
            <a:r>
              <a:rPr lang="en-US" dirty="0" err="1"/>
              <a:t>getElementsByClassName</a:t>
            </a:r>
            <a:r>
              <a:rPr lang="en-US" dirty="0"/>
              <a:t>() – returns a HTML collection</a:t>
            </a:r>
          </a:p>
          <a:p>
            <a:r>
              <a:rPr lang="en-US" dirty="0" err="1"/>
              <a:t>getElementsByTagName</a:t>
            </a:r>
            <a:r>
              <a:rPr lang="en-US" dirty="0"/>
              <a:t>() – returns a HTML collection</a:t>
            </a:r>
          </a:p>
          <a:p>
            <a:r>
              <a:rPr lang="en-US" dirty="0" err="1"/>
              <a:t>querySelector</a:t>
            </a:r>
            <a:r>
              <a:rPr lang="en-US" dirty="0"/>
              <a:t>() – returns first matching element based on CSS selector</a:t>
            </a:r>
          </a:p>
          <a:p>
            <a:r>
              <a:rPr lang="en-US" dirty="0" err="1"/>
              <a:t>querySelectorAll</a:t>
            </a:r>
            <a:r>
              <a:rPr lang="en-US" dirty="0"/>
              <a:t>() – returns a </a:t>
            </a:r>
            <a:r>
              <a:rPr lang="en-US" dirty="0" err="1"/>
              <a:t>NodeList</a:t>
            </a:r>
            <a:r>
              <a:rPr lang="en-US" dirty="0"/>
              <a:t> with all matching elements using a CSS selector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86D5E-1209-986B-9E16-9011B1FFB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771" y="2102856"/>
            <a:ext cx="5108922" cy="1645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B76E27-9060-EDD1-B5C7-9A54CA178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414" y="3932408"/>
            <a:ext cx="5840238" cy="373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FB9AB0-072C-4761-1A6A-1C40538B1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122" y="4534542"/>
            <a:ext cx="6002571" cy="3412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617B94-93A3-168D-2767-3625753A1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374" y="5108043"/>
            <a:ext cx="5746319" cy="3412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46C23A-5130-6D5E-6DE8-9D9ABB1FE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162" y="5812275"/>
            <a:ext cx="6122531" cy="34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40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1947-B59B-9FF8-77E2-DCADF7FE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00879-D406-919F-B69C-8135099DA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284" y="2233659"/>
            <a:ext cx="7329431" cy="3678303"/>
          </a:xfrm>
        </p:spPr>
        <p:txBody>
          <a:bodyPr/>
          <a:lstStyle/>
          <a:p>
            <a:r>
              <a:rPr lang="en-US" dirty="0"/>
              <a:t>JavaScript events are actions that happen in the browser, usually because of human action.</a:t>
            </a:r>
          </a:p>
          <a:p>
            <a:r>
              <a:rPr lang="en-US" dirty="0"/>
              <a:t>Some examples include:</a:t>
            </a:r>
          </a:p>
          <a:p>
            <a:pPr lvl="1"/>
            <a:r>
              <a:rPr lang="en-US" dirty="0"/>
              <a:t>UI events: load, resize, scroll</a:t>
            </a:r>
          </a:p>
          <a:p>
            <a:pPr lvl="1"/>
            <a:r>
              <a:rPr lang="en-US" dirty="0"/>
              <a:t>Mouse events: click, </a:t>
            </a:r>
            <a:r>
              <a:rPr lang="en-US" dirty="0" err="1"/>
              <a:t>dblclick</a:t>
            </a:r>
            <a:r>
              <a:rPr lang="en-US" dirty="0"/>
              <a:t>, mouseover, </a:t>
            </a:r>
            <a:r>
              <a:rPr lang="en-US" dirty="0" err="1"/>
              <a:t>mousemove</a:t>
            </a:r>
            <a:endParaRPr lang="en-US" dirty="0"/>
          </a:p>
          <a:p>
            <a:pPr lvl="1"/>
            <a:r>
              <a:rPr lang="en-US" dirty="0"/>
              <a:t>Keyboard events: </a:t>
            </a:r>
            <a:r>
              <a:rPr lang="en-US" dirty="0" err="1"/>
              <a:t>keydown</a:t>
            </a:r>
            <a:r>
              <a:rPr lang="en-US" dirty="0"/>
              <a:t>, </a:t>
            </a:r>
            <a:r>
              <a:rPr lang="en-US" dirty="0" err="1"/>
              <a:t>keyup</a:t>
            </a:r>
            <a:r>
              <a:rPr lang="en-US" dirty="0"/>
              <a:t>, keypress</a:t>
            </a:r>
          </a:p>
          <a:p>
            <a:pPr lvl="1"/>
            <a:r>
              <a:rPr lang="en-US" dirty="0"/>
              <a:t>Form events: submit, change, focus, blur</a:t>
            </a:r>
          </a:p>
          <a:p>
            <a:pPr lvl="1"/>
            <a:r>
              <a:rPr lang="en-US" dirty="0"/>
              <a:t>Clipboard events: copy, paste, cut  </a:t>
            </a:r>
          </a:p>
        </p:txBody>
      </p:sp>
    </p:spTree>
    <p:extLst>
      <p:ext uri="{BB962C8B-B14F-4D97-AF65-F5344CB8AC3E}">
        <p14:creationId xmlns:p14="http://schemas.microsoft.com/office/powerpoint/2010/main" val="4046368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BEB9-B9B8-044B-B45F-35B79E84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E43EF-2412-2871-3DEA-A2B05218F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85490"/>
            <a:ext cx="4455409" cy="3678303"/>
          </a:xfrm>
        </p:spPr>
        <p:txBody>
          <a:bodyPr/>
          <a:lstStyle/>
          <a:p>
            <a:r>
              <a:rPr lang="en-US" dirty="0"/>
              <a:t>Event Listeners “listen” for events and execute a function when they occur</a:t>
            </a:r>
          </a:p>
          <a:p>
            <a:r>
              <a:rPr lang="en-US" dirty="0"/>
              <a:t>When an event occurs, an Event Object is automatically passed to the event handler </a:t>
            </a:r>
          </a:p>
          <a:p>
            <a:pPr lvl="1"/>
            <a:r>
              <a:rPr lang="en-US" dirty="0"/>
              <a:t>The Event Object contains important information such as the type of event, the element that triggered it, mouse position, key pressed, etc. </a:t>
            </a:r>
          </a:p>
          <a:p>
            <a:r>
              <a:rPr lang="en-US" dirty="0"/>
              <a:t>Inline event handlers are possible, but not recommended (it’s more maintainable to keep everything in the JS file)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90F3D-0F13-9495-88B1-D802025D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31" y="2055543"/>
            <a:ext cx="4548833" cy="2124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DC1236-E871-4265-B07D-2154E62E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907" y="4346340"/>
            <a:ext cx="5601457" cy="9004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7B3C6D-84EF-5511-832B-13DBD02AE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111" y="5771742"/>
            <a:ext cx="5775253" cy="38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15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92DBF-8789-5020-1883-96773E46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16A45-943E-96D2-E0BD-4BECF42E8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8" cy="3975348"/>
          </a:xfrm>
        </p:spPr>
        <p:txBody>
          <a:bodyPr/>
          <a:lstStyle/>
          <a:p>
            <a:r>
              <a:rPr lang="en-US" dirty="0"/>
              <a:t>When an event occurs, it goes through 3 phases</a:t>
            </a:r>
          </a:p>
          <a:p>
            <a:pPr lvl="1"/>
            <a:r>
              <a:rPr lang="en-US" dirty="0"/>
              <a:t>First, the event starts at the root of the DOM (document) and traverses down to the element that triggered the event. This is called the Capturing Phase. </a:t>
            </a:r>
          </a:p>
          <a:p>
            <a:pPr lvl="1"/>
            <a:r>
              <a:rPr lang="en-US" dirty="0"/>
              <a:t>Then, when at the element that triggered the event, we are in the Target Phase. </a:t>
            </a:r>
          </a:p>
          <a:p>
            <a:pPr lvl="1"/>
            <a:r>
              <a:rPr lang="en-US" dirty="0"/>
              <a:t>Finally, the event moves back up the DOM towards the root, this is the Bubbling Phase. </a:t>
            </a:r>
          </a:p>
          <a:p>
            <a:r>
              <a:rPr lang="en-US" dirty="0"/>
              <a:t>Our event listeners operate during the bubbling phase by default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5181E-8D5D-C682-D1B6-99966405D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005" y="2531658"/>
            <a:ext cx="4783787" cy="313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34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D121-F802-F8FA-16F3-F5422EEE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Propagation – What is the output?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CFAEBC-6283-D0C2-A57B-D2D275A80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3528155"/>
            <a:ext cx="5409952" cy="1343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0E802A-2775-62B3-1264-01639CDA4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633" y="2197992"/>
            <a:ext cx="3996607" cy="427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6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A66E6-BF3D-ED6C-DF50-73A27288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Stopping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1AFF2-FF18-6E75-E730-7346CCD80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7" cy="3678303"/>
          </a:xfrm>
        </p:spPr>
        <p:txBody>
          <a:bodyPr/>
          <a:lstStyle/>
          <a:p>
            <a:r>
              <a:rPr lang="en-US" dirty="0" err="1"/>
              <a:t>event.stopPropagation</a:t>
            </a:r>
            <a:r>
              <a:rPr lang="en-US" dirty="0"/>
              <a:t>() – stops the event from continuing further (either in bubbling or capturing)</a:t>
            </a:r>
          </a:p>
          <a:p>
            <a:r>
              <a:rPr lang="en-US" dirty="0" err="1"/>
              <a:t>event.stopImmediatePropagation</a:t>
            </a:r>
            <a:r>
              <a:rPr lang="en-US" dirty="0"/>
              <a:t>() – also stops other listeners on the same element</a:t>
            </a:r>
          </a:p>
          <a:p>
            <a:r>
              <a:rPr lang="en-US" dirty="0" err="1"/>
              <a:t>event.preventDefault</a:t>
            </a:r>
            <a:r>
              <a:rPr lang="en-US" dirty="0"/>
              <a:t>() – prevents the default action (like following a link or submitting a form)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77554-805F-613A-01F9-022C9C29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63" y="2046068"/>
            <a:ext cx="4618668" cy="4266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4C0131-7D3D-BD4C-DC2E-1DD74AF6AB9E}"/>
              </a:ext>
            </a:extLst>
          </p:cNvPr>
          <p:cNvSpPr txBox="1"/>
          <p:nvPr/>
        </p:nvSpPr>
        <p:spPr>
          <a:xfrm>
            <a:off x="436199" y="5786512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expected output when a user clicks the button?</a:t>
            </a:r>
          </a:p>
        </p:txBody>
      </p:sp>
    </p:spTree>
    <p:extLst>
      <p:ext uri="{BB962C8B-B14F-4D97-AF65-F5344CB8AC3E}">
        <p14:creationId xmlns:p14="http://schemas.microsoft.com/office/powerpoint/2010/main" val="3155899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6DBC-8FD9-BF6A-F9EB-3526AEC5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preventDefault</a:t>
            </a:r>
            <a:r>
              <a:rPr lang="en-US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25372-A439-EC13-02BA-2D663E517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405" y="2515484"/>
            <a:ext cx="7481190" cy="33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81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5F381-3DD9-EAE5-F285-222F7C7F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1044-EE2D-B9EC-073E-BB1820FC5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Make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AA92D-2DBB-CF03-B414-E79A73CD5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JavaScript module that has a function called from a button click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40662-D6D0-B9E8-C238-CCB43E471B51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E0DCA-1144-1DE9-EF1D-223EF05693E5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20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16EA046-C7C7-02AD-FD5B-9549A6D716E1}"/>
              </a:ext>
            </a:extLst>
          </p:cNvPr>
          <p:cNvSpPr txBox="1">
            <a:spLocks/>
          </p:cNvSpPr>
          <p:nvPr/>
        </p:nvSpPr>
        <p:spPr>
          <a:xfrm>
            <a:off x="6545749" y="2475925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you to continue work on the product launch page. </a:t>
            </a:r>
          </a:p>
          <a:p>
            <a:r>
              <a:rPr lang="en-US" dirty="0"/>
              <a:t>Create a JavaScript module that returns the current date formatted as ‘YYYY-MM-DD’</a:t>
            </a:r>
          </a:p>
          <a:p>
            <a:r>
              <a:rPr lang="en-US" dirty="0"/>
              <a:t>Call this method and print the results to the console whenever a button is clicked </a:t>
            </a:r>
          </a:p>
        </p:txBody>
      </p:sp>
    </p:spTree>
    <p:extLst>
      <p:ext uri="{BB962C8B-B14F-4D97-AF65-F5344CB8AC3E}">
        <p14:creationId xmlns:p14="http://schemas.microsoft.com/office/powerpoint/2010/main" val="3076854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91BE-4CD9-6E37-B75B-23ED2582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 Manipulation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B84B8-81CB-0BD2-CD14-066741337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07496" cy="3678303"/>
          </a:xfrm>
        </p:spPr>
        <p:txBody>
          <a:bodyPr/>
          <a:lstStyle/>
          <a:p>
            <a:r>
              <a:rPr lang="en-US" dirty="0" err="1"/>
              <a:t>createElement</a:t>
            </a:r>
            <a:r>
              <a:rPr lang="en-US" dirty="0"/>
              <a:t>() – creates an element with specified tag</a:t>
            </a:r>
          </a:p>
          <a:p>
            <a:r>
              <a:rPr lang="en-US" dirty="0" err="1"/>
              <a:t>appendChild</a:t>
            </a:r>
            <a:r>
              <a:rPr lang="en-US" dirty="0"/>
              <a:t>() – attaches an element as a child of the specified element</a:t>
            </a:r>
          </a:p>
          <a:p>
            <a:r>
              <a:rPr lang="en-US" dirty="0" err="1"/>
              <a:t>removeChild</a:t>
            </a:r>
            <a:r>
              <a:rPr lang="en-US" dirty="0"/>
              <a:t>() – removes a specified element from the DOM</a:t>
            </a:r>
          </a:p>
          <a:p>
            <a:r>
              <a:rPr lang="en-US" dirty="0" err="1"/>
              <a:t>replaceChild</a:t>
            </a:r>
            <a:r>
              <a:rPr lang="en-US" dirty="0"/>
              <a:t>(</a:t>
            </a:r>
            <a:r>
              <a:rPr lang="en-US" dirty="0" err="1"/>
              <a:t>newElement</a:t>
            </a:r>
            <a:r>
              <a:rPr lang="en-US" dirty="0"/>
              <a:t>, </a:t>
            </a:r>
            <a:r>
              <a:rPr lang="en-US" dirty="0" err="1"/>
              <a:t>oldElement</a:t>
            </a:r>
            <a:r>
              <a:rPr lang="en-US" dirty="0"/>
              <a:t>) – swaps one element for another on a parent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95205-853F-B6BE-C2FE-EC01F22C4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53" y="2572364"/>
            <a:ext cx="5963482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120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9F02-7B1E-94B2-82A5-9F2D0B68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DE05-63F2-ED29-198F-439EB34C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Display The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C0B1-57E7-C0B2-66D1-833A7EECA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JavaScript so that the current date appears within a div on the page when your button is clicked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B800E-42C9-D116-D8E4-DE01D16B2645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FF032-7B33-45E4-D461-6339655E5078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15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94808F-9BA9-1981-82F4-C2E32B8EFE6E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3054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you to continue work on the product launch page. </a:t>
            </a:r>
          </a:p>
          <a:p>
            <a:r>
              <a:rPr lang="en-US" dirty="0"/>
              <a:t>Ensure the date appears on the page, within a div, when the button is clicked</a:t>
            </a:r>
          </a:p>
          <a:p>
            <a:r>
              <a:rPr lang="en-US" dirty="0"/>
              <a:t>You may not create a div within the html, use only JavaScript to solve the challenge</a:t>
            </a:r>
          </a:p>
          <a:p>
            <a:r>
              <a:rPr lang="en-US" dirty="0"/>
              <a:t>Ensure that no duplicate dates appear on the page, you should replace the old value with the new value if a div currently exists</a:t>
            </a:r>
          </a:p>
        </p:txBody>
      </p:sp>
    </p:spTree>
    <p:extLst>
      <p:ext uri="{BB962C8B-B14F-4D97-AF65-F5344CB8AC3E}">
        <p14:creationId xmlns:p14="http://schemas.microsoft.com/office/powerpoint/2010/main" val="36916235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05B8-1205-10BB-E0D5-5741BEB5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JavaScript Event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F067C-63C7-271E-CA73-A9B35190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55454"/>
            <a:ext cx="4107766" cy="37003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JavaScript is considered a ‘blocking’ or ‘single-threaded’ language</a:t>
            </a:r>
          </a:p>
          <a:p>
            <a:r>
              <a:rPr lang="en-US" dirty="0"/>
              <a:t>The call stack – first in, last out structure</a:t>
            </a:r>
          </a:p>
          <a:p>
            <a:r>
              <a:rPr lang="en-US" dirty="0"/>
              <a:t>The event queue – first in, first out structure</a:t>
            </a:r>
          </a:p>
          <a:p>
            <a:r>
              <a:rPr lang="en-US" dirty="0"/>
              <a:t>Our event loop supplies jobs to the call stack from our event queue</a:t>
            </a:r>
          </a:p>
          <a:p>
            <a:r>
              <a:rPr lang="en-US" dirty="0"/>
              <a:t>If an asynchronous job appears, it is sent to the browser’s web APIs for processing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24412-B523-00BA-E1E2-27509DC35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609" y="2265500"/>
            <a:ext cx="6832772" cy="359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783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CBCE-6D21-C8B1-FEB6-1DD06A7B5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XMLHttpRequests</a:t>
            </a:r>
            <a:r>
              <a:rPr lang="en-US" dirty="0"/>
              <a:t> and callbacks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BD86D-9ABC-94D2-BEFF-01D9C2FF3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97" y="2030818"/>
            <a:ext cx="4366877" cy="4631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E29A24-9DC9-7F7C-B858-06C43352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536" y="4194175"/>
            <a:ext cx="5887272" cy="189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2013ED-EF99-8EF1-B3B5-346B9EF78413}"/>
              </a:ext>
            </a:extLst>
          </p:cNvPr>
          <p:cNvSpPr txBox="1"/>
          <p:nvPr/>
        </p:nvSpPr>
        <p:spPr>
          <a:xfrm>
            <a:off x="6096000" y="2488017"/>
            <a:ext cx="5082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Callback Function </a:t>
            </a:r>
            <a:r>
              <a:rPr lang="en-US" dirty="0"/>
              <a:t>is a function that is passed as an argument to another function, and is meant to be called later, usually after an operation has completed</a:t>
            </a:r>
          </a:p>
        </p:txBody>
      </p:sp>
    </p:spTree>
    <p:extLst>
      <p:ext uri="{BB962C8B-B14F-4D97-AF65-F5344CB8AC3E}">
        <p14:creationId xmlns:p14="http://schemas.microsoft.com/office/powerpoint/2010/main" val="8922479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E964-4133-02A9-FACB-F8E3D24F9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scenarios with callback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FA334-A215-E641-795A-F7990708A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460" y="2557699"/>
            <a:ext cx="3661199" cy="3678303"/>
          </a:xfrm>
        </p:spPr>
        <p:txBody>
          <a:bodyPr/>
          <a:lstStyle/>
          <a:p>
            <a:r>
              <a:rPr lang="en-US" dirty="0" err="1"/>
              <a:t>forEach</a:t>
            </a:r>
            <a:r>
              <a:rPr lang="en-US" dirty="0"/>
              <a:t>() - executes a callback for each item</a:t>
            </a:r>
          </a:p>
          <a:p>
            <a:r>
              <a:rPr lang="en-US" dirty="0"/>
              <a:t>map() – creates a new array while executing the callback for each item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EC795-CAF0-94A6-C5FF-FD58CF54B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727" y="2276314"/>
            <a:ext cx="3249073" cy="1523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ED6910-8F73-D8CA-359C-CEBE372A2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727" y="4184649"/>
            <a:ext cx="327705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948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7BAB1-73E8-40DD-7790-C70DEC08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B84A-C3EC-167B-1BE5-E9D9A487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scenarios with callback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0627A-D8D7-94C6-1C81-0283B0642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460" y="2557699"/>
            <a:ext cx="3661199" cy="3678303"/>
          </a:xfrm>
        </p:spPr>
        <p:txBody>
          <a:bodyPr/>
          <a:lstStyle/>
          <a:p>
            <a:r>
              <a:rPr lang="en-US" dirty="0"/>
              <a:t>filter() – returns a new array containing only the elements for which the callback returns true</a:t>
            </a:r>
          </a:p>
          <a:p>
            <a:r>
              <a:rPr lang="en-US" dirty="0"/>
              <a:t>reduce() – accumulates a single value by applying the callback to each element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F3723-A0E4-CF47-2010-321BEC05E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087" y="2132324"/>
            <a:ext cx="3353268" cy="1857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A2C8B3-3786-09F5-2E9C-702AE1D78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02" y="4406326"/>
            <a:ext cx="4391638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320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1C56-81FF-ADD5-ED33-69CBA7F5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8E2C-36AF-F377-8D1D-3E626D602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064695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Promise</a:t>
            </a:r>
            <a:r>
              <a:rPr lang="en-US" dirty="0"/>
              <a:t> is an object that represents the eventual result of an asynchronous operation</a:t>
            </a:r>
          </a:p>
          <a:p>
            <a:pPr lvl="1"/>
            <a:r>
              <a:rPr lang="en-US" dirty="0"/>
              <a:t>These allow us to handle success and failures of these operations in a cleaner way</a:t>
            </a:r>
          </a:p>
          <a:p>
            <a:r>
              <a:rPr lang="en-US" dirty="0"/>
              <a:t>Promises may be pending, fulfilled, or rejected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F1220-E7EF-87AD-5102-B6A733A22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701" y="2390630"/>
            <a:ext cx="3915321" cy="2076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3C9B61-3AED-0529-9936-DA6E10B1F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279" y="4646423"/>
            <a:ext cx="3858163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491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440AE-88C9-68B2-DC9C-638EB210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Fetch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BA18-E500-0580-04E6-4A387C79B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287980" cy="3678303"/>
          </a:xfrm>
        </p:spPr>
        <p:txBody>
          <a:bodyPr/>
          <a:lstStyle/>
          <a:p>
            <a:r>
              <a:rPr lang="en-US" dirty="0"/>
              <a:t>Definition: The </a:t>
            </a:r>
            <a:r>
              <a:rPr lang="en-US" dirty="0">
                <a:solidFill>
                  <a:schemeClr val="accent2"/>
                </a:solidFill>
              </a:rPr>
              <a:t>Fetch API </a:t>
            </a:r>
            <a:r>
              <a:rPr lang="en-US" dirty="0"/>
              <a:t>is a modern JavaScript interface for making HTTP requests to servers</a:t>
            </a:r>
          </a:p>
          <a:p>
            <a:pPr lvl="1"/>
            <a:r>
              <a:rPr lang="en-US" dirty="0"/>
              <a:t>Let's us send and retrieve data asynchronously </a:t>
            </a:r>
          </a:p>
          <a:p>
            <a:pPr lvl="1"/>
            <a:r>
              <a:rPr lang="en-US" dirty="0"/>
              <a:t>Uses promises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74090-258F-2F40-4DD4-3ECE50D05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829" y="2180496"/>
            <a:ext cx="5056955" cy="41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911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790B-1FB1-F813-608E-DE8AB0B7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Asnyc</a:t>
            </a:r>
            <a:r>
              <a:rPr lang="en-US" dirty="0"/>
              <a:t>/Await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5881-78D8-76A2-EC0D-603229FA0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07496" cy="3678303"/>
          </a:xfrm>
        </p:spPr>
        <p:txBody>
          <a:bodyPr/>
          <a:lstStyle/>
          <a:p>
            <a:r>
              <a:rPr lang="en-US" dirty="0"/>
              <a:t>Async/Await – is a modern syntax for working with asynchronous code in a way that looks and behaves more like synchronous code</a:t>
            </a:r>
          </a:p>
          <a:p>
            <a:r>
              <a:rPr lang="en-US" dirty="0"/>
              <a:t>Syntactical Sugar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088AFD-1A96-7397-565B-22E7389D5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25" y="2071512"/>
            <a:ext cx="5811061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72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D020-B51A-E46D-4D85-9D0BB148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0E3C-14B8-A72D-C375-C34D252D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Complete Your mini-Project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BC692-24EF-D1B0-1A6D-A04772642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Use your knowledge of fetch to include a public API in your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9292C-383C-D5AB-F452-A3AA99EC9E5F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525C2-157B-D36C-28DB-FFCFE1458893}"/>
              </a:ext>
            </a:extLst>
          </p:cNvPr>
          <p:cNvSpPr txBox="1"/>
          <p:nvPr/>
        </p:nvSpPr>
        <p:spPr>
          <a:xfrm>
            <a:off x="6714565" y="2402747"/>
            <a:ext cx="489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??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53F197-8330-8F83-2870-86B612D7DAA5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534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you to continue work on the product launch page. </a:t>
            </a:r>
          </a:p>
          <a:p>
            <a:r>
              <a:rPr lang="en-US" dirty="0"/>
              <a:t>Use a public API to include data on the page</a:t>
            </a:r>
          </a:p>
        </p:txBody>
      </p:sp>
    </p:spTree>
    <p:extLst>
      <p:ext uri="{BB962C8B-B14F-4D97-AF65-F5344CB8AC3E}">
        <p14:creationId xmlns:p14="http://schemas.microsoft.com/office/powerpoint/2010/main" val="185106655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1737</TotalTime>
  <Words>2229</Words>
  <Application>Microsoft Office PowerPoint</Application>
  <PresentationFormat>Widescreen</PresentationFormat>
  <Paragraphs>235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Gill Sans MT</vt:lpstr>
      <vt:lpstr>var(--fontStack-monospace, ui-monospace, SFMono-Regular, SF Mono, Menlo, Consolas, Liberation Mono, monospace)</vt:lpstr>
      <vt:lpstr>Wingdings</vt:lpstr>
      <vt:lpstr>Wingdings 2</vt:lpstr>
      <vt:lpstr>Dividend</vt:lpstr>
      <vt:lpstr>JavaScript</vt:lpstr>
      <vt:lpstr>What is JavaScript?</vt:lpstr>
      <vt:lpstr>How to Include JavaScript</vt:lpstr>
      <vt:lpstr>Variables</vt:lpstr>
      <vt:lpstr>Primitive Data Types</vt:lpstr>
      <vt:lpstr>Reference Data Types</vt:lpstr>
      <vt:lpstr>More on Functions</vt:lpstr>
      <vt:lpstr>Arrow Functions</vt:lpstr>
      <vt:lpstr>Console Commands</vt:lpstr>
      <vt:lpstr>Challenge – Setup JavaScript</vt:lpstr>
      <vt:lpstr>Variable Scope</vt:lpstr>
      <vt:lpstr>Check Data Types of Variables</vt:lpstr>
      <vt:lpstr>JavaScript Arithmetic Operators</vt:lpstr>
      <vt:lpstr>JavaScript Comparison Operators</vt:lpstr>
      <vt:lpstr>JavaScript Logical Operators</vt:lpstr>
      <vt:lpstr>Falsey Values</vt:lpstr>
      <vt:lpstr>Control Flow</vt:lpstr>
      <vt:lpstr>Loops</vt:lpstr>
      <vt:lpstr>Loops</vt:lpstr>
      <vt:lpstr>Challenge – Knowledge Check</vt:lpstr>
      <vt:lpstr>Working With Objects</vt:lpstr>
      <vt:lpstr>Working With Classes</vt:lpstr>
      <vt:lpstr>Hoisting</vt:lpstr>
      <vt:lpstr>Working With Arrays</vt:lpstr>
      <vt:lpstr>Working With Arrays</vt:lpstr>
      <vt:lpstr>Challenge – Knowledge Check</vt:lpstr>
      <vt:lpstr>Strict Mode</vt:lpstr>
      <vt:lpstr>JavaScript Modules</vt:lpstr>
      <vt:lpstr>Decorators</vt:lpstr>
      <vt:lpstr>Targeting Elements with JavaScript</vt:lpstr>
      <vt:lpstr>Events</vt:lpstr>
      <vt:lpstr>Events</vt:lpstr>
      <vt:lpstr>Event Propagation</vt:lpstr>
      <vt:lpstr>Event Propagation – What is the output?</vt:lpstr>
      <vt:lpstr>Stopping Events</vt:lpstr>
      <vt:lpstr>preventDefault()</vt:lpstr>
      <vt:lpstr>Challenge – Make a Module</vt:lpstr>
      <vt:lpstr>DOM Manipulation</vt:lpstr>
      <vt:lpstr>Challenge – Display The Date</vt:lpstr>
      <vt:lpstr>The JavaScript Event Loop</vt:lpstr>
      <vt:lpstr>XMLHttpRequests and callbacks</vt:lpstr>
      <vt:lpstr>Other scenarios with callback functions</vt:lpstr>
      <vt:lpstr>Other scenarios with callback functions</vt:lpstr>
      <vt:lpstr>Promises</vt:lpstr>
      <vt:lpstr>The Fetch API</vt:lpstr>
      <vt:lpstr>Asnyc/Await</vt:lpstr>
      <vt:lpstr>Challenge – Complete Your mini-Project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589</cp:revision>
  <dcterms:created xsi:type="dcterms:W3CDTF">2025-02-12T19:53:45Z</dcterms:created>
  <dcterms:modified xsi:type="dcterms:W3CDTF">2025-09-25T22:33:00Z</dcterms:modified>
</cp:coreProperties>
</file>