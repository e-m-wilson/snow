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9" r:id="rId8"/>
    <p:sldId id="281" r:id="rId9"/>
    <p:sldId id="268" r:id="rId10"/>
    <p:sldId id="262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0" r:id="rId21"/>
    <p:sldId id="279" r:id="rId22"/>
    <p:sldId id="282" r:id="rId23"/>
    <p:sldId id="283" r:id="rId24"/>
    <p:sldId id="284" r:id="rId25"/>
    <p:sldId id="285" r:id="rId26"/>
    <p:sldId id="28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js/exercise.asp?x=xrcise_if_else1" TargetMode="External"/><Relationship Id="rId2" Type="http://schemas.openxmlformats.org/officeDocument/2006/relationships/hyperlink" Target="https://www.w3schools.com/js/exercise.asp?x=xrcise_assignment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w3schools.com/js/exercise.asp?x=xrcise_switch1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js/exercise.asp?x=xrcise_arrays1" TargetMode="External"/><Relationship Id="rId2" Type="http://schemas.openxmlformats.org/officeDocument/2006/relationships/hyperlink" Target="https://www.w3schools.com/js/exercise.asp?x=xrcise_classes1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28517-FA3E-154A-1C51-845CFB9E1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JavaScript?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FBE97-21E0-710C-EDCF-8305824F6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JavaScript</a:t>
            </a:r>
            <a:r>
              <a:rPr lang="en-US" dirty="0"/>
              <a:t> is a high-level, interpreted programming language primarily used to make web pages interactive and dynamic. </a:t>
            </a:r>
          </a:p>
          <a:p>
            <a:pPr lvl="1"/>
            <a:r>
              <a:rPr lang="en-US" dirty="0"/>
              <a:t>It runs directly in the browser </a:t>
            </a:r>
          </a:p>
          <a:p>
            <a:pPr lvl="1"/>
            <a:r>
              <a:rPr lang="en-US" dirty="0"/>
              <a:t>Allows developers to manipulate content, respond to user actions, control multimedia, and communicate with servers</a:t>
            </a:r>
          </a:p>
          <a:p>
            <a:pPr lvl="1"/>
            <a:r>
              <a:rPr lang="en-US" dirty="0"/>
              <a:t>Case sensitive</a:t>
            </a:r>
          </a:p>
          <a:p>
            <a:pPr lvl="1"/>
            <a:r>
              <a:rPr lang="en-US" dirty="0"/>
              <a:t>Loosely typed – we don’t declare the type of variable </a:t>
            </a:r>
          </a:p>
          <a:p>
            <a:pPr lvl="1"/>
            <a:r>
              <a:rPr lang="en-US" dirty="0"/>
              <a:t>Dynamically typed – the type of variables are determined at runtime </a:t>
            </a:r>
          </a:p>
        </p:txBody>
      </p:sp>
    </p:spTree>
    <p:extLst>
      <p:ext uri="{BB962C8B-B14F-4D97-AF65-F5344CB8AC3E}">
        <p14:creationId xmlns:p14="http://schemas.microsoft.com/office/powerpoint/2010/main" val="1606665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1DBAF-FAA6-7A07-4574-DF562DCAF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Include JavaScript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3AC92-7D3C-8871-89D7-2454AD912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524643" cy="3678303"/>
          </a:xfrm>
        </p:spPr>
        <p:txBody>
          <a:bodyPr/>
          <a:lstStyle/>
          <a:p>
            <a:pPr>
              <a:lnSpc>
                <a:spcPct val="300000"/>
              </a:lnSpc>
            </a:pPr>
            <a:r>
              <a:rPr lang="en-US" dirty="0"/>
              <a:t>Inline</a:t>
            </a:r>
          </a:p>
          <a:p>
            <a:pPr>
              <a:lnSpc>
                <a:spcPct val="300000"/>
              </a:lnSpc>
            </a:pPr>
            <a:r>
              <a:rPr lang="en-US" dirty="0"/>
              <a:t>Internal</a:t>
            </a:r>
          </a:p>
          <a:p>
            <a:pPr>
              <a:lnSpc>
                <a:spcPct val="300000"/>
              </a:lnSpc>
            </a:pPr>
            <a:r>
              <a:rPr lang="en-US" dirty="0"/>
              <a:t>External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F79758-767F-F861-6A28-625996939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915" y="2733240"/>
            <a:ext cx="6791673" cy="220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F88BE8-BE28-10BD-17EB-9982A0938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0801" y="3270895"/>
            <a:ext cx="3943900" cy="19528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6DEADD-8FF5-9225-B3B5-FA2E17B43A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9749" y="5701614"/>
            <a:ext cx="4706007" cy="31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025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03B4C-6A3D-06DE-4B09-C885B2761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070B9-9595-3C71-6C18-3743858F5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10230"/>
            <a:ext cx="11029615" cy="2536759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Variable</a:t>
            </a:r>
            <a:r>
              <a:rPr lang="en-US" dirty="0"/>
              <a:t> – a container for storing data values, such as numbers, text, objects or more.</a:t>
            </a:r>
          </a:p>
          <a:p>
            <a:pPr lvl="1"/>
            <a:r>
              <a:rPr lang="en-US" dirty="0"/>
              <a:t>Variables let us label and reuse data within our application </a:t>
            </a:r>
          </a:p>
          <a:p>
            <a:r>
              <a:rPr lang="en-US" dirty="0"/>
              <a:t>Let – declares a variable that can be reassigned</a:t>
            </a:r>
          </a:p>
          <a:p>
            <a:r>
              <a:rPr lang="en-US" dirty="0"/>
              <a:t>Const – declares a variable that cannot be reassigned</a:t>
            </a:r>
          </a:p>
          <a:p>
            <a:r>
              <a:rPr lang="en-US" dirty="0"/>
              <a:t>Var – old way of declaring variables (not commonly used now)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FD9A1F-535C-4896-ADE8-8AC448A1A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126" y="5041263"/>
            <a:ext cx="5515745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518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909B5-8C9A-1F9C-4A1E-6189B5C55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Primitive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EACAF-9993-FEBF-9219-A3FC08A08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829720"/>
            <a:ext cx="5980973" cy="3678303"/>
          </a:xfrm>
        </p:spPr>
        <p:txBody>
          <a:bodyPr/>
          <a:lstStyle/>
          <a:p>
            <a:r>
              <a:rPr lang="en-US" dirty="0"/>
              <a:t>String – text values</a:t>
            </a:r>
          </a:p>
          <a:p>
            <a:r>
              <a:rPr lang="en-US" dirty="0"/>
              <a:t>Number – integers and decimals</a:t>
            </a:r>
          </a:p>
          <a:p>
            <a:r>
              <a:rPr lang="en-US" dirty="0"/>
              <a:t>Boolean – true or false</a:t>
            </a:r>
          </a:p>
          <a:p>
            <a:r>
              <a:rPr lang="en-US" dirty="0"/>
              <a:t>Undefined – variables that are declared but never assigned a value</a:t>
            </a:r>
          </a:p>
          <a:p>
            <a:r>
              <a:rPr lang="en-US" dirty="0"/>
              <a:t>Null – intentional ‘empty’ value</a:t>
            </a:r>
          </a:p>
          <a:p>
            <a:r>
              <a:rPr lang="en-US" dirty="0"/>
              <a:t>Symbol – unique identifier (rarely used in beginners’ code)</a:t>
            </a:r>
          </a:p>
          <a:p>
            <a:r>
              <a:rPr lang="en-US" dirty="0" err="1"/>
              <a:t>BigInt</a:t>
            </a:r>
            <a:r>
              <a:rPr lang="en-US" dirty="0"/>
              <a:t> – for very large integers beyond Number’s limit </a:t>
            </a:r>
            <a:br>
              <a:rPr lang="en-US" dirty="0"/>
            </a:br>
            <a:r>
              <a:rPr lang="en-US" dirty="0"/>
              <a:t>(notice the ‘n’ at the end of the integer)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3EDC8-A6DC-C698-AEB0-5314A6B7B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6142" y="2795453"/>
            <a:ext cx="2257740" cy="323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D899E6-B616-C9CC-1FEF-EB0B15E24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853" y="3239575"/>
            <a:ext cx="1562318" cy="428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1F6D00-3933-6146-3855-BCD65E661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9694" y="3768944"/>
            <a:ext cx="2372056" cy="3524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975F8E8-F4E6-C2B0-5F09-03C8D3558A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5431" y="4222102"/>
            <a:ext cx="2286319" cy="3524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32F30ED-B27B-3CB5-3833-683173FE4D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1720" y="4731201"/>
            <a:ext cx="1533739" cy="38105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BA8E76-E4A2-548E-4D7D-2FB6313241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7245" y="5251652"/>
            <a:ext cx="2962688" cy="30484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46692FC-040B-71EF-7550-80C118CF6A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1482" y="5693987"/>
            <a:ext cx="5087060" cy="3620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6B462D9-FF79-C2E9-4FE0-E239F0A136C1}"/>
              </a:ext>
            </a:extLst>
          </p:cNvPr>
          <p:cNvSpPr txBox="1"/>
          <p:nvPr/>
        </p:nvSpPr>
        <p:spPr>
          <a:xfrm>
            <a:off x="992814" y="2109341"/>
            <a:ext cx="10206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Primitive Data Type </a:t>
            </a:r>
            <a:r>
              <a:rPr lang="en-US" dirty="0"/>
              <a:t>– these data types comprising simple and single values, are held in memory</a:t>
            </a:r>
          </a:p>
        </p:txBody>
      </p:sp>
    </p:spTree>
    <p:extLst>
      <p:ext uri="{BB962C8B-B14F-4D97-AF65-F5344CB8AC3E}">
        <p14:creationId xmlns:p14="http://schemas.microsoft.com/office/powerpoint/2010/main" val="181897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6748-08C3-63F7-D2EC-6C754D7E9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313DB-E5FF-446C-DDAA-13D67989C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14016"/>
            <a:ext cx="4649177" cy="3593592"/>
          </a:xfrm>
        </p:spPr>
        <p:txBody>
          <a:bodyPr>
            <a:normAutofit/>
          </a:bodyPr>
          <a:lstStyle/>
          <a:p>
            <a:r>
              <a:rPr lang="en-US" dirty="0"/>
              <a:t>Object – collection of key/value pairs, where keys are usually string (or symbols) and values can be any type</a:t>
            </a:r>
          </a:p>
          <a:p>
            <a:r>
              <a:rPr lang="en-US" dirty="0"/>
              <a:t>Array – A special type of object used for ordered lists of values</a:t>
            </a:r>
          </a:p>
          <a:p>
            <a:r>
              <a:rPr lang="en-US" dirty="0"/>
              <a:t>Function – A reusable block of code that can be executed (called) when needed</a:t>
            </a:r>
          </a:p>
          <a:p>
            <a:r>
              <a:rPr lang="en-US" dirty="0"/>
              <a:t>Other – some less common examples include Date, Map, Set, 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A2933-E39C-1BC9-9A63-473478356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339" y="2154039"/>
            <a:ext cx="2172003" cy="17718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D95C23-5252-2617-5443-74F5BE7D0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205" y="4168114"/>
            <a:ext cx="4258269" cy="3905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6433BD-3A12-AB05-4C8F-85C446F55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4520" y="4800872"/>
            <a:ext cx="3667637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858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BB3E8-F44D-8288-9FB5-217EEC86E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Functions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6D8DD6-FD30-2EDB-BF3F-EFB133BE98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68369" y="2222493"/>
            <a:ext cx="5345090" cy="16764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AF336D-8FE1-38DC-9751-F6608530D134}"/>
              </a:ext>
            </a:extLst>
          </p:cNvPr>
          <p:cNvSpPr txBox="1"/>
          <p:nvPr/>
        </p:nvSpPr>
        <p:spPr>
          <a:xfrm>
            <a:off x="878541" y="2590800"/>
            <a:ext cx="4233786" cy="3783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pass data into a function via parameters</a:t>
            </a:r>
          </a:p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are called by their name</a:t>
            </a:r>
          </a:p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can also be ‘anonymous’ – meaning they have no name but can still be referenced by the variable they are stored in</a:t>
            </a:r>
          </a:p>
          <a:p>
            <a:pPr marL="285750" indent="-285750">
              <a:lnSpc>
                <a:spcPct val="15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Anonymous functions may often be converted to ‘Arrow Functions’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BA92EB-A923-1C1F-D7AB-2031B041C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368" y="4066813"/>
            <a:ext cx="5345091" cy="1700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6C2D74-3934-81D6-A8F5-ED28C79C8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831" y="5997775"/>
            <a:ext cx="4220164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931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DE753-8961-1948-01BB-8302A470E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Arrow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8E955-82DE-B714-4C59-35D940389F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28563" cy="3678303"/>
          </a:xfrm>
        </p:spPr>
        <p:txBody>
          <a:bodyPr/>
          <a:lstStyle/>
          <a:p>
            <a:r>
              <a:rPr lang="en-US" dirty="0"/>
              <a:t>Arrow Functions are a concise way to write functions compared to traditional function expressions</a:t>
            </a:r>
          </a:p>
          <a:p>
            <a:r>
              <a:rPr lang="en-US" dirty="0"/>
              <a:t>If the function body is a single expression, you can omit the curly braces and the return keyword</a:t>
            </a:r>
          </a:p>
          <a:p>
            <a:r>
              <a:rPr lang="en-US" dirty="0"/>
              <a:t>If the body has multiple statements, you must use curly braces and the return keyword if needed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E83C1B-8FC6-072E-F81A-1FE5F7D2D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957" y="2180496"/>
            <a:ext cx="4001058" cy="24958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88EA9F-69ED-1171-85A2-F5BC23D79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247" y="5027430"/>
            <a:ext cx="3248478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319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DF605-2FB6-6E72-7A08-9CDF52F23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Console Commands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B5F7A3-12AC-715A-1EB3-F36FC836E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77" y="2354839"/>
            <a:ext cx="5363323" cy="38010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DA10E-A21E-21F2-5F7A-42D8778355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8346" y="2173838"/>
            <a:ext cx="4248743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710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Setup JavaScript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Add JavaScript to our application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714565" y="2402747"/>
            <a:ext cx="4896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36784" y="3100864"/>
            <a:ext cx="4661642" cy="3054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is still building its product launch page. We need to introduce some dynamical functionality. </a:t>
            </a:r>
          </a:p>
          <a:p>
            <a:r>
              <a:rPr lang="en-US" dirty="0"/>
              <a:t>Create an external JavaScript file and link it to your HTML page</a:t>
            </a:r>
          </a:p>
          <a:p>
            <a:r>
              <a:rPr lang="en-US" dirty="0"/>
              <a:t>Define a variable that stores your name</a:t>
            </a:r>
          </a:p>
          <a:p>
            <a:r>
              <a:rPr lang="en-US" dirty="0"/>
              <a:t>Define a function that takes the name variable as a parameter and then prints to the console: “{your name here} is the best programmer ever!”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3E915-DF33-8F67-D7A1-2E3F6161C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EA3E9-C3FD-2BCD-F6EC-7B40930C8C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337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Variable Scope </a:t>
            </a:r>
            <a:r>
              <a:rPr lang="en-US" dirty="0"/>
              <a:t>determines where a variable may be referenced</a:t>
            </a:r>
          </a:p>
          <a:p>
            <a:pPr lvl="1"/>
            <a:r>
              <a:rPr lang="en-US" dirty="0"/>
              <a:t>Var – Either global or function scope, depending on location</a:t>
            </a:r>
          </a:p>
          <a:p>
            <a:pPr lvl="1"/>
            <a:r>
              <a:rPr lang="en-US" dirty="0"/>
              <a:t>Let – Block level scope, meaning that it can be referenced within its code block or any inner code blocks</a:t>
            </a:r>
          </a:p>
          <a:p>
            <a:pPr lvl="1"/>
            <a:r>
              <a:rPr lang="en-US" dirty="0"/>
              <a:t>Const – Also has block scope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999FA8-0634-FA59-CB96-012355070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71" y="2027114"/>
            <a:ext cx="4825544" cy="4592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902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B130B-21F0-D7E3-D312-D04423707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Data Types of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6C2BD-9823-24BF-1DBE-12B222C6F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833490" cy="3678303"/>
          </a:xfrm>
        </p:spPr>
        <p:txBody>
          <a:bodyPr/>
          <a:lstStyle/>
          <a:p>
            <a:r>
              <a:rPr lang="en-US" dirty="0"/>
              <a:t>We can check the data type of a variable with the ‘</a:t>
            </a:r>
            <a:r>
              <a:rPr lang="en-US" dirty="0" err="1"/>
              <a:t>typeof</a:t>
            </a:r>
            <a:r>
              <a:rPr lang="en-US" dirty="0"/>
              <a:t>’ operator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211FF4-56BD-C7CB-012A-68365C283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698" y="2297065"/>
            <a:ext cx="2791215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016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9ED85-6A2C-F736-6404-4BCA4B9D9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Arithmetic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74DCB-DFDF-27A1-8089-841625E5B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291561" cy="3678303"/>
          </a:xfrm>
        </p:spPr>
        <p:txBody>
          <a:bodyPr/>
          <a:lstStyle/>
          <a:p>
            <a:r>
              <a:rPr lang="en-US" dirty="0"/>
              <a:t>+ (addition) </a:t>
            </a:r>
          </a:p>
          <a:p>
            <a:r>
              <a:rPr lang="en-US" dirty="0"/>
              <a:t>- (subtraction) </a:t>
            </a:r>
          </a:p>
          <a:p>
            <a:r>
              <a:rPr lang="en-US" dirty="0"/>
              <a:t>* (multiplication)</a:t>
            </a:r>
          </a:p>
          <a:p>
            <a:r>
              <a:rPr lang="en-US" dirty="0"/>
              <a:t>** (exponentiation)</a:t>
            </a:r>
          </a:p>
          <a:p>
            <a:r>
              <a:rPr lang="en-US" dirty="0"/>
              <a:t>/ (division)</a:t>
            </a:r>
          </a:p>
          <a:p>
            <a:r>
              <a:rPr lang="en-US" dirty="0"/>
              <a:t>% (modulus)</a:t>
            </a:r>
          </a:p>
          <a:p>
            <a:r>
              <a:rPr lang="en-US" dirty="0"/>
              <a:t>++ (increment)</a:t>
            </a:r>
          </a:p>
          <a:p>
            <a:r>
              <a:rPr lang="en-US" dirty="0"/>
              <a:t>-- (decrement)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7675C-0FD8-12CA-D6F1-039B26BF98D0}"/>
              </a:ext>
            </a:extLst>
          </p:cNvPr>
          <p:cNvSpPr txBox="1"/>
          <p:nvPr/>
        </p:nvSpPr>
        <p:spPr>
          <a:xfrm>
            <a:off x="5616390" y="2350279"/>
            <a:ext cx="5405717" cy="333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+=</a:t>
            </a:r>
            <a:r>
              <a:rPr lang="en-US" b="0" i="0" dirty="0">
                <a:effectLst/>
                <a:latin typeface="-apple-system"/>
              </a:rPr>
              <a:t> example: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x+=y</a:t>
            </a:r>
            <a:r>
              <a:rPr lang="en-US" b="0" i="0" dirty="0">
                <a:effectLst/>
                <a:latin typeface="-apple-system"/>
              </a:rPr>
              <a:t> same as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 = x + y</a:t>
            </a:r>
            <a:endParaRPr lang="en-US" b="0" i="0" dirty="0">
              <a:effectLst/>
              <a:latin typeface="-apple-system"/>
            </a:endParaRPr>
          </a:p>
          <a:p>
            <a:pPr marL="285750" indent="-285750" algn="l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-=</a:t>
            </a:r>
            <a:r>
              <a:rPr lang="en-US" b="0" i="0" dirty="0">
                <a:effectLst/>
                <a:latin typeface="-apple-system"/>
              </a:rPr>
              <a:t> example: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x-=y</a:t>
            </a:r>
            <a:r>
              <a:rPr lang="en-US" b="0" i="0" dirty="0">
                <a:effectLst/>
                <a:latin typeface="-apple-system"/>
              </a:rPr>
              <a:t> same as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 = x - y</a:t>
            </a:r>
            <a:endParaRPr lang="en-US" b="0" i="0" dirty="0">
              <a:effectLst/>
              <a:latin typeface="-apple-system"/>
            </a:endParaRPr>
          </a:p>
          <a:p>
            <a:pPr marL="285750" indent="-285750" algn="l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*=</a:t>
            </a:r>
            <a:r>
              <a:rPr lang="en-US" b="0" i="0" dirty="0">
                <a:effectLst/>
                <a:latin typeface="-apple-system"/>
              </a:rPr>
              <a:t> example: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x*=y</a:t>
            </a:r>
            <a:r>
              <a:rPr lang="en-US" b="0" i="0" dirty="0">
                <a:effectLst/>
                <a:latin typeface="-apple-system"/>
              </a:rPr>
              <a:t> same as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 = x * y</a:t>
            </a:r>
            <a:endParaRPr lang="en-US" b="0" i="0" dirty="0">
              <a:effectLst/>
              <a:latin typeface="-apple-system"/>
            </a:endParaRPr>
          </a:p>
          <a:p>
            <a:pPr marL="285750" indent="-285750" algn="l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/=</a:t>
            </a:r>
            <a:r>
              <a:rPr lang="en-US" b="0" i="0" dirty="0">
                <a:effectLst/>
                <a:latin typeface="-apple-system"/>
              </a:rPr>
              <a:t> example: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x/=y</a:t>
            </a:r>
            <a:r>
              <a:rPr lang="en-US" b="0" i="0" dirty="0">
                <a:effectLst/>
                <a:latin typeface="-apple-system"/>
              </a:rPr>
              <a:t> same as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 = x / y</a:t>
            </a:r>
            <a:endParaRPr lang="en-US" b="0" i="0" dirty="0">
              <a:effectLst/>
              <a:latin typeface="-apple-system"/>
            </a:endParaRPr>
          </a:p>
          <a:p>
            <a:pPr marL="285750" indent="-285750" algn="l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%=</a:t>
            </a:r>
            <a:r>
              <a:rPr lang="en-US" b="0" i="0" dirty="0">
                <a:effectLst/>
                <a:latin typeface="-apple-system"/>
              </a:rPr>
              <a:t> example: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x%=y</a:t>
            </a:r>
            <a:r>
              <a:rPr lang="en-US" b="0" i="0" dirty="0">
                <a:effectLst/>
                <a:latin typeface="-apple-system"/>
              </a:rPr>
              <a:t> same as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 = x % y</a:t>
            </a:r>
            <a:endParaRPr lang="en-US" b="0" i="0" dirty="0">
              <a:effectLst/>
              <a:latin typeface="-apple-system"/>
            </a:endParaRPr>
          </a:p>
          <a:p>
            <a:pPr marL="285750" indent="-285750" algn="l">
              <a:lnSpc>
                <a:spcPct val="200000"/>
              </a:lnSpc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**=</a:t>
            </a:r>
            <a:r>
              <a:rPr lang="en-US" b="0" i="0" dirty="0">
                <a:effectLst/>
                <a:latin typeface="-apple-system"/>
              </a:rPr>
              <a:t> example: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x**=y</a:t>
            </a:r>
            <a:r>
              <a:rPr lang="en-US" b="0" i="0" dirty="0">
                <a:effectLst/>
                <a:latin typeface="-apple-system"/>
              </a:rPr>
              <a:t> same as </a:t>
            </a: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x = x ** y</a:t>
            </a:r>
            <a:endParaRPr lang="en-US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297648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6BA68-A57F-99BC-CAEE-45094C425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Comparison Operators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198084-6741-901D-768B-89B4F4FF4D94}"/>
              </a:ext>
            </a:extLst>
          </p:cNvPr>
          <p:cNvSpPr txBox="1"/>
          <p:nvPr/>
        </p:nvSpPr>
        <p:spPr>
          <a:xfrm>
            <a:off x="869576" y="2754904"/>
            <a:ext cx="438374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==</a:t>
            </a:r>
            <a:r>
              <a:rPr lang="en-US" b="0" i="0" dirty="0">
                <a:effectLst/>
                <a:latin typeface="-apple-system"/>
              </a:rPr>
              <a:t> equal to</a:t>
            </a:r>
          </a:p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===</a:t>
            </a:r>
            <a:r>
              <a:rPr lang="en-US" b="0" i="0" dirty="0">
                <a:effectLst/>
                <a:latin typeface="-apple-system"/>
              </a:rPr>
              <a:t> equal to and equal data type</a:t>
            </a:r>
          </a:p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!=</a:t>
            </a:r>
            <a:r>
              <a:rPr lang="en-US" b="0" i="0" dirty="0">
                <a:effectLst/>
                <a:latin typeface="-apple-system"/>
              </a:rPr>
              <a:t> not equal</a:t>
            </a:r>
          </a:p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!==</a:t>
            </a:r>
            <a:r>
              <a:rPr lang="en-US" b="0" i="0" dirty="0">
                <a:effectLst/>
                <a:latin typeface="-apple-system"/>
              </a:rPr>
              <a:t> not equal value or not equal type</a:t>
            </a:r>
          </a:p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&gt;</a:t>
            </a:r>
            <a:r>
              <a:rPr lang="en-US" b="0" i="0" dirty="0">
                <a:effectLst/>
                <a:latin typeface="-apple-system"/>
              </a:rPr>
              <a:t> greater than</a:t>
            </a:r>
          </a:p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&lt;</a:t>
            </a:r>
            <a:r>
              <a:rPr lang="en-US" b="0" i="0" dirty="0">
                <a:effectLst/>
                <a:latin typeface="-apple-system"/>
              </a:rPr>
              <a:t> less than</a:t>
            </a:r>
          </a:p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&gt;=</a:t>
            </a:r>
            <a:r>
              <a:rPr lang="en-US" b="0" i="0" dirty="0">
                <a:effectLst/>
                <a:latin typeface="-apple-system"/>
              </a:rPr>
              <a:t> greater than or equal to</a:t>
            </a:r>
          </a:p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&lt;=</a:t>
            </a:r>
            <a:r>
              <a:rPr lang="en-US" b="0" i="0" dirty="0">
                <a:effectLst/>
                <a:latin typeface="-apple-system"/>
              </a:rPr>
              <a:t> less than or equal to</a:t>
            </a:r>
          </a:p>
          <a:p>
            <a:pPr marL="285750" indent="-285750" algn="l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b="0" i="0" dirty="0">
                <a:effectLst/>
                <a:latin typeface="var(--fontStack-monospace, ui-monospace, SFMono-Regular, SF Mono, Menlo, Consolas, Liberation Mono, monospace)"/>
              </a:rPr>
              <a:t>?</a:t>
            </a:r>
            <a:r>
              <a:rPr lang="en-US" b="0" i="0" dirty="0">
                <a:effectLst/>
                <a:latin typeface="-apple-system"/>
              </a:rPr>
              <a:t> ternary operator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C3B89C-7DDB-60FA-58B9-EF4A97BF7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263" y="2847247"/>
            <a:ext cx="4677428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595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E11BF-E4D5-391C-2276-6183B90F9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Logical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6F034-D19C-ECE1-9DE7-C48A2BE35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0746" y="2323932"/>
            <a:ext cx="2574384" cy="3678303"/>
          </a:xfrm>
        </p:spPr>
        <p:txBody>
          <a:bodyPr/>
          <a:lstStyle/>
          <a:p>
            <a:r>
              <a:rPr lang="en-US" dirty="0"/>
              <a:t>&amp;&amp; (and) </a:t>
            </a:r>
          </a:p>
          <a:p>
            <a:r>
              <a:rPr lang="en-US" dirty="0"/>
              <a:t>|| (or)</a:t>
            </a:r>
          </a:p>
          <a:p>
            <a:r>
              <a:rPr lang="en-US" dirty="0"/>
              <a:t>! (not)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CD4AE5-F58F-08CB-4FBE-B7E6D6E66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801" y="2288154"/>
            <a:ext cx="5620534" cy="386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2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5622C-59E7-583F-C655-2973824F2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Falsey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F89C7-1173-E6BE-F2FD-7335699FD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1293" y="2075832"/>
            <a:ext cx="4032372" cy="3678303"/>
          </a:xfrm>
        </p:spPr>
        <p:txBody>
          <a:bodyPr/>
          <a:lstStyle/>
          <a:p>
            <a:r>
              <a:rPr lang="en-US" dirty="0"/>
              <a:t>False</a:t>
            </a:r>
          </a:p>
          <a:p>
            <a:r>
              <a:rPr lang="en-US" dirty="0"/>
              <a:t>0</a:t>
            </a:r>
          </a:p>
          <a:p>
            <a:r>
              <a:rPr lang="en-US" dirty="0"/>
              <a:t>‘’ OR “”</a:t>
            </a:r>
          </a:p>
          <a:p>
            <a:r>
              <a:rPr lang="en-US" dirty="0"/>
              <a:t>Null</a:t>
            </a:r>
          </a:p>
          <a:p>
            <a:r>
              <a:rPr lang="en-US" dirty="0"/>
              <a:t>Undefined</a:t>
            </a:r>
          </a:p>
          <a:p>
            <a:r>
              <a:rPr lang="en-US" dirty="0" err="1"/>
              <a:t>NaN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7D0293-988D-6BD6-5B81-3C11B28E2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7139" y="3318568"/>
            <a:ext cx="7762595" cy="119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53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82688-A6A7-4065-8A0D-B8CC6457B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A4F232-D1E6-FC07-82FC-A74943BD5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347" y="2045985"/>
            <a:ext cx="3153215" cy="1124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A6BD03-6D26-B9CC-80B1-689B52654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04" y="3326342"/>
            <a:ext cx="3886899" cy="1400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598BDA-580C-A0A5-0F32-4F402BDF7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2" y="4883136"/>
            <a:ext cx="4351996" cy="17687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DA5219-E1BF-72D1-FA8F-C24DDBE913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4218" y="2130733"/>
            <a:ext cx="5407435" cy="370694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335D336-AE41-00D2-B66F-AC6CA0777E3C}"/>
              </a:ext>
            </a:extLst>
          </p:cNvPr>
          <p:cNvSpPr txBox="1"/>
          <p:nvPr/>
        </p:nvSpPr>
        <p:spPr>
          <a:xfrm>
            <a:off x="5517573" y="6067791"/>
            <a:ext cx="5923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Important: switch will ‘fall through’ without break statements!</a:t>
            </a:r>
          </a:p>
        </p:txBody>
      </p:sp>
    </p:spTree>
    <p:extLst>
      <p:ext uri="{BB962C8B-B14F-4D97-AF65-F5344CB8AC3E}">
        <p14:creationId xmlns:p14="http://schemas.microsoft.com/office/powerpoint/2010/main" val="42886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F11A-F749-E5AA-BD20-AA3B8D7FB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79DF05-FCBD-B931-E469-0026DFA3B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012" y="2521435"/>
            <a:ext cx="4286848" cy="12955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7EBDF9-EF27-C774-70F2-57BE37590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9693" y="2388067"/>
            <a:ext cx="2238687" cy="15623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326EF4-A05A-357A-1BE6-35FE5AB10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73" y="4345841"/>
            <a:ext cx="8087854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808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5B55B-849B-1E9C-08D9-5CF77E0D5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2D7C66-5EDA-4D09-1685-EB14215B8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019" y="3080704"/>
            <a:ext cx="3553321" cy="27245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6EA72E-C940-FA92-4E3C-42845DCBF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3593" y="3080704"/>
            <a:ext cx="5449060" cy="28578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A7662C-52CF-6802-9640-EA9A38449696}"/>
              </a:ext>
            </a:extLst>
          </p:cNvPr>
          <p:cNvSpPr txBox="1"/>
          <p:nvPr/>
        </p:nvSpPr>
        <p:spPr>
          <a:xfrm>
            <a:off x="1059788" y="2553793"/>
            <a:ext cx="3941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for-of loops iterate over </a:t>
            </a:r>
            <a:r>
              <a:rPr lang="en-US" dirty="0" err="1"/>
              <a:t>iterable</a:t>
            </a:r>
            <a:r>
              <a:rPr lang="en-US" dirty="0"/>
              <a:t> objects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033486-170D-F613-F53C-8D47C665480E}"/>
              </a:ext>
            </a:extLst>
          </p:cNvPr>
          <p:cNvSpPr txBox="1"/>
          <p:nvPr/>
        </p:nvSpPr>
        <p:spPr>
          <a:xfrm>
            <a:off x="5583147" y="2553793"/>
            <a:ext cx="5882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for-in loops iterates over enumerable properties of an object</a:t>
            </a:r>
          </a:p>
        </p:txBody>
      </p:sp>
    </p:spTree>
    <p:extLst>
      <p:ext uri="{BB962C8B-B14F-4D97-AF65-F5344CB8AC3E}">
        <p14:creationId xmlns:p14="http://schemas.microsoft.com/office/powerpoint/2010/main" val="1997812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CCF3-D693-5AD4-6805-212441315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4766D-098D-DA4F-FDFC-DD323969C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Knowledge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199DE-1113-BF49-86BE-1AFC99BFA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the knowledge check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841243-C60B-C24F-BCCC-1A1BF1B793B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0F61C-1F08-82A3-D346-1D57108065C3}"/>
              </a:ext>
            </a:extLst>
          </p:cNvPr>
          <p:cNvSpPr txBox="1"/>
          <p:nvPr/>
        </p:nvSpPr>
        <p:spPr>
          <a:xfrm>
            <a:off x="6714565" y="2402747"/>
            <a:ext cx="4896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4C60DA5-9897-8DFA-FCEB-9287EAB104FC}"/>
              </a:ext>
            </a:extLst>
          </p:cNvPr>
          <p:cNvSpPr txBox="1">
            <a:spLocks/>
          </p:cNvSpPr>
          <p:nvPr/>
        </p:nvSpPr>
        <p:spPr>
          <a:xfrm>
            <a:off x="6536784" y="3100864"/>
            <a:ext cx="4661642" cy="3054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Navigate to the following links and complete the assignments one by one:</a:t>
            </a:r>
          </a:p>
          <a:p>
            <a:r>
              <a:rPr lang="en-US" dirty="0">
                <a:hlinkClick r:id="rId2"/>
              </a:rPr>
              <a:t>https://www.w3schools.com/js/exercise.asp?x=xrcise_assignment1</a:t>
            </a:r>
            <a:endParaRPr lang="en-US" dirty="0"/>
          </a:p>
          <a:p>
            <a:r>
              <a:rPr lang="en-US" dirty="0">
                <a:hlinkClick r:id="rId3"/>
              </a:rPr>
              <a:t>https://www.w3schools.com/js/exercise.asp?x=xrcise_if_else1</a:t>
            </a:r>
            <a:endParaRPr lang="en-US" dirty="0"/>
          </a:p>
          <a:p>
            <a:r>
              <a:rPr lang="en-US" dirty="0">
                <a:hlinkClick r:id="rId4"/>
              </a:rPr>
              <a:t>https://www.w3schools.com/js/exercise.asp?x=xrcise_switch1</a:t>
            </a:r>
            <a:endParaRPr lang="en-US" dirty="0"/>
          </a:p>
          <a:p>
            <a:r>
              <a:rPr lang="en-US" dirty="0"/>
              <a:t>https://www.w3schools.com/js/exercise.asp?x=xrcise_loop_for1</a:t>
            </a:r>
          </a:p>
        </p:txBody>
      </p:sp>
    </p:spTree>
    <p:extLst>
      <p:ext uri="{BB962C8B-B14F-4D97-AF65-F5344CB8AC3E}">
        <p14:creationId xmlns:p14="http://schemas.microsoft.com/office/powerpoint/2010/main" val="469886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AC302-4A3E-2631-F957-758702C7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6044D-50E6-DB94-8FA2-8E6A3F059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97390" cy="3678303"/>
          </a:xfrm>
        </p:spPr>
        <p:txBody>
          <a:bodyPr/>
          <a:lstStyle/>
          <a:p>
            <a:r>
              <a:rPr lang="en-US" dirty="0"/>
              <a:t>Objects can hold multiple data types, even functions</a:t>
            </a:r>
          </a:p>
          <a:p>
            <a:r>
              <a:rPr lang="en-US" dirty="0"/>
              <a:t>Property keys can be named text, or symbols </a:t>
            </a:r>
          </a:p>
          <a:p>
            <a:r>
              <a:rPr lang="en-US" dirty="0"/>
              <a:t>Property values can be primitives or functions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9D129-D58A-D1F8-6DB1-99788162F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3827" y="2196362"/>
            <a:ext cx="5780020" cy="3662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2691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BEF16-456B-8AC4-600D-9D2438CED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CABCB-B954-BC89-4DE0-B70D2AD58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281753" cy="3678303"/>
          </a:xfrm>
        </p:spPr>
        <p:txBody>
          <a:bodyPr/>
          <a:lstStyle/>
          <a:p>
            <a:r>
              <a:rPr lang="en-US" dirty="0"/>
              <a:t>Classes are blueprints for objects</a:t>
            </a:r>
          </a:p>
          <a:p>
            <a:r>
              <a:rPr lang="en-US" dirty="0"/>
              <a:t>Getters return data in the object</a:t>
            </a:r>
          </a:p>
          <a:p>
            <a:r>
              <a:rPr lang="en-US" dirty="0"/>
              <a:t>Setters change data in the object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B9E7E-96D1-CEB6-F3BF-23DF04394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6633" y="2055805"/>
            <a:ext cx="4544212" cy="34807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44F9FF-0EB3-A820-F2C5-CC7E9332E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1351" y="5638661"/>
            <a:ext cx="4074775" cy="103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318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C24D3-55A0-5C43-B315-2CFB40196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Hoisting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CFEB8-445C-65BE-7257-826753387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9763"/>
            <a:ext cx="11029615" cy="178723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Hoisting</a:t>
            </a:r>
            <a:r>
              <a:rPr lang="en-US" dirty="0"/>
              <a:t> is a behavior in which variables and function declarations are moved (or hoisted) to the top of their containing scope during compilation, before the code is executed.</a:t>
            </a:r>
          </a:p>
          <a:p>
            <a:pPr lvl="1"/>
            <a:r>
              <a:rPr lang="en-US" dirty="0"/>
              <a:t>This means that we can sometimes use functions or variables before they are declared </a:t>
            </a:r>
          </a:p>
          <a:p>
            <a:pPr lvl="1"/>
            <a:r>
              <a:rPr lang="en-US" dirty="0"/>
              <a:t>Var = hoisted, but initialized to undefined</a:t>
            </a:r>
          </a:p>
          <a:p>
            <a:pPr lvl="1"/>
            <a:r>
              <a:rPr lang="en-US" dirty="0"/>
              <a:t>Let/const = hoisted but not initialized </a:t>
            </a:r>
          </a:p>
          <a:p>
            <a:pPr lvl="1"/>
            <a:r>
              <a:rPr lang="en-US" dirty="0"/>
              <a:t>Function expressions/arrow functions = only the variable is hoisted, not the function definition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970846-182B-7311-6016-719A0E8A1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15" y="3849253"/>
            <a:ext cx="2855304" cy="1366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87467D-3B5C-716D-FFDE-78E4DAD9C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22" y="5650149"/>
            <a:ext cx="3686689" cy="733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70751D-B6A0-594C-BCE4-7C256AAF5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6528" y="5827185"/>
            <a:ext cx="7427947" cy="5564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DD159E-207C-FB44-10F8-C80240804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8678" y="3849253"/>
            <a:ext cx="5268060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349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73F62-530B-1D9E-32F8-29C37FC9F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Arrays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0B0A39D-3205-FC30-9C11-51DBC7448B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72139" y="2544537"/>
            <a:ext cx="4656138" cy="5403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9DB858-953E-FCBB-FBF7-6C5D875FBA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021" y="3615542"/>
            <a:ext cx="4296375" cy="10478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026827-A2A8-334B-64E8-9343984F6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8758" y="5159573"/>
            <a:ext cx="3762900" cy="7430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F6D64B1-8DD5-3B32-A7B1-55AE258A6679}"/>
              </a:ext>
            </a:extLst>
          </p:cNvPr>
          <p:cNvSpPr txBox="1"/>
          <p:nvPr/>
        </p:nvSpPr>
        <p:spPr>
          <a:xfrm>
            <a:off x="809677" y="3128248"/>
            <a:ext cx="4656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Array</a:t>
            </a:r>
            <a:r>
              <a:rPr lang="en-US" dirty="0"/>
              <a:t> is a special type of variable that can store multiple values in a single container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Arrays are ordered, and elements have an index starting at 0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Arrays are dynamic, we can add and remove items</a:t>
            </a:r>
          </a:p>
        </p:txBody>
      </p:sp>
    </p:spTree>
    <p:extLst>
      <p:ext uri="{BB962C8B-B14F-4D97-AF65-F5344CB8AC3E}">
        <p14:creationId xmlns:p14="http://schemas.microsoft.com/office/powerpoint/2010/main" val="31510580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B4145-4C34-F40A-7659-24BE46340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Arrays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75EBDF-81DA-DB2D-6AEF-DEA2DCA14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18" y="2300342"/>
            <a:ext cx="5239481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066E9F-3273-DEA1-CFA2-4B84DA55E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629" y="2471815"/>
            <a:ext cx="5582429" cy="790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D545FC-9926-AAA7-0C79-0649AA62AA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391" y="4275149"/>
            <a:ext cx="4353533" cy="8668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9D6A97-32A0-BD3E-D4CB-BCC0E0AC9A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69" y="4103675"/>
            <a:ext cx="4201111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8050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DEE7B-C485-9C56-9A06-73A5D85CC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2CAB8-2860-EB32-785F-57587B8F8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Knowledge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99EE8-A71B-D9EC-5C48-2732829D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the knowledge check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7E491A-EB6F-2AB9-5BDB-A2985CC048A7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B9575C-4184-F106-8B2E-D185828AE724}"/>
              </a:ext>
            </a:extLst>
          </p:cNvPr>
          <p:cNvSpPr txBox="1"/>
          <p:nvPr/>
        </p:nvSpPr>
        <p:spPr>
          <a:xfrm>
            <a:off x="6714565" y="2402747"/>
            <a:ext cx="4896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5E75F99-7937-F454-3295-CE141328E755}"/>
              </a:ext>
            </a:extLst>
          </p:cNvPr>
          <p:cNvSpPr txBox="1">
            <a:spLocks/>
          </p:cNvSpPr>
          <p:nvPr/>
        </p:nvSpPr>
        <p:spPr>
          <a:xfrm>
            <a:off x="6536784" y="3100864"/>
            <a:ext cx="4661642" cy="3054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Navigate to the following links and complete the assignments one by one:</a:t>
            </a:r>
          </a:p>
          <a:p>
            <a:r>
              <a:rPr lang="en-US" dirty="0">
                <a:hlinkClick r:id="rId2"/>
              </a:rPr>
              <a:t>https://www.w3schools.com/js/exercise.asp?x=xrcise_classes1</a:t>
            </a:r>
            <a:endParaRPr lang="en-US" dirty="0"/>
          </a:p>
          <a:p>
            <a:r>
              <a:rPr lang="en-US" dirty="0">
                <a:hlinkClick r:id="rId3"/>
              </a:rPr>
              <a:t>https://www.w3schools.com/js/exercise.asp?x=xrcise_arrays1</a:t>
            </a:r>
            <a:endParaRPr lang="en-US" dirty="0"/>
          </a:p>
          <a:p>
            <a:r>
              <a:rPr lang="en-US" dirty="0"/>
              <a:t>https://www.w3schools.com/js/exercise.asp?x=xrcise_objects1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41165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252</TotalTime>
  <Words>1154</Words>
  <Application>Microsoft Office PowerPoint</Application>
  <PresentationFormat>Widescreen</PresentationFormat>
  <Paragraphs>135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-apple-system</vt:lpstr>
      <vt:lpstr>Arial</vt:lpstr>
      <vt:lpstr>Gill Sans MT</vt:lpstr>
      <vt:lpstr>var(--fontStack-monospace, ui-monospace, SFMono-Regular, SF Mono, Menlo, Consolas, Liberation Mono, monospace)</vt:lpstr>
      <vt:lpstr>Wingdings</vt:lpstr>
      <vt:lpstr>Wingdings 2</vt:lpstr>
      <vt:lpstr>Dividend</vt:lpstr>
      <vt:lpstr>JavaScript</vt:lpstr>
      <vt:lpstr>What is JavaScript?</vt:lpstr>
      <vt:lpstr>How to Include JavaScript</vt:lpstr>
      <vt:lpstr>Variables</vt:lpstr>
      <vt:lpstr>Primitive Data Types</vt:lpstr>
      <vt:lpstr>Reference Data Types</vt:lpstr>
      <vt:lpstr>More on Functions</vt:lpstr>
      <vt:lpstr>Arrow Functions</vt:lpstr>
      <vt:lpstr>Console Commands</vt:lpstr>
      <vt:lpstr>Challenge – Setup JavaScript</vt:lpstr>
      <vt:lpstr>Variable Scope</vt:lpstr>
      <vt:lpstr>Check Data Types of Variables</vt:lpstr>
      <vt:lpstr>JavaScript Arithmetic Operators</vt:lpstr>
      <vt:lpstr>JavaScript Comparison Operators</vt:lpstr>
      <vt:lpstr>JavaScript Logical Operators</vt:lpstr>
      <vt:lpstr>Falsey Values</vt:lpstr>
      <vt:lpstr>Control Flow</vt:lpstr>
      <vt:lpstr>Loops</vt:lpstr>
      <vt:lpstr>Loops</vt:lpstr>
      <vt:lpstr>Challenge – Knowledge Check</vt:lpstr>
      <vt:lpstr>Working With Objects</vt:lpstr>
      <vt:lpstr>Working With Classes</vt:lpstr>
      <vt:lpstr>Hoisting</vt:lpstr>
      <vt:lpstr>Working With Arrays</vt:lpstr>
      <vt:lpstr>Working With Arrays</vt:lpstr>
      <vt:lpstr>Challenge – Knowledge Check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588</cp:revision>
  <dcterms:created xsi:type="dcterms:W3CDTF">2025-02-12T19:53:45Z</dcterms:created>
  <dcterms:modified xsi:type="dcterms:W3CDTF">2025-09-24T21:47:33Z</dcterms:modified>
</cp:coreProperties>
</file>