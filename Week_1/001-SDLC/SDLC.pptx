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SDLC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 Introduction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373F125-DEF3-41D6-9918-AB21A2ACC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E9F226-EB6E-48C9-ADDA-636DE4BF4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581" y="485678"/>
            <a:ext cx="4174743" cy="58887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9157" y="1113764"/>
            <a:ext cx="3269749" cy="4624327"/>
          </a:xfrm>
        </p:spPr>
        <p:txBody>
          <a:bodyPr anchor="ctr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2244DF-9A85-0889-6E95-FCA82FA63A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49" y="844858"/>
            <a:ext cx="6759270" cy="5168283"/>
          </a:xfrm>
        </p:spPr>
        <p:txBody>
          <a:bodyPr anchor="ctr">
            <a:normAutofit lnSpcReduction="10000"/>
          </a:bodyPr>
          <a:lstStyle/>
          <a:p>
            <a:r>
              <a:rPr lang="en-US" sz="1700" dirty="0"/>
              <a:t>Definition: The Software Development Lifecycle (SDLC) is the series of steps that we go through when creating software. </a:t>
            </a:r>
          </a:p>
          <a:p>
            <a:r>
              <a:rPr lang="en-US" sz="1700" dirty="0"/>
              <a:t>This is broken into 3 phases:</a:t>
            </a:r>
          </a:p>
          <a:p>
            <a:pPr lvl="1"/>
            <a:r>
              <a:rPr lang="en-US" sz="1700" dirty="0"/>
              <a:t>Design</a:t>
            </a:r>
          </a:p>
          <a:p>
            <a:pPr lvl="2"/>
            <a:r>
              <a:rPr lang="en-US" sz="1700" dirty="0"/>
              <a:t>Requirements Gathering</a:t>
            </a:r>
          </a:p>
          <a:p>
            <a:pPr lvl="2"/>
            <a:r>
              <a:rPr lang="en-US" sz="1700" dirty="0"/>
              <a:t>Analyzing Requirements</a:t>
            </a:r>
          </a:p>
          <a:p>
            <a:pPr lvl="2"/>
            <a:r>
              <a:rPr lang="en-US" sz="1700" dirty="0"/>
              <a:t>Design</a:t>
            </a:r>
          </a:p>
          <a:p>
            <a:pPr lvl="1"/>
            <a:r>
              <a:rPr lang="en-US" sz="1700" dirty="0"/>
              <a:t>Development</a:t>
            </a:r>
          </a:p>
          <a:p>
            <a:pPr lvl="2"/>
            <a:r>
              <a:rPr lang="en-US" sz="1700" dirty="0"/>
              <a:t>Develop</a:t>
            </a:r>
          </a:p>
          <a:p>
            <a:pPr lvl="2"/>
            <a:r>
              <a:rPr lang="en-US" sz="1700" dirty="0"/>
              <a:t>Test</a:t>
            </a:r>
          </a:p>
          <a:p>
            <a:pPr lvl="2"/>
            <a:r>
              <a:rPr lang="en-US" sz="1700" dirty="0"/>
              <a:t>User Acceptance Testing (UAT)</a:t>
            </a:r>
          </a:p>
          <a:p>
            <a:pPr lvl="1"/>
            <a:r>
              <a:rPr lang="en-US" sz="1700" dirty="0"/>
              <a:t>Delivery</a:t>
            </a:r>
          </a:p>
          <a:p>
            <a:pPr lvl="2"/>
            <a:r>
              <a:rPr lang="en-US" sz="1700" dirty="0"/>
              <a:t>Release</a:t>
            </a:r>
          </a:p>
          <a:p>
            <a:pPr lvl="2"/>
            <a:r>
              <a:rPr lang="en-US" sz="1700" dirty="0"/>
              <a:t>Maintenance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E53C64-3042-3621-7D84-182EC5138878}"/>
              </a:ext>
            </a:extLst>
          </p:cNvPr>
          <p:cNvSpPr txBox="1"/>
          <p:nvPr/>
        </p:nvSpPr>
        <p:spPr>
          <a:xfrm>
            <a:off x="7526678" y="6250904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RADDTURM</a:t>
            </a:r>
          </a:p>
        </p:txBody>
      </p:sp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Methodologies &amp;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147495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Definition:  A </a:t>
            </a:r>
            <a:r>
              <a:rPr lang="en-US" dirty="0">
                <a:solidFill>
                  <a:schemeClr val="accent2"/>
                </a:solidFill>
                <a:latin typeface="Gill Sans MT"/>
                <a:cs typeface="Segoe UI"/>
              </a:rPr>
              <a:t>methodology</a:t>
            </a:r>
            <a:r>
              <a:rPr lang="en-US" dirty="0">
                <a:latin typeface="Gill Sans MT"/>
                <a:cs typeface="Segoe UI"/>
              </a:rPr>
              <a:t> is a category of development concepts and practices.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Definition:  A </a:t>
            </a:r>
            <a:r>
              <a:rPr lang="en-US" dirty="0">
                <a:solidFill>
                  <a:schemeClr val="accent2"/>
                </a:solidFill>
                <a:latin typeface="Gill Sans MT"/>
                <a:cs typeface="Segoe UI"/>
              </a:rPr>
              <a:t>framework</a:t>
            </a:r>
            <a:r>
              <a:rPr lang="en-US" dirty="0">
                <a:latin typeface="Gill Sans MT"/>
                <a:cs typeface="Segoe UI"/>
              </a:rPr>
              <a:t> is a specific implementation of a methodology’s concepts.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CB6EB5-037B-3C1A-87B4-54E9A922C3ED}"/>
              </a:ext>
            </a:extLst>
          </p:cNvPr>
          <p:cNvSpPr txBox="1"/>
          <p:nvPr/>
        </p:nvSpPr>
        <p:spPr>
          <a:xfrm>
            <a:off x="581192" y="3327991"/>
            <a:ext cx="1121323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Methodologies: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Definition:  </a:t>
            </a:r>
            <a:r>
              <a:rPr lang="en-US" dirty="0">
                <a:solidFill>
                  <a:schemeClr val="accent2"/>
                </a:solidFill>
              </a:rPr>
              <a:t>Big Bang Methodology </a:t>
            </a:r>
            <a:r>
              <a:rPr lang="en-US" dirty="0"/>
              <a:t>– practitioners jump straight into project development.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Definition:  </a:t>
            </a:r>
            <a:r>
              <a:rPr lang="en-US" dirty="0">
                <a:solidFill>
                  <a:schemeClr val="accent2"/>
                </a:solidFill>
              </a:rPr>
              <a:t>Waterfall Methodology </a:t>
            </a:r>
            <a:r>
              <a:rPr lang="en-US" dirty="0"/>
              <a:t>– The steps of SDLC are completed in order, i.e. flowing like a waterfall. </a:t>
            </a:r>
          </a:p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Myth: You can’t go back to a previous step. </a:t>
            </a:r>
          </a:p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Another way to think about waterfall is like a highway – if you miss your exit, it wastes time, but you can always loop back around.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Definition:  </a:t>
            </a:r>
            <a:r>
              <a:rPr lang="en-US" dirty="0">
                <a:solidFill>
                  <a:schemeClr val="accent2"/>
                </a:solidFill>
              </a:rPr>
              <a:t>Agile Methodology </a:t>
            </a:r>
            <a:r>
              <a:rPr lang="en-US" dirty="0"/>
              <a:t>– a flexible, iterative approach to software development that focuses on:</a:t>
            </a:r>
          </a:p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Collaboration - between developers, stakeholders, and customers</a:t>
            </a:r>
          </a:p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Adaptability – responding to changing requirements</a:t>
            </a:r>
          </a:p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Incremental Delivery – working software delivered early and often</a:t>
            </a:r>
          </a:p>
        </p:txBody>
      </p:sp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E1065-AE15-5DBC-6CD6-EF8670BDE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5F33B-3423-98AB-5E7D-7915DCFC7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840" y="2090849"/>
            <a:ext cx="5425160" cy="3678303"/>
          </a:xfrm>
        </p:spPr>
        <p:txBody>
          <a:bodyPr/>
          <a:lstStyle/>
          <a:p>
            <a:r>
              <a:rPr lang="en-US" dirty="0"/>
              <a:t>Not a single method, but a mindset</a:t>
            </a:r>
          </a:p>
          <a:p>
            <a:r>
              <a:rPr lang="en-US" dirty="0"/>
              <a:t>Described in the Agile Manifesto (2001) which have values such as:</a:t>
            </a:r>
          </a:p>
          <a:p>
            <a:pPr lvl="1"/>
            <a:r>
              <a:rPr lang="en-US" dirty="0"/>
              <a:t>Individuals and interactions over processes and tools</a:t>
            </a:r>
          </a:p>
          <a:p>
            <a:pPr lvl="1"/>
            <a:r>
              <a:rPr lang="en-US" dirty="0"/>
              <a:t>Working software over comprehensive documentation</a:t>
            </a:r>
          </a:p>
          <a:p>
            <a:pPr lvl="1"/>
            <a:r>
              <a:rPr lang="en-US" dirty="0"/>
              <a:t>Customer collaboration over contract negotiation</a:t>
            </a:r>
          </a:p>
          <a:p>
            <a:pPr lvl="1"/>
            <a:r>
              <a:rPr lang="en-US" dirty="0"/>
              <a:t>Responding to change over following a plan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20D14-3C6C-B3A1-39C2-67FD4BC27E0C}"/>
              </a:ext>
            </a:extLst>
          </p:cNvPr>
          <p:cNvSpPr txBox="1"/>
          <p:nvPr/>
        </p:nvSpPr>
        <p:spPr>
          <a:xfrm>
            <a:off x="6096000" y="2604610"/>
            <a:ext cx="5425159" cy="32541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Key Principles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Deliver software frequently, in short cycles (springs, iterations)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Welcome changes, even late in development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Close cooperation between business people and developers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Build projects around motivated, self-organizing teams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Continuous focus on technical excellence and good design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Regularly reflect and adjust ways of working</a:t>
            </a:r>
          </a:p>
        </p:txBody>
      </p:sp>
    </p:spTree>
    <p:extLst>
      <p:ext uri="{BB962C8B-B14F-4D97-AF65-F5344CB8AC3E}">
        <p14:creationId xmlns:p14="http://schemas.microsoft.com/office/powerpoint/2010/main" val="22679451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05B2E-1583-9F12-A8BC-9F906B921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Flavors of Agile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53A90-A1A4-98AE-25AA-C3F096AC0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Scrum</a:t>
            </a:r>
            <a:r>
              <a:rPr lang="en-US" dirty="0"/>
              <a:t> is a very popular framework where work is divided into sprints (usually 2-4 weeks), with defined roles (scrum master, product owner, development team).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Kanban</a:t>
            </a:r>
            <a:r>
              <a:rPr lang="en-US" dirty="0"/>
              <a:t> visualizes work on a board and focuses on the flow of work to keep things moving.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Extreme Programming (XP) </a:t>
            </a:r>
            <a:r>
              <a:rPr lang="en-US" dirty="0"/>
              <a:t>emphasizes engineering practices (pair programming, test-driven development).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Lean Software Development </a:t>
            </a:r>
            <a:r>
              <a:rPr lang="en-US" dirty="0"/>
              <a:t>adapts manufacturing principles to software. </a:t>
            </a:r>
          </a:p>
          <a:p>
            <a:r>
              <a:rPr lang="en-US" dirty="0"/>
              <a:t>Definition: </a:t>
            </a:r>
            <a:r>
              <a:rPr lang="en-US" dirty="0" err="1">
                <a:solidFill>
                  <a:schemeClr val="accent2"/>
                </a:solidFill>
              </a:rPr>
              <a:t>SAFe</a:t>
            </a:r>
            <a:r>
              <a:rPr lang="en-US" dirty="0">
                <a:solidFill>
                  <a:schemeClr val="accent2"/>
                </a:solidFill>
              </a:rPr>
              <a:t> (Scaled Agile Framework) </a:t>
            </a:r>
            <a:r>
              <a:rPr lang="en-US" dirty="0"/>
              <a:t>is needed for large organizations that need to deploy agile at scale. </a:t>
            </a:r>
          </a:p>
        </p:txBody>
      </p:sp>
    </p:spTree>
    <p:extLst>
      <p:ext uri="{BB962C8B-B14F-4D97-AF65-F5344CB8AC3E}">
        <p14:creationId xmlns:p14="http://schemas.microsoft.com/office/powerpoint/2010/main" val="1804856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E2FD-7FA8-C52B-8F31-59356F277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Planning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3B487-0E64-ED45-39CA-9EDF09D08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 </a:t>
            </a:r>
            <a:r>
              <a:rPr lang="en-US" dirty="0">
                <a:solidFill>
                  <a:schemeClr val="accent2"/>
                </a:solidFill>
              </a:rPr>
              <a:t>User Story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b="1" dirty="0">
                <a:solidFill>
                  <a:schemeClr val="accent2"/>
                </a:solidFill>
              </a:rPr>
              <a:t> </a:t>
            </a:r>
            <a:r>
              <a:rPr lang="en-US" dirty="0"/>
              <a:t>an individual feature of/requirement for a project in Agile development.</a:t>
            </a:r>
          </a:p>
          <a:p>
            <a:r>
              <a:rPr lang="en-US" dirty="0"/>
              <a:t>Definition:  </a:t>
            </a:r>
            <a:r>
              <a:rPr lang="en-US" dirty="0">
                <a:solidFill>
                  <a:schemeClr val="accent2"/>
                </a:solidFill>
              </a:rPr>
              <a:t>User Epic </a:t>
            </a:r>
            <a:r>
              <a:rPr lang="en-US" b="1" dirty="0">
                <a:solidFill>
                  <a:schemeClr val="tx1"/>
                </a:solidFill>
              </a:rPr>
              <a:t>-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r>
              <a:rPr lang="en-US" dirty="0"/>
              <a:t>a group of related features that are broken down into multiple user stories.</a:t>
            </a:r>
          </a:p>
          <a:p>
            <a:r>
              <a:rPr lang="en-US" dirty="0"/>
              <a:t>Definition:  </a:t>
            </a:r>
            <a:r>
              <a:rPr lang="en-US" dirty="0">
                <a:solidFill>
                  <a:schemeClr val="accent2"/>
                </a:solidFill>
              </a:rPr>
              <a:t>Story Points </a:t>
            </a:r>
            <a:r>
              <a:rPr lang="en-US" b="1" dirty="0"/>
              <a:t>-</a:t>
            </a:r>
            <a:r>
              <a:rPr lang="en-US" dirty="0"/>
              <a:t> a level of difficulty assigned to a user story, through use of a sequence of numbers that increase with increasing user story difficulty.</a:t>
            </a:r>
          </a:p>
          <a:p>
            <a:r>
              <a:rPr lang="en-US" dirty="0"/>
              <a:t>Definition:  </a:t>
            </a:r>
            <a:r>
              <a:rPr lang="en-US" dirty="0">
                <a:solidFill>
                  <a:schemeClr val="accent2"/>
                </a:solidFill>
              </a:rPr>
              <a:t>Velocity</a:t>
            </a:r>
            <a:r>
              <a:rPr lang="en-US" dirty="0"/>
              <a:t> </a:t>
            </a:r>
            <a:r>
              <a:rPr lang="en-US" b="1" dirty="0"/>
              <a:t>-</a:t>
            </a:r>
            <a:r>
              <a:rPr lang="en-US" dirty="0"/>
              <a:t> the sum of story points of all user stories completed during a sprint. Velocity allows Agile teams to more accurately predict how many user stories they can complete in future sprints.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891437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</TotalTime>
  <Words>508</Words>
  <Application>Microsoft Office PowerPoint</Application>
  <PresentationFormat>Widescreen</PresentationFormat>
  <Paragraphs>54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Gill Sans MT</vt:lpstr>
      <vt:lpstr>Wingdings</vt:lpstr>
      <vt:lpstr>Wingdings 2</vt:lpstr>
      <vt:lpstr>Dividend</vt:lpstr>
      <vt:lpstr>SDLC</vt:lpstr>
      <vt:lpstr>Overview</vt:lpstr>
      <vt:lpstr>Methodologies &amp; Frameworks</vt:lpstr>
      <vt:lpstr>Agile Continued</vt:lpstr>
      <vt:lpstr>Flavors of Agile</vt:lpstr>
      <vt:lpstr>Agile Planning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589</cp:revision>
  <dcterms:created xsi:type="dcterms:W3CDTF">2025-02-12T19:53:45Z</dcterms:created>
  <dcterms:modified xsi:type="dcterms:W3CDTF">2025-09-21T21:05:59Z</dcterms:modified>
</cp:coreProperties>
</file>