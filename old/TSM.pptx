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60" r:id="rId5"/>
    <p:sldId id="259" r:id="rId6"/>
    <p:sldId id="277" r:id="rId7"/>
    <p:sldId id="278" r:id="rId8"/>
    <p:sldId id="281" r:id="rId9"/>
    <p:sldId id="262" r:id="rId10"/>
    <p:sldId id="261" r:id="rId11"/>
    <p:sldId id="279" r:id="rId12"/>
    <p:sldId id="280" r:id="rId13"/>
    <p:sldId id="282" r:id="rId14"/>
    <p:sldId id="283" r:id="rId15"/>
    <p:sldId id="284" r:id="rId16"/>
    <p:sldId id="28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3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ervicenow.com/docs/bundle/yokohama-proactive-service-exp-workflows/page/product/tmt-assurance-workflows/concept/explore-assurance-workflows.html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servicenow.com/docs/bundle/yokohama-service-bridge/page/product/tmt-service-bridge/concept/tmt-service-bridge-both-landing-page.html" TargetMode="Externa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ervicenow.com/community/developer-blog/oauth-2-0-with-inbound-rest/ba-p/2278926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TSM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C488F-53EE-158B-83F1-79F64C7EB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F6C03-7BF4-387E-1067-943EBCE6F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 dirty="0"/>
              <a:t>What is TSM?</a:t>
            </a:r>
          </a:p>
          <a:p>
            <a:pPr marL="305435" indent="-305435"/>
            <a:r>
              <a:rPr lang="en-US" dirty="0"/>
              <a:t>Main Components of TSM</a:t>
            </a:r>
          </a:p>
          <a:p>
            <a:pPr marL="629435" lvl="1" indent="-305435"/>
            <a:r>
              <a:rPr lang="en-US" dirty="0"/>
              <a:t>Account Lifecycle Events</a:t>
            </a:r>
          </a:p>
          <a:p>
            <a:pPr marL="629435" lvl="1" indent="-305435"/>
            <a:r>
              <a:rPr lang="en-US" dirty="0"/>
              <a:t>Proactive Service Experience Workflows</a:t>
            </a:r>
          </a:p>
          <a:p>
            <a:pPr marL="629435" lvl="1" indent="-305435"/>
            <a:r>
              <a:rPr lang="en-US" dirty="0"/>
              <a:t>Service Bridge</a:t>
            </a:r>
          </a:p>
          <a:p>
            <a:pPr marL="305435" indent="-305435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456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3C9AD-CEB2-5802-6F5E-C97C93608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TSM?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6C32F-873A-1EB8-6503-0C374A948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972217"/>
          </a:xfrm>
        </p:spPr>
        <p:txBody>
          <a:bodyPr>
            <a:normAutofit/>
          </a:bodyPr>
          <a:lstStyle/>
          <a:p>
            <a:pPr marL="305435" indent="-305435"/>
            <a:r>
              <a:rPr lang="en-US" dirty="0"/>
              <a:t>TSM or Telecommunications Service Management is a suite of plugins on the ServiceNow platform that enhance operations for telecommunications companies. </a:t>
            </a:r>
            <a:endParaRPr lang="en-US" dirty="0">
              <a:latin typeface="Gill Sans MT"/>
              <a:cs typeface="Segoe UI"/>
            </a:endParaRPr>
          </a:p>
          <a:p>
            <a:pPr marL="305435" indent="-305435"/>
            <a:r>
              <a:rPr lang="en-US" dirty="0">
                <a:latin typeface="Gill Sans MT"/>
                <a:cs typeface="Segoe UI"/>
              </a:rPr>
              <a:t>We can:</a:t>
            </a:r>
          </a:p>
          <a:p>
            <a:pPr marL="629435" lvl="1" indent="-305435"/>
            <a:r>
              <a:rPr lang="en-US" dirty="0">
                <a:latin typeface="Gill Sans MT"/>
                <a:cs typeface="Segoe UI"/>
              </a:rPr>
              <a:t>Onboard and track customer accounts</a:t>
            </a:r>
          </a:p>
          <a:p>
            <a:pPr marL="629435" lvl="1" indent="-305435"/>
            <a:r>
              <a:rPr lang="en-US" dirty="0">
                <a:latin typeface="Gill Sans MT"/>
                <a:cs typeface="Segoe UI"/>
              </a:rPr>
              <a:t>Deploy process automations to resolve network outages</a:t>
            </a:r>
          </a:p>
          <a:p>
            <a:pPr marL="629435" lvl="1" indent="-305435"/>
            <a:r>
              <a:rPr lang="en-US" dirty="0">
                <a:latin typeface="Gill Sans MT"/>
                <a:cs typeface="Segoe UI"/>
              </a:rPr>
              <a:t>Connect customer issues, work requests, and more to drive process automations and promote efficiency </a:t>
            </a:r>
          </a:p>
        </p:txBody>
      </p:sp>
    </p:spTree>
    <p:extLst>
      <p:ext uri="{BB962C8B-B14F-4D97-AF65-F5344CB8AC3E}">
        <p14:creationId xmlns:p14="http://schemas.microsoft.com/office/powerpoint/2010/main" val="487246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98399-EA03-424C-8D31-C6B6817F6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Components of TSM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26B51-4938-4211-37F2-2A081C5D1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 dirty="0"/>
              <a:t>There are 3 applications that come with the TSM plugins:</a:t>
            </a:r>
          </a:p>
          <a:p>
            <a:pPr marL="629435" lvl="1" indent="-305435"/>
            <a:r>
              <a:rPr lang="en-US" dirty="0"/>
              <a:t>Account Lifecycle Events – provides an onboarding experience for customers</a:t>
            </a:r>
          </a:p>
          <a:p>
            <a:pPr marL="629435" lvl="1" indent="-305435"/>
            <a:r>
              <a:rPr lang="en-US" dirty="0"/>
              <a:t>Proactive Service Experience Workflows – provides process automations to automatically resolve issues and notify customers of outages</a:t>
            </a:r>
          </a:p>
          <a:p>
            <a:pPr marL="629435" lvl="1" indent="-305435"/>
            <a:r>
              <a:rPr lang="en-US" dirty="0"/>
              <a:t>Service Bridge – Collaborate with partners and vendors on incidents, tasks, and more</a:t>
            </a:r>
          </a:p>
        </p:txBody>
      </p:sp>
    </p:spTree>
    <p:extLst>
      <p:ext uri="{BB962C8B-B14F-4D97-AF65-F5344CB8AC3E}">
        <p14:creationId xmlns:p14="http://schemas.microsoft.com/office/powerpoint/2010/main" val="2540692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7B515-2831-8BA2-7CFD-C34226D9F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Account Lifecycle Events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594C0B-B161-5139-2FB3-7B66A0D233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4901" y="2350613"/>
            <a:ext cx="10762197" cy="256771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8C57D1-3DC1-9D07-06B9-E4AF00752890}"/>
              </a:ext>
            </a:extLst>
          </p:cNvPr>
          <p:cNvSpPr txBox="1"/>
          <p:nvPr/>
        </p:nvSpPr>
        <p:spPr>
          <a:xfrm>
            <a:off x="3911843" y="5552980"/>
            <a:ext cx="4368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playbook helps drive this entire process.</a:t>
            </a:r>
          </a:p>
        </p:txBody>
      </p:sp>
    </p:spTree>
    <p:extLst>
      <p:ext uri="{BB962C8B-B14F-4D97-AF65-F5344CB8AC3E}">
        <p14:creationId xmlns:p14="http://schemas.microsoft.com/office/powerpoint/2010/main" val="584763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19D9A-DE22-349C-1325-CF302BB9B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86238-82F8-4721-B56B-D2CCF326A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Account Lifecycle Event Workflow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3CE551-0FAD-EB7B-DD6D-EDEC4603BAED}"/>
              </a:ext>
            </a:extLst>
          </p:cNvPr>
          <p:cNvSpPr txBox="1"/>
          <p:nvPr/>
        </p:nvSpPr>
        <p:spPr>
          <a:xfrm>
            <a:off x="3911843" y="5552980"/>
            <a:ext cx="4368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playbook helps drive this entire process.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AC23608-5A71-F436-6AD3-5C1E30173E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9833" y="2185578"/>
            <a:ext cx="10612331" cy="3048425"/>
          </a:xfrm>
        </p:spPr>
      </p:pic>
    </p:spTree>
    <p:extLst>
      <p:ext uri="{BB962C8B-B14F-4D97-AF65-F5344CB8AC3E}">
        <p14:creationId xmlns:p14="http://schemas.microsoft.com/office/powerpoint/2010/main" val="2737765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4B79D-BE6E-AF9D-839D-C004294E4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018D4-9590-0919-C945-E0D398829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Playbook – Account Lifecycle Events application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4B77288-F981-7B0C-147D-4D05952CFF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1755" y="1997921"/>
            <a:ext cx="10068489" cy="4157923"/>
          </a:xfrm>
        </p:spPr>
      </p:pic>
    </p:spTree>
    <p:extLst>
      <p:ext uri="{BB962C8B-B14F-4D97-AF65-F5344CB8AC3E}">
        <p14:creationId xmlns:p14="http://schemas.microsoft.com/office/powerpoint/2010/main" val="359445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5A4E8-F3DA-33CC-0787-4F6DDE37C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EB7B1-C010-0818-81B8-2BB7B2297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Account Lifecycle Events User Roles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170D9E-39DC-8859-AF53-7E878C7B7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012" y="1920920"/>
            <a:ext cx="10165976" cy="449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140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17FD9-7381-38F7-1798-18EAEC528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Proactive Service Experience Workflows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794EAB-1D65-B541-4170-079D4A28E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663" y="2055805"/>
            <a:ext cx="2995808" cy="46775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4EE285-0F83-755E-6354-84A176D01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8286" y="3191425"/>
            <a:ext cx="3124636" cy="29436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94008A-162C-57B6-F457-0D16AA78460B}"/>
              </a:ext>
            </a:extLst>
          </p:cNvPr>
          <p:cNvSpPr txBox="1"/>
          <p:nvPr/>
        </p:nvSpPr>
        <p:spPr>
          <a:xfrm>
            <a:off x="5122571" y="1974661"/>
            <a:ext cx="5735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application focuses on providing end-to-end customer support and analyzing customer impact.</a:t>
            </a:r>
          </a:p>
        </p:txBody>
      </p:sp>
      <p:sp>
        <p:nvSpPr>
          <p:cNvPr id="11" name="TextBox 10">
            <a:hlinkClick r:id="rId4"/>
            <a:extLst>
              <a:ext uri="{FF2B5EF4-FFF2-40B4-BE49-F238E27FC236}">
                <a16:creationId xmlns:a16="http://schemas.microsoft.com/office/drawing/2014/main" id="{5B2366F1-CD6A-3590-2908-E6562683A24A}"/>
              </a:ext>
            </a:extLst>
          </p:cNvPr>
          <p:cNvSpPr txBox="1"/>
          <p:nvPr/>
        </p:nvSpPr>
        <p:spPr>
          <a:xfrm>
            <a:off x="10766612" y="6363977"/>
            <a:ext cx="1128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Docs Link</a:t>
            </a:r>
          </a:p>
        </p:txBody>
      </p:sp>
    </p:spTree>
    <p:extLst>
      <p:ext uri="{BB962C8B-B14F-4D97-AF65-F5344CB8AC3E}">
        <p14:creationId xmlns:p14="http://schemas.microsoft.com/office/powerpoint/2010/main" val="1048442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85530-E206-36B8-5B6E-2239FA46D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Bridge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C73AE-5BF0-99A7-4EA6-49D4DFD39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227530" cy="3985378"/>
          </a:xfrm>
        </p:spPr>
        <p:txBody>
          <a:bodyPr/>
          <a:lstStyle/>
          <a:p>
            <a:pPr marL="305435" indent="-305435"/>
            <a:r>
              <a:rPr lang="en-US" dirty="0"/>
              <a:t>Service Bridge provides a nearly turn-key experience for connecting multiple ServiceNow instances</a:t>
            </a:r>
          </a:p>
        </p:txBody>
      </p:sp>
      <p:pic>
        <p:nvPicPr>
          <p:cNvPr id="4" name="Picture 3" descr="See related image detail. Platform-as-a-Service | Enterprise Cloud Service Management | ServiceNow">
            <a:extLst>
              <a:ext uri="{FF2B5EF4-FFF2-40B4-BE49-F238E27FC236}">
                <a16:creationId xmlns:a16="http://schemas.microsoft.com/office/drawing/2014/main" id="{57CD6E38-079D-4E8C-04DA-13AFA5363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7060" y="2434330"/>
            <a:ext cx="4829714" cy="341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922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0D6CF-23C5-4BCB-0DC0-9920AEC3A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C03F3-71B3-9178-E9B2-C12C6F792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Bridge Scenarios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09CD85-AD4B-9759-1094-5BA2AB01E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45" y="2860839"/>
            <a:ext cx="6116437" cy="28186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2F2DE07-0BE6-4CE7-2F3B-3DD1ACA31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482" y="1981965"/>
            <a:ext cx="4520400" cy="228819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98B94A2-F03E-6E6C-61DA-E46F5A3212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7640" y="4432547"/>
            <a:ext cx="4134084" cy="2319550"/>
          </a:xfrm>
          <a:prstGeom prst="rect">
            <a:avLst/>
          </a:prstGeom>
        </p:spPr>
      </p:pic>
      <p:sp>
        <p:nvSpPr>
          <p:cNvPr id="16" name="TextBox 15">
            <a:hlinkClick r:id="rId5"/>
            <a:extLst>
              <a:ext uri="{FF2B5EF4-FFF2-40B4-BE49-F238E27FC236}">
                <a16:creationId xmlns:a16="http://schemas.microsoft.com/office/drawing/2014/main" id="{F0DA14F1-C981-BDD1-C5B8-56759A281B6F}"/>
              </a:ext>
            </a:extLst>
          </p:cNvPr>
          <p:cNvSpPr txBox="1"/>
          <p:nvPr/>
        </p:nvSpPr>
        <p:spPr>
          <a:xfrm>
            <a:off x="1330036" y="6151418"/>
            <a:ext cx="1842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Docs Link - Video</a:t>
            </a:r>
          </a:p>
        </p:txBody>
      </p:sp>
    </p:spTree>
    <p:extLst>
      <p:ext uri="{BB962C8B-B14F-4D97-AF65-F5344CB8AC3E}">
        <p14:creationId xmlns:p14="http://schemas.microsoft.com/office/powerpoint/2010/main" val="2189301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97904-B3E1-37E2-E847-C976ADB0A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2D26C-32D0-7BA1-FEE2-0C9A2926C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TSM Challenge 1</a:t>
            </a:r>
          </a:p>
        </p:txBody>
      </p:sp>
    </p:spTree>
    <p:extLst>
      <p:ext uri="{BB962C8B-B14F-4D97-AF65-F5344CB8AC3E}">
        <p14:creationId xmlns:p14="http://schemas.microsoft.com/office/powerpoint/2010/main" val="614321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713C6-9844-F9F4-A507-CBED7ADEB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62B39-D09C-9997-3CDA-6E2CE5172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OAuth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73934C-35AE-D24D-17C5-9B302AB37D3F}"/>
              </a:ext>
            </a:extLst>
          </p:cNvPr>
          <p:cNvSpPr txBox="1"/>
          <p:nvPr/>
        </p:nvSpPr>
        <p:spPr>
          <a:xfrm>
            <a:off x="1550894" y="2321859"/>
            <a:ext cx="90902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OAuth 2.0 standard lets users access instance data via a token, rather than needing a username/password combo for each request.  If the token hasn’t expired, we can keep using it to make subsequent requests. </a:t>
            </a:r>
          </a:p>
          <a:p>
            <a:endParaRPr lang="en-US" dirty="0"/>
          </a:p>
          <a:p>
            <a:r>
              <a:rPr lang="en-US" dirty="0"/>
              <a:t>You must have the ‘</a:t>
            </a:r>
            <a:r>
              <a:rPr lang="en-US" dirty="0" err="1"/>
              <a:t>security_admin</a:t>
            </a:r>
            <a:r>
              <a:rPr lang="en-US" dirty="0"/>
              <a:t>’ role to manage OAuth integrations.</a:t>
            </a:r>
          </a:p>
          <a:p>
            <a:endParaRPr lang="en-US" dirty="0"/>
          </a:p>
          <a:p>
            <a:r>
              <a:rPr lang="en-US" dirty="0"/>
              <a:t>There are 2 types of OAuth communications within an instance: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Inbound : Our instance provides an endpoint for third-party clients </a:t>
            </a:r>
          </a:p>
          <a:p>
            <a:pPr marL="285750" indent="-285750">
              <a:buFontTx/>
              <a:buChar char="-"/>
            </a:pPr>
            <a:r>
              <a:rPr lang="en-US" dirty="0"/>
              <a:t>Outbound : Our instance retrieves data from a third-party provider </a:t>
            </a:r>
          </a:p>
        </p:txBody>
      </p:sp>
    </p:spTree>
    <p:extLst>
      <p:ext uri="{BB962C8B-B14F-4D97-AF65-F5344CB8AC3E}">
        <p14:creationId xmlns:p14="http://schemas.microsoft.com/office/powerpoint/2010/main" val="2517076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C8D21-6030-8F9F-11A2-20C5E83AD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9D003-8D13-B117-7228-D41C9079B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OAuth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A86D84-8564-7B94-B92D-152CDAAF6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2267310"/>
            <a:ext cx="7432919" cy="39961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47C090-E256-BFC7-3D91-417ADE2343F3}"/>
              </a:ext>
            </a:extLst>
          </p:cNvPr>
          <p:cNvSpPr txBox="1"/>
          <p:nvPr/>
        </p:nvSpPr>
        <p:spPr>
          <a:xfrm>
            <a:off x="8666018" y="2267310"/>
            <a:ext cx="294479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Application Registries are responsible for registering external apps to our ServiceNow instance.</a:t>
            </a:r>
          </a:p>
          <a:p>
            <a:endParaRPr lang="en-US" dirty="0"/>
          </a:p>
          <a:p>
            <a:r>
              <a:rPr lang="en-US" dirty="0"/>
              <a:t>This allows external apps to affect changes to our instance via REST APIs once authenticated. </a:t>
            </a:r>
          </a:p>
        </p:txBody>
      </p:sp>
    </p:spTree>
    <p:extLst>
      <p:ext uri="{BB962C8B-B14F-4D97-AF65-F5344CB8AC3E}">
        <p14:creationId xmlns:p14="http://schemas.microsoft.com/office/powerpoint/2010/main" val="2487081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69846-7E6E-F2FC-A323-4AD85B99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2B3E-6873-089D-649A-442EE42FA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OAuth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699F97-0CC7-5C22-C309-6406EDED8987}"/>
              </a:ext>
            </a:extLst>
          </p:cNvPr>
          <p:cNvSpPr txBox="1"/>
          <p:nvPr/>
        </p:nvSpPr>
        <p:spPr>
          <a:xfrm>
            <a:off x="8010691" y="2556722"/>
            <a:ext cx="294479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External Apps receive:</a:t>
            </a:r>
          </a:p>
          <a:p>
            <a:endParaRPr lang="en-US" dirty="0"/>
          </a:p>
          <a:p>
            <a:r>
              <a:rPr lang="en-US" dirty="0"/>
              <a:t>Access Token – send along in our request headers; provides authorization to perform an action. </a:t>
            </a:r>
          </a:p>
          <a:p>
            <a:endParaRPr lang="en-US" dirty="0"/>
          </a:p>
          <a:p>
            <a:r>
              <a:rPr lang="en-US" dirty="0"/>
              <a:t>Refresh Token – Has a longer expiration than an Access Token; is used to request another Access Token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38AAD5-4E71-8F49-7369-58A3B2AA3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519" y="1937027"/>
            <a:ext cx="5892622" cy="469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887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693B2-C2E2-A387-C905-3508A26A9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B0791-01FE-108C-D29D-84B1F4D52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Oauth</a:t>
            </a:r>
            <a:r>
              <a:rPr lang="en-US" dirty="0"/>
              <a:t> Challenge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45BB20-CC81-B325-F188-02D41105CD10}"/>
              </a:ext>
            </a:extLst>
          </p:cNvPr>
          <p:cNvSpPr txBox="1"/>
          <p:nvPr/>
        </p:nvSpPr>
        <p:spPr>
          <a:xfrm>
            <a:off x="3320331" y="2935505"/>
            <a:ext cx="55513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 1: Get your access and refresh tokens via Postman.</a:t>
            </a:r>
          </a:p>
          <a:p>
            <a:endParaRPr lang="en-US" dirty="0"/>
          </a:p>
          <a:p>
            <a:r>
              <a:rPr lang="en-US" dirty="0"/>
              <a:t>Part 2: Use the Table API to create an incident record. Then, query for the record you just created. (All using postman)</a:t>
            </a:r>
          </a:p>
        </p:txBody>
      </p:sp>
      <p:sp>
        <p:nvSpPr>
          <p:cNvPr id="3" name="TextBox 2">
            <a:hlinkClick r:id="rId2"/>
            <a:extLst>
              <a:ext uri="{FF2B5EF4-FFF2-40B4-BE49-F238E27FC236}">
                <a16:creationId xmlns:a16="http://schemas.microsoft.com/office/drawing/2014/main" id="{8F7C4EA2-30D0-FBC1-E531-A1B181B3AE45}"/>
              </a:ext>
            </a:extLst>
          </p:cNvPr>
          <p:cNvSpPr txBox="1"/>
          <p:nvPr/>
        </p:nvSpPr>
        <p:spPr>
          <a:xfrm>
            <a:off x="3187607" y="6265718"/>
            <a:ext cx="5816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ServiceNow Community Post with step-by-step instructions.</a:t>
            </a:r>
          </a:p>
        </p:txBody>
      </p:sp>
    </p:spTree>
    <p:extLst>
      <p:ext uri="{BB962C8B-B14F-4D97-AF65-F5344CB8AC3E}">
        <p14:creationId xmlns:p14="http://schemas.microsoft.com/office/powerpoint/2010/main" val="301048038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2411</TotalTime>
  <Words>417</Words>
  <Application>Microsoft Office PowerPoint</Application>
  <PresentationFormat>Widescreen</PresentationFormat>
  <Paragraphs>56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Gill Sans MT</vt:lpstr>
      <vt:lpstr>Wingdings 2</vt:lpstr>
      <vt:lpstr>Dividend</vt:lpstr>
      <vt:lpstr>TSM</vt:lpstr>
      <vt:lpstr>Overview</vt:lpstr>
      <vt:lpstr>What is TSM?</vt:lpstr>
      <vt:lpstr>Main Components of TSM</vt:lpstr>
      <vt:lpstr>Account Lifecycle Events</vt:lpstr>
      <vt:lpstr>Account Lifecycle Event Workflow</vt:lpstr>
      <vt:lpstr>Playbook – Account Lifecycle Events application</vt:lpstr>
      <vt:lpstr>Account Lifecycle Events User Roles</vt:lpstr>
      <vt:lpstr>Proactive Service Experience Workflows</vt:lpstr>
      <vt:lpstr>Service Bridge</vt:lpstr>
      <vt:lpstr>Service Bridge Scenarios</vt:lpstr>
      <vt:lpstr>TSM Challenge 1</vt:lpstr>
      <vt:lpstr>OAuth</vt:lpstr>
      <vt:lpstr>OAuth</vt:lpstr>
      <vt:lpstr>OAuth</vt:lpstr>
      <vt:lpstr>Oauth Challenge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588</cp:revision>
  <dcterms:created xsi:type="dcterms:W3CDTF">2025-02-12T19:53:45Z</dcterms:created>
  <dcterms:modified xsi:type="dcterms:W3CDTF">2025-07-17T00:18:04Z</dcterms:modified>
</cp:coreProperties>
</file>