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388" r:id="rId3"/>
    <p:sldId id="390" r:id="rId4"/>
    <p:sldId id="391" r:id="rId5"/>
    <p:sldId id="389" r:id="rId6"/>
    <p:sldId id="393" r:id="rId7"/>
    <p:sldId id="392" r:id="rId8"/>
    <p:sldId id="394" r:id="rId9"/>
    <p:sldId id="398" r:id="rId10"/>
    <p:sldId id="403" r:id="rId11"/>
    <p:sldId id="399" r:id="rId12"/>
    <p:sldId id="395" r:id="rId13"/>
    <p:sldId id="396" r:id="rId14"/>
    <p:sldId id="397" r:id="rId15"/>
    <p:sldId id="400" r:id="rId16"/>
    <p:sldId id="401" r:id="rId17"/>
    <p:sldId id="402" r:id="rId18"/>
    <p:sldId id="404" r:id="rId19"/>
    <p:sldId id="405" r:id="rId20"/>
    <p:sldId id="406" r:id="rId21"/>
    <p:sldId id="407" r:id="rId22"/>
    <p:sldId id="408" r:id="rId23"/>
    <p:sldId id="409" r:id="rId24"/>
    <p:sldId id="410" r:id="rId25"/>
    <p:sldId id="411" r:id="rId26"/>
    <p:sldId id="412" r:id="rId27"/>
    <p:sldId id="413" r:id="rId28"/>
    <p:sldId id="414" r:id="rId29"/>
    <p:sldId id="415" r:id="rId30"/>
    <p:sldId id="387" r:id="rId31"/>
    <p:sldId id="416" r:id="rId32"/>
    <p:sldId id="417" r:id="rId33"/>
    <p:sldId id="418" r:id="rId34"/>
    <p:sldId id="419" r:id="rId35"/>
    <p:sldId id="420" r:id="rId36"/>
    <p:sldId id="421" r:id="rId37"/>
    <p:sldId id="422" r:id="rId38"/>
    <p:sldId id="423" r:id="rId39"/>
    <p:sldId id="424" r:id="rId40"/>
    <p:sldId id="425" r:id="rId41"/>
    <p:sldId id="426" r:id="rId42"/>
    <p:sldId id="378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50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dev208882.service-now.com/now/nav/ui/classic/params/target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Self Service 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88F63-4768-3EE0-8824-828B12D8D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Task Boards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C1AD9-2BD8-B362-F49C-E4C64723D3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207390"/>
            <a:ext cx="4905207" cy="3678303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Visual Task Boards </a:t>
            </a:r>
            <a:r>
              <a:rPr lang="en-US" dirty="0"/>
              <a:t>are a customizable, kanban-like, interface that visually represent and manage task-type records</a:t>
            </a:r>
          </a:p>
          <a:p>
            <a:r>
              <a:rPr lang="en-US" dirty="0"/>
              <a:t>No required roles – any user can create/share/view VTBs</a:t>
            </a:r>
          </a:p>
          <a:p>
            <a:pPr lvl="1"/>
            <a:r>
              <a:rPr lang="en-US" dirty="0"/>
              <a:t>BUT: they can only see cards based on their ACLs, i.e. they only see what they have access to</a:t>
            </a:r>
          </a:p>
          <a:p>
            <a:r>
              <a:rPr lang="en-US" dirty="0"/>
              <a:t>3 types: Data-Driven, Flexible, and Freeform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B41DC4-EC25-0249-7D1C-B6DA0ADCB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277162"/>
            <a:ext cx="1781424" cy="590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E397CA-1847-5967-AC64-FF99DEFE77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6629" y="3429000"/>
            <a:ext cx="5294699" cy="2566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2781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FCB41-0356-10CF-C9B8-21D908360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Data-Driven Task Boards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21FFDE-6AC4-7E21-415E-4D4B794F7E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910753"/>
            <a:ext cx="3886263" cy="13291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BAA580E-2708-346E-FBF6-1F72AA422A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091" y="5085634"/>
            <a:ext cx="4254464" cy="106851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BC15AD-7323-4060-A3EA-9538E0F7C2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5743" y="2640250"/>
            <a:ext cx="6889166" cy="4064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B4D1D8-9C57-29CE-E399-5C721327839B}"/>
              </a:ext>
            </a:extLst>
          </p:cNvPr>
          <p:cNvSpPr txBox="1"/>
          <p:nvPr/>
        </p:nvSpPr>
        <p:spPr>
          <a:xfrm>
            <a:off x="932688" y="2450592"/>
            <a:ext cx="3442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First, choose a table &amp; lane fields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E7E8B8-7655-3F0E-D0D2-3538A445FD4D}"/>
              </a:ext>
            </a:extLst>
          </p:cNvPr>
          <p:cNvSpPr txBox="1"/>
          <p:nvPr/>
        </p:nvSpPr>
        <p:spPr>
          <a:xfrm>
            <a:off x="749808" y="4672584"/>
            <a:ext cx="3242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Next, filter any records you wish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008BDA-19D0-3D17-45C6-9C12D86AFB0B}"/>
              </a:ext>
            </a:extLst>
          </p:cNvPr>
          <p:cNvSpPr txBox="1"/>
          <p:nvPr/>
        </p:nvSpPr>
        <p:spPr>
          <a:xfrm>
            <a:off x="5788152" y="1944022"/>
            <a:ext cx="49052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Notice we can always filter by caller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We can move cards; will update underlying data</a:t>
            </a:r>
          </a:p>
        </p:txBody>
      </p:sp>
    </p:spTree>
    <p:extLst>
      <p:ext uri="{BB962C8B-B14F-4D97-AF65-F5344CB8AC3E}">
        <p14:creationId xmlns:p14="http://schemas.microsoft.com/office/powerpoint/2010/main" val="3788093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C277D-A432-5007-995A-85BD46193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Task Boards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8419C1-BF65-B409-0A1E-6F1BDBE2E0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2280" y="2180496"/>
            <a:ext cx="4152827" cy="4432521"/>
          </a:xfrm>
        </p:spPr>
        <p:txBody>
          <a:bodyPr>
            <a:normAutofit/>
          </a:bodyPr>
          <a:lstStyle/>
          <a:p>
            <a:r>
              <a:rPr lang="en-US" dirty="0"/>
              <a:t>Flexible VTBs allows us to pull data down, like a Data-Driven board, but allows us to customize the vertical lane </a:t>
            </a:r>
          </a:p>
          <a:p>
            <a:pPr lvl="1"/>
            <a:r>
              <a:rPr lang="en-US" dirty="0"/>
              <a:t>Doesn’t affect the underlying data of the records</a:t>
            </a:r>
          </a:p>
          <a:p>
            <a:r>
              <a:rPr lang="en-US" dirty="0"/>
              <a:t>Create by selecting ‘Data Driven Board’ with ‘None’ as the vertical lane – it will show up as a ‘Flexible Board’ in the main module </a:t>
            </a:r>
          </a:p>
          <a:p>
            <a:r>
              <a:rPr lang="en-US" dirty="0"/>
              <a:t>We can still filter any records we wish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D9B975-9630-81B1-7FD9-3A3D74A831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9980" y="1995752"/>
            <a:ext cx="3963914" cy="13045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5A2D20C-2418-8D06-751F-E2FFA1F1C3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0560" y="3259833"/>
            <a:ext cx="3620827" cy="13316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A3FCEC6-2469-4E12-620C-E7D87EBC98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0250" y="4591460"/>
            <a:ext cx="6282274" cy="5916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3030CB2-0DB8-3BAC-C4DF-0AB75613F9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9980" y="5233157"/>
            <a:ext cx="6840827" cy="13798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D0610D9-1F48-0CEA-7225-569BF59AF4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7032" y="2023804"/>
            <a:ext cx="2962688" cy="2553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0943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7E548-318C-62F1-811A-490564D53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Freeform Task boards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992179-DAD2-4948-9D46-2D0EB6E81C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11029"/>
            <a:ext cx="11252220" cy="2023951"/>
          </a:xfrm>
        </p:spPr>
        <p:txBody>
          <a:bodyPr/>
          <a:lstStyle/>
          <a:p>
            <a:r>
              <a:rPr lang="en-US" dirty="0"/>
              <a:t>Use freeform boards to easily customize lanes and configure the board to your liking </a:t>
            </a:r>
          </a:p>
          <a:p>
            <a:pPr lvl="1"/>
            <a:r>
              <a:rPr lang="en-US" dirty="0"/>
              <a:t>generates [</a:t>
            </a:r>
            <a:r>
              <a:rPr lang="en-US" dirty="0" err="1"/>
              <a:t>vtb_task</a:t>
            </a:r>
            <a:r>
              <a:rPr lang="en-US" dirty="0"/>
              <a:t>] records (Private Tasks) </a:t>
            </a:r>
          </a:p>
          <a:p>
            <a:pPr lvl="1"/>
            <a:r>
              <a:rPr lang="en-US" dirty="0"/>
              <a:t>Create relationships to other tables via reference field if you’d like to attach personal tasks to incidents, problems, etc.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0210A1-D662-D306-8057-BC4A7E06CA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113" y="3734995"/>
            <a:ext cx="10095773" cy="2597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2103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66570-5B1D-DF55-61A0-6D661F1E7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Collaborate with VTBs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2B927D-2634-FCFD-A7EC-E625A30E5C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7"/>
            <a:ext cx="11029614" cy="101380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Add and remove members easily, they can still only see cards they have access to</a:t>
            </a:r>
          </a:p>
          <a:p>
            <a:r>
              <a:rPr lang="en-US" dirty="0"/>
              <a:t>Add custom labels to organize cards further</a:t>
            </a:r>
          </a:p>
          <a:p>
            <a:r>
              <a:rPr lang="en-US" dirty="0"/>
              <a:t>Use the Activity Stream to see all changes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A538A2-9E1A-6964-1059-85B79F8DF2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88" y="3658838"/>
            <a:ext cx="2447601" cy="25257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7026EA-E806-D16A-1170-EF9F42F13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7814" y="3642131"/>
            <a:ext cx="5741057" cy="25592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78CB91-F9BB-3141-214E-1B296DE67B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3509" y="3357548"/>
            <a:ext cx="2589283" cy="3128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65881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9452C-CB94-45F6-2937-0845111D6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7D203-A6A7-CAB4-13F0-110003AC1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1B0EF-0524-1614-81A9-A53488B43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700"/>
            <a:ext cx="5192079" cy="189643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flexible VTB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Show Incident records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lane after ‘Doing’ called ‘Review’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Share the board with Abel Tuter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82F4FD7-ACAC-D365-EBC0-4196F011748E}"/>
              </a:ext>
            </a:extLst>
          </p:cNvPr>
          <p:cNvSpPr txBox="1">
            <a:spLocks/>
          </p:cNvSpPr>
          <p:nvPr/>
        </p:nvSpPr>
        <p:spPr>
          <a:xfrm>
            <a:off x="903921" y="2164187"/>
            <a:ext cx="4869350" cy="10900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VTB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BCE3C4-A087-A06E-40ED-189FA604CF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016" y="4408695"/>
            <a:ext cx="8826510" cy="204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8365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ACF16-EEB5-45BE-87AC-9F504EA69F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Service Catalog?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67D1F8-EFC7-1873-C543-69788D565F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870" y="1904215"/>
            <a:ext cx="10856259" cy="4590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0513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859E5-A429-D0A8-D30E-16A5BFA87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Maintain Catalogs/Categories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8E98C-2F7E-DCAF-81E4-5D6D36BC8A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133372" cy="3678303"/>
          </a:xfrm>
        </p:spPr>
        <p:txBody>
          <a:bodyPr/>
          <a:lstStyle/>
          <a:p>
            <a:r>
              <a:rPr lang="en-US" dirty="0"/>
              <a:t>Create new catalogs and categories from their respective modules</a:t>
            </a:r>
          </a:p>
          <a:p>
            <a:r>
              <a:rPr lang="en-US" dirty="0"/>
              <a:t>From ‘Service Catalog &gt; Catalogs’ you can build the catalog UI structure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89C127-DDD8-E417-E3ED-0C12B3342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2715" y="2253459"/>
            <a:ext cx="3190528" cy="19084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BB8FE-E9B0-B4F0-D63D-DAA4E6DED1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7670" y="4604541"/>
            <a:ext cx="2460619" cy="1835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243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4FE5D-AE0F-6D49-9829-FDF3B0143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Catalogs To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7DD16-30A1-A547-5B2C-9A478AB73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299655" cy="3678303"/>
          </a:xfrm>
        </p:spPr>
        <p:txBody>
          <a:bodyPr/>
          <a:lstStyle/>
          <a:p>
            <a:r>
              <a:rPr lang="en-US" dirty="0"/>
              <a:t>You can add a Catalog as an application module by providing a link to the catalog</a:t>
            </a:r>
          </a:p>
          <a:p>
            <a:r>
              <a:rPr lang="en-US" dirty="0"/>
              <a:t>This part of the URL is assumed:</a:t>
            </a:r>
            <a:br>
              <a:rPr lang="en-US" dirty="0"/>
            </a:br>
            <a:r>
              <a:rPr lang="en-US" dirty="0">
                <a:hlinkClick r:id="rId2"/>
              </a:rPr>
              <a:t>https://dev208882.service-now.com/now/nav/ui/classic/params/target/</a:t>
            </a:r>
            <a:endParaRPr lang="en-US" dirty="0"/>
          </a:p>
          <a:p>
            <a:r>
              <a:rPr lang="en-US" dirty="0"/>
              <a:t>Everything in your arguments will attach after that base URL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0F9EEB-FD63-831E-0046-CE61C9EF4C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263214"/>
            <a:ext cx="5496394" cy="3892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77625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E5D63-4223-E03D-F0AE-91518A87F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DC8E8-6BCC-6902-8E8D-3246FB4B6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B0FDC-D327-ACE7-8714-3934074522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700"/>
            <a:ext cx="5192079" cy="26853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Catalog called ‘Training Catalog’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2 new Categories for our Training Catalog called ‘Training Hardware’ &amp; ‘Training Help’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our new Catalog as a module under ‘Self-Service’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1B4C35-8925-FBB4-73F6-657B116B865A}"/>
              </a:ext>
            </a:extLst>
          </p:cNvPr>
          <p:cNvSpPr txBox="1">
            <a:spLocks/>
          </p:cNvSpPr>
          <p:nvPr/>
        </p:nvSpPr>
        <p:spPr>
          <a:xfrm>
            <a:off x="903922" y="24151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Catalog and Category</a:t>
            </a:r>
          </a:p>
        </p:txBody>
      </p:sp>
    </p:spTree>
    <p:extLst>
      <p:ext uri="{BB962C8B-B14F-4D97-AF65-F5344CB8AC3E}">
        <p14:creationId xmlns:p14="http://schemas.microsoft.com/office/powerpoint/2010/main" val="6978472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FBB7B-9808-AD5B-AD79-DFFB7CB30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 Catalog and Request Management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9E8C11-1AB7-035B-97D3-88506F03C2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364" y="1925743"/>
            <a:ext cx="9583271" cy="484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1359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20219-03DD-CA95-F033-58008D479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 Catalog Components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963C96-E007-2754-BE77-350E8CEB9F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1869550"/>
            <a:ext cx="11029616" cy="498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6400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F793F-CAD2-2C22-2443-580B62963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 Catalog Items &amp; Variables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930A8F-B7E2-5474-0B7D-B028689493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3" y="1818797"/>
            <a:ext cx="10847294" cy="4965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3571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4ACD0-4060-4AD2-DDFE-37E09A757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0905"/>
            <a:ext cx="11029616" cy="1013800"/>
          </a:xfrm>
        </p:spPr>
        <p:txBody>
          <a:bodyPr/>
          <a:lstStyle/>
          <a:p>
            <a:r>
              <a:rPr lang="en-US" dirty="0"/>
              <a:t>Creating Catalog Items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0C36E2-567E-9A8E-3450-0EA53D4F47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36229"/>
            <a:ext cx="10859694" cy="109945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You can use the normal form, but you should really get used to Catalog Builder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Catalog Builder </a:t>
            </a:r>
            <a:r>
              <a:rPr lang="en-US" dirty="0"/>
              <a:t>is a graphical, guided workflow for building catalog items and record producers – either manually or through customizable templates</a:t>
            </a:r>
          </a:p>
          <a:p>
            <a:r>
              <a:rPr lang="en-US" dirty="0"/>
              <a:t>You may still need to use the regular form to set automatic prices**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BD6C3E-7C2D-B7D5-71A6-DDD5CF8821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0277" y="3429000"/>
            <a:ext cx="4012579" cy="30279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8B0C8E1-70F7-CDD0-E375-21838021DC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629" y="3433921"/>
            <a:ext cx="4448009" cy="302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6691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2BBD4-A5A7-9072-7D0F-9BE6FFB3B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Catalog Items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C671B-D7DC-2E4E-7B6D-A98A0FF45D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891553"/>
            <a:ext cx="10773790" cy="1111624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Associate a catalog &amp; category</a:t>
            </a:r>
          </a:p>
          <a:p>
            <a:r>
              <a:rPr lang="en-US" dirty="0"/>
              <a:t>Process Engine – which process automation to run when someone requests the catalog item</a:t>
            </a:r>
          </a:p>
          <a:p>
            <a:r>
              <a:rPr lang="en-US" dirty="0"/>
              <a:t>Variables – The questions we ask the user; e.g. device color or size; can affect pricing</a:t>
            </a:r>
          </a:p>
          <a:p>
            <a:r>
              <a:rPr lang="en-US" dirty="0"/>
              <a:t>Variable Sets – groups of variables we can reuse in multiple catalog items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DDD378-12B6-6582-0F39-74A7E7D67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740" y="3175580"/>
            <a:ext cx="5927183" cy="32462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68962AD-B73C-6026-7D42-E74A031C8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8923" y="4086948"/>
            <a:ext cx="4906060" cy="22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717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D2492-529D-8470-895D-2F5EF06D9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4E6A4-1B36-BF5F-1357-5CA44B011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82F12-9316-259C-6CDA-48B5578A4B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419139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Catalog Item called ‘Revature Tablet’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It should be part of our Training Catalog in the Training Hardware Category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Set the Process Engine &gt; Flow to ‘Procurement Process Flow – Hardware’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You should have a single choice variable to select the hard drive size of the device: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128gb (normal price $1000)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256gb (costs $2000)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You should have a variable set with two variables: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Single line text: “Why do you need this?”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Date: “When do you need this?”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1595512-B35E-0113-938A-A007F78CC43D}"/>
              </a:ext>
            </a:extLst>
          </p:cNvPr>
          <p:cNvSpPr txBox="1">
            <a:spLocks/>
          </p:cNvSpPr>
          <p:nvPr/>
        </p:nvSpPr>
        <p:spPr>
          <a:xfrm>
            <a:off x="903921" y="2092470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Catalog Item</a:t>
            </a:r>
          </a:p>
        </p:txBody>
      </p:sp>
    </p:spTree>
    <p:extLst>
      <p:ext uri="{BB962C8B-B14F-4D97-AF65-F5344CB8AC3E}">
        <p14:creationId xmlns:p14="http://schemas.microsoft.com/office/powerpoint/2010/main" val="31414545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0C0F9-7EE8-FBC4-E08E-920B6E9B4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Once A user Makes a request…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D0F6F5-8294-736F-1CBF-02715F49C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55" y="2571464"/>
            <a:ext cx="4880076" cy="20846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5BCD925-8D1A-B75B-2CC6-DB99EB2484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953" y="4644490"/>
            <a:ext cx="4430978" cy="20871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6A945C7-5979-34F5-0008-BCCAFC37EB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5248" y="2475127"/>
            <a:ext cx="3532063" cy="21809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0520729-AF93-96B7-6D9F-AEC091F296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5248" y="4878264"/>
            <a:ext cx="3403287" cy="185340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AAF802D-9660-19ED-D921-8183BB452611}"/>
              </a:ext>
            </a:extLst>
          </p:cNvPr>
          <p:cNvSpPr txBox="1"/>
          <p:nvPr/>
        </p:nvSpPr>
        <p:spPr>
          <a:xfrm>
            <a:off x="466165" y="267148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C4232B-1266-2D59-7D1F-1AA177A66F15}"/>
              </a:ext>
            </a:extLst>
          </p:cNvPr>
          <p:cNvSpPr txBox="1"/>
          <p:nvPr/>
        </p:nvSpPr>
        <p:spPr>
          <a:xfrm>
            <a:off x="6517341" y="27342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7C10EA-7300-01D0-545E-AAEE0D35A961}"/>
              </a:ext>
            </a:extLst>
          </p:cNvPr>
          <p:cNvSpPr txBox="1"/>
          <p:nvPr/>
        </p:nvSpPr>
        <p:spPr>
          <a:xfrm>
            <a:off x="6364941" y="497181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76570A-316C-3387-4B9E-314160BBEC5C}"/>
              </a:ext>
            </a:extLst>
          </p:cNvPr>
          <p:cNvSpPr txBox="1"/>
          <p:nvPr/>
        </p:nvSpPr>
        <p:spPr>
          <a:xfrm>
            <a:off x="4096509" y="1814046"/>
            <a:ext cx="35914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coming in from our Flow:</a:t>
            </a:r>
            <a:br>
              <a:rPr lang="en-US" dirty="0"/>
            </a:br>
            <a:r>
              <a:rPr lang="en-US" dirty="0" err="1"/>
              <a:t>sc_request</a:t>
            </a:r>
            <a:r>
              <a:rPr lang="en-US" dirty="0"/>
              <a:t> &gt; </a:t>
            </a:r>
            <a:r>
              <a:rPr lang="en-US" dirty="0" err="1"/>
              <a:t>sc_req_item</a:t>
            </a:r>
            <a:r>
              <a:rPr lang="en-US" dirty="0"/>
              <a:t> &gt; </a:t>
            </a:r>
            <a:r>
              <a:rPr lang="en-US" dirty="0" err="1"/>
              <a:t>sc_task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2090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45265-480E-9A89-2507-4A6712526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Record Producers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F8E59C-921B-8DA1-5457-1DD3632D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41" y="1860427"/>
            <a:ext cx="10739718" cy="4871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7737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A901F-6D07-C4D4-D038-30E371E6C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Record Producers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5908E5-172C-047A-EC37-D39A37ED08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57607" cy="3678303"/>
          </a:xfrm>
        </p:spPr>
        <p:txBody>
          <a:bodyPr/>
          <a:lstStyle/>
          <a:p>
            <a:r>
              <a:rPr lang="en-US" dirty="0"/>
              <a:t>We can create record producers form the module or via Catalog Builder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145433-2753-1302-2FF4-CF37DA51B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2518" y="3649637"/>
            <a:ext cx="4455459" cy="26218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CEAAE5-39FC-477A-B90B-68DB0F8681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2116" y="2180496"/>
            <a:ext cx="1952898" cy="118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4463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77933-5D81-885F-DFFE-258DB4A8F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Record Producers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F3F9B-17AA-91D7-1F28-E1E9706C7D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7"/>
            <a:ext cx="7388431" cy="1656398"/>
          </a:xfrm>
        </p:spPr>
        <p:txBody>
          <a:bodyPr/>
          <a:lstStyle/>
          <a:p>
            <a:r>
              <a:rPr lang="en-US" dirty="0"/>
              <a:t>We specify a submission table, i.e. where our record producer will produce records</a:t>
            </a:r>
          </a:p>
          <a:p>
            <a:r>
              <a:rPr lang="en-US" dirty="0"/>
              <a:t>We can include reference fields in our record producers, complete with reference qualifiers if we wish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11F397-97C2-377E-612A-CFE16F4084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0575" y="4041507"/>
            <a:ext cx="2505425" cy="24863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53114E-7B43-9D46-9388-2C3335A46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9438" y="2206476"/>
            <a:ext cx="3184603" cy="3670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4992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BAA01-2254-31AB-0D3C-7B45B6B7D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8FB57-80F4-11B3-B284-936F7B4D1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D4BDE-64C3-ED85-9A31-C5715C7B0F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700"/>
            <a:ext cx="5192079" cy="275334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Record Producer called ‘Training Request’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It should create training delivery records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Ask the user to pick an assigned trainer &amp; capability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Include your Record Producer in the ‘Training Help’ category within our ‘Training Catalog’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8D3607D-0B06-9A08-CC61-4224EE37D3F0}"/>
              </a:ext>
            </a:extLst>
          </p:cNvPr>
          <p:cNvSpPr txBox="1">
            <a:spLocks/>
          </p:cNvSpPr>
          <p:nvPr/>
        </p:nvSpPr>
        <p:spPr>
          <a:xfrm>
            <a:off x="903921" y="2092470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Record Producer</a:t>
            </a:r>
          </a:p>
        </p:txBody>
      </p:sp>
    </p:spTree>
    <p:extLst>
      <p:ext uri="{BB962C8B-B14F-4D97-AF65-F5344CB8AC3E}">
        <p14:creationId xmlns:p14="http://schemas.microsoft.com/office/powerpoint/2010/main" val="6322677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3A9E0-7251-FA13-DBFF-DD040A1FB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 Guides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E120F-B734-093D-B32A-C82DAFBBDF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864660"/>
            <a:ext cx="9389948" cy="1281952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Order Guides </a:t>
            </a:r>
            <a:r>
              <a:rPr lang="en-US" dirty="0"/>
              <a:t>let users request multiple related items at once, and help them decide what they need</a:t>
            </a:r>
          </a:p>
          <a:p>
            <a:pPr lvl="1"/>
            <a:r>
              <a:rPr lang="en-US" dirty="0"/>
              <a:t>Describe Needs – displays variables for use by the order guide</a:t>
            </a:r>
          </a:p>
          <a:p>
            <a:pPr lvl="1"/>
            <a:r>
              <a:rPr lang="en-US" dirty="0"/>
              <a:t>Choose Options – displays all Catalog Items and their variables </a:t>
            </a:r>
          </a:p>
          <a:p>
            <a:pPr lvl="1"/>
            <a:r>
              <a:rPr lang="en-US" dirty="0"/>
              <a:t>Checkout – confirm choices and submit multiple requests at once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134076-1403-50A6-10B3-79DC94A87B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2988" y="3284267"/>
            <a:ext cx="9646023" cy="35737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F683530-CBBF-1E05-2FB9-9DEB3F5F0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1141" y="1898663"/>
            <a:ext cx="1895740" cy="124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0656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6510D-B413-DC42-B08D-520A4B3E9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Requests may have Multiple Items &amp; Items multiple tasks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A206A6-868E-706D-0B11-D9670F30F3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811" y="1895864"/>
            <a:ext cx="10318377" cy="4962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3872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E81DE3-0C0B-0ACA-59A4-140F1D53F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 Active Requests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F503BF-2888-AF6C-0561-1BAD011FAD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872512"/>
            <a:ext cx="10668000" cy="4985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5443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DBACD-76A1-4D04-72E0-CB4B51DE8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Catalog Item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3D654F-421B-2655-4A32-4166A87D6F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663161" cy="3678303"/>
          </a:xfrm>
        </p:spPr>
        <p:txBody>
          <a:bodyPr/>
          <a:lstStyle/>
          <a:p>
            <a:r>
              <a:rPr lang="en-US" dirty="0"/>
              <a:t>When viewing a Catalog Item record, the ‘Available For’ related list sets criteria for who can view the item</a:t>
            </a:r>
          </a:p>
          <a:p>
            <a:r>
              <a:rPr lang="en-US" dirty="0"/>
              <a:t>We can define individual users, groups, or select users by roles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D796173-659C-1568-130F-12A1683795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0541" y="2004296"/>
            <a:ext cx="5810643" cy="20653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45264C2-D933-A29F-CAA4-B825E9055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3459" y="4206045"/>
            <a:ext cx="3844805" cy="255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4384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4AC05-8444-FC12-69A3-79A178C14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F8841-26B8-7ACF-E118-DACFB84A3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ADADF-31B2-35FA-5A08-1558C222FA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700"/>
            <a:ext cx="5192079" cy="16902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For the ‘Training Request’ Record Producer – make sure it is only available to admins and users with the ‘Training Manager’ role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D86F2B1-43D8-6177-C9FD-73367E001B41}"/>
              </a:ext>
            </a:extLst>
          </p:cNvPr>
          <p:cNvSpPr txBox="1">
            <a:spLocks/>
          </p:cNvSpPr>
          <p:nvPr/>
        </p:nvSpPr>
        <p:spPr>
          <a:xfrm>
            <a:off x="903921" y="2092470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Set security for our new record producer</a:t>
            </a:r>
          </a:p>
        </p:txBody>
      </p:sp>
    </p:spTree>
    <p:extLst>
      <p:ext uri="{BB962C8B-B14F-4D97-AF65-F5344CB8AC3E}">
        <p14:creationId xmlns:p14="http://schemas.microsoft.com/office/powerpoint/2010/main" val="12104474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B0C62-6F2E-0F87-6228-DBDEAFB62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Agent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18ECD6-B30A-9D83-449B-D2AB3950CB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517" y="2559423"/>
            <a:ext cx="10040471" cy="401618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EEA8325-1904-4DA8-A7AD-F08B26E5BEA5}"/>
              </a:ext>
            </a:extLst>
          </p:cNvPr>
          <p:cNvSpPr txBox="1"/>
          <p:nvPr/>
        </p:nvSpPr>
        <p:spPr>
          <a:xfrm>
            <a:off x="1240290" y="1953023"/>
            <a:ext cx="98369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Definition: The </a:t>
            </a:r>
            <a:r>
              <a:rPr lang="en-US" dirty="0">
                <a:solidFill>
                  <a:schemeClr val="accent2"/>
                </a:solidFill>
              </a:rPr>
              <a:t>Virtual Agent </a:t>
            </a:r>
            <a:r>
              <a:rPr lang="en-US" dirty="0"/>
              <a:t>is an AI powered conversational platform that assists users on ServiceNow</a:t>
            </a:r>
          </a:p>
        </p:txBody>
      </p:sp>
    </p:spTree>
    <p:extLst>
      <p:ext uri="{BB962C8B-B14F-4D97-AF65-F5344CB8AC3E}">
        <p14:creationId xmlns:p14="http://schemas.microsoft.com/office/powerpoint/2010/main" val="33181975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4145F-48FF-BAD0-855C-C5B38AF73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Agent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122F81-B852-B89F-8848-90FBEEE52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0347" y="1901258"/>
            <a:ext cx="8231305" cy="4956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10728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2A686-13A4-5180-98D4-6CDE0116D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EB8B4-93A5-B8C9-2D23-3540DCD1F5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Automation</a:t>
            </a:r>
          </a:p>
        </p:txBody>
      </p:sp>
    </p:spTree>
    <p:extLst>
      <p:ext uri="{BB962C8B-B14F-4D97-AF65-F5344CB8AC3E}">
        <p14:creationId xmlns:p14="http://schemas.microsoft.com/office/powerpoint/2010/main" val="37811377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7CDC8-D3D5-4FAF-6C46-AA49B838F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Workflows Vs 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C9829-130A-C649-5B3C-D565021158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Workflow</a:t>
            </a:r>
            <a:r>
              <a:rPr lang="en-US" dirty="0"/>
              <a:t> is a legacy application that provided a drag-and-drop interface for automating multi-step processes across the platform </a:t>
            </a:r>
          </a:p>
          <a:p>
            <a:pPr lvl="1"/>
            <a:r>
              <a:rPr lang="en-US" dirty="0"/>
              <a:t>As of the Zurich release, new customers no longer receive OOB workflows created by ServiceNow, all legacy workflow functionality is replaced with flows </a:t>
            </a:r>
          </a:p>
          <a:p>
            <a:pPr lvl="1"/>
            <a:r>
              <a:rPr lang="en-US" dirty="0"/>
              <a:t>Only customers who upgraded from prior versions retain the ability to use and edit existing legacy workflows</a:t>
            </a:r>
          </a:p>
          <a:p>
            <a:pPr lvl="1"/>
            <a:r>
              <a:rPr lang="en-US" dirty="0"/>
              <a:t>We should use flows instead </a:t>
            </a:r>
          </a:p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Flow</a:t>
            </a:r>
            <a:r>
              <a:rPr lang="en-US" dirty="0"/>
              <a:t> is an automated process consisting of a sequence of actions and an initiating trigger </a:t>
            </a:r>
          </a:p>
        </p:txBody>
      </p:sp>
    </p:spTree>
    <p:extLst>
      <p:ext uri="{BB962C8B-B14F-4D97-AF65-F5344CB8AC3E}">
        <p14:creationId xmlns:p14="http://schemas.microsoft.com/office/powerpoint/2010/main" val="22905347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25F83-073C-1179-610E-03B153D1E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 Studio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64167F-8917-E34E-5B6D-B078DE2A95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5805" y="2641783"/>
            <a:ext cx="8525003" cy="39892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227016-9A67-9BDC-5936-47D687CA88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807" y="3671922"/>
            <a:ext cx="1686160" cy="60968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435123E-259D-A01D-63E9-CA7E7F7A6F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248" y="4643920"/>
            <a:ext cx="2505277" cy="4981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6A77B8B-97EC-FE5D-FCBA-7E7F7BE7B287}"/>
              </a:ext>
            </a:extLst>
          </p:cNvPr>
          <p:cNvSpPr txBox="1"/>
          <p:nvPr/>
        </p:nvSpPr>
        <p:spPr>
          <a:xfrm>
            <a:off x="851807" y="2029414"/>
            <a:ext cx="10488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Workflow Studio </a:t>
            </a:r>
            <a:r>
              <a:rPr lang="en-US" dirty="0"/>
              <a:t>is the main interface in ServiceNow that brings multiple automation tools together</a:t>
            </a:r>
          </a:p>
        </p:txBody>
      </p:sp>
    </p:spTree>
    <p:extLst>
      <p:ext uri="{BB962C8B-B14F-4D97-AF65-F5344CB8AC3E}">
        <p14:creationId xmlns:p14="http://schemas.microsoft.com/office/powerpoint/2010/main" val="41751901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858AB-E9DC-499A-95CB-1002E092E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 Diagram 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4F0E2E-603B-A43E-1191-A5DCBFCBC0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187" y="1810871"/>
            <a:ext cx="9595626" cy="5047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6981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4589C-EEC9-7AB9-AC39-A4BFC5D45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Triggers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F1F645-5711-0E7D-D464-FA6AF3075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89" y="1870766"/>
            <a:ext cx="10901621" cy="4987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9898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97237-AF48-C84F-08CB-4AE1F9FBF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Triggers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0418BB-3BF0-A108-F4DD-23437C1E5B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84" y="1971657"/>
            <a:ext cx="11738032" cy="4037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5621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8713F-3A3C-7B46-9E05-E9BDAD63E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9EB9B5-DAAD-ED87-03C0-0F8E733CE7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3" y="1819835"/>
            <a:ext cx="10466653" cy="5038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0450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2197B-C883-48B3-A8BF-82CE3C14B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Pills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D73B90-BE7A-59B9-2999-88F9D30665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53" y="1873540"/>
            <a:ext cx="10085294" cy="479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8949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24816-9A6D-CAAE-B2E7-8966BE206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13A4D-D291-18F1-245E-71B6B964A8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916093" cy="3678303"/>
          </a:xfrm>
        </p:spPr>
        <p:txBody>
          <a:bodyPr/>
          <a:lstStyle/>
          <a:p>
            <a:r>
              <a:rPr lang="en-US" dirty="0"/>
              <a:t>Change the name of the flow</a:t>
            </a:r>
          </a:p>
          <a:p>
            <a:r>
              <a:rPr lang="en-US" dirty="0"/>
              <a:t>Set Flow stages</a:t>
            </a:r>
          </a:p>
          <a:p>
            <a:r>
              <a:rPr lang="en-US" dirty="0"/>
              <a:t>Copy the Flow</a:t>
            </a:r>
          </a:p>
          <a:p>
            <a:r>
              <a:rPr lang="en-US" dirty="0"/>
              <a:t>And more…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4A04EA-224C-2F51-02BD-8C11CF5636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7285" y="2004345"/>
            <a:ext cx="6113523" cy="436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6930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3EAB5-ABEC-5948-374D-72E2C582B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 Hub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015195-1262-9E41-C525-CA648F653C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43" y="2084636"/>
            <a:ext cx="10352314" cy="4673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54630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DBD9B-4FB4-3E8B-1336-A5858A920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Playbooks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0015CD-C159-AA84-4715-BF3C0B2487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1943" y="1899925"/>
            <a:ext cx="8086904" cy="4958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2328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8135F-3DA1-38B7-3C94-5BB9C7CCB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FC045-367B-3A83-1324-F51B760DA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0870579" cy="135736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Decision Tables </a:t>
            </a:r>
            <a:r>
              <a:rPr lang="en-US" dirty="0"/>
              <a:t>simplify complex logic statements and can be used in flows, playbooks, and scripts</a:t>
            </a:r>
          </a:p>
          <a:p>
            <a:pPr lvl="1"/>
            <a:r>
              <a:rPr lang="en-US" dirty="0"/>
              <a:t>Specify inputs</a:t>
            </a:r>
          </a:p>
          <a:p>
            <a:pPr lvl="1"/>
            <a:r>
              <a:rPr lang="en-US" dirty="0"/>
              <a:t>Evaluate conditions</a:t>
            </a:r>
          </a:p>
          <a:p>
            <a:pPr lvl="1"/>
            <a:r>
              <a:rPr lang="en-US" dirty="0"/>
              <a:t>Produce results as output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4A0D16-60EC-C1D7-6EEE-33BDFFBF3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10" y="3618105"/>
            <a:ext cx="10870580" cy="3047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9029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7D0CA-F9AE-B516-2C0A-2E32C66DC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FA3AC-F63D-52E2-BB9C-6ACFF627B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76976-544E-D66E-5CE1-3C91D93ED6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39141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Flow that triggers when Incidents are created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Check to see if any other incidents were created in the last 7 days that have the same CI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If more than 2 Incidents with the same CI have been created in the last 7 days, then create a problem record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Associate all these incidents with the new problem record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278BB07-8A9D-0F81-F7D8-908F197B3356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Flow</a:t>
            </a:r>
          </a:p>
        </p:txBody>
      </p:sp>
    </p:spTree>
    <p:extLst>
      <p:ext uri="{BB962C8B-B14F-4D97-AF65-F5344CB8AC3E}">
        <p14:creationId xmlns:p14="http://schemas.microsoft.com/office/powerpoint/2010/main" val="3144947058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14893</TotalTime>
  <Words>1196</Words>
  <Application>Microsoft Office PowerPoint</Application>
  <PresentationFormat>Widescreen</PresentationFormat>
  <Paragraphs>143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6" baseType="lpstr">
      <vt:lpstr>Gill Sans MT</vt:lpstr>
      <vt:lpstr>Wingdings</vt:lpstr>
      <vt:lpstr>Wingdings 2</vt:lpstr>
      <vt:lpstr>Dividend</vt:lpstr>
      <vt:lpstr>Self Service </vt:lpstr>
      <vt:lpstr>Visual Task Boards</vt:lpstr>
      <vt:lpstr>Data-Driven Task Boards</vt:lpstr>
      <vt:lpstr>Flexible Task Boards</vt:lpstr>
      <vt:lpstr>Freeform Task boards</vt:lpstr>
      <vt:lpstr>Collaborate with VTBs</vt:lpstr>
      <vt:lpstr>Challenge</vt:lpstr>
      <vt:lpstr>What is a Service Catalog?</vt:lpstr>
      <vt:lpstr>Maintain Catalogs/Categories</vt:lpstr>
      <vt:lpstr>Adding Catalogs To Modules</vt:lpstr>
      <vt:lpstr>Challenge</vt:lpstr>
      <vt:lpstr>Service Catalog and Request Management</vt:lpstr>
      <vt:lpstr>Service Catalog Components</vt:lpstr>
      <vt:lpstr>Service Catalog Items &amp; Variables</vt:lpstr>
      <vt:lpstr>Creating Catalog Items</vt:lpstr>
      <vt:lpstr>Creating Catalog Items</vt:lpstr>
      <vt:lpstr>Challenge</vt:lpstr>
      <vt:lpstr>Once A user Makes a request…</vt:lpstr>
      <vt:lpstr>Record Producers</vt:lpstr>
      <vt:lpstr>Creating Record Producers</vt:lpstr>
      <vt:lpstr>Creating Record Producers</vt:lpstr>
      <vt:lpstr>Challenge</vt:lpstr>
      <vt:lpstr>Order Guides</vt:lpstr>
      <vt:lpstr>Requests may have Multiple Items &amp; Items multiple tasks</vt:lpstr>
      <vt:lpstr>View Active Requests</vt:lpstr>
      <vt:lpstr>Catalog Item Access</vt:lpstr>
      <vt:lpstr>Challenge</vt:lpstr>
      <vt:lpstr>Virtual Agent</vt:lpstr>
      <vt:lpstr>Virtual Agent</vt:lpstr>
      <vt:lpstr>Automation</vt:lpstr>
      <vt:lpstr>Workflows Vs Flows</vt:lpstr>
      <vt:lpstr>Workflow Studio</vt:lpstr>
      <vt:lpstr>Flow Diagram View</vt:lpstr>
      <vt:lpstr>Triggers</vt:lpstr>
      <vt:lpstr>Triggers</vt:lpstr>
      <vt:lpstr>Actions</vt:lpstr>
      <vt:lpstr>Data Pills</vt:lpstr>
      <vt:lpstr>Settings</vt:lpstr>
      <vt:lpstr>Integration Hub</vt:lpstr>
      <vt:lpstr>Playbooks</vt:lpstr>
      <vt:lpstr>Decision Tables</vt:lpstr>
      <vt:lpstr>Challenge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616</cp:revision>
  <dcterms:created xsi:type="dcterms:W3CDTF">2025-02-12T19:53:45Z</dcterms:created>
  <dcterms:modified xsi:type="dcterms:W3CDTF">2025-10-23T14:49:14Z</dcterms:modified>
</cp:coreProperties>
</file>