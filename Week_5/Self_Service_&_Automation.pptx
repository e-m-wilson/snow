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88" r:id="rId3"/>
    <p:sldId id="390" r:id="rId4"/>
    <p:sldId id="391" r:id="rId5"/>
    <p:sldId id="389" r:id="rId6"/>
    <p:sldId id="393" r:id="rId7"/>
    <p:sldId id="392" r:id="rId8"/>
    <p:sldId id="394" r:id="rId9"/>
    <p:sldId id="398" r:id="rId10"/>
    <p:sldId id="403" r:id="rId11"/>
    <p:sldId id="399" r:id="rId12"/>
    <p:sldId id="395" r:id="rId13"/>
    <p:sldId id="396" r:id="rId14"/>
    <p:sldId id="397" r:id="rId15"/>
    <p:sldId id="400" r:id="rId16"/>
    <p:sldId id="401" r:id="rId17"/>
    <p:sldId id="402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387" r:id="rId31"/>
    <p:sldId id="37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dev208882.service-now.com/now/nav/ui/classic/params/targe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Self Service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8F63-4768-3EE0-8824-828B12D8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Task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C1AD9-2BD8-B362-F49C-E4C64723D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07390"/>
            <a:ext cx="4905207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Visual Task Boards </a:t>
            </a:r>
            <a:r>
              <a:rPr lang="en-US" dirty="0"/>
              <a:t>are a customizable, kanban-like, interface that visually represent and manage task-type records</a:t>
            </a:r>
          </a:p>
          <a:p>
            <a:r>
              <a:rPr lang="en-US" dirty="0"/>
              <a:t>No required roles – users will only see cards/data they have access to</a:t>
            </a:r>
          </a:p>
          <a:p>
            <a:r>
              <a:rPr lang="en-US" dirty="0"/>
              <a:t>3 types: Data-Driven, Flexible, and Freeform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41DC4-EC25-0249-7D1C-B6DA0ADC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77162"/>
            <a:ext cx="1781424" cy="590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E397CA-1847-5967-AC64-FF99DEFE7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629" y="3429000"/>
            <a:ext cx="5294699" cy="256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7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CB41-0356-10CF-C9B8-21D908360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Task Boards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1FFDE-6AC4-7E21-415E-4D4B794F7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910753"/>
            <a:ext cx="3886263" cy="13291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A580E-2708-346E-FBF6-1F72AA42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91" y="5085634"/>
            <a:ext cx="4254464" cy="10685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BC15AD-7323-4060-A3EA-9538E0F7C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743" y="2640250"/>
            <a:ext cx="6889166" cy="40646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B4D1D8-9C57-29CE-E399-5C721327839B}"/>
              </a:ext>
            </a:extLst>
          </p:cNvPr>
          <p:cNvSpPr txBox="1"/>
          <p:nvPr/>
        </p:nvSpPr>
        <p:spPr>
          <a:xfrm>
            <a:off x="932688" y="2450592"/>
            <a:ext cx="344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First, choose a table &amp; lane fields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7E8B8-7655-3F0E-D0D2-3538A445FD4D}"/>
              </a:ext>
            </a:extLst>
          </p:cNvPr>
          <p:cNvSpPr txBox="1"/>
          <p:nvPr/>
        </p:nvSpPr>
        <p:spPr>
          <a:xfrm>
            <a:off x="749808" y="4672584"/>
            <a:ext cx="3242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Next, filter any records you wish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008BDA-19D0-3D17-45C6-9C12D86AFB0B}"/>
              </a:ext>
            </a:extLst>
          </p:cNvPr>
          <p:cNvSpPr txBox="1"/>
          <p:nvPr/>
        </p:nvSpPr>
        <p:spPr>
          <a:xfrm>
            <a:off x="5788152" y="1944022"/>
            <a:ext cx="4905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we can always filter by caller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can move cards; will update underlying data</a:t>
            </a:r>
          </a:p>
        </p:txBody>
      </p:sp>
    </p:spTree>
    <p:extLst>
      <p:ext uri="{BB962C8B-B14F-4D97-AF65-F5344CB8AC3E}">
        <p14:creationId xmlns:p14="http://schemas.microsoft.com/office/powerpoint/2010/main" val="378809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277D-A432-5007-995A-85BD4619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Task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19C1-BF65-B409-0A1E-6F1BDBE2E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280" y="2180496"/>
            <a:ext cx="4152827" cy="4432521"/>
          </a:xfrm>
        </p:spPr>
        <p:txBody>
          <a:bodyPr>
            <a:normAutofit/>
          </a:bodyPr>
          <a:lstStyle/>
          <a:p>
            <a:r>
              <a:rPr lang="en-US" dirty="0"/>
              <a:t>Flexible VTBs allows us to pull data down, like a Data-Driven board, but allows us to customize the vertical lane </a:t>
            </a:r>
          </a:p>
          <a:p>
            <a:pPr lvl="1"/>
            <a:r>
              <a:rPr lang="en-US" dirty="0"/>
              <a:t>Doesn’t affect the underlying data of the records</a:t>
            </a:r>
          </a:p>
          <a:p>
            <a:r>
              <a:rPr lang="en-US" dirty="0"/>
              <a:t>Create by selecting ‘Data Driven Board’ with ‘None’ as the vertical lane – it will show up as a ‘Flexible Board’ in the main module </a:t>
            </a:r>
          </a:p>
          <a:p>
            <a:r>
              <a:rPr lang="en-US" dirty="0"/>
              <a:t>We can still filter any records we wish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9B975-9630-81B1-7FD9-3A3D74A83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80" y="1995752"/>
            <a:ext cx="3963914" cy="1304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2D20C-2418-8D06-751F-E2FFA1F1C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560" y="3259833"/>
            <a:ext cx="3620827" cy="13316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3FCEC6-2469-4E12-620C-E7D87EBC9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50" y="4591460"/>
            <a:ext cx="6282274" cy="591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030CB2-0DB8-3BAC-C4DF-0AB75613F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980" y="5233157"/>
            <a:ext cx="6840827" cy="1379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0610D9-1F48-0CEA-7225-569BF59AF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7032" y="2023804"/>
            <a:ext cx="2962688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94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E548-318C-62F1-811A-490564D5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Freeform Task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92179-DAD2-4948-9D46-2D0EB6E81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11029"/>
            <a:ext cx="11252220" cy="2023951"/>
          </a:xfrm>
        </p:spPr>
        <p:txBody>
          <a:bodyPr/>
          <a:lstStyle/>
          <a:p>
            <a:r>
              <a:rPr lang="en-US" dirty="0"/>
              <a:t>Use freeform boards to easily customize lanes and configure the board to your liking </a:t>
            </a:r>
          </a:p>
          <a:p>
            <a:pPr lvl="1"/>
            <a:r>
              <a:rPr lang="en-US" dirty="0"/>
              <a:t>generates [</a:t>
            </a:r>
            <a:r>
              <a:rPr lang="en-US" dirty="0" err="1"/>
              <a:t>vtb_task</a:t>
            </a:r>
            <a:r>
              <a:rPr lang="en-US" dirty="0"/>
              <a:t>] records (Private Tasks) </a:t>
            </a:r>
          </a:p>
          <a:p>
            <a:pPr lvl="1"/>
            <a:r>
              <a:rPr lang="en-US" dirty="0"/>
              <a:t>Create relationships to other tables via reference field if you’d like to attach personal tasks to incidents, problems, etc.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210A1-D662-D306-8057-BC4A7E06C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13" y="3734995"/>
            <a:ext cx="10095773" cy="259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6570-5B1D-DF55-61A0-6D661F1E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Collaborate with VTBs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927D-2634-FCFD-A7EC-E625A30E5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1029614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and remove members easily, they can still only see cards they have access to</a:t>
            </a:r>
          </a:p>
          <a:p>
            <a:r>
              <a:rPr lang="en-US" dirty="0"/>
              <a:t>Add custom labels to organize cards further</a:t>
            </a:r>
          </a:p>
          <a:p>
            <a:r>
              <a:rPr lang="en-US" dirty="0"/>
              <a:t>Use the Activity Stream to see all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538A2-9E1A-6964-1059-85B79F8DF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8" y="3658838"/>
            <a:ext cx="2447601" cy="2525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026EA-E806-D16A-1170-EF9F42F13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814" y="3642131"/>
            <a:ext cx="5741057" cy="2559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78CB91-F9BB-3141-214E-1B296DE67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509" y="3357548"/>
            <a:ext cx="2589283" cy="312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8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452C-CB94-45F6-2937-0845111D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D203-A6A7-CAB4-13F0-110003AC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1B0EF-0524-1614-81A9-A53488B4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18964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flexible VTB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Show Incident records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lane after ‘Doing’ called ‘Review’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Share the board with Abel Tuter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2F4FD7-ACAC-D365-EBC0-4196F011748E}"/>
              </a:ext>
            </a:extLst>
          </p:cNvPr>
          <p:cNvSpPr txBox="1">
            <a:spLocks/>
          </p:cNvSpPr>
          <p:nvPr/>
        </p:nvSpPr>
        <p:spPr>
          <a:xfrm>
            <a:off x="903921" y="2164187"/>
            <a:ext cx="4869350" cy="1090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VTB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BCE3C4-A087-A06E-40ED-189FA604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16" y="4408695"/>
            <a:ext cx="8826510" cy="204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3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CF16-EEB5-45BE-87AC-9F504EA69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Service Catalog?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7D1F8-EFC7-1873-C543-69788D565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0" y="1904215"/>
            <a:ext cx="10856259" cy="459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5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59E5-A429-D0A8-D30E-16A5BFA87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 Catalogs/Categories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8E98C-2F7E-DCAF-81E4-5D6D36BC8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133372" cy="3678303"/>
          </a:xfrm>
        </p:spPr>
        <p:txBody>
          <a:bodyPr/>
          <a:lstStyle/>
          <a:p>
            <a:r>
              <a:rPr lang="en-US" dirty="0"/>
              <a:t>Create new catalogs and categories from their respective modules</a:t>
            </a:r>
          </a:p>
          <a:p>
            <a:r>
              <a:rPr lang="en-US" dirty="0"/>
              <a:t>From ‘Service Catalog &gt; Catalogs’ you can build the catalog UI structure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9C127-DDD8-E417-E3ED-0C12B3342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715" y="2253459"/>
            <a:ext cx="3190528" cy="1908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BB8FE-E9B0-B4F0-D63D-DAA4E6DED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670" y="4604541"/>
            <a:ext cx="2460619" cy="183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43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FE5D-AE0F-6D49-9829-FDF3B0143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Catalogs To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DD16-30A1-A547-5B2C-9A478AB73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99655" cy="3678303"/>
          </a:xfrm>
        </p:spPr>
        <p:txBody>
          <a:bodyPr/>
          <a:lstStyle/>
          <a:p>
            <a:r>
              <a:rPr lang="en-US" dirty="0"/>
              <a:t>You can add a Catalog as an application module by providing a link to the catalog</a:t>
            </a:r>
          </a:p>
          <a:p>
            <a:r>
              <a:rPr lang="en-US" dirty="0"/>
              <a:t>This part of the URL is assumed:</a:t>
            </a:r>
            <a:br>
              <a:rPr lang="en-US" dirty="0"/>
            </a:br>
            <a:r>
              <a:rPr lang="en-US" dirty="0">
                <a:hlinkClick r:id="rId2"/>
              </a:rPr>
              <a:t>https://dev208882.service-now.com/now/nav/ui/classic/params/target/</a:t>
            </a:r>
            <a:endParaRPr lang="en-US" dirty="0"/>
          </a:p>
          <a:p>
            <a:r>
              <a:rPr lang="en-US" dirty="0"/>
              <a:t>Everything in your arguments will attach after that base URL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F9EEB-FD63-831E-0046-CE61C9EF4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3214"/>
            <a:ext cx="5496394" cy="389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62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5D63-4223-E03D-F0AE-91518A87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DC8E8-6BCC-6902-8E8D-3246FB4B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B0FDC-D327-ACE7-8714-393407452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685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Catalog called ‘Training Catalog’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2 new Categories for our Training Catalog called ‘Training Hardware’ &amp; ‘Training Help’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Add our new Catalog as a module under ‘Self-Service’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1B4C35-8925-FBB4-73F6-657B116B865A}"/>
              </a:ext>
            </a:extLst>
          </p:cNvPr>
          <p:cNvSpPr txBox="1">
            <a:spLocks/>
          </p:cNvSpPr>
          <p:nvPr/>
        </p:nvSpPr>
        <p:spPr>
          <a:xfrm>
            <a:off x="903922" y="24151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Catalog and Category</a:t>
            </a:r>
          </a:p>
        </p:txBody>
      </p:sp>
    </p:spTree>
    <p:extLst>
      <p:ext uri="{BB962C8B-B14F-4D97-AF65-F5344CB8AC3E}">
        <p14:creationId xmlns:p14="http://schemas.microsoft.com/office/powerpoint/2010/main" val="69784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BB7B-9808-AD5B-AD79-DFFB7CB3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Catalog and Request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9E8C11-1AB7-035B-97D3-88506F03C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64" y="1925743"/>
            <a:ext cx="9583271" cy="484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3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0219-03DD-CA95-F033-58008D47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Catalog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63C96-E007-2754-BE77-350E8CEB9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69550"/>
            <a:ext cx="11029616" cy="498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40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F793F-CAD2-2C22-2443-580B6296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Catalog Items &amp;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30A8F-B7E2-5474-0B7D-B02868949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3" y="1818797"/>
            <a:ext cx="10847294" cy="496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5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ACD0-4060-4AD2-DDFE-37E09A75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0905"/>
            <a:ext cx="11029616" cy="1013800"/>
          </a:xfrm>
        </p:spPr>
        <p:txBody>
          <a:bodyPr/>
          <a:lstStyle/>
          <a:p>
            <a:r>
              <a:rPr lang="en-US" dirty="0"/>
              <a:t>Creating Catalog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C36E2-567E-9A8E-3450-0EA53D4F4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36229"/>
            <a:ext cx="10859694" cy="10994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 can use the normal form, but you should really get used to Catalog Builder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Catalog Builder </a:t>
            </a:r>
            <a:r>
              <a:rPr lang="en-US" dirty="0"/>
              <a:t>is a graphical, guided workflow for building catalog items and record producers – either manually or through customizable templates</a:t>
            </a:r>
          </a:p>
          <a:p>
            <a:r>
              <a:rPr lang="en-US" dirty="0"/>
              <a:t>You may still need to use the regular form to set automatic prices**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D6C3E-7C2D-B7D5-71A6-DDD5CF88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77" y="3429000"/>
            <a:ext cx="4012579" cy="3027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0C8E1-70F7-CDD0-E375-21838021D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629" y="3433921"/>
            <a:ext cx="4448009" cy="30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69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BBD4-A5A7-9072-7D0F-9BE6FFB3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Catalog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671B-D7DC-2E4E-7B6D-A98A0FF45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91553"/>
            <a:ext cx="10773790" cy="111162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Associate a catalog &amp; category</a:t>
            </a:r>
          </a:p>
          <a:p>
            <a:r>
              <a:rPr lang="en-US" dirty="0"/>
              <a:t>Process Engine – which process automation to run when someone requests the catalog item</a:t>
            </a:r>
          </a:p>
          <a:p>
            <a:r>
              <a:rPr lang="en-US" dirty="0"/>
              <a:t>Variables – The questions we ask the user; e.g. device color or size; can affect pricing</a:t>
            </a:r>
          </a:p>
          <a:p>
            <a:r>
              <a:rPr lang="en-US" dirty="0"/>
              <a:t>Variable Sets – groups of variables we can reuse in multiple catalog items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DDD378-12B6-6582-0F39-74A7E7D6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40" y="3175580"/>
            <a:ext cx="5927183" cy="3246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962AD-B73C-6026-7D42-E74A031C8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923" y="4086948"/>
            <a:ext cx="490606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1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2492-529D-8470-895D-2F5EF06D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E6A4-1B36-BF5F-1357-5CA44B01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2F12-9316-259C-6CDA-48B5578A4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41913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Catalog Item called ‘Revature Tablet’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It should be part of our Training Catalog in the Training Hardware Category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Set the Process Engine &gt; Flow to ‘Procurement Process Flow – Hardware’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You should have a single choice variable to select the hard drive size of the device: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128gb (normal price $1000)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256gb (costs $2000)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You should have a variable set with two variables: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Single line text: “Why do you need this?”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Date: “When do you need this?”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595512-B35E-0113-938A-A007F78CC43D}"/>
              </a:ext>
            </a:extLst>
          </p:cNvPr>
          <p:cNvSpPr txBox="1">
            <a:spLocks/>
          </p:cNvSpPr>
          <p:nvPr/>
        </p:nvSpPr>
        <p:spPr>
          <a:xfrm>
            <a:off x="903921" y="2092470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Catalog Item</a:t>
            </a:r>
          </a:p>
        </p:txBody>
      </p:sp>
    </p:spTree>
    <p:extLst>
      <p:ext uri="{BB962C8B-B14F-4D97-AF65-F5344CB8AC3E}">
        <p14:creationId xmlns:p14="http://schemas.microsoft.com/office/powerpoint/2010/main" val="3141454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C0F9-7EE8-FBC4-E08E-920B6E9B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Once A user Makes a request…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0F6F5-8294-736F-1CBF-02715F49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55" y="2571464"/>
            <a:ext cx="4880076" cy="20846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BCD925-8D1A-B75B-2CC6-DB99EB248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953" y="4644490"/>
            <a:ext cx="4430978" cy="2087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A945C7-5979-34F5-0008-BCCAFC37E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248" y="2475127"/>
            <a:ext cx="3532063" cy="2180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520729-AF93-96B7-6D9F-AEC091F296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248" y="4878264"/>
            <a:ext cx="3403287" cy="18534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AF802D-9660-19ED-D921-8183BB452611}"/>
              </a:ext>
            </a:extLst>
          </p:cNvPr>
          <p:cNvSpPr txBox="1"/>
          <p:nvPr/>
        </p:nvSpPr>
        <p:spPr>
          <a:xfrm>
            <a:off x="466165" y="26714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4232B-1266-2D59-7D1F-1AA177A66F15}"/>
              </a:ext>
            </a:extLst>
          </p:cNvPr>
          <p:cNvSpPr txBox="1"/>
          <p:nvPr/>
        </p:nvSpPr>
        <p:spPr>
          <a:xfrm>
            <a:off x="6517341" y="27342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7C10EA-7300-01D0-545E-AAEE0D35A961}"/>
              </a:ext>
            </a:extLst>
          </p:cNvPr>
          <p:cNvSpPr txBox="1"/>
          <p:nvPr/>
        </p:nvSpPr>
        <p:spPr>
          <a:xfrm>
            <a:off x="6364941" y="49718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6570A-316C-3387-4B9E-314160BBEC5C}"/>
              </a:ext>
            </a:extLst>
          </p:cNvPr>
          <p:cNvSpPr txBox="1"/>
          <p:nvPr/>
        </p:nvSpPr>
        <p:spPr>
          <a:xfrm>
            <a:off x="4096509" y="1814046"/>
            <a:ext cx="3591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coming in from our Flow:</a:t>
            </a:r>
            <a:br>
              <a:rPr lang="en-US" dirty="0"/>
            </a:br>
            <a:r>
              <a:rPr lang="en-US" dirty="0" err="1"/>
              <a:t>sc_request</a:t>
            </a:r>
            <a:r>
              <a:rPr lang="en-US" dirty="0"/>
              <a:t> &gt; </a:t>
            </a:r>
            <a:r>
              <a:rPr lang="en-US" dirty="0" err="1"/>
              <a:t>sc_req_item</a:t>
            </a:r>
            <a:r>
              <a:rPr lang="en-US" dirty="0"/>
              <a:t> &gt; </a:t>
            </a:r>
            <a:r>
              <a:rPr lang="en-US" dirty="0" err="1"/>
              <a:t>sc_task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09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5265-480E-9A89-2507-4A671252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Producers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8E59C-921B-8DA1-5457-1DD3632D4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860427"/>
            <a:ext cx="10739718" cy="487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73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901F-6D07-C4D4-D038-30E371E6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Record Producers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08E5-172C-047A-EC37-D39A37ED0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057607" cy="3678303"/>
          </a:xfrm>
        </p:spPr>
        <p:txBody>
          <a:bodyPr/>
          <a:lstStyle/>
          <a:p>
            <a:r>
              <a:rPr lang="en-US" dirty="0"/>
              <a:t>We can create record producers form the module or via Catalog Builder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145433-2753-1302-2FF4-CF37DA51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518" y="3649637"/>
            <a:ext cx="4455459" cy="2621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CEAAE5-39FC-477A-B90B-68DB0F868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16" y="2180496"/>
            <a:ext cx="1952898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46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7933-5D81-885F-DFFE-258DB4A8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Record Producers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F3F9B-17AA-91D7-1F28-E1E9706C7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7388431" cy="1656398"/>
          </a:xfrm>
        </p:spPr>
        <p:txBody>
          <a:bodyPr/>
          <a:lstStyle/>
          <a:p>
            <a:r>
              <a:rPr lang="en-US" dirty="0"/>
              <a:t>We specify a submission table, i.e. where our record producer will produce records</a:t>
            </a:r>
          </a:p>
          <a:p>
            <a:r>
              <a:rPr lang="en-US" dirty="0"/>
              <a:t>We can include reference fields in our record producers, complete with reference qualifiers if we wish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1F397-97C2-377E-612A-CFE16F408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75" y="4041507"/>
            <a:ext cx="2505425" cy="2486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53114E-7B43-9D46-9388-2C3335A4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438" y="2206476"/>
            <a:ext cx="3184603" cy="367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499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BAA01-2254-31AB-0D3C-7B45B6B7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FB57-80F4-11B3-B284-936F7B4D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D4BDE-64C3-ED85-9A31-C5715C7B0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7533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Record Producer called ‘Training Request’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It should create training delivery records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Ask the user to pick an assigned trainer &amp; capability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Include your Record Producer in the ‘Training Help’ category within our ‘Training Catalog’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D3607D-0B06-9A08-CC61-4224EE37D3F0}"/>
              </a:ext>
            </a:extLst>
          </p:cNvPr>
          <p:cNvSpPr txBox="1">
            <a:spLocks/>
          </p:cNvSpPr>
          <p:nvPr/>
        </p:nvSpPr>
        <p:spPr>
          <a:xfrm>
            <a:off x="903921" y="2092470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Record Producer</a:t>
            </a:r>
          </a:p>
        </p:txBody>
      </p:sp>
    </p:spTree>
    <p:extLst>
      <p:ext uri="{BB962C8B-B14F-4D97-AF65-F5344CB8AC3E}">
        <p14:creationId xmlns:p14="http://schemas.microsoft.com/office/powerpoint/2010/main" val="632267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A9E0-7251-FA13-DBFF-DD040A1F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Guides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E120F-B734-093D-B32A-C82DAFBBD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64660"/>
            <a:ext cx="9389948" cy="128195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Order Guides </a:t>
            </a:r>
            <a:r>
              <a:rPr lang="en-US" dirty="0"/>
              <a:t>let users request multiple related items at once, and help them decide what they need</a:t>
            </a:r>
          </a:p>
          <a:p>
            <a:pPr lvl="1"/>
            <a:r>
              <a:rPr lang="en-US" dirty="0"/>
              <a:t>Describe Needs – displays variables for use by the order guide</a:t>
            </a:r>
          </a:p>
          <a:p>
            <a:pPr lvl="1"/>
            <a:r>
              <a:rPr lang="en-US" dirty="0"/>
              <a:t>Choose Options – displays all Catalog Items and their variables </a:t>
            </a:r>
          </a:p>
          <a:p>
            <a:pPr lvl="1"/>
            <a:r>
              <a:rPr lang="en-US" dirty="0"/>
              <a:t>Checkout – confirm choices and submit multiple requests at once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34076-1403-50A6-10B3-79DC94A87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88" y="3284267"/>
            <a:ext cx="9646023" cy="3573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683530-CBBF-1E05-2FB9-9DEB3F5F0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141" y="1898663"/>
            <a:ext cx="1895740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65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510D-B413-DC42-B08D-520A4B3E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Requests may have Multiple Items &amp; Items multiple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206A6-868E-706D-0B11-D9670F30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1" y="1895864"/>
            <a:ext cx="10318377" cy="496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387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81DE3-0C0B-0ACA-59A4-140F1D53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Active Requests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503BF-2888-AF6C-0561-1BAD011F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72512"/>
            <a:ext cx="10668000" cy="49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44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BACD-76A1-4D04-72E0-CB4B51DE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Catalog Item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D654F-421B-2655-4A32-4166A87D6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663161" cy="3678303"/>
          </a:xfrm>
        </p:spPr>
        <p:txBody>
          <a:bodyPr/>
          <a:lstStyle/>
          <a:p>
            <a:r>
              <a:rPr lang="en-US" dirty="0"/>
              <a:t>When viewing a Catalog Item record, the ‘Available For’ related list sets criteria for who can view the item</a:t>
            </a:r>
          </a:p>
          <a:p>
            <a:r>
              <a:rPr lang="en-US" dirty="0"/>
              <a:t>We can define individual users, groups, or select users by roles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796173-659C-1568-130F-12A16837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41" y="2004296"/>
            <a:ext cx="5810643" cy="20653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5264C2-D933-A29F-CAA4-B825E9055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59" y="4206045"/>
            <a:ext cx="3844805" cy="25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38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4AC05-8444-FC12-69A3-79A178C1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8841-26B8-7ACF-E118-DACFB84A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ADADF-31B2-35FA-5A08-1558C222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1690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For the ‘Training Request’ Record Producer – make sure it is only available to admins and users with the ‘Training Manager’ role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86F2B1-43D8-6177-C9FD-73367E001B41}"/>
              </a:ext>
            </a:extLst>
          </p:cNvPr>
          <p:cNvSpPr txBox="1">
            <a:spLocks/>
          </p:cNvSpPr>
          <p:nvPr/>
        </p:nvSpPr>
        <p:spPr>
          <a:xfrm>
            <a:off x="903921" y="2092470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Set security for our new record producer</a:t>
            </a:r>
          </a:p>
        </p:txBody>
      </p:sp>
    </p:spTree>
    <p:extLst>
      <p:ext uri="{BB962C8B-B14F-4D97-AF65-F5344CB8AC3E}">
        <p14:creationId xmlns:p14="http://schemas.microsoft.com/office/powerpoint/2010/main" val="1210447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0C62-6F2E-0F87-6228-DBDEAFB6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8ECD6-B30A-9D83-449B-D2AB3950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17" y="2559423"/>
            <a:ext cx="10040471" cy="4016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EA8325-1904-4DA8-A7AD-F08B26E5BEA5}"/>
              </a:ext>
            </a:extLst>
          </p:cNvPr>
          <p:cNvSpPr txBox="1"/>
          <p:nvPr/>
        </p:nvSpPr>
        <p:spPr>
          <a:xfrm>
            <a:off x="1240290" y="1953023"/>
            <a:ext cx="9836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Definition: The </a:t>
            </a:r>
            <a:r>
              <a:rPr lang="en-US" dirty="0">
                <a:solidFill>
                  <a:schemeClr val="accent2"/>
                </a:solidFill>
              </a:rPr>
              <a:t>Virtual Agent </a:t>
            </a:r>
            <a:r>
              <a:rPr lang="en-US" dirty="0"/>
              <a:t>is an AI powered conversational platform that assists users on ServiceNow</a:t>
            </a:r>
          </a:p>
        </p:txBody>
      </p:sp>
    </p:spTree>
    <p:extLst>
      <p:ext uri="{BB962C8B-B14F-4D97-AF65-F5344CB8AC3E}">
        <p14:creationId xmlns:p14="http://schemas.microsoft.com/office/powerpoint/2010/main" val="3318197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145F-48FF-BAD0-855C-C5B38AF7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22F81-B852-B89F-8848-90FBEEE5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347" y="1901258"/>
            <a:ext cx="8231305" cy="49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72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686-13A4-5180-98D4-6CDE0116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B8B4-93A5-B8C9-2D23-3540DCD1F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3781137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30218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Response and Resolution for priority 1 incidents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Response = 30 minutes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Resolution = 1 hour 30 minutes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Be sure to properly put the SLA on hold, and close it, when needed</a:t>
            </a:r>
            <a:endParaRPr lang="en-US" b="1" dirty="0">
              <a:ea typeface="+mn-lt"/>
              <a:cs typeface="+mn-lt"/>
            </a:endParaRP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9-4 weekday schedule that excludes the nearest holiday (Diwali)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2" y="24151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new Priority 1 Response &amp; Resolution SLA Definitions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schedule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12002</TotalTime>
  <Words>1012</Words>
  <Application>Microsoft Office PowerPoint</Application>
  <PresentationFormat>Widescreen</PresentationFormat>
  <Paragraphs>119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Gill Sans MT</vt:lpstr>
      <vt:lpstr>Wingdings</vt:lpstr>
      <vt:lpstr>Wingdings 2</vt:lpstr>
      <vt:lpstr>Dividend</vt:lpstr>
      <vt:lpstr>Self Service </vt:lpstr>
      <vt:lpstr>Visual Task Boards</vt:lpstr>
      <vt:lpstr>Data-Driven Task Boards</vt:lpstr>
      <vt:lpstr>Flexible Task Boards</vt:lpstr>
      <vt:lpstr>Freeform Task boards</vt:lpstr>
      <vt:lpstr>Collaborate with VTBs</vt:lpstr>
      <vt:lpstr>Challenge</vt:lpstr>
      <vt:lpstr>What is a Service Catalog?</vt:lpstr>
      <vt:lpstr>Maintain Catalogs/Categories</vt:lpstr>
      <vt:lpstr>Adding Catalogs To Modules</vt:lpstr>
      <vt:lpstr>Challenge</vt:lpstr>
      <vt:lpstr>Service Catalog and Request Management</vt:lpstr>
      <vt:lpstr>Service Catalog Components</vt:lpstr>
      <vt:lpstr>Service Catalog Items &amp; Variables</vt:lpstr>
      <vt:lpstr>Creating Catalog Items</vt:lpstr>
      <vt:lpstr>Creating Catalog Items</vt:lpstr>
      <vt:lpstr>Challenge</vt:lpstr>
      <vt:lpstr>Once A user Makes a request…</vt:lpstr>
      <vt:lpstr>Record Producers</vt:lpstr>
      <vt:lpstr>Creating Record Producers</vt:lpstr>
      <vt:lpstr>Creating Record Producers</vt:lpstr>
      <vt:lpstr>Challenge</vt:lpstr>
      <vt:lpstr>Order Guides</vt:lpstr>
      <vt:lpstr>Requests may have Multiple Items &amp; Items multiple tasks</vt:lpstr>
      <vt:lpstr>View Active Requests</vt:lpstr>
      <vt:lpstr>Catalog Item Access</vt:lpstr>
      <vt:lpstr>Challenge</vt:lpstr>
      <vt:lpstr>Virtual Agent</vt:lpstr>
      <vt:lpstr>Virtual Agent</vt:lpstr>
      <vt:lpstr>Automation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615</cp:revision>
  <dcterms:created xsi:type="dcterms:W3CDTF">2025-02-12T19:53:45Z</dcterms:created>
  <dcterms:modified xsi:type="dcterms:W3CDTF">2025-10-20T22:49:26Z</dcterms:modified>
</cp:coreProperties>
</file>